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9013fff4b04ff9" /><Relationship Type="http://schemas.openxmlformats.org/officeDocument/2006/relationships/extended-properties" Target="/docProps/app.xml" Id="R099daaa6e7db47e7" /><Relationship Type="http://schemas.openxmlformats.org/officeDocument/2006/relationships/officeDocument" Target="/ppt/presentation.xml" Id="R3d262c8617b843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25871e1ae84699"/>
  </p:sldMasterIdLst>
  <p:notesMasterIdLst>
    <p:notesMasterId xmlns:r="http://schemas.openxmlformats.org/officeDocument/2006/relationships" r:id="Rccc3d8908e0b4c2c"/>
  </p:notesMasterIdLst>
  <p:sldIdLst>
    <p:sldId xmlns:r="http://schemas.openxmlformats.org/officeDocument/2006/relationships" id="256" r:id="R9e589cbc6a8f4aa8"/>
    <p:sldId xmlns:r="http://schemas.openxmlformats.org/officeDocument/2006/relationships" id="257" r:id="Rd603fdb4076c451e"/>
    <p:sldId xmlns:r="http://schemas.openxmlformats.org/officeDocument/2006/relationships" id="258" r:id="Reeec0d2b4f4f4a0f"/>
    <p:sldId xmlns:r="http://schemas.openxmlformats.org/officeDocument/2006/relationships" id="259" r:id="R18dc5afa959c4c4e"/>
    <p:sldId xmlns:r="http://schemas.openxmlformats.org/officeDocument/2006/relationships" id="260" r:id="R367b9f0e21b546ab"/>
    <p:sldId xmlns:r="http://schemas.openxmlformats.org/officeDocument/2006/relationships" id="261" r:id="Rca939a7efc08463e"/>
    <p:sldId xmlns:r="http://schemas.openxmlformats.org/officeDocument/2006/relationships" id="262" r:id="R2207da2828f347ca"/>
    <p:sldId xmlns:r="http://schemas.openxmlformats.org/officeDocument/2006/relationships" id="263" r:id="R97eaa58525474544"/>
    <p:sldId xmlns:r="http://schemas.openxmlformats.org/officeDocument/2006/relationships" id="264" r:id="Rf90c6bfda72a4b4b"/>
    <p:sldId xmlns:r="http://schemas.openxmlformats.org/officeDocument/2006/relationships" id="265" r:id="R82336ee0ada8447f"/>
    <p:sldId xmlns:r="http://schemas.openxmlformats.org/officeDocument/2006/relationships" id="266" r:id="R63306848e35440c7"/>
    <p:sldId xmlns:r="http://schemas.openxmlformats.org/officeDocument/2006/relationships" id="267" r:id="Rfe5f01a8b84446bd"/>
    <p:sldId xmlns:r="http://schemas.openxmlformats.org/officeDocument/2006/relationships" id="268" r:id="R30966b3b7c2345d9"/>
    <p:sldId xmlns:r="http://schemas.openxmlformats.org/officeDocument/2006/relationships" id="269" r:id="Rea1d4af0ac9a4be7"/>
    <p:sldId xmlns:r="http://schemas.openxmlformats.org/officeDocument/2006/relationships" id="270" r:id="R99c157a812844f6a"/>
    <p:sldId xmlns:r="http://schemas.openxmlformats.org/officeDocument/2006/relationships" id="271" r:id="R7db0a91bf7774f55"/>
    <p:sldId xmlns:r="http://schemas.openxmlformats.org/officeDocument/2006/relationships" id="272" r:id="R0fe2fb707d474893"/>
    <p:sldId xmlns:r="http://schemas.openxmlformats.org/officeDocument/2006/relationships" id="273" r:id="Rc716d8d6fb114f2a"/>
    <p:sldId xmlns:r="http://schemas.openxmlformats.org/officeDocument/2006/relationships" id="274" r:id="R85b2a8fe3dfd4c6a"/>
    <p:sldId xmlns:r="http://schemas.openxmlformats.org/officeDocument/2006/relationships" id="275" r:id="R86d004bae71a4a67"/>
    <p:sldId xmlns:r="http://schemas.openxmlformats.org/officeDocument/2006/relationships" id="276" r:id="Rd0e622f2e47a44dd"/>
    <p:sldId xmlns:r="http://schemas.openxmlformats.org/officeDocument/2006/relationships" id="277" r:id="R30976264e1314f21"/>
    <p:sldId xmlns:r="http://schemas.openxmlformats.org/officeDocument/2006/relationships" id="278" r:id="R37ae614d923644f8"/>
    <p:sldId xmlns:r="http://schemas.openxmlformats.org/officeDocument/2006/relationships" id="279" r:id="Ra314f3fedc504f1a"/>
    <p:sldId xmlns:r="http://schemas.openxmlformats.org/officeDocument/2006/relationships" id="280" r:id="Re87930488c1e4bde"/>
    <p:sldId xmlns:r="http://schemas.openxmlformats.org/officeDocument/2006/relationships" id="281" r:id="R5516d60cbb644db4"/>
    <p:sldId xmlns:r="http://schemas.openxmlformats.org/officeDocument/2006/relationships" id="282" r:id="Re227c81fa1a744e2"/>
    <p:sldId xmlns:r="http://schemas.openxmlformats.org/officeDocument/2006/relationships" id="283" r:id="Raf8457b2087b484c"/>
    <p:sldId xmlns:r="http://schemas.openxmlformats.org/officeDocument/2006/relationships" id="284" r:id="R9d07d4300fe44da0"/>
  </p:sldIdLst>
  <p:sldSz cx="11430000" cy="800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291d24c4b2404c" /><Relationship Type="http://schemas.openxmlformats.org/officeDocument/2006/relationships/slideMaster" Target="/ppt/slideMasters/slideMaster1.xml" Id="R6b25871e1ae84699" /><Relationship Type="http://schemas.openxmlformats.org/officeDocument/2006/relationships/notesMaster" Target="/ppt/notesMasters/notesMaster1.xml" Id="Rccc3d8908e0b4c2c" /><Relationship Type="http://schemas.openxmlformats.org/officeDocument/2006/relationships/presProps" Target="/ppt/presProps.xml" Id="Ree212c577b904774" /><Relationship Type="http://schemas.openxmlformats.org/officeDocument/2006/relationships/tableStyles" Target="/ppt/tableStyles.xml" Id="Rb6cd80c0e492467a" /><Relationship Type="http://schemas.openxmlformats.org/officeDocument/2006/relationships/slide" Target="/ppt/slides/slide1.xml" Id="R9e589cbc6a8f4aa8" /><Relationship Type="http://schemas.openxmlformats.org/officeDocument/2006/relationships/slide" Target="/ppt/slides/slide2.xml" Id="Rd603fdb4076c451e" /><Relationship Type="http://schemas.openxmlformats.org/officeDocument/2006/relationships/slide" Target="/ppt/slides/slide3.xml" Id="Reeec0d2b4f4f4a0f" /><Relationship Type="http://schemas.openxmlformats.org/officeDocument/2006/relationships/slide" Target="/ppt/slides/slide4.xml" Id="R18dc5afa959c4c4e" /><Relationship Type="http://schemas.openxmlformats.org/officeDocument/2006/relationships/slide" Target="/ppt/slides/slide5.xml" Id="R367b9f0e21b546ab" /><Relationship Type="http://schemas.openxmlformats.org/officeDocument/2006/relationships/slide" Target="/ppt/slides/slide6.xml" Id="Rca939a7efc08463e" /><Relationship Type="http://schemas.openxmlformats.org/officeDocument/2006/relationships/slide" Target="/ppt/slides/slide7.xml" Id="R2207da2828f347ca" /><Relationship Type="http://schemas.openxmlformats.org/officeDocument/2006/relationships/slide" Target="/ppt/slides/slide8.xml" Id="R97eaa58525474544" /><Relationship Type="http://schemas.openxmlformats.org/officeDocument/2006/relationships/slide" Target="/ppt/slides/slide9.xml" Id="Rf90c6bfda72a4b4b" /><Relationship Type="http://schemas.openxmlformats.org/officeDocument/2006/relationships/slide" Target="/ppt/slides/slide10.xml" Id="R82336ee0ada8447f" /><Relationship Type="http://schemas.openxmlformats.org/officeDocument/2006/relationships/slide" Target="/ppt/slides/slide11.xml" Id="R63306848e35440c7" /><Relationship Type="http://schemas.openxmlformats.org/officeDocument/2006/relationships/slide" Target="/ppt/slides/slide12.xml" Id="Rfe5f01a8b84446bd" /><Relationship Type="http://schemas.openxmlformats.org/officeDocument/2006/relationships/slide" Target="/ppt/slides/slide13.xml" Id="R30966b3b7c2345d9" /><Relationship Type="http://schemas.openxmlformats.org/officeDocument/2006/relationships/slide" Target="/ppt/slides/slide14.xml" Id="Rea1d4af0ac9a4be7" /><Relationship Type="http://schemas.openxmlformats.org/officeDocument/2006/relationships/slide" Target="/ppt/slides/slide15.xml" Id="R99c157a812844f6a" /><Relationship Type="http://schemas.openxmlformats.org/officeDocument/2006/relationships/slide" Target="/ppt/slides/slide16.xml" Id="R7db0a91bf7774f55" /><Relationship Type="http://schemas.openxmlformats.org/officeDocument/2006/relationships/slide" Target="/ppt/slides/slide17.xml" Id="R0fe2fb707d474893" /><Relationship Type="http://schemas.openxmlformats.org/officeDocument/2006/relationships/slide" Target="/ppt/slides/slide18.xml" Id="Rc716d8d6fb114f2a" /><Relationship Type="http://schemas.openxmlformats.org/officeDocument/2006/relationships/slide" Target="/ppt/slides/slide19.xml" Id="R85b2a8fe3dfd4c6a" /><Relationship Type="http://schemas.openxmlformats.org/officeDocument/2006/relationships/slide" Target="/ppt/slides/slide20.xml" Id="R86d004bae71a4a67" /><Relationship Type="http://schemas.openxmlformats.org/officeDocument/2006/relationships/slide" Target="/ppt/slides/slide21.xml" Id="Rd0e622f2e47a44dd" /><Relationship Type="http://schemas.openxmlformats.org/officeDocument/2006/relationships/slide" Target="/ppt/slides/slide22.xml" Id="R30976264e1314f21" /><Relationship Type="http://schemas.openxmlformats.org/officeDocument/2006/relationships/slide" Target="/ppt/slides/slide23.xml" Id="R37ae614d923644f8" /><Relationship Type="http://schemas.openxmlformats.org/officeDocument/2006/relationships/slide" Target="/ppt/slides/slide24.xml" Id="Ra314f3fedc504f1a" /><Relationship Type="http://schemas.openxmlformats.org/officeDocument/2006/relationships/slide" Target="/ppt/slides/slide25.xml" Id="Re87930488c1e4bde" /><Relationship Type="http://schemas.openxmlformats.org/officeDocument/2006/relationships/slide" Target="/ppt/slides/slide26.xml" Id="R5516d60cbb644db4" /><Relationship Type="http://schemas.openxmlformats.org/officeDocument/2006/relationships/slide" Target="/ppt/slides/slide27.xml" Id="Re227c81fa1a744e2" /><Relationship Type="http://schemas.openxmlformats.org/officeDocument/2006/relationships/slide" Target="/ppt/slides/slide28.xml" Id="Raf8457b2087b484c" /><Relationship Type="http://schemas.openxmlformats.org/officeDocument/2006/relationships/slide" Target="/ppt/slides/slide29.xml" Id="R9d07d4300fe4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9e41277b49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902f7fa6f544a8" /><Relationship Type="http://schemas.openxmlformats.org/officeDocument/2006/relationships/notesMaster" Target="/ppt/notesMasters/notesMaster1.xml" Id="Rb354e66c79b84e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6e9b90fe144280" /><Relationship Type="http://schemas.openxmlformats.org/officeDocument/2006/relationships/notesMaster" Target="/ppt/notesMasters/notesMaster1.xml" Id="R761c4841c9dc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0b07dca3a0419d" /><Relationship Type="http://schemas.openxmlformats.org/officeDocument/2006/relationships/notesMaster" Target="/ppt/notesMasters/notesMaster1.xml" Id="Rbf178611618c4c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5942541e9e48ad" /><Relationship Type="http://schemas.openxmlformats.org/officeDocument/2006/relationships/notesMaster" Target="/ppt/notesMasters/notesMaster1.xml" Id="Re4e3fac1e07447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07115969604629" /><Relationship Type="http://schemas.openxmlformats.org/officeDocument/2006/relationships/notesMaster" Target="/ppt/notesMasters/notesMaster1.xml" Id="Rbe1901e5253540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06b0b67632437a" /><Relationship Type="http://schemas.openxmlformats.org/officeDocument/2006/relationships/notesMaster" Target="/ppt/notesMasters/notesMaster1.xml" Id="Rede78e1ed46b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87141291dd4575" /><Relationship Type="http://schemas.openxmlformats.org/officeDocument/2006/relationships/notesMaster" Target="/ppt/notesMasters/notesMaster1.xml" Id="Rc6d958b41e2442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17cf3c3311430f" /><Relationship Type="http://schemas.openxmlformats.org/officeDocument/2006/relationships/notesMaster" Target="/ppt/notesMasters/notesMaster1.xml" Id="Rf03333bfe9e347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0e8af3181e4f66" /><Relationship Type="http://schemas.openxmlformats.org/officeDocument/2006/relationships/notesMaster" Target="/ppt/notesMasters/notesMaster1.xml" Id="R2ebe98a7a8e943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6328585b194d2f" /><Relationship Type="http://schemas.openxmlformats.org/officeDocument/2006/relationships/notesMaster" Target="/ppt/notesMasters/notesMaster1.xml" Id="R0a546e573f6748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6545a765604b72" /><Relationship Type="http://schemas.openxmlformats.org/officeDocument/2006/relationships/notesMaster" Target="/ppt/notesMasters/notesMaster1.xml" Id="R1f87235d9d9342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139667c9c84c38" /><Relationship Type="http://schemas.openxmlformats.org/officeDocument/2006/relationships/notesMaster" Target="/ppt/notesMasters/notesMaster1.xml" Id="R3eb900bdf8af4b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68988c07ac4f19" /><Relationship Type="http://schemas.openxmlformats.org/officeDocument/2006/relationships/notesMaster" Target="/ppt/notesMasters/notesMaster1.xml" Id="Ra74e5c3e0e2940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922f079f8c4178" /><Relationship Type="http://schemas.openxmlformats.org/officeDocument/2006/relationships/notesMaster" Target="/ppt/notesMasters/notesMaster1.xml" Id="R54c795e4a83443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37e37ce1e54417" /><Relationship Type="http://schemas.openxmlformats.org/officeDocument/2006/relationships/notesMaster" Target="/ppt/notesMasters/notesMaster1.xml" Id="R295fd76872f041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0e1205e1924de0" /><Relationship Type="http://schemas.openxmlformats.org/officeDocument/2006/relationships/notesMaster" Target="/ppt/notesMasters/notesMaster1.xml" Id="Ra1f5e4efde804d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301e03c1dd4251" /><Relationship Type="http://schemas.openxmlformats.org/officeDocument/2006/relationships/notesMaster" Target="/ppt/notesMasters/notesMaster1.xml" Id="R0cb4bcce81fd41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8602c475aa44f6" /><Relationship Type="http://schemas.openxmlformats.org/officeDocument/2006/relationships/notesMaster" Target="/ppt/notesMasters/notesMaster1.xml" Id="R636368ceba5946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1237d0bf4b4cf4" /><Relationship Type="http://schemas.openxmlformats.org/officeDocument/2006/relationships/notesMaster" Target="/ppt/notesMasters/notesMaster1.xml" Id="R97768d3f9dad48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120149e458466a" /><Relationship Type="http://schemas.openxmlformats.org/officeDocument/2006/relationships/notesMaster" Target="/ppt/notesMasters/notesMaster1.xml" Id="Rb508fe1f754a46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1fc968bb89421a" /><Relationship Type="http://schemas.openxmlformats.org/officeDocument/2006/relationships/notesMaster" Target="/ppt/notesMasters/notesMaster1.xml" Id="Rdb7e60f5a15942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88f82076f54aff" /><Relationship Type="http://schemas.openxmlformats.org/officeDocument/2006/relationships/notesMaster" Target="/ppt/notesMasters/notesMaster1.xml" Id="Rb04f4d8d6ab143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c6df9bd905746d1" /><Relationship Type="http://schemas.openxmlformats.org/officeDocument/2006/relationships/notesMaster" Target="/ppt/notesMasters/notesMaster1.xml" Id="R71286891c275460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184942e687c4bad" /><Relationship Type="http://schemas.openxmlformats.org/officeDocument/2006/relationships/notesMaster" Target="/ppt/notesMasters/notesMaster1.xml" Id="R73401970b69145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57ee5c2b00a4729" /><Relationship Type="http://schemas.openxmlformats.org/officeDocument/2006/relationships/notesMaster" Target="/ppt/notesMasters/notesMaster1.xml" Id="R3b95b1bfd8e54dc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de2828876e24b64" /><Relationship Type="http://schemas.openxmlformats.org/officeDocument/2006/relationships/notesMaster" Target="/ppt/notesMasters/notesMaster1.xml" Id="Re97d85c8845c4c3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430e0848024369" /><Relationship Type="http://schemas.openxmlformats.org/officeDocument/2006/relationships/notesMaster" Target="/ppt/notesMasters/notesMaster1.xml" Id="R45a0c0ade2444ed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04aa211e2734429" /><Relationship Type="http://schemas.openxmlformats.org/officeDocument/2006/relationships/notesMaster" Target="/ppt/notesMasters/notesMaster1.xml" Id="R4cc08c7f680f48a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45fab1715443e3" /><Relationship Type="http://schemas.openxmlformats.org/officeDocument/2006/relationships/notesMaster" Target="/ppt/notesMasters/notesMaster1.xml" Id="Readd015e02844d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 哨望总体架构</a:t>
            </a:r>
          </a:p>
          <a:p xmlns:a="http://schemas.openxmlformats.org/drawingml/2006/main">
            <a:r>
              <a:t>报告位置：概述（缩略版）+ 2.1</a:t>
            </a:r>
          </a:p>
          <a:p xmlns:a="http://schemas.openxmlformats.org/drawingml/2006/main">
            <a:r>
              <a:t>技术内容沿用 ShaoWang-技术报告.docx 与原图源，依据 design-dossier.md D3.1。设计参数不代表已测或已部署。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F-02 监测—富化—问答闭环</a:t>
            </a:r>
          </a:p>
          <a:p xmlns:a="http://schemas.openxmlformats.org/drawingml/2006/main">
            <a:r>
              <a:t>报告位置：1.3</a:t>
            </a:r>
          </a:p>
          <a:p xmlns:a="http://schemas.openxmlformats.org/drawingml/2006/main">
            <a:r>
              <a:t>技术内容沿用 ShaoWang-技术报告.docx 与原图源，依据 design-dossier.md D1.1、D3.2。设计参数不代表已测或已部署。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F-03 端到端数据流与阶段时间戳</a:t>
            </a:r>
          </a:p>
          <a:p xmlns:a="http://schemas.openxmlformats.org/drawingml/2006/main">
            <a:r>
              <a:t>报告位置：2.2.1</a:t>
            </a:r>
          </a:p>
          <a:p xmlns:a="http://schemas.openxmlformats.org/drawingml/2006/main">
            <a:r>
              <a:t>技术内容沿用 ShaoWang-技术报告.docx 与原图源，依据 design-dossier.md D3.2、D2.8。设计参数不代表已测或已部署。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F-04 一条新公告从发布到可问答的时序</a:t>
            </a:r>
          </a:p>
          <a:p xmlns:a="http://schemas.openxmlformats.org/drawingml/2006/main">
            <a:r>
              <a:t>报告位置：2.2.2</a:t>
            </a:r>
          </a:p>
          <a:p xmlns:a="http://schemas.openxmlformats.org/drawingml/2006/main">
            <a:r>
              <a:t>技术内容沿用 ShaoWang-技术报告.docx 与原图源，依据 design-dossier.md D3.2、D5.3。设计参数不代表已测或已部署。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F-05 查询请求的处理路径</a:t>
            </a:r>
          </a:p>
          <a:p xmlns:a="http://schemas.openxmlformats.org/drawingml/2006/main">
            <a:r>
              <a:t>报告位置：2.2.3</a:t>
            </a:r>
          </a:p>
          <a:p xmlns:a="http://schemas.openxmlformats.org/drawingml/2006/main">
            <a:r>
              <a:t>技术内容沿用 ShaoWang-技术报告.docx 与原图源，依据 design-dossier.md D3.3、D3.4。设计参数不代表已测或已部署。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F-06 九个智能体的协作关系</a:t>
            </a:r>
          </a:p>
          <a:p xmlns:a="http://schemas.openxmlformats.org/drawingml/2006/main">
            <a:r>
              <a:t>报告位置：2.3.1</a:t>
            </a:r>
          </a:p>
          <a:p xmlns:a="http://schemas.openxmlformats.org/drawingml/2006/main">
            <a:r>
              <a:t>技术内容沿用 ShaoWang-技术报告.docx 与原图源，依据 design-dossier.md D4.1、D4.2。设计参数不代表已测或已部署。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F-07 任务状态机</a:t>
            </a:r>
          </a:p>
          <a:p xmlns:a="http://schemas.openxmlformats.org/drawingml/2006/main">
            <a:r>
              <a:t>报告位置：2.3.2</a:t>
            </a:r>
          </a:p>
          <a:p xmlns:a="http://schemas.openxmlformats.org/drawingml/2006/main">
            <a:r>
              <a:t>技术内容沿用 ShaoWang-技术报告.docx 与原图源，依据 design-dossier.md D4.3。设计参数不代表已测或已部署。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F-08 Critic 校验闭环</a:t>
            </a:r>
          </a:p>
          <a:p xmlns:a="http://schemas.openxmlformats.org/drawingml/2006/main">
            <a:r>
              <a:t>报告位置：2.3.3</a:t>
            </a:r>
          </a:p>
          <a:p xmlns:a="http://schemas.openxmlformats.org/drawingml/2006/main">
            <a:r>
              <a:t>技术内容沿用 ShaoWang-技术报告.docx 与原图源，依据 design-dossier.md D4.4。设计参数不代表已测或已部署。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F-09 九类数据源与三级可信度</a:t>
            </a:r>
          </a:p>
          <a:p xmlns:a="http://schemas.openxmlformats.org/drawingml/2006/main">
            <a:r>
              <a:t>报告位置：2.4.1</a:t>
            </a:r>
          </a:p>
          <a:p xmlns:a="http://schemas.openxmlformats.org/drawingml/2006/main">
            <a:r>
              <a:t>技术内容沿用 ShaoWang-技术报告.docx 与原图源，依据 design-dossier.md D5.1。设计参数不代表已测或已部署。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F-10 各来源采集节奏与目标时延</a:t>
            </a:r>
          </a:p>
          <a:p xmlns:a="http://schemas.openxmlformats.org/drawingml/2006/main">
            <a:r>
              <a:t>报告位置：2.4.2</a:t>
            </a:r>
          </a:p>
          <a:p xmlns:a="http://schemas.openxmlformats.org/drawingml/2006/main">
            <a:r>
              <a:t>技术内容沿用 ShaoWang-技术报告.docx 与原图源，依据 design-dossier.md D5.2。设计参数不代表已测或已部署。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F-11 去重与合并的三层处理</a:t>
            </a:r>
          </a:p>
          <a:p xmlns:a="http://schemas.openxmlformats.org/drawingml/2006/main">
            <a:r>
              <a:t>报告位置：2.4.3</a:t>
            </a:r>
          </a:p>
          <a:p xmlns:a="http://schemas.openxmlformats.org/drawingml/2006/main">
            <a:r>
              <a:t>技术内容沿用 ShaoWang-技术报告.docx 与原图源，依据 design-dossier.md D5.4。设计参数不代表已测或已部署。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F-12 九维富化画像</a:t>
            </a:r>
          </a:p>
          <a:p xmlns:a="http://schemas.openxmlformats.org/drawingml/2006/main">
            <a:r>
              <a:t>报告位置：2.5.1</a:t>
            </a:r>
          </a:p>
          <a:p xmlns:a="http://schemas.openxmlformats.org/drawingml/2006/main">
            <a:r>
              <a:t>技术内容沿用 ShaoWang-技术报告.docx 与原图源，依据 design-dossier.md D6.1。设计参数不代表已测或已部署。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F-13 暴露面计数的语法校准</a:t>
            </a:r>
          </a:p>
          <a:p xmlns:a="http://schemas.openxmlformats.org/drawingml/2006/main">
            <a:r>
              <a:t>报告位置：2.5.1 或 4.6.2</a:t>
            </a:r>
          </a:p>
          <a:p xmlns:a="http://schemas.openxmlformats.org/drawingml/2006/main">
            <a:r>
              <a:t>技术内容沿用 ShaoWang-技术报告.docx 与原图源，依据 design-dossier.md D18.2。设计参数不代表已测或已部署。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F-14 六类自动关联</a:t>
            </a:r>
          </a:p>
          <a:p xmlns:a="http://schemas.openxmlformats.org/drawingml/2006/main">
            <a:r>
              <a:t>报告位置：2.5.2</a:t>
            </a:r>
          </a:p>
          <a:p xmlns:a="http://schemas.openxmlformats.org/drawingml/2006/main">
            <a:r>
              <a:t>技术内容沿用 ShaoWang-技术报告.docx 与原图源，依据 design-dossier.md D6.3。设计参数不代表已测或已部署。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F-15 多源冲突的逐字段裁决</a:t>
            </a:r>
          </a:p>
          <a:p xmlns:a="http://schemas.openxmlformats.org/drawingml/2006/main">
            <a:r>
              <a:t>报告位置：2.5.3</a:t>
            </a:r>
          </a:p>
          <a:p xmlns:a="http://schemas.openxmlformats.org/drawingml/2006/main">
            <a:r>
              <a:t>技术内容沿用 ShaoWang-技术报告.docx 与原图源，依据 design-dossier.md D6.4。设计参数不代表已测或已部署。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F-16 版本自查流程</a:t>
            </a:r>
          </a:p>
          <a:p xmlns:a="http://schemas.openxmlformats.org/drawingml/2006/main">
            <a:r>
              <a:t>报告位置：2.5.4</a:t>
            </a:r>
          </a:p>
          <a:p xmlns:a="http://schemas.openxmlformats.org/drawingml/2006/main">
            <a:r>
              <a:t>技术内容沿用 ShaoWang-技术报告.docx 与原图源，依据 design-dossier.md D6.5。设计参数不代表已测或已部署。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F-17 三路混合检索与 GraphRAG 问答流程</a:t>
            </a:r>
          </a:p>
          <a:p xmlns:a="http://schemas.openxmlformats.org/drawingml/2006/main">
            <a:r>
              <a:t>报告位置：2.6.1</a:t>
            </a:r>
          </a:p>
          <a:p xmlns:a="http://schemas.openxmlformats.org/drawingml/2006/main">
            <a:r>
              <a:t>技术内容沿用 ShaoWang-技术报告.docx 与原图源，依据 design-dossier.md D7.1–D7.3。设计参数不代表已测或已部署。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F-18 多跳问答的推理链示例</a:t>
            </a:r>
          </a:p>
          <a:p xmlns:a="http://schemas.openxmlformats.org/drawingml/2006/main">
            <a:r>
              <a:t>报告位置：2.6.2</a:t>
            </a:r>
          </a:p>
          <a:p xmlns:a="http://schemas.openxmlformats.org/drawingml/2006/main">
            <a:r>
              <a:t>技术内容沿用 ShaoWang-技术报告.docx 与原图源，依据 design-dossier.md D7.2。设计参数不代表已测或已部署。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F-19 MCP 与插件生态全景</a:t>
            </a:r>
          </a:p>
          <a:p xmlns:a="http://schemas.openxmlformats.org/drawingml/2006/main">
            <a:r>
              <a:t>报告位置：2.7.1 / 2.7.3</a:t>
            </a:r>
          </a:p>
          <a:p xmlns:a="http://schemas.openxmlformats.org/drawingml/2006/main">
            <a:r>
              <a:t>技术内容沿用 ShaoWang-技术报告.docx 与原图源，依据 design-dossier.md D8、D9.3。设计参数不代表已测或已部署。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F-20 插件生命周期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F-21 公开 Schema 与 OSV / STIX 2.1 / CSAF 2.0 的对应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技术内容沿用 ShaoWang-技术报告.docx 与原图源，依据 design-dossier.md D9.1、D9.2。设计参数不代表已测或已部署。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F-22 技术栈分层</a:t>
            </a:r>
          </a:p>
          <a:p xmlns:a="http://schemas.openxmlformats.org/drawingml/2006/main">
            <a:r>
              <a:t>报告位置：2.8</a:t>
            </a:r>
          </a:p>
          <a:p xmlns:a="http://schemas.openxmlformats.org/drawingml/2006/main">
            <a:r>
              <a:t>技术内容沿用 ShaoWang-技术报告.docx 与原图源，依据 design-dossier.md D10。设计参数不代表已测或已部署。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F-23 docker compose 单机部署结构</a:t>
            </a:r>
          </a:p>
          <a:p xmlns:a="http://schemas.openxmlformats.org/drawingml/2006/main">
            <a:r>
              <a:t>报告位置：3.1.1</a:t>
            </a:r>
          </a:p>
          <a:p xmlns:a="http://schemas.openxmlformats.org/drawingml/2006/main">
            <a:r>
              <a:t>技术内容沿用 ShaoWang-技术报告.docx 与原图源，依据 design-dossier.md D3.5。设计参数不代表已测或已部署。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F-24 知识图谱数据模型</a:t>
            </a:r>
          </a:p>
          <a:p xmlns:a="http://schemas.openxmlformats.org/drawingml/2006/main">
            <a:r>
              <a:t>报告位置：3.1.2</a:t>
            </a:r>
          </a:p>
          <a:p xmlns:a="http://schemas.openxmlformats.org/drawingml/2006/main">
            <a:r>
              <a:t>技术内容沿用 ShaoWang-技术报告.docx 与原图源，依据 design-dossier.md D11.2、D2.7。设计参数不代表已测或已部署。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F-25 失败重试、死信重放与熔断降级</a:t>
            </a:r>
          </a:p>
          <a:p xmlns:a="http://schemas.openxmlformats.org/drawingml/2006/main">
            <a:r>
              <a:t>报告位置：3.1.3</a:t>
            </a:r>
          </a:p>
          <a:p xmlns:a="http://schemas.openxmlformats.org/drawingml/2006/main">
            <a:r>
              <a:t>技术内容沿用 ShaoWang-技术报告.docx 与原图源，依据 design-dossier.md D12.1、D12.2。设计参数不代表已测或已部署。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F-26 对外合规边界</a:t>
            </a:r>
          </a:p>
          <a:p xmlns:a="http://schemas.openxmlformats.org/drawingml/2006/main">
            <a:r>
              <a:t>报告位置：3.1.5</a:t>
            </a:r>
          </a:p>
          <a:p xmlns:a="http://schemas.openxmlformats.org/drawingml/2006/main">
            <a:r>
              <a:t>技术内容沿用 ShaoWang-技术报告.docx 与原图源，依据 design-dossier.md D13。设计参数不代表已测或已部署。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F-27 时效统计的时间戳定义</a:t>
            </a:r>
          </a:p>
          <a:p xmlns:a="http://schemas.openxmlformats.org/drawingml/2006/main">
            <a:r>
              <a:t>报告位置：4.2.1</a:t>
            </a:r>
          </a:p>
          <a:p xmlns:a="http://schemas.openxmlformats.org/drawingml/2006/main">
            <a:r>
              <a:t>技术内容沿用 ShaoWang-技术报告.docx 与原图源，依据 design-dossier.md D2.8、D16.3。设计参数不代表已测或已部署。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F-29 七项创新点总览</a:t>
            </a:r>
          </a:p>
          <a:p xmlns:a="http://schemas.openxmlformats.org/drawingml/2006/main">
            <a:r>
              <a:t>报告位置：第五章开头</a:t>
            </a:r>
          </a:p>
          <a:p xmlns:a="http://schemas.openxmlformats.org/drawingml/2006/main">
            <a:r>
              <a:t>技术内容沿用 ShaoWang-技术报告.docx 与原图源，依据 design-dossier.md D17。设计参数不代表已测或已部署。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F-30 评测体系总览</a:t>
            </a:r>
          </a:p>
          <a:p xmlns:a="http://schemas.openxmlformats.org/drawingml/2006/main">
            <a:r>
              <a:t>报告位置：4.1</a:t>
            </a:r>
          </a:p>
          <a:p xmlns:a="http://schemas.openxmlformats.org/drawingml/2006/main">
            <a:r>
              <a:t>技术内容沿用 ShaoWang-技术报告.docx 与原图源，依据 design-dossier.md D16。设计参数不代表已测或已部署。</a:t>
            </a:r>
          </a:p>
          <a:p xmlns:a="http://schemas.openxmlformats.org/drawingml/2006/main">
            <a:r>
              <a:t>配色与构图参考：CACR2025757WAK 报告图3.1的语义分区；PrivLLM 报告图1.2、图2.1的层叠和蓝绿黄配色；003立体图示模板第25、45、60页。重绘为原生可编辑形状、文本和连接线。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e401de4694f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5af863eac47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35f7b706346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6eaadb5854d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e3263bdbf948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4f19e470545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2E3F60-C19A-4211-9F9E-3898456D3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022600"/>
            <a:ext cx="9144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782062-E13C-4CE3-941D-287F28C065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4400550"/>
            <a:ext cx="8001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D0B03F-6FF3-4810-B2F5-3E3B069307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333750"/>
            <a:ext cx="914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1D9389-A762-415C-ABA0-129F07045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645C7E-28BC-45BC-9ED9-C82D0D1B3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1014412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50D234-3DC5-4D3F-9279-7D55ADC2B6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4F9120-FA76-472B-86A5-B750E6BB80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87EE6A-E270-42C5-982E-B0E4B72684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9963FE-C55D-4E20-91B9-F5D78A9A64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289DE6-8DAA-4DF3-9532-FD622F257A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75cd54f554387" /><Relationship Type="http://schemas.openxmlformats.org/officeDocument/2006/relationships/slideLayout" Target="/ppt/slideLayouts/slideLayout1.xml" Id="R6126759539634b20" /><Relationship Type="http://schemas.openxmlformats.org/officeDocument/2006/relationships/slideLayout" Target="/ppt/slideLayouts/slideLayout2.xml" Id="Ra3f578de5bac461c" /><Relationship Type="http://schemas.openxmlformats.org/officeDocument/2006/relationships/slideLayout" Target="/ppt/slideLayouts/slideLayout3.xml" Id="Rfa849fcb4c9743b3" /><Relationship Type="http://schemas.openxmlformats.org/officeDocument/2006/relationships/slideLayout" Target="/ppt/slideLayouts/slideLayout4.xml" Id="Rb68dd0c4db6841d6" /><Relationship Type="http://schemas.openxmlformats.org/officeDocument/2006/relationships/slideLayout" Target="/ppt/slideLayouts/slideLayout5.xml" Id="R6cdb3d3955114c6e" /><Relationship Type="http://schemas.openxmlformats.org/officeDocument/2006/relationships/slideLayout" Target="/ppt/slideLayouts/slideLayout6.xml" Id="R35926b18c9d5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26759539634b20"/>
    <p:sldLayoutId xmlns:r="http://schemas.openxmlformats.org/officeDocument/2006/relationships" id="2147483650" r:id="Ra3f578de5bac461c"/>
    <p:sldLayoutId xmlns:r="http://schemas.openxmlformats.org/officeDocument/2006/relationships" id="2147483651" r:id="Rfa849fcb4c9743b3"/>
    <p:sldLayoutId xmlns:r="http://schemas.openxmlformats.org/officeDocument/2006/relationships" id="2147483652" r:id="Rb68dd0c4db6841d6"/>
    <p:sldLayoutId xmlns:r="http://schemas.openxmlformats.org/officeDocument/2006/relationships" id="2147483653" r:id="R6cdb3d3955114c6e"/>
    <p:sldLayoutId xmlns:r="http://schemas.openxmlformats.org/officeDocument/2006/relationships" id="2147483654" r:id="R35926b18c9d5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d978e3a8145e7" /><Relationship Type="http://schemas.openxmlformats.org/officeDocument/2006/relationships/notesSlide" Target="/ppt/notesSlides/notesSlide1.xml" Id="R75182220062444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4fe6d92554e13" /><Relationship Type="http://schemas.openxmlformats.org/officeDocument/2006/relationships/notesSlide" Target="/ppt/notesSlides/notesSlide2.xml" Id="R6b79723d1b534b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d1deff2624c05" /><Relationship Type="http://schemas.openxmlformats.org/officeDocument/2006/relationships/notesSlide" Target="/ppt/notesSlides/notesSlide3.xml" Id="Rae560a3c7efa44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496eaa3ad64f0d" /><Relationship Type="http://schemas.openxmlformats.org/officeDocument/2006/relationships/notesSlide" Target="/ppt/notesSlides/notesSlide4.xml" Id="R65ac52e75c944d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46b5f6c42410b" /><Relationship Type="http://schemas.openxmlformats.org/officeDocument/2006/relationships/notesSlide" Target="/ppt/notesSlides/notesSlide5.xml" Id="Rf2194d43a12d46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e68c7c6084c53" /><Relationship Type="http://schemas.openxmlformats.org/officeDocument/2006/relationships/notesSlide" Target="/ppt/notesSlides/notesSlide6.xml" Id="R1052b6412fff48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58c46e0534892" /><Relationship Type="http://schemas.openxmlformats.org/officeDocument/2006/relationships/notesSlide" Target="/ppt/notesSlides/notesSlide7.xml" Id="R043abc57a8b64c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967b17c25462e" /><Relationship Type="http://schemas.openxmlformats.org/officeDocument/2006/relationships/notesSlide" Target="/ppt/notesSlides/notesSlide8.xml" Id="R1f1f483c59904a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f8509cede4540" /><Relationship Type="http://schemas.openxmlformats.org/officeDocument/2006/relationships/notesSlide" Target="/ppt/notesSlides/notesSlide9.xml" Id="R030e48c6872b47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dbe03627444a6" /><Relationship Type="http://schemas.openxmlformats.org/officeDocument/2006/relationships/notesSlide" Target="/ppt/notesSlides/notesSlide10.xml" Id="R7fe795d29a4748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b95978f4e42e1" /><Relationship Type="http://schemas.openxmlformats.org/officeDocument/2006/relationships/notesSlide" Target="/ppt/notesSlides/notesSlide11.xml" Id="R3b943fdf358c45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b6d6ec40c4b9c" /><Relationship Type="http://schemas.openxmlformats.org/officeDocument/2006/relationships/notesSlide" Target="/ppt/notesSlides/notesSlide12.xml" Id="Rbf9bb1da849f4d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0600c331f4371" /><Relationship Type="http://schemas.openxmlformats.org/officeDocument/2006/relationships/notesSlide" Target="/ppt/notesSlides/notesSlide13.xml" Id="R1e22e966bafb40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397c50676482a" /><Relationship Type="http://schemas.openxmlformats.org/officeDocument/2006/relationships/notesSlide" Target="/ppt/notesSlides/notesSlide14.xml" Id="R866df4d1429b44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3768082124368" /><Relationship Type="http://schemas.openxmlformats.org/officeDocument/2006/relationships/notesSlide" Target="/ppt/notesSlides/notesSlide15.xml" Id="R25747c620c1540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c315c968b4a2a" /><Relationship Type="http://schemas.openxmlformats.org/officeDocument/2006/relationships/notesSlide" Target="/ppt/notesSlides/notesSlide16.xml" Id="Ra882ec4fc16443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759fabe31445d" /><Relationship Type="http://schemas.openxmlformats.org/officeDocument/2006/relationships/notesSlide" Target="/ppt/notesSlides/notesSlide17.xml" Id="Rc45fe5514fbc45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26db4552ca4735" /><Relationship Type="http://schemas.openxmlformats.org/officeDocument/2006/relationships/notesSlide" Target="/ppt/notesSlides/notesSlide18.xml" Id="R36cebf21a1b24a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d376fa01a4e53" /><Relationship Type="http://schemas.openxmlformats.org/officeDocument/2006/relationships/notesSlide" Target="/ppt/notesSlides/notesSlide19.xml" Id="R46fd4f528b4444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bcbe793f354020" /><Relationship Type="http://schemas.openxmlformats.org/officeDocument/2006/relationships/notesSlide" Target="/ppt/notesSlides/notesSlide20.xml" Id="Ra5558121813e44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3f1aabe8140e0" /><Relationship Type="http://schemas.openxmlformats.org/officeDocument/2006/relationships/notesSlide" Target="/ppt/notesSlides/notesSlide21.xml" Id="R4de852b270394f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a070ffd6942f7" /><Relationship Type="http://schemas.openxmlformats.org/officeDocument/2006/relationships/notesSlide" Target="/ppt/notesSlides/notesSlide22.xml" Id="R8ed7b576185a4b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62b1d05384e35" /><Relationship Type="http://schemas.openxmlformats.org/officeDocument/2006/relationships/notesSlide" Target="/ppt/notesSlides/notesSlide23.xml" Id="R4b5c1559d982458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ea636922e4ebb" /><Relationship Type="http://schemas.openxmlformats.org/officeDocument/2006/relationships/notesSlide" Target="/ppt/notesSlides/notesSlide24.xml" Id="R67b9c30e173e487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f665c62e14f57" /><Relationship Type="http://schemas.openxmlformats.org/officeDocument/2006/relationships/notesSlide" Target="/ppt/notesSlides/notesSlide25.xml" Id="Rdb69f89ec7c1407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6da457fb614647" /><Relationship Type="http://schemas.openxmlformats.org/officeDocument/2006/relationships/notesSlide" Target="/ppt/notesSlides/notesSlide26.xml" Id="Rf2e8d1c2ae834f3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d47414d024fd9" /><Relationship Type="http://schemas.openxmlformats.org/officeDocument/2006/relationships/notesSlide" Target="/ppt/notesSlides/notesSlide27.xml" Id="R370ec6ebc710479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57e3db0384641" /><Relationship Type="http://schemas.openxmlformats.org/officeDocument/2006/relationships/notesSlide" Target="/ppt/notesSlides/notesSlide28.xml" Id="Rabc8f2e8fbd24c4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b867c0fd54a8d" /><Relationship Type="http://schemas.openxmlformats.org/officeDocument/2006/relationships/notesSlide" Target="/ppt/notesSlides/notesSlide29.xml" Id="Ra2c5cb7646e845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4E2565-608D-40FD-8DD4-7DCF1CA5A012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 flipV="1">
            <a:off x="295275" y="1648302"/>
            <a:ext cx="953" cy="501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C301BA-799F-4D46-8AB1-770873C911D3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8772525" y="1457802"/>
            <a:ext cx="953" cy="528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</a:ln>
        </p:spPr>
      </p:cxnSp>
      <p:sp>
        <p:nvSpPr>
          <p:cNvPr id="45" name="F-01">
            <a:extLst xmlns:a="http://schemas.openxmlformats.org/drawingml/2006/main">
              <a:ext uri="{FF2B5EF4-FFF2-40B4-BE49-F238E27FC236}">
                <a16:creationId xmlns:a16="http://schemas.microsoft.com/office/drawing/2014/main" id="{A5D0B693-A309-419E-A920-2412F16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F-01</a:t>
            </a:r>
          </a:p>
        </p:txBody>
      </p:sp>
      <p:sp>
        <p:nvSpPr>
          <p:cNvPr id="2" name="哨望总体架构">
            <a:extLst xmlns:a="http://schemas.openxmlformats.org/drawingml/2006/main">
              <a:ext uri="{FF2B5EF4-FFF2-40B4-BE49-F238E27FC236}">
                <a16:creationId xmlns:a16="http://schemas.microsoft.com/office/drawing/2014/main" id="{B88C6839-6EA8-4DDA-A313-8E38441E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哨望总体架构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09F38E1-03C9-4190-B54E-D78BD7B0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D4DB7AA-2EBE-4AEF-A2BF-B8A9828F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A2A83E69-B64E-42E7-9F3D-3C285B90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0FF227D-AD48-4853-B85D-BA400332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7" name="接入层">
            <a:extLst xmlns:a="http://schemas.openxmlformats.org/drawingml/2006/main">
              <a:ext uri="{FF2B5EF4-FFF2-40B4-BE49-F238E27FC236}">
                <a16:creationId xmlns:a16="http://schemas.microsoft.com/office/drawing/2014/main" id="{0DAAFE8C-EC68-4DAA-B7AB-A84F9EB7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430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接入层</a:t>
            </a:r>
          </a:p>
        </p:txBody>
      </p:sp>
      <p:sp>
        <p:nvSpPr>
          <p:cNvPr id="8" name="Web    MCP 7 工具    OpenAPI    CLI    Agent Plugins">
            <a:extLst xmlns:a="http://schemas.openxmlformats.org/drawingml/2006/main">
              <a:ext uri="{FF2B5EF4-FFF2-40B4-BE49-F238E27FC236}">
                <a16:creationId xmlns:a16="http://schemas.microsoft.com/office/drawing/2014/main" id="{17BF9F80-B423-4044-B920-34EC7467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668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    MCP 7 工具    OpenAPI    CLI    Agent Plugins</a:t>
            </a:r>
          </a:p>
        </p:txBody>
      </p:sp>
      <p:sp>
        <p:nvSpPr>
          <p:cNvPr id="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FD8FFFE-B7D4-4C27-B023-451BED5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BC38C230-F2EF-47EE-A5B0-25FFF8B3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1C188288-7583-4A68-88E9-EAC383C2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2" name="服务层">
            <a:extLst xmlns:a="http://schemas.openxmlformats.org/drawingml/2006/main">
              <a:ext uri="{FF2B5EF4-FFF2-40B4-BE49-F238E27FC236}">
                <a16:creationId xmlns:a16="http://schemas.microsoft.com/office/drawing/2014/main" id="{AD4092A5-0E0F-4718-82ED-F1E61F07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860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3" name="intel-core    GraphRAG    鉴权与结果裁剪">
            <a:extLst xmlns:a="http://schemas.openxmlformats.org/drawingml/2006/main">
              <a:ext uri="{FF2B5EF4-FFF2-40B4-BE49-F238E27FC236}">
                <a16:creationId xmlns:a16="http://schemas.microsoft.com/office/drawing/2014/main" id="{11EE7A8F-66E1-4909-9F45-EAF50A0B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98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    GraphRAG    鉴权与结果裁剪</a:t>
            </a:r>
          </a:p>
        </p:txBody>
      </p:sp>
      <p:sp>
        <p:nvSpPr>
          <p:cNvPr id="1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3F88F42-5C26-4762-BCFA-46C4111A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260129C3-0C46-4A5E-AC09-78EA15B6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9FA5D1C3-B74B-48A6-BAE9-540D17BE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7" name="智能体编排层">
            <a:extLst xmlns:a="http://schemas.openxmlformats.org/drawingml/2006/main">
              <a:ext uri="{FF2B5EF4-FFF2-40B4-BE49-F238E27FC236}">
                <a16:creationId xmlns:a16="http://schemas.microsoft.com/office/drawing/2014/main" id="{DBBD28C3-64B0-4B38-9771-E9C56E22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290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智能体编排层</a:t>
            </a:r>
          </a:p>
        </p:txBody>
      </p:sp>
      <p:sp>
        <p:nvSpPr>
          <p:cNvPr id="18" name="Orchestrator + 8 个角色    LangGraph">
            <a:extLst xmlns:a="http://schemas.openxmlformats.org/drawingml/2006/main">
              <a:ext uri="{FF2B5EF4-FFF2-40B4-BE49-F238E27FC236}">
                <a16:creationId xmlns:a16="http://schemas.microsoft.com/office/drawing/2014/main" id="{97A8D291-5BFE-47FD-84A7-F54DF1BF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Orchestrator + 8 个角色    LangGraph</a:t>
            </a:r>
          </a:p>
        </p:txBody>
      </p:sp>
      <p:sp>
        <p:nvSpPr>
          <p:cNvPr id="1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1F816D0-2392-461E-A2DF-8AF47C13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8442BEF6-1FC5-47E5-A086-CEC0352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C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DD1EE4C9-F269-45FD-AA6E-7DB49D81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2" name="知识层">
            <a:extLst xmlns:a="http://schemas.openxmlformats.org/drawingml/2006/main">
              <a:ext uri="{FF2B5EF4-FFF2-40B4-BE49-F238E27FC236}">
                <a16:creationId xmlns:a16="http://schemas.microsoft.com/office/drawing/2014/main" id="{AB081933-19C6-4892-8D7E-3450703D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7197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3" name="PostgreSQL + pgvector    Neo4j    OpenSearch MinIO    Redis Streams 或 NATS JetStream">
            <a:extLst xmlns:a="http://schemas.openxmlformats.org/drawingml/2006/main">
              <a:ext uri="{FF2B5EF4-FFF2-40B4-BE49-F238E27FC236}">
                <a16:creationId xmlns:a16="http://schemas.microsoft.com/office/drawing/2014/main" id="{DD261728-E21E-4860-A2FD-F8DF2813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9577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PostgreSQL + pgvector    Neo4j    OpenSearch</a:t>
            </a:r>
          </a:p>
          <a:p xmlns:a="http://schemas.openxmlformats.org/drawingml/2006/main">
            <a:pPr algn="l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    Redis Streams 或 NATS JetStream</a:t>
            </a:r>
          </a:p>
        </p:txBody>
      </p:sp>
      <p:sp>
        <p:nvSpPr>
          <p:cNvPr id="2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7832FBAE-F9B8-4D14-8B77-51CB5B7C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D6EAF9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5CB94946-0F2B-4B86-8F7E-433EB086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FF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8776B43-6E7D-499C-AC67-6B006A5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7" name="采集层">
            <a:extLst xmlns:a="http://schemas.openxmlformats.org/drawingml/2006/main">
              <a:ext uri="{FF2B5EF4-FFF2-40B4-BE49-F238E27FC236}">
                <a16:creationId xmlns:a16="http://schemas.microsoft.com/office/drawing/2014/main" id="{0D716F08-F88E-4F9B-AFEB-90D6E0C9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1495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28" name="Connector × N    自有仓库 webhook">
            <a:extLst xmlns:a="http://schemas.openxmlformats.org/drawingml/2006/main">
              <a:ext uri="{FF2B5EF4-FFF2-40B4-BE49-F238E27FC236}">
                <a16:creationId xmlns:a16="http://schemas.microsoft.com/office/drawing/2014/main" id="{649CCD00-E514-450D-AAFC-1E609869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Connector × N    自有仓库 webhook</a:t>
            </a:r>
          </a:p>
        </p:txBody>
      </p:sp>
      <p:sp>
        <p:nvSpPr>
          <p:cNvPr id="29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05D84769-F49C-492B-B2A8-905FC24A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7905750" cy="171450"/>
          </a:xfrm>
          <a:custGeom xmlns:a="http://schemas.openxmlformats.org/drawingml/2006/main">
            <a:pathLst>
              <a:path w="7905750" h="171450">
                <a:moveTo>
                  <a:pt x="0" y="0"/>
                </a:moveTo>
                <a:lnTo>
                  <a:pt x="7715250" y="0"/>
                </a:lnTo>
                <a:lnTo>
                  <a:pt x="7905750" y="171450"/>
                </a:lnTo>
                <a:lnTo>
                  <a:pt x="190500" y="1714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F796DF1E-9B32-450F-8999-6C0F22F4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771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52C160A5-5A8D-48F5-A901-101A4D75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90500" cy="828675"/>
          </a:xfrm>
          <a:custGeom xmlns:a="http://schemas.openxmlformats.org/drawingml/2006/main">
            <a:pathLst>
              <a:path w="190500" h="828675">
                <a:moveTo>
                  <a:pt x="0" y="0"/>
                </a:moveTo>
                <a:lnTo>
                  <a:pt x="190500" y="171450"/>
                </a:lnTo>
                <a:lnTo>
                  <a:pt x="190500" y="828675"/>
                </a:lnTo>
                <a:lnTo>
                  <a:pt x="0" y="657225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32" name="数据源层">
            <a:extLst xmlns:a="http://schemas.openxmlformats.org/drawingml/2006/main">
              <a:ext uri="{FF2B5EF4-FFF2-40B4-BE49-F238E27FC236}">
                <a16:creationId xmlns:a16="http://schemas.microsoft.com/office/drawing/2014/main" id="{49DBDB7D-A8F8-4D27-903C-4079892C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257925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5D8F"/>
                </a:solidFill>
              </a:defRPr>
            </a:pPr>
            <a:r>
              <a:rPr sz="180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数据源层</a:t>
            </a:r>
          </a:p>
        </p:txBody>
      </p:sp>
      <p:sp>
        <p:nvSpPr>
          <p:cNvPr id="33" name="9 类来源    三级可信度    分级轮询">
            <a:extLst xmlns:a="http://schemas.openxmlformats.org/drawingml/2006/main">
              <a:ext uri="{FF2B5EF4-FFF2-40B4-BE49-F238E27FC236}">
                <a16:creationId xmlns:a16="http://schemas.microsoft.com/office/drawing/2014/main" id="{56EBBFCB-3D52-4C82-8B02-2B9D43DD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81725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    三级可信度    分级轮询</a:t>
            </a:r>
          </a:p>
        </p:txBody>
      </p:sp>
      <p:sp>
        <p:nvSpPr>
          <p:cNvPr id="34" name="时效可观测">
            <a:extLst xmlns:a="http://schemas.openxmlformats.org/drawingml/2006/main">
              <a:ext uri="{FF2B5EF4-FFF2-40B4-BE49-F238E27FC236}">
                <a16:creationId xmlns:a16="http://schemas.microsoft.com/office/drawing/2014/main" id="{7FB363F6-C0D1-4C53-BFB1-2A3BDEC2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</a:t>
            </a:r>
          </a:p>
        </p:txBody>
      </p:sp>
      <p:sp>
        <p:nvSpPr>
          <p:cNvPr id="35" name="可信与裁决">
            <a:extLst xmlns:a="http://schemas.openxmlformats.org/drawingml/2006/main">
              <a:ext uri="{FF2B5EF4-FFF2-40B4-BE49-F238E27FC236}">
                <a16:creationId xmlns:a16="http://schemas.microsoft.com/office/drawing/2014/main" id="{EB6C9A98-FD0A-4E99-BEA6-AEE6F32C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90825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可信与裁决</a:t>
            </a:r>
          </a:p>
        </p:txBody>
      </p:sp>
      <p:sp>
        <p:nvSpPr>
          <p:cNvPr id="36" name="合规边界">
            <a:extLst xmlns:a="http://schemas.openxmlformats.org/drawingml/2006/main">
              <a:ext uri="{FF2B5EF4-FFF2-40B4-BE49-F238E27FC236}">
                <a16:creationId xmlns:a16="http://schemas.microsoft.com/office/drawing/2014/main" id="{6B2D1CA5-1F02-4FB6-8C75-1C1B24B8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529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合规边界</a:t>
            </a:r>
          </a:p>
        </p:txBody>
      </p:sp>
      <p:sp>
        <p:nvSpPr>
          <p:cNvPr id="37" name="开放生态">
            <a:extLst xmlns:a="http://schemas.openxmlformats.org/drawingml/2006/main">
              <a:ext uri="{FF2B5EF4-FFF2-40B4-BE49-F238E27FC236}">
                <a16:creationId xmlns:a16="http://schemas.microsoft.com/office/drawing/2014/main" id="{A2B46C0C-14AB-4C97-B2D8-02497376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14975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33E54"/>
                </a:solidFill>
              </a:defRPr>
            </a:pPr>
            <a:r>
              <a:rPr sz="18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开放生态</a:t>
            </a:r>
          </a:p>
        </p:txBody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BE466ECE-137B-45A9-B196-4C8BBD50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45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A5293CFC-82EE-49F3-8E98-B065400D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6743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0931F9DE-BAE7-41C8-861B-0E079F13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6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45008592-3058-41BB-AD25-42F6CDB8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4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PostgreSQL 是事实源；outbox 同步图库与全文索引">
            <a:extLst xmlns:a="http://schemas.openxmlformats.org/drawingml/2006/main">
              <a:ext uri="{FF2B5EF4-FFF2-40B4-BE49-F238E27FC236}">
                <a16:creationId xmlns:a16="http://schemas.microsoft.com/office/drawing/2014/main" id="{2197240E-29C3-4D32-BF0E-0A4195AC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PostgreSQL 是事实源；outbox 同步图库与全文索引</a:t>
            </a:r>
          </a:p>
        </p:txBody>
      </p:sp>
    </p:spTree>
    <p:extLst>
      <p:ext uri="{BB962C8B-B14F-4D97-AF65-F5344CB8AC3E}">
        <p14:creationId xmlns:p14="http://schemas.microsoft.com/office/powerpoint/2010/main" val="850722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8017F2-8198-4D3B-A21B-9A359F91145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715000" y="4610100"/>
            <a:ext cx="0" cy="923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CC598A-1D23-44C5-9287-1196956BAD95}"/>
              </a:ext>
            </a:extLst>
          </p:cNvPr>
          <p:cNvCxnSpPr>
            <a:stCxn xmlns:a="http://schemas.openxmlformats.org/drawingml/2006/main" id="13" idx="4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381875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B6C688-A1ED-4589-A5BA-32066CC1213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3333750" y="2714625"/>
            <a:ext cx="7143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8F5064-386B-480E-BF50-F571D935CA54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204787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D59F70-6908-41B6-8305-07C200E69110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2047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206E4C-FD9C-4DC1-8024-60EA89C4D32D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7000875" y="6248877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0E1D5-6A78-480B-8611-FF3F24FF8960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9382125" y="3429477"/>
            <a:ext cx="953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20AB5-62EF-452C-A464-E4BE4486D66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334703" y="2286477"/>
            <a:ext cx="4761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9" name="F-02">
            <a:extLst xmlns:a="http://schemas.openxmlformats.org/drawingml/2006/main">
              <a:ext uri="{FF2B5EF4-FFF2-40B4-BE49-F238E27FC236}">
                <a16:creationId xmlns:a16="http://schemas.microsoft.com/office/drawing/2014/main" id="{DB37B493-475A-4B29-B561-51E78E9C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F-02</a:t>
            </a:r>
          </a:p>
        </p:txBody>
      </p:sp>
      <p:sp>
        <p:nvSpPr>
          <p:cNvPr id="2" name="监测—富化—问答闭环">
            <a:extLst xmlns:a="http://schemas.openxmlformats.org/drawingml/2006/main">
              <a:ext uri="{FF2B5EF4-FFF2-40B4-BE49-F238E27FC236}">
                <a16:creationId xmlns:a16="http://schemas.microsoft.com/office/drawing/2014/main" id="{9EFDE442-1EAF-4E6A-A85E-FD2D9102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监测—富化—问答闭环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C05B2C3D-F8E2-4DDC-BEB5-1A828E00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C928E8F1-1145-4219-AB15-393C81C8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监测">
            <a:extLst xmlns:a="http://schemas.openxmlformats.org/drawingml/2006/main">
              <a:ext uri="{FF2B5EF4-FFF2-40B4-BE49-F238E27FC236}">
                <a16:creationId xmlns:a16="http://schemas.microsoft.com/office/drawing/2014/main" id="{2EC8B4C2-6262-4530-8FD5-DF5F8AAC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监测</a:t>
            </a:r>
          </a:p>
        </p:txBody>
      </p:sp>
      <p:sp>
        <p:nvSpPr>
          <p:cNvPr id="6" name="9 类来源 持续发现与归一">
            <a:extLst xmlns:a="http://schemas.openxmlformats.org/drawingml/2006/main">
              <a:ext uri="{FF2B5EF4-FFF2-40B4-BE49-F238E27FC236}">
                <a16:creationId xmlns:a16="http://schemas.microsoft.com/office/drawing/2014/main" id="{DDEBFDE2-431F-485A-BD86-0D40F5E5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类来源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持续发现与归一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AFFA48EA-39AB-4501-A73F-B626EF41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富化">
            <a:extLst xmlns:a="http://schemas.openxmlformats.org/drawingml/2006/main">
              <a:ext uri="{FF2B5EF4-FFF2-40B4-BE49-F238E27FC236}">
                <a16:creationId xmlns:a16="http://schemas.microsoft.com/office/drawing/2014/main" id="{080F1AE9-DCDF-462B-8D16-09AD8D87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9" name="9 个维度 实体、关系与证据">
            <a:extLst xmlns:a="http://schemas.openxmlformats.org/drawingml/2006/main">
              <a:ext uri="{FF2B5EF4-FFF2-40B4-BE49-F238E27FC236}">
                <a16:creationId xmlns:a16="http://schemas.microsoft.com/office/drawing/2014/main" id="{D3678B34-DA0A-444E-B669-51D77924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24125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个维度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实体、关系与证据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06D32252-3676-4EE0-82DC-D34A00FC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34025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问答">
            <a:extLst xmlns:a="http://schemas.openxmlformats.org/drawingml/2006/main">
              <a:ext uri="{FF2B5EF4-FFF2-40B4-BE49-F238E27FC236}">
                <a16:creationId xmlns:a16="http://schemas.microsoft.com/office/drawing/2014/main" id="{56F75072-DADD-4422-A253-9A8B2C94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6292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12" name="逐句引用 回答与版本自查">
            <a:extLst xmlns:a="http://schemas.openxmlformats.org/drawingml/2006/main">
              <a:ext uri="{FF2B5EF4-FFF2-40B4-BE49-F238E27FC236}">
                <a16:creationId xmlns:a16="http://schemas.microsoft.com/office/drawing/2014/main" id="{A50B3B1F-03FD-447D-99E1-AD67EA95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057900"/>
            <a:ext cx="2343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逐句引用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回答与版本自查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89F5FE1A-0899-47CF-8B21-8C50CB04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86100"/>
            <a:ext cx="3333750" cy="1524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知识图谱与事实库">
            <a:extLst xmlns:a="http://schemas.openxmlformats.org/drawingml/2006/main">
              <a:ext uri="{FF2B5EF4-FFF2-40B4-BE49-F238E27FC236}">
                <a16:creationId xmlns:a16="http://schemas.microsoft.com/office/drawing/2014/main" id="{603F249E-0F6B-45A0-8942-7157B70A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71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知识图谱与事实库</a:t>
            </a:r>
          </a:p>
        </p:txBody>
      </p:sp>
      <p:sp>
        <p:nvSpPr>
          <p:cNvPr id="15" name="事实版本与可追溯证据">
            <a:extLst xmlns:a="http://schemas.openxmlformats.org/drawingml/2006/main">
              <a:ext uri="{FF2B5EF4-FFF2-40B4-BE49-F238E27FC236}">
                <a16:creationId xmlns:a16="http://schemas.microsoft.com/office/drawing/2014/main" id="{34A6817D-AE2A-4E4D-A4D9-021E0232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00475"/>
            <a:ext cx="310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事实版本与可追溯证据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CD5B3B99-8B20-41BF-95A3-25B26455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CE188B48-90C5-464E-9A5E-75294076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归并后的事件">
            <a:extLst xmlns:a="http://schemas.openxmlformats.org/drawingml/2006/main">
              <a:ext uri="{FF2B5EF4-FFF2-40B4-BE49-F238E27FC236}">
                <a16:creationId xmlns:a16="http://schemas.microsoft.com/office/drawing/2014/main" id="{C0556F4C-A1EE-4832-B59F-0F7CC7EF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192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77DC3"/>
                </a:solidFill>
              </a:defRPr>
            </a:pPr>
            <a:r>
              <a:rPr sz="165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归并后的事件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D559EB18-FA95-4105-BF69-D4B0EDD1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6B8DB1B3-962F-4D08-866D-D1F05D44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D348EFFF-4F82-416A-A775-BE873A61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D48E4246-B888-4BB8-BE9E-226EE6FD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FD52EAEF-379B-456D-8FF0-5FF5004E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42D089BC-EF84-4AA5-8105-15C3F74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1F46DFE7-4B8E-421E-9EE5-569F818A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4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877C7E96-133B-469E-901E-21398C7E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F5CD48A0-8C93-4BC1-B3A5-D680D26E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906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36" name="版本自查">
            <a:extLst xmlns:a="http://schemas.openxmlformats.org/drawingml/2006/main">
              <a:ext uri="{FF2B5EF4-FFF2-40B4-BE49-F238E27FC236}">
                <a16:creationId xmlns:a16="http://schemas.microsoft.com/office/drawing/2014/main" id="{6966E342-3E55-4DF6-BB24-68A4BEEB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版本自查</a:t>
            </a:r>
          </a:p>
        </p:txBody>
      </p:sp>
      <p:sp>
        <p:nvSpPr>
          <p:cNvPr id="37" name="MCP 开放">
            <a:extLst xmlns:a="http://schemas.openxmlformats.org/drawingml/2006/main">
              <a:ext uri="{FF2B5EF4-FFF2-40B4-BE49-F238E27FC236}">
                <a16:creationId xmlns:a16="http://schemas.microsoft.com/office/drawing/2014/main" id="{334345A6-3720-4C4C-8391-DC1FA987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86300"/>
            <a:ext cx="1676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MCP 开放</a:t>
            </a:r>
          </a:p>
        </p:txBody>
      </p:sp>
      <p:sp>
        <p:nvSpPr>
          <p:cNvPr id="38" name="时效可观测贯穿发现、富化、校验与服务">
            <a:extLst xmlns:a="http://schemas.openxmlformats.org/drawingml/2006/main">
              <a:ext uri="{FF2B5EF4-FFF2-40B4-BE49-F238E27FC236}">
                <a16:creationId xmlns:a16="http://schemas.microsoft.com/office/drawing/2014/main" id="{49B48B6B-07EB-498F-AC9E-53D38E06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时效可观测贯穿发现、富化、校验与服务</a:t>
            </a:r>
          </a:p>
        </p:txBody>
      </p:sp>
    </p:spTree>
    <p:extLst>
      <p:ext uri="{BB962C8B-B14F-4D97-AF65-F5344CB8AC3E}">
        <p14:creationId xmlns:p14="http://schemas.microsoft.com/office/powerpoint/2010/main" val="2099578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628B7-2503-45B4-BE97-7EF9382E2444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382078" y="4096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A7082-8402-4FAB-A9C0-68F02264E83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1662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7D477-CC4F-4610-8002-1D0131514A3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7870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054CA-0671-43DA-8052-0F7660D565A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9117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43B98-AAE4-40FF-BCBC-F1D566A0DBB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03650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AE578-EA54-4475-B951-2F6258307F5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16125" y="19145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7" name="F-03">
            <a:extLst xmlns:a="http://schemas.openxmlformats.org/drawingml/2006/main">
              <a:ext uri="{FF2B5EF4-FFF2-40B4-BE49-F238E27FC236}">
                <a16:creationId xmlns:a16="http://schemas.microsoft.com/office/drawing/2014/main" id="{DF82D640-0046-4801-97C1-D132450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F-03</a:t>
            </a:r>
          </a:p>
        </p:txBody>
      </p:sp>
      <p:sp>
        <p:nvSpPr>
          <p:cNvPr id="2" name="端到端数据流与阶段时间戳">
            <a:extLst xmlns:a="http://schemas.openxmlformats.org/drawingml/2006/main">
              <a:ext uri="{FF2B5EF4-FFF2-40B4-BE49-F238E27FC236}">
                <a16:creationId xmlns:a16="http://schemas.microsoft.com/office/drawing/2014/main" id="{5B7B4092-C23C-4D2A-804F-4780BB38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端到端数据流与阶段时间戳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F3749CD9-D85D-41FC-9B53-5424535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采集">
            <a:extLst xmlns:a="http://schemas.openxmlformats.org/drawingml/2006/main">
              <a:ext uri="{FF2B5EF4-FFF2-40B4-BE49-F238E27FC236}">
                <a16:creationId xmlns:a16="http://schemas.microsoft.com/office/drawing/2014/main" id="{302A9CA6-4411-4BCE-8927-3AB5160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5" name="归一">
            <a:extLst xmlns:a="http://schemas.openxmlformats.org/drawingml/2006/main">
              <a:ext uri="{FF2B5EF4-FFF2-40B4-BE49-F238E27FC236}">
                <a16:creationId xmlns:a16="http://schemas.microsoft.com/office/drawing/2014/main" id="{5A8D5C01-C379-4577-BA22-77AC3C95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775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</a:t>
            </a:r>
          </a:p>
        </p:txBody>
      </p:sp>
      <p:sp>
        <p:nvSpPr>
          <p:cNvPr id="6" name="富化">
            <a:extLst xmlns:a="http://schemas.openxmlformats.org/drawingml/2006/main">
              <a:ext uri="{FF2B5EF4-FFF2-40B4-BE49-F238E27FC236}">
                <a16:creationId xmlns:a16="http://schemas.microsoft.com/office/drawing/2014/main" id="{0CFF92A5-FA0B-4E3D-91DB-097BA2E7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7" name="校验">
            <a:extLst xmlns:a="http://schemas.openxmlformats.org/drawingml/2006/main">
              <a:ext uri="{FF2B5EF4-FFF2-40B4-BE49-F238E27FC236}">
                <a16:creationId xmlns:a16="http://schemas.microsoft.com/office/drawing/2014/main" id="{0F328458-D4E2-4242-B9C7-1D273ED8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8" name="存储">
            <a:extLst xmlns:a="http://schemas.openxmlformats.org/drawingml/2006/main">
              <a:ext uri="{FF2B5EF4-FFF2-40B4-BE49-F238E27FC236}">
                <a16:creationId xmlns:a16="http://schemas.microsoft.com/office/drawing/2014/main" id="{4A17E120-A5F7-4103-8219-4179740A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存储</a:t>
            </a:r>
          </a:p>
        </p:txBody>
      </p:sp>
      <p:sp>
        <p:nvSpPr>
          <p:cNvPr id="9" name="服务">
            <a:extLst xmlns:a="http://schemas.openxmlformats.org/drawingml/2006/main">
              <a:ext uri="{FF2B5EF4-FFF2-40B4-BE49-F238E27FC236}">
                <a16:creationId xmlns:a16="http://schemas.microsoft.com/office/drawing/2014/main" id="{1F7EE15F-45F8-4F22-8D3D-9B7F296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875" y="1466850"/>
            <a:ext cx="15398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EB9ABB13-2FF2-426B-B2D6-E9CFA31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4B3B2486-3DF0-42E6-B511-01F13FBA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63926BC0-7E6B-429D-9322-37B553F4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198C281B-3396-4CA9-854F-3337C929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74AFA4B2-227A-42FB-8850-79300E06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9BF96FDC-BA68-456E-A6E4-C71D3734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077F89D9-6864-4BF1-85F9-06FAFC44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1C1B4F6A-220C-4807-81AD-6AE1CDAC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8FC46760-3263-4FB2-8DE8-54C3E2C1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4F7630EF-D90F-4D07-ADA6-DFB83DBC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573DE890-492C-4AD9-8114-B18AB9B0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可查询">
            <a:extLst xmlns:a="http://schemas.openxmlformats.org/drawingml/2006/main">
              <a:ext uri="{FF2B5EF4-FFF2-40B4-BE49-F238E27FC236}">
                <a16:creationId xmlns:a16="http://schemas.microsoft.com/office/drawing/2014/main" id="{243AC76D-C1CB-4215-A3DE-51036D5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29000"/>
            <a:ext cx="182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5D8F"/>
                </a:solidFill>
              </a:defRPr>
            </a:pPr>
            <a:r>
              <a:rPr sz="187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28" name="source_published_at">
            <a:extLst xmlns:a="http://schemas.openxmlformats.org/drawingml/2006/main">
              <a:ext uri="{FF2B5EF4-FFF2-40B4-BE49-F238E27FC236}">
                <a16:creationId xmlns:a16="http://schemas.microsoft.com/office/drawing/2014/main" id="{9CACF585-2892-4033-8EC6-AE291047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source_published_at</a:t>
            </a:r>
          </a:p>
        </p:txBody>
      </p:sp>
      <p:sp>
        <p:nvSpPr>
          <p:cNvPr id="29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324712B3-F122-4B6F-A6CF-9A94CBAC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30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25E2ED31-C1D3-40D7-91BC-66213A03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31" name="enriched_at">
            <a:extLst xmlns:a="http://schemas.openxmlformats.org/drawingml/2006/main">
              <a:ext uri="{FF2B5EF4-FFF2-40B4-BE49-F238E27FC236}">
                <a16:creationId xmlns:a16="http://schemas.microsoft.com/office/drawing/2014/main" id="{C8FE594C-4D4F-46EB-82E1-7A682D64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32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2D47E419-F377-4C77-8F43-9CC6FABB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624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33" name="采集时延">
            <a:extLst xmlns:a="http://schemas.openxmlformats.org/drawingml/2006/main">
              <a:ext uri="{FF2B5EF4-FFF2-40B4-BE49-F238E27FC236}">
                <a16:creationId xmlns:a16="http://schemas.microsoft.com/office/drawing/2014/main" id="{1501802B-ECCA-4B82-84C6-7A52496E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286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</p:txBody>
      </p:sp>
      <p:sp>
        <p:nvSpPr>
          <p:cNvPr id="34" name="处理时延">
            <a:extLst xmlns:a="http://schemas.openxmlformats.org/drawingml/2006/main">
              <a:ext uri="{FF2B5EF4-FFF2-40B4-BE49-F238E27FC236}">
                <a16:creationId xmlns:a16="http://schemas.microsoft.com/office/drawing/2014/main" id="{8F911329-F803-41C3-838C-2BEE0511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7620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</p:txBody>
      </p:sp>
      <p:sp>
        <p:nvSpPr>
          <p:cNvPr id="35" name="端到端时延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55617249-661F-4A9F-9314-2B8B2033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09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端到端时延目标值 ≤6 h（待测）</a:t>
            </a:r>
          </a:p>
        </p:txBody>
      </p:sp>
      <p:sp>
        <p:nvSpPr>
          <p:cNvPr id="36" name="漏洞类首次发现纳入统计；日更源单列；DEMO 不计">
            <a:extLst xmlns:a="http://schemas.openxmlformats.org/drawingml/2006/main">
              <a:ext uri="{FF2B5EF4-FFF2-40B4-BE49-F238E27FC236}">
                <a16:creationId xmlns:a16="http://schemas.microsoft.com/office/drawing/2014/main" id="{89947661-7D3E-4215-A4CB-09BF295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漏洞类首次发现纳入统计；日更源单列；DEMO 不计</a:t>
            </a:r>
          </a:p>
        </p:txBody>
      </p:sp>
    </p:spTree>
    <p:extLst>
      <p:ext uri="{BB962C8B-B14F-4D97-AF65-F5344CB8AC3E}">
        <p14:creationId xmlns:p14="http://schemas.microsoft.com/office/powerpoint/2010/main" val="2102226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8DEF62-02F4-499D-BD3F-AD54AAAE5DDB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9473566" y="64584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941BEC-E67D-4137-B31A-F3D5B1D29CC7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8221028" y="5934552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3C1814-914D-40A0-8D1C-9B451343C423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6968491" y="541067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AFA7C6-5FC9-4BD6-B343-9F333C775434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5715953" y="4886802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A6FE35-383B-4A25-A163-714F7163C42F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463416" y="43629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445198-D051-4FD6-9AA9-04AE3A9E391D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3210878" y="3839052"/>
            <a:ext cx="125158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7FDBED-4287-4885-8CF9-B2A9EEAD2797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05803" y="3315177"/>
            <a:ext cx="250412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64022A-6DF1-4437-9D55-78095EC63C08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704850" y="2791302"/>
            <a:ext cx="25060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54ED66-89EC-4969-8034-5C995D7C491A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958341" y="2267427"/>
            <a:ext cx="125158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D2BD74-9445-4FA4-B61F-BAA085EF7B09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10725150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F2F008-5717-49D4-B7EA-ABDBA73AF48C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9472613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0D2DC-8075-4062-A504-D3939C17491D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8220075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D425D-BC8F-42EB-A7F1-7BE91D45AD8E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6967538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2C7CF-643A-452E-A36B-3B0FF42B57E7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5715000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7B349-969C-499A-B675-FE82283257F6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4462463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3DAC6-948D-47AC-9CB8-E504A52A1BB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3209925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A71C8-277E-4322-9A8C-6E80D263DBB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1957388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C4F00-05E8-4396-BD74-6DA70C0E462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704850" y="1924527"/>
            <a:ext cx="953" cy="49530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A6C4DB"/>
            </a:solidFill>
            <a:prstDash val="dash"/>
          </a:ln>
        </p:spPr>
      </p:cxnSp>
      <p:sp>
        <p:nvSpPr>
          <p:cNvPr id="77" name="F-04">
            <a:extLst xmlns:a="http://schemas.openxmlformats.org/drawingml/2006/main">
              <a:ext uri="{FF2B5EF4-FFF2-40B4-BE49-F238E27FC236}">
                <a16:creationId xmlns:a16="http://schemas.microsoft.com/office/drawing/2014/main" id="{430CE952-4711-4344-822D-03C76233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F-04</a:t>
            </a:r>
          </a:p>
        </p:txBody>
      </p:sp>
      <p:sp>
        <p:nvSpPr>
          <p:cNvPr id="2" name="一条新公告从发布到可问答的时序">
            <a:extLst xmlns:a="http://schemas.openxmlformats.org/drawingml/2006/main">
              <a:ext uri="{FF2B5EF4-FFF2-40B4-BE49-F238E27FC236}">
                <a16:creationId xmlns:a16="http://schemas.microsoft.com/office/drawing/2014/main" id="{4869DEC2-E80A-42D3-87E8-B3522495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一条新公告从发布到可问答的时序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E0EB73B-F5F5-43DB-9B21-8FC705D4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厂商仓库">
            <a:extLst xmlns:a="http://schemas.openxmlformats.org/drawingml/2006/main">
              <a:ext uri="{FF2B5EF4-FFF2-40B4-BE49-F238E27FC236}">
                <a16:creationId xmlns:a16="http://schemas.microsoft.com/office/drawing/2014/main" id="{74373669-CDDF-4E07-8B0D-D87414FF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厂商仓库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29E46DFA-C1FD-4F17-BAD0-6033AC65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4ADFB11E-712D-428B-B802-CB9405B2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9F5B363E-2A89-485B-8ED6-6E8E22C4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8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3E54"/>
                </a:solidFill>
              </a:defRPr>
            </a:pPr>
            <a:r>
              <a:rPr sz="12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934587E3-63E4-4CCE-9FC0-B90E908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594E54C2-6C2E-4E41-BA3C-9E1B727B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Collector">
            <a:extLst xmlns:a="http://schemas.openxmlformats.org/drawingml/2006/main">
              <a:ext uri="{FF2B5EF4-FFF2-40B4-BE49-F238E27FC236}">
                <a16:creationId xmlns:a16="http://schemas.microsoft.com/office/drawing/2014/main" id="{602B8E3D-7468-4EC7-9540-817CDA5E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Collector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C4B4ECB5-9ECD-44E9-BF29-AF8B8316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482BE4C3-ABD1-4BF4-A791-F2913F9E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Triage">
            <a:extLst xmlns:a="http://schemas.openxmlformats.org/drawingml/2006/main">
              <a:ext uri="{FF2B5EF4-FFF2-40B4-BE49-F238E27FC236}">
                <a16:creationId xmlns:a16="http://schemas.microsoft.com/office/drawing/2014/main" id="{B7E1B5B5-C891-4D34-AFA4-BB9D644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Triage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D3120045-C081-403E-87B6-7279A335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33101735-83BF-48DF-80A4-E5371494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Enricher">
            <a:extLst xmlns:a="http://schemas.openxmlformats.org/drawingml/2006/main">
              <a:ext uri="{FF2B5EF4-FFF2-40B4-BE49-F238E27FC236}">
                <a16:creationId xmlns:a16="http://schemas.microsoft.com/office/drawing/2014/main" id="{DECCBDE1-86A1-497E-B857-482DB575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BA5B5321-305C-4A11-9B03-D3988228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2D255B56-42BD-4C34-8B83-CBEF8590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Critic">
            <a:extLst xmlns:a="http://schemas.openxmlformats.org/drawingml/2006/main">
              <a:ext uri="{FF2B5EF4-FFF2-40B4-BE49-F238E27FC236}">
                <a16:creationId xmlns:a16="http://schemas.microsoft.com/office/drawing/2014/main" id="{D15442B6-7305-4A3A-8D5B-F32F8D58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038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DA994EFC-7F2B-44F9-8D04-35186D95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D0907A2C-508E-444A-AA97-CD4893CE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GraphWriter">
            <a:extLst xmlns:a="http://schemas.openxmlformats.org/drawingml/2006/main">
              <a:ext uri="{FF2B5EF4-FFF2-40B4-BE49-F238E27FC236}">
                <a16:creationId xmlns:a16="http://schemas.microsoft.com/office/drawing/2014/main" id="{5C272A6A-E2DF-40E9-8897-E83B3B14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33E54"/>
                </a:solidFill>
              </a:defRPr>
            </a:pPr>
            <a:r>
              <a:rPr sz="127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GraphWriter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E9A5E9A2-88CA-43A8-ACFB-A281AE7A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A45CAE80-4709-4516-8D5C-C2E11779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ssessor">
            <a:extLst xmlns:a="http://schemas.openxmlformats.org/drawingml/2006/main">
              <a:ext uri="{FF2B5EF4-FFF2-40B4-BE49-F238E27FC236}">
                <a16:creationId xmlns:a16="http://schemas.microsoft.com/office/drawing/2014/main" id="{F19E63B2-53BC-47DD-84AB-6543CA0F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113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Assessor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F5C6C3F1-C807-4E7F-BD90-57379D45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A3EFEFD5-B8ED-49BA-8E26-9D291FDF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F4567193-CC14-40AD-850F-5E229FBB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228725"/>
            <a:ext cx="1143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4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33E54"/>
                </a:solidFill>
              </a:defRPr>
            </a:pPr>
            <a:r>
              <a:rPr sz="14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编码智能体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E538449D-A78E-4F17-92D4-BD789B43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92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B59A7946-3809-47F6-A29F-02224774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877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60199086-38CC-4E02-95C3-C6C109A1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13D39BFA-30FA-4E87-9375-5E26CAE4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定时派发">
            <a:extLst xmlns:a="http://schemas.openxmlformats.org/drawingml/2006/main">
              <a:ext uri="{FF2B5EF4-FFF2-40B4-BE49-F238E27FC236}">
                <a16:creationId xmlns:a16="http://schemas.microsoft.com/office/drawing/2014/main" id="{E3056F65-7B3A-49EE-A26A-AF71ECE2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3" y="194310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定时派发</a:t>
            </a:r>
          </a:p>
        </p:txBody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A2A7DF53-A481-4AF5-B19D-95FD23CE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F4D63A12-8CD2-4164-9A44-5A8AF802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增量轮询">
            <a:extLst xmlns:a="http://schemas.openxmlformats.org/drawingml/2006/main">
              <a:ext uri="{FF2B5EF4-FFF2-40B4-BE49-F238E27FC236}">
                <a16:creationId xmlns:a16="http://schemas.microsoft.com/office/drawing/2014/main" id="{57E90CBA-3F2A-4E42-A97D-DB177751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66975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增量轮询</a:t>
            </a:r>
          </a:p>
        </p:txBody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16E66F73-7428-4F9A-AABB-A3680FB0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F9E16256-97DA-49F0-B7B5-430352D7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公告内容">
            <a:extLst xmlns:a="http://schemas.openxmlformats.org/drawingml/2006/main">
              <a:ext uri="{FF2B5EF4-FFF2-40B4-BE49-F238E27FC236}">
                <a16:creationId xmlns:a16="http://schemas.microsoft.com/office/drawing/2014/main" id="{5ED60EB5-A84B-444B-8BE1-233ED6A5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99085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公告内容</a:t>
            </a:r>
          </a:p>
        </p:txBody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94E36FED-3D1C-4EAF-925B-ED1C4BB3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D36E94A3-4F40-46CE-B22C-28593374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RawEvent">
            <a:extLst xmlns:a="http://schemas.openxmlformats.org/drawingml/2006/main">
              <a:ext uri="{FF2B5EF4-FFF2-40B4-BE49-F238E27FC236}">
                <a16:creationId xmlns:a16="http://schemas.microsoft.com/office/drawing/2014/main" id="{D79AA8B3-9A2C-4424-812E-B714FF97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14725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RawEvent</a:t>
            </a:r>
          </a:p>
        </p:txBody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D01DC02D-0F39-416F-A024-43EB3FF1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6751FD9D-996D-4B4F-9835-FBC8980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归一结果">
            <a:extLst xmlns:a="http://schemas.openxmlformats.org/drawingml/2006/main">
              <a:ext uri="{FF2B5EF4-FFF2-40B4-BE49-F238E27FC236}">
                <a16:creationId xmlns:a16="http://schemas.microsoft.com/office/drawing/2014/main" id="{9A513128-0C09-4DF2-888A-EB720F0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588" y="403860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归一结果</a:t>
            </a:r>
          </a:p>
        </p:txBody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6D586C2D-6382-4BCA-9166-443FF1EB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86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C3E81C67-6A55-4CB0-A69F-810C433D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4886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富化产出">
            <a:extLst xmlns:a="http://schemas.openxmlformats.org/drawingml/2006/main">
              <a:ext uri="{FF2B5EF4-FFF2-40B4-BE49-F238E27FC236}">
                <a16:creationId xmlns:a16="http://schemas.microsoft.com/office/drawing/2014/main" id="{80DBF65B-9B71-4350-B22C-FCFE044C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62475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富化产出</a:t>
            </a:r>
          </a:p>
        </p:txBody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5EF8BE3C-8E51-4AF3-9940-C4B1F9BB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538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4151096A-05AE-411A-A936-74E45195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校验通过">
            <a:extLst xmlns:a="http://schemas.openxmlformats.org/drawingml/2006/main">
              <a:ext uri="{FF2B5EF4-FFF2-40B4-BE49-F238E27FC236}">
                <a16:creationId xmlns:a16="http://schemas.microsoft.com/office/drawing/2014/main" id="{75B4F307-66C1-4766-93B8-EA78CECB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508635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校验通过</a:t>
            </a:r>
          </a:p>
        </p:txBody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205E9CCA-0601-47F0-9567-6E83A303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93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3FEF3BD3-7522-40A9-B26D-5762B3F1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593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BEB14096-5747-4B32-BF81-EE61AE29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10225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E3EE4DCD-7E6C-4CFA-8E2E-9C2C93E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645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C98D0918-B911-46EF-BBE6-20A67308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45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经 Critic 返回">
            <a:extLst xmlns:a="http://schemas.openxmlformats.org/drawingml/2006/main">
              <a:ext uri="{FF2B5EF4-FFF2-40B4-BE49-F238E27FC236}">
                <a16:creationId xmlns:a16="http://schemas.microsoft.com/office/drawing/2014/main" id="{CF9165B5-239A-41CC-A923-654B413D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6134100"/>
            <a:ext cx="15382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33E54"/>
                </a:solidFill>
              </a:defRPr>
            </a:pPr>
            <a:r>
              <a:rPr sz="13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经 Critic 返回</a:t>
            </a:r>
          </a:p>
        </p:txBody>
      </p:sp>
      <p:sp>
        <p:nvSpPr>
          <p:cNvPr id="76" name="演示注入 / 自有仓库 webhook 验签后触发立即 poll；DEMO 单列">
            <a:extLst xmlns:a="http://schemas.openxmlformats.org/drawingml/2006/main">
              <a:ext uri="{FF2B5EF4-FFF2-40B4-BE49-F238E27FC236}">
                <a16:creationId xmlns:a16="http://schemas.microsoft.com/office/drawing/2014/main" id="{CC8E9CCE-CA1F-4046-A53E-53BFA1A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演示注入 / 自有仓库 webhook 验签后触发立即 poll；DEMO 单列</a:t>
            </a:r>
          </a:p>
        </p:txBody>
      </p:sp>
    </p:spTree>
    <p:extLst>
      <p:ext uri="{BB962C8B-B14F-4D97-AF65-F5344CB8AC3E}">
        <p14:creationId xmlns:p14="http://schemas.microsoft.com/office/powerpoint/2010/main" val="252085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7A324E-C825-4674-B5D8-F522C2865A65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872038" y="5857875"/>
            <a:ext cx="852488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C9966E-EDD0-4788-87C0-37991B1201DC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6038850" y="5248275"/>
            <a:ext cx="1057275" cy="204788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4D9270-0E8A-47C5-8D2F-7D93C08156B8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76550" y="54530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43862C-3AB7-4BF1-8C53-69ED73BFE66D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1781175" y="4305300"/>
            <a:ext cx="61912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3F84A4-1D1B-41C4-9CDC-420C5379BD64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429625" y="38862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ECB6F-7B24-477E-8F91-7E781E6718B6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4114800" y="3286125"/>
            <a:ext cx="298132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0C1EC-71BE-454B-8E5C-7437BB3A53D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8429625" y="238172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84CEC-E1C6-4EF4-BD79-49F78306B1C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8429625" y="2381727"/>
            <a:ext cx="1039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7EB61-ECAB-42F6-8436-243D512A499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9467850" y="1905477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51E56-086C-46CA-AC74-C7E5D7FAFBF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5962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1563B-C5B4-42F8-B89C-FBB58290B50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08375" y="1581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7" name="F-05">
            <a:extLst xmlns:a="http://schemas.openxmlformats.org/drawingml/2006/main">
              <a:ext uri="{FF2B5EF4-FFF2-40B4-BE49-F238E27FC236}">
                <a16:creationId xmlns:a16="http://schemas.microsoft.com/office/drawing/2014/main" id="{EF5D3087-2602-4996-BE20-DFDB2AE0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F-05</a:t>
            </a:r>
          </a:p>
        </p:txBody>
      </p:sp>
      <p:sp>
        <p:nvSpPr>
          <p:cNvPr id="2" name="查询请求的处理路径">
            <a:extLst xmlns:a="http://schemas.openxmlformats.org/drawingml/2006/main">
              <a:ext uri="{FF2B5EF4-FFF2-40B4-BE49-F238E27FC236}">
                <a16:creationId xmlns:a16="http://schemas.microsoft.com/office/drawing/2014/main" id="{1630C08F-3714-4868-A44C-1E0BEE5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查询请求的处理路径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2DA753DE-C5A5-434C-9E3F-2146B215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BCC7DF56-37CC-4A11-B057-8825E643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57300"/>
            <a:ext cx="288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编码智能体</a:t>
            </a:r>
          </a:p>
        </p:txBody>
      </p:sp>
      <p:sp>
        <p:nvSpPr>
          <p:cNvPr id="5" name="/mcp">
            <a:extLst xmlns:a="http://schemas.openxmlformats.org/drawingml/2006/main">
              <a:ext uri="{FF2B5EF4-FFF2-40B4-BE49-F238E27FC236}">
                <a16:creationId xmlns:a16="http://schemas.microsoft.com/office/drawing/2014/main" id="{7CB8A256-AC5F-4969-AADF-BC166DA2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1257300"/>
            <a:ext cx="288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6" name="intel-core">
            <a:extLst xmlns:a="http://schemas.openxmlformats.org/drawingml/2006/main">
              <a:ext uri="{FF2B5EF4-FFF2-40B4-BE49-F238E27FC236}">
                <a16:creationId xmlns:a16="http://schemas.microsoft.com/office/drawing/2014/main" id="{21E811B6-4E03-4F69-B90B-1BF87C0F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1257300"/>
            <a:ext cx="2889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9" name="凭据 / scope / 限流 / 审计">
            <a:extLst xmlns:a="http://schemas.openxmlformats.org/drawingml/2006/main">
              <a:ext uri="{FF2B5EF4-FFF2-40B4-BE49-F238E27FC236}">
                <a16:creationId xmlns:a16="http://schemas.microsoft.com/office/drawing/2014/main" id="{F86BB5F1-1690-4E9B-A895-660585CB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9775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57D8E"/>
                </a:solidFill>
              </a:defRPr>
            </a:pPr>
            <a:r>
              <a:rPr sz="157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凭据 / scope / 限流 / 审计</a:t>
            </a:r>
          </a:p>
        </p:txBody>
      </p:sp>
      <p:sp>
        <p:nvSpPr>
          <p:cNvPr id="10" name="耗时估计">
            <a:extLst xmlns:a="http://schemas.openxmlformats.org/drawingml/2006/main">
              <a:ext uri="{FF2B5EF4-FFF2-40B4-BE49-F238E27FC236}">
                <a16:creationId xmlns:a16="http://schemas.microsoft.com/office/drawing/2014/main" id="{91A0A683-1513-4031-9C16-1C9C2A27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2667000" cy="1200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67A20"/>
                </a:solidFill>
              </a:defRPr>
            </a:pPr>
            <a:r>
              <a:rPr sz="19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耗时估计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89C4327E-C37E-42AD-B5B2-9DF7EDDA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AEF255C1-1992-45A6-95B3-0FA38BA6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9CDEB219-011E-4AAE-93D4-754C43DB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D2ECBEE9-170A-427B-80C7-4E218325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00731C9C-69FF-450C-84BA-A735F338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5D288A14-845F-40E3-93E6-100DC504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C0B8E7A7-7F47-4147-839F-A08E7A6C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429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同步求解">
            <a:extLst xmlns:a="http://schemas.openxmlformats.org/drawingml/2006/main">
              <a:ext uri="{FF2B5EF4-FFF2-40B4-BE49-F238E27FC236}">
                <a16:creationId xmlns:a16="http://schemas.microsoft.com/office/drawing/2014/main" id="{916910A2-418D-4DB7-B381-645B6253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同步求解</a:t>
            </a:r>
          </a:p>
        </p:txBody>
      </p:sp>
      <p:sp>
        <p:nvSpPr>
          <p:cNvPr id="22" name="版本 / QA + Critic">
            <a:extLst xmlns:a="http://schemas.openxmlformats.org/drawingml/2006/main">
              <a:ext uri="{FF2B5EF4-FFF2-40B4-BE49-F238E27FC236}">
                <a16:creationId xmlns:a16="http://schemas.microsoft.com/office/drawing/2014/main" id="{DFCC45E0-3C2C-404B-9EE2-CE8C4FA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32004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 / QA + Critic</a:t>
            </a:r>
          </a:p>
        </p:txBody>
      </p:sp>
      <p:sp>
        <p:nvSpPr>
          <p:cNvPr id="24" name="≤60 s">
            <a:extLst xmlns:a="http://schemas.openxmlformats.org/drawingml/2006/main">
              <a:ext uri="{FF2B5EF4-FFF2-40B4-BE49-F238E27FC236}">
                <a16:creationId xmlns:a16="http://schemas.microsoft.com/office/drawing/2014/main" id="{66AE1D60-D7E5-4A9E-83AF-C9470BDA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≤60 s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E20F1334-3133-4C44-B2A8-FE91170D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482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6" name="TaskHandle">
            <a:extLst xmlns:a="http://schemas.openxmlformats.org/drawingml/2006/main">
              <a:ext uri="{FF2B5EF4-FFF2-40B4-BE49-F238E27FC236}">
                <a16:creationId xmlns:a16="http://schemas.microsoft.com/office/drawing/2014/main" id="{24ADFB84-39AD-4D3B-87E5-D8447E5D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TaskHandle</a:t>
            </a:r>
          </a:p>
        </p:txBody>
      </p:sp>
      <p:sp>
        <p:nvSpPr>
          <p:cNvPr id="27" name="get_task_result">
            <a:extLst xmlns:a="http://schemas.openxmlformats.org/drawingml/2006/main">
              <a:ext uri="{FF2B5EF4-FFF2-40B4-BE49-F238E27FC236}">
                <a16:creationId xmlns:a16="http://schemas.microsoft.com/office/drawing/2014/main" id="{76CF5ECC-56E4-427D-9447-408A71A1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172075"/>
            <a:ext cx="2438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get_task_result</a:t>
            </a:r>
          </a:p>
        </p:txBody>
      </p:sp>
      <p:sp>
        <p:nvSpPr>
          <p:cNvPr id="29" name="&gt;60 s">
            <a:extLst xmlns:a="http://schemas.openxmlformats.org/drawingml/2006/main">
              <a:ext uri="{FF2B5EF4-FFF2-40B4-BE49-F238E27FC236}">
                <a16:creationId xmlns:a16="http://schemas.microsoft.com/office/drawing/2014/main" id="{C206967B-8D9E-4186-A6EE-40A87044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100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&gt;60 s</a:t>
            </a:r>
          </a:p>
        </p:txBody>
      </p:sp>
      <p:sp>
        <p:nvSpPr>
          <p:cNvPr id="30" name="合规过滤">
            <a:extLst xmlns:a="http://schemas.openxmlformats.org/drawingml/2006/main">
              <a:ext uri="{FF2B5EF4-FFF2-40B4-BE49-F238E27FC236}">
                <a16:creationId xmlns:a16="http://schemas.microsoft.com/office/drawing/2014/main" id="{09D0B87C-7369-478B-83EB-D29CA78B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190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合规过滤</a:t>
            </a:r>
          </a:p>
        </p:txBody>
      </p:sp>
      <p:sp>
        <p:nvSpPr>
          <p:cNvPr id="32" name="结果裁剪 ≤8k tokens">
            <a:extLst xmlns:a="http://schemas.openxmlformats.org/drawingml/2006/main">
              <a:ext uri="{FF2B5EF4-FFF2-40B4-BE49-F238E27FC236}">
                <a16:creationId xmlns:a16="http://schemas.microsoft.com/office/drawing/2014/main" id="{D27EA5C2-1D35-46D2-9055-57CB15D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048250"/>
            <a:ext cx="23336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结果裁剪</a:t>
            </a:r>
          </a:p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≤8k tokens</a:t>
            </a:r>
          </a:p>
        </p:txBody>
      </p:sp>
      <p:sp>
        <p:nvSpPr>
          <p:cNvPr id="35" name="返回 / 分页续取">
            <a:extLst xmlns:a="http://schemas.openxmlformats.org/drawingml/2006/main">
              <a:ext uri="{FF2B5EF4-FFF2-40B4-BE49-F238E27FC236}">
                <a16:creationId xmlns:a16="http://schemas.microsoft.com/office/drawing/2014/main" id="{76058C16-2D68-4174-91A4-F3B92237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419850"/>
            <a:ext cx="40386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返回 / 分页续取</a:t>
            </a:r>
          </a:p>
        </p:txBody>
      </p:sp>
    </p:spTree>
    <p:extLst>
      <p:ext uri="{BB962C8B-B14F-4D97-AF65-F5344CB8AC3E}">
        <p14:creationId xmlns:p14="http://schemas.microsoft.com/office/powerpoint/2010/main" val="264686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AD230B-6C01-4085-930A-26C0CF9B26CD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>
            <a:off x="7915275" y="4439127"/>
            <a:ext cx="14201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274F2C-9EE6-4A9E-B623-31884C1CA82D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H="1" flipV="1">
            <a:off x="933450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E55119-0817-4490-836B-0300ECABBE39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 flipV="1">
            <a:off x="5695950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CCD338-EC5D-41DC-87B8-C145660BF87C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 flipV="1">
            <a:off x="7915275" y="3839052"/>
            <a:ext cx="953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5085AE-B624-44DB-9E1B-0D6ACE66A2D9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067878" y="4439127"/>
            <a:ext cx="58473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574515-3610-4AD7-B153-AD902B705E10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 flipV="1">
            <a:off x="2066925" y="4439127"/>
            <a:ext cx="953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31851C-0788-4D4C-A2DE-34623CA1E4D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9329738" y="3838575"/>
            <a:ext cx="728663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ACB17-4B10-4357-BD35-ACE2B83F1AE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1428750" y="2467452"/>
            <a:ext cx="953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9585A-DBC6-43A0-B214-6E20C376A17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1428750" y="2467452"/>
            <a:ext cx="4287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2F6D1-696E-4CCB-B477-B2459070FBB6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5715000" y="1962627"/>
            <a:ext cx="953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1F229-0DED-4BD8-9CD1-B11002321E0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296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DC3C3-5C08-46B9-88E6-58277611E29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579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E8DFA-1919-477E-B4E6-CF75DC606FC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862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F1EEF-D694-4249-8EA6-D9589F02889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14575" y="3443288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56" name="F-06">
            <a:extLst xmlns:a="http://schemas.openxmlformats.org/drawingml/2006/main">
              <a:ext uri="{FF2B5EF4-FFF2-40B4-BE49-F238E27FC236}">
                <a16:creationId xmlns:a16="http://schemas.microsoft.com/office/drawing/2014/main" id="{22B66ED9-426E-4075-8D4A-080811F3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F-06</a:t>
            </a:r>
          </a:p>
        </p:txBody>
      </p:sp>
      <p:sp>
        <p:nvSpPr>
          <p:cNvPr id="2" name="九个智能体的协作关系">
            <a:extLst xmlns:a="http://schemas.openxmlformats.org/drawingml/2006/main">
              <a:ext uri="{FF2B5EF4-FFF2-40B4-BE49-F238E27FC236}">
                <a16:creationId xmlns:a16="http://schemas.microsoft.com/office/drawing/2014/main" id="{DA87AF90-F8C5-4140-9485-A164A420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九个智能体的协作关系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A99088A7-19D5-4AF8-9FD4-8A02CEC1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C7F9E965-75C9-4AE0-A3AF-EFF700A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81100"/>
            <a:ext cx="3048000" cy="7810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</p:txBody>
      </p:sp>
      <p:sp>
        <p:nvSpPr>
          <p:cNvPr id="5" name="Collector">
            <a:extLst xmlns:a="http://schemas.openxmlformats.org/drawingml/2006/main">
              <a:ext uri="{FF2B5EF4-FFF2-40B4-BE49-F238E27FC236}">
                <a16:creationId xmlns:a16="http://schemas.microsoft.com/office/drawing/2014/main" id="{8C5F34FA-0005-4B95-A702-F48F7A3B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Collector</a:t>
            </a:r>
          </a:p>
        </p:txBody>
      </p:sp>
      <p:sp>
        <p:nvSpPr>
          <p:cNvPr id="6" name="Triage">
            <a:extLst xmlns:a="http://schemas.openxmlformats.org/drawingml/2006/main">
              <a:ext uri="{FF2B5EF4-FFF2-40B4-BE49-F238E27FC236}">
                <a16:creationId xmlns:a16="http://schemas.microsoft.com/office/drawing/2014/main" id="{9DCFE681-9662-459C-AF3C-3E2522F4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Triage</a:t>
            </a:r>
          </a:p>
        </p:txBody>
      </p:sp>
      <p:sp>
        <p:nvSpPr>
          <p:cNvPr id="7" name="Enricher">
            <a:extLst xmlns:a="http://schemas.openxmlformats.org/drawingml/2006/main">
              <a:ext uri="{FF2B5EF4-FFF2-40B4-BE49-F238E27FC236}">
                <a16:creationId xmlns:a16="http://schemas.microsoft.com/office/drawing/2014/main" id="{005404EE-F02E-4928-A12F-9F1E328B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8" name="Critic">
            <a:extLst xmlns:a="http://schemas.openxmlformats.org/drawingml/2006/main">
              <a:ext uri="{FF2B5EF4-FFF2-40B4-BE49-F238E27FC236}">
                <a16:creationId xmlns:a16="http://schemas.microsoft.com/office/drawing/2014/main" id="{4235E2D8-4DD8-4E22-B211-FB91461A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9" name="GraphWriter">
            <a:extLst xmlns:a="http://schemas.openxmlformats.org/drawingml/2006/main">
              <a:ext uri="{FF2B5EF4-FFF2-40B4-BE49-F238E27FC236}">
                <a16:creationId xmlns:a16="http://schemas.microsoft.com/office/drawing/2014/main" id="{7A4A4090-2F42-4D56-857F-CEBFAD26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188595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GraphWriter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E1CA787A-43E1-40B6-B1BD-167049BF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62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0D021891-327B-429F-9D63-872ED343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E0994233-D323-4C35-99B7-0ABB8F5C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3903EFB6-4520-447E-8F0C-14B06A16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ACE21A88-0984-4375-B37D-EBF2B28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67A1625C-458B-47FB-9D0B-28B50A83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任务调度">
            <a:extLst xmlns:a="http://schemas.openxmlformats.org/drawingml/2006/main">
              <a:ext uri="{FF2B5EF4-FFF2-40B4-BE49-F238E27FC236}">
                <a16:creationId xmlns:a16="http://schemas.microsoft.com/office/drawing/2014/main" id="{5959D21F-0E5E-4692-8CE9-F03F19A6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50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57D8E"/>
                </a:solidFill>
              </a:defRPr>
            </a:pPr>
            <a:r>
              <a:rPr sz="150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任务调度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949EC52D-C710-4216-BFE6-ACEDBD4E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22383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5" name="QA">
            <a:extLst xmlns:a="http://schemas.openxmlformats.org/drawingml/2006/main">
              <a:ext uri="{FF2B5EF4-FFF2-40B4-BE49-F238E27FC236}">
                <a16:creationId xmlns:a16="http://schemas.microsoft.com/office/drawing/2014/main" id="{498F68CB-74FE-4025-935D-F33CF458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26" name="问答产出">
            <a:extLst xmlns:a="http://schemas.openxmlformats.org/drawingml/2006/main">
              <a:ext uri="{FF2B5EF4-FFF2-40B4-BE49-F238E27FC236}">
                <a16:creationId xmlns:a16="http://schemas.microsoft.com/office/drawing/2014/main" id="{EDB4188E-1154-4306-AC9D-33836309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问答产出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B437199A-1A9C-49F4-8B7F-082C1F12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905375"/>
            <a:ext cx="22383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8" name="Reporter">
            <a:extLst xmlns:a="http://schemas.openxmlformats.org/drawingml/2006/main">
              <a:ext uri="{FF2B5EF4-FFF2-40B4-BE49-F238E27FC236}">
                <a16:creationId xmlns:a16="http://schemas.microsoft.com/office/drawing/2014/main" id="{0F69D0F8-2203-4614-A03C-135F8A11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Reporter</a:t>
            </a:r>
          </a:p>
        </p:txBody>
      </p:sp>
      <p:sp>
        <p:nvSpPr>
          <p:cNvPr id="29" name="报告产出">
            <a:extLst xmlns:a="http://schemas.openxmlformats.org/drawingml/2006/main">
              <a:ext uri="{FF2B5EF4-FFF2-40B4-BE49-F238E27FC236}">
                <a16:creationId xmlns:a16="http://schemas.microsoft.com/office/drawing/2014/main" id="{3E9EEBB2-704F-4F39-81B1-DAFFA40B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报告产出</a:t>
            </a:r>
          </a:p>
        </p:txBody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26F4400A-D2F0-48DE-BC32-F3397234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05375"/>
            <a:ext cx="22383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1" name="Assessor">
            <a:extLst xmlns:a="http://schemas.openxmlformats.org/drawingml/2006/main">
              <a:ext uri="{FF2B5EF4-FFF2-40B4-BE49-F238E27FC236}">
                <a16:creationId xmlns:a16="http://schemas.microsoft.com/office/drawing/2014/main" id="{5AD48883-10D0-4F4C-BC63-92F42FA3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00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Assessor</a:t>
            </a:r>
          </a:p>
        </p:txBody>
      </p:sp>
      <p:sp>
        <p:nvSpPr>
          <p:cNvPr id="32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F5F30322-C92A-4C7D-986A-98564C2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29250"/>
            <a:ext cx="2009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影响评估</a:t>
            </a:r>
          </a:p>
        </p:txBody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CD16F093-CA62-4775-9C23-83F04561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C9090979-AFF2-4E40-8CA8-A9F678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2348A3DA-1D39-4A2A-8BF8-CEC0077D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3257CE52-293E-4D8B-A306-EB0AA213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BDBF6635-DD45-46FF-BAC4-613A7C4F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56C53264-50E9-4D41-9649-3340E5D6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7AF175BE-60C4-4706-9438-EF1D6361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1D02AEA6-C614-4520-B950-CEC0F0D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06C709A1-3117-4E75-84F9-D06331A6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6E5F859B-A402-46E8-BE04-D0EE51B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A60B1EF7-2D75-426C-8563-FB9549C5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C7CDDD75-C8F7-49A6-A34E-A179A126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DLQ 失败任务">
            <a:extLst xmlns:a="http://schemas.openxmlformats.org/drawingml/2006/main">
              <a:ext uri="{FF2B5EF4-FFF2-40B4-BE49-F238E27FC236}">
                <a16:creationId xmlns:a16="http://schemas.microsoft.com/office/drawing/2014/main" id="{90E71264-7060-481B-A7AE-397AEAEA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486525"/>
            <a:ext cx="2238375" cy="54292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B554B"/>
                </a:solidFill>
              </a:defRPr>
            </a:pPr>
            <a:r>
              <a:rPr sz="165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 失败任务</a:t>
            </a:r>
          </a:p>
        </p:txBody>
      </p:sp>
      <p:sp>
        <p:nvSpPr>
          <p:cNvPr id="53" name="调度器重放">
            <a:extLst xmlns:a="http://schemas.openxmlformats.org/drawingml/2006/main">
              <a:ext uri="{FF2B5EF4-FFF2-40B4-BE49-F238E27FC236}">
                <a16:creationId xmlns:a16="http://schemas.microsoft.com/office/drawing/2014/main" id="{C182094F-FFFB-413F-B318-894DA744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524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AB554B"/>
                </a:solidFill>
              </a:defRPr>
            </a:pPr>
            <a:r>
              <a:rPr sz="165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调度器重放</a:t>
            </a:r>
          </a:p>
        </p:txBody>
      </p:sp>
      <p:sp>
        <p:nvSpPr>
          <p:cNvPr id="54" name="所有对外产出均经 Critic 校验">
            <a:extLst xmlns:a="http://schemas.openxmlformats.org/drawingml/2006/main">
              <a:ext uri="{FF2B5EF4-FFF2-40B4-BE49-F238E27FC236}">
                <a16:creationId xmlns:a16="http://schemas.microsoft.com/office/drawing/2014/main" id="{4CEABE3F-0DB8-46C0-A448-1700C2E2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457950"/>
            <a:ext cx="493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所有对外产出均经 Critic 校验</a:t>
            </a:r>
          </a:p>
        </p:txBody>
      </p:sp>
      <p:sp>
        <p:nvSpPr>
          <p:cNvPr id="55" name="9 个角色通过数据与任务状态交接">
            <a:extLst xmlns:a="http://schemas.openxmlformats.org/drawingml/2006/main">
              <a:ext uri="{FF2B5EF4-FFF2-40B4-BE49-F238E27FC236}">
                <a16:creationId xmlns:a16="http://schemas.microsoft.com/office/drawing/2014/main" id="{AF77F307-F2D3-476A-8E9E-B39ACAFF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个角色通过数据与任务状态交接</a:t>
            </a:r>
          </a:p>
        </p:txBody>
      </p:sp>
    </p:spTree>
    <p:extLst>
      <p:ext uri="{BB962C8B-B14F-4D97-AF65-F5344CB8AC3E}">
        <p14:creationId xmlns:p14="http://schemas.microsoft.com/office/powerpoint/2010/main" val="2029576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10D310-B237-4B35-B0BA-8B29B1CE8C71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 flipV="1">
            <a:off x="6324600" y="23245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15C02C-4BBC-4570-81BD-64E508A91A9C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6324600" y="2648427"/>
            <a:ext cx="13725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3B4F79-F48F-4C79-A4B0-6D0585008E8F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 flipV="1">
            <a:off x="7696200" y="2648427"/>
            <a:ext cx="953" cy="3648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50922E-6C20-4996-8E81-174C45AFDA10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954203" y="6296502"/>
            <a:ext cx="741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9F5AD4-DC4D-409E-ADA8-17379D2CBE6C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738813" y="45720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07851-6EDD-45AF-85AE-CACE9C87819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644063" y="2324100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57D8E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F2BCC-A61A-40BC-AF97-02E51FAD5752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3048000" y="4048602"/>
            <a:ext cx="686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4325C-D10B-4F8B-952D-92E295CE5A33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H="1">
            <a:off x="3733800" y="1953102"/>
            <a:ext cx="953" cy="2095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09986-5180-4A40-BEB3-544D02AF888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3733800" y="1953102"/>
            <a:ext cx="7915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DD4C3-8819-4B3D-83D9-BA6C0A42848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738813" y="232410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dash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DF63B-CD82-4C0F-9354-F446A7838A6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5325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3A3A4-E66C-4770-BE17-DFF0FFA0C04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48000" y="1957388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5" name="F-07">
            <a:extLst xmlns:a="http://schemas.openxmlformats.org/drawingml/2006/main">
              <a:ext uri="{FF2B5EF4-FFF2-40B4-BE49-F238E27FC236}">
                <a16:creationId xmlns:a16="http://schemas.microsoft.com/office/drawing/2014/main" id="{E7D72858-0879-45E9-9486-89823EEE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F-07</a:t>
            </a:r>
          </a:p>
        </p:txBody>
      </p:sp>
      <p:sp>
        <p:nvSpPr>
          <p:cNvPr id="2" name="任务状态机">
            <a:extLst xmlns:a="http://schemas.openxmlformats.org/drawingml/2006/main">
              <a:ext uri="{FF2B5EF4-FFF2-40B4-BE49-F238E27FC236}">
                <a16:creationId xmlns:a16="http://schemas.microsoft.com/office/drawing/2014/main" id="{85041856-741F-4542-B0CF-A7E94125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任务状态机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99D815E-54A0-4FC7-BE0D-5F4178F9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ued">
            <a:extLst xmlns:a="http://schemas.openxmlformats.org/drawingml/2006/main">
              <a:ext uri="{FF2B5EF4-FFF2-40B4-BE49-F238E27FC236}">
                <a16:creationId xmlns:a16="http://schemas.microsoft.com/office/drawing/2014/main" id="{31457F33-EDC9-4A29-8748-6005963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906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queued</a:t>
            </a:r>
          </a:p>
        </p:txBody>
      </p:sp>
      <p:sp>
        <p:nvSpPr>
          <p:cNvPr id="5" name="running">
            <a:extLst xmlns:a="http://schemas.openxmlformats.org/drawingml/2006/main">
              <a:ext uri="{FF2B5EF4-FFF2-40B4-BE49-F238E27FC236}">
                <a16:creationId xmlns:a16="http://schemas.microsoft.com/office/drawing/2014/main" id="{97976AF1-76FD-4E8E-8F88-9B67DF98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906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6" name="succeeded">
            <a:extLst xmlns:a="http://schemas.openxmlformats.org/drawingml/2006/main">
              <a:ext uri="{FF2B5EF4-FFF2-40B4-BE49-F238E27FC236}">
                <a16:creationId xmlns:a16="http://schemas.microsoft.com/office/drawing/2014/main" id="{B66E1DA0-00CB-4E68-B33F-A4B132A2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906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succeeded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661A71AF-FEE7-4300-AFC9-60D34D49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2428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0" name="retrying">
            <a:extLst xmlns:a="http://schemas.openxmlformats.org/drawingml/2006/main">
              <a:ext uri="{FF2B5EF4-FFF2-40B4-BE49-F238E27FC236}">
                <a16:creationId xmlns:a16="http://schemas.microsoft.com/office/drawing/2014/main" id="{ECE8C7A2-9678-4A2C-99DB-12E9D025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retrying</a:t>
            </a:r>
          </a:p>
        </p:txBody>
      </p:sp>
      <p:sp>
        <p:nvSpPr>
          <p:cNvPr id="11" name="内部状态">
            <a:extLst xmlns:a="http://schemas.openxmlformats.org/drawingml/2006/main">
              <a:ext uri="{FF2B5EF4-FFF2-40B4-BE49-F238E27FC236}">
                <a16:creationId xmlns:a16="http://schemas.microsoft.com/office/drawing/2014/main" id="{C1225697-C220-430D-8554-1B116729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48125"/>
            <a:ext cx="2200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内部状态</a:t>
            </a:r>
          </a:p>
        </p:txBody>
      </p:sp>
      <p:sp>
        <p:nvSpPr>
          <p:cNvPr id="13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78087D51-306A-47E2-AC30-4980B1A6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2809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67A20"/>
                </a:solidFill>
              </a:defRPr>
            </a:pPr>
            <a:r>
              <a:rPr sz="16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14" name="failed">
            <a:extLst xmlns:a="http://schemas.openxmlformats.org/drawingml/2006/main">
              <a:ext uri="{FF2B5EF4-FFF2-40B4-BE49-F238E27FC236}">
                <a16:creationId xmlns:a16="http://schemas.microsoft.com/office/drawing/2014/main" id="{F83C5FEC-C78A-41BC-982A-F6C282CE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BCEE8E76-7606-4EB3-A507-39BEBAEA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A0ECC09C-5C16-472A-B1C9-4A9C8E08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80745E1E-6352-4B3A-B1EB-0E7EDC93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DD539779-1C46-4339-BB16-0806AF85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33FAF39C-CAFF-4424-8341-B8B7BAC3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4F250E3E-F4D6-4FA8-BA33-F59BD08F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B652B65C-78AC-48D8-9985-1BF5B231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B554B"/>
                </a:solidFill>
              </a:defRPr>
            </a:pPr>
            <a:r>
              <a:rPr sz="165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25" name="expired">
            <a:extLst xmlns:a="http://schemas.openxmlformats.org/drawingml/2006/main">
              <a:ext uri="{FF2B5EF4-FFF2-40B4-BE49-F238E27FC236}">
                <a16:creationId xmlns:a16="http://schemas.microsoft.com/office/drawing/2014/main" id="{CC4223A6-351F-4246-AF5E-2CAB2319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86175"/>
            <a:ext cx="2428875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657D8E"/>
                </a:solidFill>
              </a:defRPr>
            </a:pPr>
            <a:r>
              <a:rPr sz="1725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expired</a:t>
            </a:r>
          </a:p>
        </p:txBody>
      </p:sp>
      <p:sp>
        <p:nvSpPr>
          <p:cNvPr id="27" name="结果保留 24 h">
            <a:extLst xmlns:a="http://schemas.openxmlformats.org/drawingml/2006/main">
              <a:ext uri="{FF2B5EF4-FFF2-40B4-BE49-F238E27FC236}">
                <a16:creationId xmlns:a16="http://schemas.microsoft.com/office/drawing/2014/main" id="{832EE26E-7F8B-4B3D-BE00-61C3F9E0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419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结果保留 24 h</a:t>
            </a:r>
          </a:p>
        </p:txBody>
      </p:sp>
      <p:sp>
        <p:nvSpPr>
          <p:cNvPr id="28" name="DLQ">
            <a:extLst xmlns:a="http://schemas.openxmlformats.org/drawingml/2006/main">
              <a:ext uri="{FF2B5EF4-FFF2-40B4-BE49-F238E27FC236}">
                <a16:creationId xmlns:a16="http://schemas.microsoft.com/office/drawing/2014/main" id="{4BB39A58-B6A7-43C3-BE58-C864B93F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34075"/>
            <a:ext cx="2428875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AB554B"/>
                </a:solidFill>
              </a:defRPr>
            </a:pPr>
            <a:r>
              <a:rPr sz="172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DLQ</a:t>
            </a:r>
          </a:p>
        </p:txBody>
      </p:sp>
      <p:sp>
        <p:nvSpPr>
          <p:cNvPr id="30" name="超过 6 次">
            <a:extLst xmlns:a="http://schemas.openxmlformats.org/drawingml/2006/main">
              <a:ext uri="{FF2B5EF4-FFF2-40B4-BE49-F238E27FC236}">
                <a16:creationId xmlns:a16="http://schemas.microsoft.com/office/drawing/2014/main" id="{BF9A806B-81AD-4D51-BC5E-6AD0F5BE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11492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B554B"/>
                </a:solidFill>
              </a:defRPr>
            </a:pPr>
            <a:r>
              <a:rPr sz="165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超过 6 次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53738E28-A223-44B8-B87E-5D25F4CA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B9E67977-E7F6-4C68-B80F-D6453729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351680B5-E46D-46E6-8FDE-32F7F5FC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29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5C31245F-BBF4-4C23-BE6A-D138CDC5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F21D939A-BE5E-479A-85CD-99DEBD02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313C1546-C903-4D1C-B5A4-80E0B45C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55609922-9F24-4DB1-80BA-A20374C1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BCAD3882-A85A-4CB8-9337-A2D0E19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每 15 min 重放">
            <a:extLst xmlns:a="http://schemas.openxmlformats.org/drawingml/2006/main">
              <a:ext uri="{FF2B5EF4-FFF2-40B4-BE49-F238E27FC236}">
                <a16:creationId xmlns:a16="http://schemas.microsoft.com/office/drawing/2014/main" id="{8C3A5B32-2A49-423C-A2A3-0DC044E4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292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AB554B"/>
                </a:solidFill>
              </a:defRPr>
            </a:pPr>
            <a:r>
              <a:rPr sz="172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每 15 min 重放</a:t>
            </a:r>
          </a:p>
        </p:txBody>
      </p:sp>
      <p:sp>
        <p:nvSpPr>
          <p:cNvPr id="44" name="retrying 与死信对外均显示为 running">
            <a:extLst xmlns:a="http://schemas.openxmlformats.org/drawingml/2006/main">
              <a:ext uri="{FF2B5EF4-FFF2-40B4-BE49-F238E27FC236}">
                <a16:creationId xmlns:a16="http://schemas.microsoft.com/office/drawing/2014/main" id="{75E59E92-CDD9-46E4-B21A-AD9A0684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retrying 与死信对外均显示为 running</a:t>
            </a:r>
          </a:p>
        </p:txBody>
      </p:sp>
    </p:spTree>
    <p:extLst>
      <p:ext uri="{BB962C8B-B14F-4D97-AF65-F5344CB8AC3E}">
        <p14:creationId xmlns:p14="http://schemas.microsoft.com/office/powerpoint/2010/main" val="515832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1E107B-5916-4CFC-A63F-1DA626FF1D5B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938212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05D937-3579-4251-AF7E-2E86376128B5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5715953" y="521065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02CA25-2A58-4610-8415-E409221B2D2A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FA08E6-0029-4050-A320-49F2FA7E2F21}"/>
              </a:ext>
            </a:extLst>
          </p:cNvPr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H="1">
            <a:off x="5715000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7E476A-72D5-421C-8B90-0403662FEDFB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H="1">
            <a:off x="5715000" y="521065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DCF87A-D377-4A4D-9F29-957223993865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76A33C-9195-448A-BE7C-8C79A7F521FD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H="1">
            <a:off x="2047875" y="5210652"/>
            <a:ext cx="953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AF8991-791F-4B99-8FB6-6D0A1C94EDE1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H="1">
            <a:off x="2047875" y="521065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7B0DAF-C261-47C4-978A-0A4F0B94491E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5715000" y="4762977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C100F9-8E0A-4854-813B-381547331EAC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5715000" y="3839052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AD285-7C58-46D7-BCB1-0831EFAE31B1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5715000" y="3839052"/>
            <a:ext cx="32680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0BB9A-5474-4DCE-85CB-C00276C01A3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8982075" y="3467577"/>
            <a:ext cx="953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1B226-0A0A-4A41-9147-D06F6943220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2457450" y="2200752"/>
            <a:ext cx="953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ED360-4BBF-4575-ACB5-549B7576911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457450" y="2200752"/>
            <a:ext cx="32585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A14EB-8351-4AE3-811E-D420DF6C95D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5715000" y="1857852"/>
            <a:ext cx="953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B0F0A-1271-4BFC-9251-929780FA283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80250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5A5CA-97B7-4428-BDC5-435BCD57267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25875" y="30384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66" name="F-08">
            <a:extLst xmlns:a="http://schemas.openxmlformats.org/drawingml/2006/main">
              <a:ext uri="{FF2B5EF4-FFF2-40B4-BE49-F238E27FC236}">
                <a16:creationId xmlns:a16="http://schemas.microsoft.com/office/drawing/2014/main" id="{464C3733-C55C-498E-9C86-90EF42F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F-08</a:t>
            </a:r>
          </a:p>
        </p:txBody>
      </p:sp>
      <p:sp>
        <p:nvSpPr>
          <p:cNvPr id="2" name="Critic 校验闭环">
            <a:extLst xmlns:a="http://schemas.openxmlformats.org/drawingml/2006/main">
              <a:ext uri="{FF2B5EF4-FFF2-40B4-BE49-F238E27FC236}">
                <a16:creationId xmlns:a16="http://schemas.microsoft.com/office/drawing/2014/main" id="{7EB4DF1A-AB35-4666-98A6-84ECEB9B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 校验闭环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5080549D-D919-416C-99AE-90ED64D2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富化 / 评估 / 问答 / 报告">
            <a:extLst xmlns:a="http://schemas.openxmlformats.org/drawingml/2006/main">
              <a:ext uri="{FF2B5EF4-FFF2-40B4-BE49-F238E27FC236}">
                <a16:creationId xmlns:a16="http://schemas.microsoft.com/office/drawing/2014/main" id="{6D06C6C1-945D-4C2A-92F6-ED5A198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38250"/>
            <a:ext cx="66675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 / 评估 / 问答 / 报告</a:t>
            </a:r>
          </a:p>
        </p:txBody>
      </p:sp>
      <p:sp>
        <p:nvSpPr>
          <p:cNvPr id="5" name="引用可回溯">
            <a:extLst xmlns:a="http://schemas.openxmlformats.org/drawingml/2006/main">
              <a:ext uri="{FF2B5EF4-FFF2-40B4-BE49-F238E27FC236}">
                <a16:creationId xmlns:a16="http://schemas.microsoft.com/office/drawing/2014/main" id="{6566892B-9322-4796-BBEC-DB8DD425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9850"/>
            <a:ext cx="2730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引用可回溯</a:t>
            </a:r>
          </a:p>
        </p:txBody>
      </p:sp>
      <p:sp>
        <p:nvSpPr>
          <p:cNvPr id="6" name="置信度达门槛">
            <a:extLst xmlns:a="http://schemas.openxmlformats.org/drawingml/2006/main">
              <a:ext uri="{FF2B5EF4-FFF2-40B4-BE49-F238E27FC236}">
                <a16:creationId xmlns:a16="http://schemas.microsoft.com/office/drawing/2014/main" id="{A673DB2E-4FAA-4C11-AC04-5D10EE48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09850"/>
            <a:ext cx="2730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置信度达门槛</a:t>
            </a:r>
          </a:p>
        </p:txBody>
      </p:sp>
      <p:sp>
        <p:nvSpPr>
          <p:cNvPr id="7" name="无违规内容">
            <a:extLst xmlns:a="http://schemas.openxmlformats.org/drawingml/2006/main">
              <a:ext uri="{FF2B5EF4-FFF2-40B4-BE49-F238E27FC236}">
                <a16:creationId xmlns:a16="http://schemas.microsoft.com/office/drawing/2014/main" id="{AD849D83-FF4F-4F20-942F-7B31D628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609850"/>
            <a:ext cx="2730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无违规内容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8B95E8FF-1237-41DA-A567-A153746D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A9F6DF2E-4C9A-4ACE-AB7F-13F97BB5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84310A70-5708-43BB-B6C1-5035B414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55A66FC1-A59E-440B-AB1F-05EAEABA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F65C3F3C-0AAF-4CBE-9F31-B5FA40DF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0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7026BD6-CAA6-475D-9EC8-F030BD3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综合校验结论">
            <a:extLst xmlns:a="http://schemas.openxmlformats.org/drawingml/2006/main">
              <a:ext uri="{FF2B5EF4-FFF2-40B4-BE49-F238E27FC236}">
                <a16:creationId xmlns:a16="http://schemas.microsoft.com/office/drawing/2014/main" id="{CD3D5E55-596A-40EE-A994-028C5F4D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43375"/>
            <a:ext cx="304800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综合校验结论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50C6A426-D075-474A-B0A5-A6489ADD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6DCD87FC-7E36-4623-A207-128FC5F6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0EA2B9C1-799A-4FBE-A409-CF9F350C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2C59AD83-8071-4DAC-A382-2608A0A6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56416324-1A50-4487-B5D7-81ECF50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38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8CE5625D-2A0C-4972-B61F-19CB0723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1297DD37-4CDE-4514-B4C9-943B2544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24525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0" name="pass">
            <a:extLst xmlns:a="http://schemas.openxmlformats.org/drawingml/2006/main">
              <a:ext uri="{FF2B5EF4-FFF2-40B4-BE49-F238E27FC236}">
                <a16:creationId xmlns:a16="http://schemas.microsoft.com/office/drawing/2014/main" id="{3D131D0F-DCBD-49C5-99E4-DED48147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1" name="写入或返回">
            <a:extLst xmlns:a="http://schemas.openxmlformats.org/drawingml/2006/main">
              <a:ext uri="{FF2B5EF4-FFF2-40B4-BE49-F238E27FC236}">
                <a16:creationId xmlns:a16="http://schemas.microsoft.com/office/drawing/2014/main" id="{6BB9AE25-DA25-4708-A824-62F32866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写入或返回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7558A9BE-84C7-4183-B376-130CF7E7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24525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3" name="partial">
            <a:extLst xmlns:a="http://schemas.openxmlformats.org/drawingml/2006/main">
              <a:ext uri="{FF2B5EF4-FFF2-40B4-BE49-F238E27FC236}">
                <a16:creationId xmlns:a16="http://schemas.microsoft.com/office/drawing/2014/main" id="{4CB561EE-1187-4A9B-9889-BC138ED9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partial</a:t>
            </a:r>
          </a:p>
        </p:txBody>
      </p:sp>
      <p:sp>
        <p:nvSpPr>
          <p:cNvPr id="34" name="标明不受支持句">
            <a:extLst xmlns:a="http://schemas.openxmlformats.org/drawingml/2006/main">
              <a:ext uri="{FF2B5EF4-FFF2-40B4-BE49-F238E27FC236}">
                <a16:creationId xmlns:a16="http://schemas.microsoft.com/office/drawing/2014/main" id="{1AE9575C-AB14-4831-89D5-A9B46BA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标明不受支持句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E590315C-D802-4DD3-AFDD-35F37953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24525"/>
            <a:ext cx="3143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6" name="reject / fail">
            <a:extLst xmlns:a="http://schemas.openxmlformats.org/drawingml/2006/main">
              <a:ext uri="{FF2B5EF4-FFF2-40B4-BE49-F238E27FC236}">
                <a16:creationId xmlns:a16="http://schemas.microsoft.com/office/drawing/2014/main" id="{CE494096-BB9A-4C1E-9915-391CAD96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97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reject / fail</a:t>
            </a:r>
          </a:p>
        </p:txBody>
      </p:sp>
      <p:sp>
        <p:nvSpPr>
          <p:cNvPr id="37" name="重新检索或富化">
            <a:extLst xmlns:a="http://schemas.openxmlformats.org/drawingml/2006/main">
              <a:ext uri="{FF2B5EF4-FFF2-40B4-BE49-F238E27FC236}">
                <a16:creationId xmlns:a16="http://schemas.microsoft.com/office/drawing/2014/main" id="{77361EE1-02AD-4C72-8169-0A63EA6A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4840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重新检索或富化</a:t>
            </a:r>
          </a:p>
        </p:txBody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B4E42F0C-450E-4DF9-97F6-BA51FDFF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9E63B768-B03E-4BDE-A57D-61875CE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4FB38F9F-8F5F-4E74-8372-E8F3A303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A7F9D97E-13CC-4333-B96C-F3CA3E92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3B5F808B-B401-4740-8F0D-9E36F01F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CC2A656A-DBEF-4CCB-9F4D-F9642FA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A1475418-9F98-4AF9-98A5-0C1376F3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D9AA05F9-F13C-48CF-8802-E80C0657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B32CF425-71AB-4B40-A3CC-12B83B47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boundary">
            <a:extLst xmlns:a="http://schemas.openxmlformats.org/drawingml/2006/main">
              <a:ext uri="{FF2B5EF4-FFF2-40B4-BE49-F238E27FC236}">
                <a16:creationId xmlns:a16="http://schemas.microsoft.com/office/drawing/2014/main" id="{1C09FE2D-3D04-465A-9E99-413183B8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22D1252F-303D-44A8-B70B-D1289689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33A3479A-A39E-4F20-B06C-55314AE2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50C2D37E-07C2-4CB1-B0B9-3591EFDD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boundary">
            <a:extLst xmlns:a="http://schemas.openxmlformats.org/drawingml/2006/main">
              <a:ext uri="{FF2B5EF4-FFF2-40B4-BE49-F238E27FC236}">
                <a16:creationId xmlns:a16="http://schemas.microsoft.com/office/drawing/2014/main" id="{7CDA8875-CE6A-4B0C-A273-071D6B15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D0DEE925-FE15-484B-8409-CFB91D0D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CF31FFF4-0FD1-43BF-8AC3-72D08870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EA3A0846-C6C3-4C13-AF56-69C56E3A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D2D4B2BF-8795-4488-A563-8D69B11C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72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关系边门槛 0.6；问答 partial 比例 ≤30%；LLM 产出 20% 抽检">
            <a:extLst xmlns:a="http://schemas.openxmlformats.org/drawingml/2006/main">
              <a:ext uri="{FF2B5EF4-FFF2-40B4-BE49-F238E27FC236}">
                <a16:creationId xmlns:a16="http://schemas.microsoft.com/office/drawing/2014/main" id="{2F311E56-B34E-40AD-8611-65E04791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关系边门槛 0.6；问答 partial 比例 ≤30%；LLM 产出 20% 抽检</a:t>
            </a:r>
          </a:p>
        </p:txBody>
      </p:sp>
    </p:spTree>
    <p:extLst>
      <p:ext uri="{BB962C8B-B14F-4D97-AF65-F5344CB8AC3E}">
        <p14:creationId xmlns:p14="http://schemas.microsoft.com/office/powerpoint/2010/main" val="374018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-09">
            <a:extLst xmlns:a="http://schemas.openxmlformats.org/drawingml/2006/main">
              <a:ext uri="{FF2B5EF4-FFF2-40B4-BE49-F238E27FC236}">
                <a16:creationId xmlns:a16="http://schemas.microsoft.com/office/drawing/2014/main" id="{8AE9AD2A-0851-45E7-806D-5285D4E2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F-09</a:t>
            </a:r>
          </a:p>
        </p:txBody>
      </p:sp>
      <p:sp>
        <p:nvSpPr>
          <p:cNvPr id="2" name="九类数据源与三级可信度">
            <a:extLst xmlns:a="http://schemas.openxmlformats.org/drawingml/2006/main">
              <a:ext uri="{FF2B5EF4-FFF2-40B4-BE49-F238E27FC236}">
                <a16:creationId xmlns:a16="http://schemas.microsoft.com/office/drawing/2014/main" id="{265C560F-7A13-4809-95A9-372ED503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九类数据源与三级可信度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EB20C5F5-E7E2-42B3-B052-8457D3A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18F1B61A-1F42-4817-B507-1C3C037C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一级 官方">
            <a:extLst xmlns:a="http://schemas.openxmlformats.org/drawingml/2006/main">
              <a:ext uri="{FF2B5EF4-FFF2-40B4-BE49-F238E27FC236}">
                <a16:creationId xmlns:a16="http://schemas.microsoft.com/office/drawing/2014/main" id="{D86F0D04-480F-4EB9-975D-FC5F8585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一级 官方</a:t>
            </a:r>
          </a:p>
        </p:txBody>
      </p:sp>
      <p:sp>
        <p:nvSpPr>
          <p:cNvPr id="6" name="1.0">
            <a:extLst xmlns:a="http://schemas.openxmlformats.org/drawingml/2006/main">
              <a:ext uri="{FF2B5EF4-FFF2-40B4-BE49-F238E27FC236}">
                <a16:creationId xmlns:a16="http://schemas.microsoft.com/office/drawing/2014/main" id="{E97B4785-374A-4DCE-B55A-D00A888B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4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277DC3"/>
                </a:solidFill>
              </a:defRPr>
            </a:pPr>
            <a:r>
              <a:rPr sz="4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1.0</a:t>
            </a:r>
          </a:p>
        </p:txBody>
      </p:sp>
      <p:sp>
        <p:nvSpPr>
          <p:cNvPr id="7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0C499374-1469-4FC9-B4C7-DA073B74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77DC3"/>
                </a:solidFill>
              </a:defRPr>
            </a:pPr>
            <a:r>
              <a:rPr sz="150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8" name="NVD / GHSA reviewed OSV / KEV / EPSS ATLAS / 厂商公告 CNNVD / 标准法规 CNVD：人工导入">
            <a:extLst xmlns:a="http://schemas.openxmlformats.org/drawingml/2006/main">
              <a:ext uri="{FF2B5EF4-FFF2-40B4-BE49-F238E27FC236}">
                <a16:creationId xmlns:a16="http://schemas.microsoft.com/office/drawing/2014/main" id="{197DF4FE-C327-4B6F-9D50-0D1D6732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 reviewed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/ KEV / EPSS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ATLAS / 厂商公告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CNNVD / 标准法规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CNVD：人工导入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97373B99-0F2D-49C9-A70D-407CF7A7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二级 专业平台">
            <a:extLst xmlns:a="http://schemas.openxmlformats.org/drawingml/2006/main">
              <a:ext uri="{FF2B5EF4-FFF2-40B4-BE49-F238E27FC236}">
                <a16:creationId xmlns:a16="http://schemas.microsoft.com/office/drawing/2014/main" id="{405B61E8-8BE8-4736-8855-67C192B7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716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二级 专业平台</a:t>
            </a:r>
          </a:p>
        </p:txBody>
      </p:sp>
      <p:sp>
        <p:nvSpPr>
          <p:cNvPr id="11" name="0.7">
            <a:extLst xmlns:a="http://schemas.openxmlformats.org/drawingml/2006/main">
              <a:ext uri="{FF2B5EF4-FFF2-40B4-BE49-F238E27FC236}">
                <a16:creationId xmlns:a16="http://schemas.microsoft.com/office/drawing/2014/main" id="{929105EE-698D-4C45-8BDA-05920D3A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4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547D45"/>
                </a:solidFill>
              </a:defRPr>
            </a:pPr>
            <a:r>
              <a:rPr sz="4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0.7</a:t>
            </a:r>
          </a:p>
        </p:txBody>
      </p:sp>
      <p:sp>
        <p:nvSpPr>
          <p:cNvPr id="12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119B07C4-12E3-4B8B-8681-23E78705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47D45"/>
                </a:solidFill>
              </a:defRPr>
            </a:pPr>
            <a:r>
              <a:rPr sz="150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3" name="huntr / AVID GHSA unreviewed  测绘平台仅供暴露面 不增加来源类别">
            <a:extLst xmlns:a="http://schemas.openxmlformats.org/drawingml/2006/main">
              <a:ext uri="{FF2B5EF4-FFF2-40B4-BE49-F238E27FC236}">
                <a16:creationId xmlns:a16="http://schemas.microsoft.com/office/drawing/2014/main" id="{4E5B3E1A-E8E3-489F-AC96-A6638B50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AVID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unreviewed</a:t>
            </a:r>
          </a:p>
          <a:p xmlns:a="http://schemas.openxmlformats.org/drawingml/2006/main">
            <a:r>
              <a:rPr sz="1650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测绘平台仅供暴露面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不增加来源类别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71F5D11C-A623-4E53-9D2E-643DA351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62100"/>
            <a:ext cx="3333750" cy="51530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三级 研究资讯">
            <a:extLst xmlns:a="http://schemas.openxmlformats.org/drawingml/2006/main">
              <a:ext uri="{FF2B5EF4-FFF2-40B4-BE49-F238E27FC236}">
                <a16:creationId xmlns:a16="http://schemas.microsoft.com/office/drawing/2014/main" id="{A9435F40-A8A1-4F7F-B04D-71BC6480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2952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三级 研究资讯</a:t>
            </a:r>
          </a:p>
        </p:txBody>
      </p:sp>
      <p:sp>
        <p:nvSpPr>
          <p:cNvPr id="16" name="0.4">
            <a:extLst xmlns:a="http://schemas.openxmlformats.org/drawingml/2006/main">
              <a:ext uri="{FF2B5EF4-FFF2-40B4-BE49-F238E27FC236}">
                <a16:creationId xmlns:a16="http://schemas.microsoft.com/office/drawing/2014/main" id="{4C0CF821-9588-4FE4-B962-F39B7836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2952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4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4650" b="1">
                <a:solidFill>
                  <a:srgbClr val="A67A20"/>
                </a:solidFill>
              </a:defRPr>
            </a:pPr>
            <a:r>
              <a:rPr sz="4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17" name="可信度权重">
            <a:extLst xmlns:a="http://schemas.openxmlformats.org/drawingml/2006/main">
              <a:ext uri="{FF2B5EF4-FFF2-40B4-BE49-F238E27FC236}">
                <a16:creationId xmlns:a16="http://schemas.microsoft.com/office/drawing/2014/main" id="{A4F0905B-F541-4AC0-92F4-F0AF91AF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A67A20"/>
                </a:solidFill>
              </a:defRPr>
            </a:pPr>
            <a:r>
              <a:rPr sz="150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可信度权重</a:t>
            </a:r>
          </a:p>
        </p:txBody>
      </p:sp>
      <p:sp>
        <p:nvSpPr>
          <p:cNvPr id="18" name="arXiv 安全博客 RSS  仅三级支撑：unconfirmed 不进入高危告警">
            <a:extLst xmlns:a="http://schemas.openxmlformats.org/drawingml/2006/main">
              <a:ext uri="{FF2B5EF4-FFF2-40B4-BE49-F238E27FC236}">
                <a16:creationId xmlns:a16="http://schemas.microsoft.com/office/drawing/2014/main" id="{3F1D1C85-E0F6-4371-B934-F1CDFFE0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19550"/>
            <a:ext cx="30480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arXiv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安全博客 RSS</a:t>
            </a:r>
          </a:p>
          <a:p xmlns:a="http://schemas.openxmlformats.org/drawingml/2006/main">
            <a:r>
              <a:rPr sz="1650" b="0"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仅三级支撑：unconfirmed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不进入高危告警</a:t>
            </a:r>
          </a:p>
        </p:txBody>
      </p:sp>
      <p:sp>
        <p:nvSpPr>
          <p:cNvPr id="19" name="平台审核只可下调可信度；CNNVD 主力，CNVD 加分项">
            <a:extLst xmlns:a="http://schemas.openxmlformats.org/drawingml/2006/main">
              <a:ext uri="{FF2B5EF4-FFF2-40B4-BE49-F238E27FC236}">
                <a16:creationId xmlns:a16="http://schemas.microsoft.com/office/drawing/2014/main" id="{7FB9FA6B-8CEF-4B03-B0AA-C25C53B6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平台审核只可下调可信度；CNNVD 主力，CNVD 加分项</a:t>
            </a:r>
          </a:p>
        </p:txBody>
      </p:sp>
    </p:spTree>
    <p:extLst>
      <p:ext uri="{BB962C8B-B14F-4D97-AF65-F5344CB8AC3E}">
        <p14:creationId xmlns:p14="http://schemas.microsoft.com/office/powerpoint/2010/main" val="18867361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-10">
            <a:extLst xmlns:a="http://schemas.openxmlformats.org/drawingml/2006/main">
              <a:ext uri="{FF2B5EF4-FFF2-40B4-BE49-F238E27FC236}">
                <a16:creationId xmlns:a16="http://schemas.microsoft.com/office/drawing/2014/main" id="{AE55B688-0CA4-4A64-853E-FADECD3B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F-10</a:t>
            </a:r>
          </a:p>
        </p:txBody>
      </p:sp>
      <p:sp>
        <p:nvSpPr>
          <p:cNvPr id="2" name="各来源采集节奏与目标时延">
            <a:extLst xmlns:a="http://schemas.openxmlformats.org/drawingml/2006/main">
              <a:ext uri="{FF2B5EF4-FFF2-40B4-BE49-F238E27FC236}">
                <a16:creationId xmlns:a16="http://schemas.microsoft.com/office/drawing/2014/main" id="{31F1C0A2-2D33-4475-8C02-263DF49D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各来源采集节奏与目标时延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501B3FA-B0F4-40F4-8CA4-F571302B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轮询频率">
            <a:extLst xmlns:a="http://schemas.openxmlformats.org/drawingml/2006/main">
              <a:ext uri="{FF2B5EF4-FFF2-40B4-BE49-F238E27FC236}">
                <a16:creationId xmlns:a16="http://schemas.microsoft.com/office/drawing/2014/main" id="{E3054A98-4874-4432-90AF-6C4DB8D1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525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轮询频率</a:t>
            </a:r>
          </a:p>
        </p:txBody>
      </p:sp>
      <p:sp>
        <p:nvSpPr>
          <p:cNvPr id="5" name="来源与触发方式">
            <a:extLst xmlns:a="http://schemas.openxmlformats.org/drawingml/2006/main">
              <a:ext uri="{FF2B5EF4-FFF2-40B4-BE49-F238E27FC236}">
                <a16:creationId xmlns:a16="http://schemas.microsoft.com/office/drawing/2014/main" id="{945F5EA7-BC6B-4DC5-81A9-F9A51730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525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来源与触发方式</a:t>
            </a:r>
          </a:p>
        </p:txBody>
      </p:sp>
      <p:sp>
        <p:nvSpPr>
          <p:cNvPr id="6" name="发现时延目标（待测）">
            <a:extLst xmlns:a="http://schemas.openxmlformats.org/drawingml/2006/main">
              <a:ext uri="{FF2B5EF4-FFF2-40B4-BE49-F238E27FC236}">
                <a16:creationId xmlns:a16="http://schemas.microsoft.com/office/drawing/2014/main" id="{7BD80A27-AFB1-4AC6-AD61-C6A9E91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1525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发现时延目标（待测）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7F9DE4AB-D59E-4B08-A9F4-E5185565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事件">
            <a:extLst xmlns:a="http://schemas.openxmlformats.org/drawingml/2006/main">
              <a:ext uri="{FF2B5EF4-FFF2-40B4-BE49-F238E27FC236}">
                <a16:creationId xmlns:a16="http://schemas.microsoft.com/office/drawing/2014/main" id="{813139D1-BCAE-42DE-A819-568AA6E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</a:t>
            </a:r>
          </a:p>
        </p:txBody>
      </p:sp>
      <p:sp>
        <p:nvSpPr>
          <p:cNvPr id="9" name="自有仓库 / DEMO">
            <a:extLst xmlns:a="http://schemas.openxmlformats.org/drawingml/2006/main">
              <a:ext uri="{FF2B5EF4-FFF2-40B4-BE49-F238E27FC236}">
                <a16:creationId xmlns:a16="http://schemas.microsoft.com/office/drawing/2014/main" id="{5F94BBCF-6136-478F-9269-DE0D3AE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02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自有仓库 / DEMO</a:t>
            </a:r>
          </a:p>
        </p:txBody>
      </p:sp>
      <p:sp>
        <p:nvSpPr>
          <p:cNvPr id="10" name="≤1 min">
            <a:extLst xmlns:a="http://schemas.openxmlformats.org/drawingml/2006/main">
              <a:ext uri="{FF2B5EF4-FFF2-40B4-BE49-F238E27FC236}">
                <a16:creationId xmlns:a16="http://schemas.microsoft.com/office/drawing/2014/main" id="{5A83374B-F246-403A-801A-6458F9F6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02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 min</a:t>
            </a:r>
          </a:p>
        </p:txBody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764B80A4-30E8-4211-B7CE-6CB09496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5 min">
            <a:extLst xmlns:a="http://schemas.openxmlformats.org/drawingml/2006/main">
              <a:ext uri="{FF2B5EF4-FFF2-40B4-BE49-F238E27FC236}">
                <a16:creationId xmlns:a16="http://schemas.microsoft.com/office/drawing/2014/main" id="{A8CFECD0-CE52-42CB-9707-8BEB2F7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min</a:t>
            </a:r>
          </a:p>
        </p:txBody>
      </p:sp>
      <p:sp>
        <p:nvSpPr>
          <p:cNvPr id="13" name="P0 厂商公告">
            <a:extLst xmlns:a="http://schemas.openxmlformats.org/drawingml/2006/main">
              <a:ext uri="{FF2B5EF4-FFF2-40B4-BE49-F238E27FC236}">
                <a16:creationId xmlns:a16="http://schemas.microsoft.com/office/drawing/2014/main" id="{E9D3068C-EEDA-4098-A49E-CDED67FD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479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P0 厂商公告</a:t>
            </a:r>
          </a:p>
        </p:txBody>
      </p:sp>
      <p:sp>
        <p:nvSpPr>
          <p:cNvPr id="14" name="≤10 min">
            <a:extLst xmlns:a="http://schemas.openxmlformats.org/drawingml/2006/main">
              <a:ext uri="{FF2B5EF4-FFF2-40B4-BE49-F238E27FC236}">
                <a16:creationId xmlns:a16="http://schemas.microsoft.com/office/drawing/2014/main" id="{623D40FA-841E-4617-9B5C-F5FD436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≤10 min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54D2D09B-913A-44D4-8F7E-9B0958FE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10 min">
            <a:extLst xmlns:a="http://schemas.openxmlformats.org/drawingml/2006/main">
              <a:ext uri="{FF2B5EF4-FFF2-40B4-BE49-F238E27FC236}">
                <a16:creationId xmlns:a16="http://schemas.microsoft.com/office/drawing/2014/main" id="{2E53B876-5CFC-4274-B546-1D50A078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861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min</a:t>
            </a:r>
          </a:p>
        </p:txBody>
      </p:sp>
      <p:sp>
        <p:nvSpPr>
          <p:cNvPr id="17" name="GHSA / NVD / RSS">
            <a:extLst xmlns:a="http://schemas.openxmlformats.org/drawingml/2006/main">
              <a:ext uri="{FF2B5EF4-FFF2-40B4-BE49-F238E27FC236}">
                <a16:creationId xmlns:a16="http://schemas.microsoft.com/office/drawing/2014/main" id="{B3525559-7CCD-4445-9C51-A4BC4AC8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956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GHSA / NVD / RSS</a:t>
            </a:r>
          </a:p>
        </p:txBody>
      </p:sp>
      <p:sp>
        <p:nvSpPr>
          <p:cNvPr id="18" name="≤15 / 30 / 30 min">
            <a:extLst xmlns:a="http://schemas.openxmlformats.org/drawingml/2006/main">
              <a:ext uri="{FF2B5EF4-FFF2-40B4-BE49-F238E27FC236}">
                <a16:creationId xmlns:a16="http://schemas.microsoft.com/office/drawing/2014/main" id="{EDE07B48-1CF9-4341-92AD-29048195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≤15 / 30 / 30 min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33330AD1-DDDD-4E32-BFC5-468FCA8E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957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15 min">
            <a:extLst xmlns:a="http://schemas.openxmlformats.org/drawingml/2006/main">
              <a:ext uri="{FF2B5EF4-FFF2-40B4-BE49-F238E27FC236}">
                <a16:creationId xmlns:a16="http://schemas.microsoft.com/office/drawing/2014/main" id="{83C9201A-A18F-49C4-8040-30B96DB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min</a:t>
            </a:r>
          </a:p>
        </p:txBody>
      </p:sp>
      <p:sp>
        <p:nvSpPr>
          <p:cNvPr id="21" name="OSV">
            <a:extLst xmlns:a="http://schemas.openxmlformats.org/drawingml/2006/main">
              <a:ext uri="{FF2B5EF4-FFF2-40B4-BE49-F238E27FC236}">
                <a16:creationId xmlns:a16="http://schemas.microsoft.com/office/drawing/2014/main" id="{5141FBFE-9710-4856-9451-93D4CC1F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433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</a:t>
            </a:r>
          </a:p>
        </p:txBody>
      </p:sp>
      <p:sp>
        <p:nvSpPr>
          <p:cNvPr id="22" name="≤30 min">
            <a:extLst xmlns:a="http://schemas.openxmlformats.org/drawingml/2006/main">
              <a:ext uri="{FF2B5EF4-FFF2-40B4-BE49-F238E27FC236}">
                <a16:creationId xmlns:a16="http://schemas.microsoft.com/office/drawing/2014/main" id="{1C95D604-8F11-4E99-A15F-D31A0E24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≤30 min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77030FDD-9189-4773-B636-562BADE1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1 h">
            <a:extLst xmlns:a="http://schemas.openxmlformats.org/drawingml/2006/main">
              <a:ext uri="{FF2B5EF4-FFF2-40B4-BE49-F238E27FC236}">
                <a16:creationId xmlns:a16="http://schemas.microsoft.com/office/drawing/2014/main" id="{FFDCDFFF-EA5F-4083-AD96-E7DCFD58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h</a:t>
            </a:r>
          </a:p>
        </p:txBody>
      </p:sp>
      <p:sp>
        <p:nvSpPr>
          <p:cNvPr id="25" name="huntr / KEV">
            <a:extLst xmlns:a="http://schemas.openxmlformats.org/drawingml/2006/main">
              <a:ext uri="{FF2B5EF4-FFF2-40B4-BE49-F238E27FC236}">
                <a16:creationId xmlns:a16="http://schemas.microsoft.com/office/drawing/2014/main" id="{C39630C8-355C-4871-A045-83768563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910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huntr / KEV</a:t>
            </a:r>
          </a:p>
        </p:txBody>
      </p:sp>
      <p:sp>
        <p:nvSpPr>
          <p:cNvPr id="26" name="≤2 h">
            <a:extLst xmlns:a="http://schemas.openxmlformats.org/drawingml/2006/main">
              <a:ext uri="{FF2B5EF4-FFF2-40B4-BE49-F238E27FC236}">
                <a16:creationId xmlns:a16="http://schemas.microsoft.com/office/drawing/2014/main" id="{A56FE4DB-DD55-49FF-B183-0E1DE914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910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 h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5F891233-99DC-45F5-BFE2-9ACABB2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6 h">
            <a:extLst xmlns:a="http://schemas.openxmlformats.org/drawingml/2006/main">
              <a:ext uri="{FF2B5EF4-FFF2-40B4-BE49-F238E27FC236}">
                <a16:creationId xmlns:a16="http://schemas.microsoft.com/office/drawing/2014/main" id="{0621CA8F-BF84-4E00-990F-93191ED6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6 h</a:t>
            </a:r>
          </a:p>
        </p:txBody>
      </p:sp>
      <p:sp>
        <p:nvSpPr>
          <p:cNvPr id="29" name="AVID">
            <a:extLst xmlns:a="http://schemas.openxmlformats.org/drawingml/2006/main">
              <a:ext uri="{FF2B5EF4-FFF2-40B4-BE49-F238E27FC236}">
                <a16:creationId xmlns:a16="http://schemas.microsoft.com/office/drawing/2014/main" id="{A400DC70-6A3F-4B56-837F-023B61FE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387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AVID</a:t>
            </a:r>
          </a:p>
        </p:txBody>
      </p:sp>
      <p:sp>
        <p:nvSpPr>
          <p:cNvPr id="30" name="≤6 h">
            <a:extLst xmlns:a="http://schemas.openxmlformats.org/drawingml/2006/main">
              <a:ext uri="{FF2B5EF4-FFF2-40B4-BE49-F238E27FC236}">
                <a16:creationId xmlns:a16="http://schemas.microsoft.com/office/drawing/2014/main" id="{75F4B67D-02BF-40C8-A9EA-A9109562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387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≤6 h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6791745D-16D7-4A3F-B7C8-868D8C9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88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1 d">
            <a:extLst xmlns:a="http://schemas.openxmlformats.org/drawingml/2006/main">
              <a:ext uri="{FF2B5EF4-FFF2-40B4-BE49-F238E27FC236}">
                <a16:creationId xmlns:a16="http://schemas.microsoft.com/office/drawing/2014/main" id="{29B80913-EF58-4FB5-B2CA-DDF16298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d</a:t>
            </a:r>
          </a:p>
        </p:txBody>
      </p:sp>
      <p:sp>
        <p:nvSpPr>
          <p:cNvPr id="33" name="EPSS / arXiv / CNNVD">
            <a:extLst xmlns:a="http://schemas.openxmlformats.org/drawingml/2006/main">
              <a:ext uri="{FF2B5EF4-FFF2-40B4-BE49-F238E27FC236}">
                <a16:creationId xmlns:a16="http://schemas.microsoft.com/office/drawing/2014/main" id="{A71673AB-55ED-4A59-ABF1-BB20F7C0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864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EPSS / arXiv / CNNVD</a:t>
            </a:r>
          </a:p>
        </p:txBody>
      </p:sp>
      <p:sp>
        <p:nvSpPr>
          <p:cNvPr id="34" name="≤24 h">
            <a:extLst xmlns:a="http://schemas.openxmlformats.org/drawingml/2006/main">
              <a:ext uri="{FF2B5EF4-FFF2-40B4-BE49-F238E27FC236}">
                <a16:creationId xmlns:a16="http://schemas.microsoft.com/office/drawing/2014/main" id="{D73BE259-604F-420D-ACCA-E260C865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864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≤24 h</a:t>
            </a:r>
          </a:p>
        </p:txBody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88DEC3ED-E662-4F34-B265-7D2AA722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86500"/>
            <a:ext cx="10477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1 周">
            <a:extLst xmlns:a="http://schemas.openxmlformats.org/drawingml/2006/main">
              <a:ext uri="{FF2B5EF4-FFF2-40B4-BE49-F238E27FC236}">
                <a16:creationId xmlns:a16="http://schemas.microsoft.com/office/drawing/2014/main" id="{F63926D5-68A6-4470-ADE8-CCA1851C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71450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D8F"/>
                </a:solidFill>
              </a:defRPr>
            </a:pPr>
            <a:r>
              <a:rPr sz="17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1 周</a:t>
            </a:r>
          </a:p>
        </p:txBody>
      </p:sp>
      <p:sp>
        <p:nvSpPr>
          <p:cNvPr id="37" name="标准法规 / CNVD">
            <a:extLst xmlns:a="http://schemas.openxmlformats.org/drawingml/2006/main">
              <a:ext uri="{FF2B5EF4-FFF2-40B4-BE49-F238E27FC236}">
                <a16:creationId xmlns:a16="http://schemas.microsoft.com/office/drawing/2014/main" id="{1D5750BF-09FF-489F-93BD-6BD1990B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341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标准法规 / CNVD</a:t>
            </a:r>
          </a:p>
        </p:txBody>
      </p:sp>
      <p:sp>
        <p:nvSpPr>
          <p:cNvPr id="38" name="版本监测 / 人工">
            <a:extLst xmlns:a="http://schemas.openxmlformats.org/drawingml/2006/main">
              <a:ext uri="{FF2B5EF4-FFF2-40B4-BE49-F238E27FC236}">
                <a16:creationId xmlns:a16="http://schemas.microsoft.com/office/drawing/2014/main" id="{ECCED1BD-5C1F-4C07-A0B2-3B809C20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334125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57D8E"/>
                </a:solidFill>
              </a:defRPr>
            </a:pPr>
            <a:r>
              <a:rPr sz="180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版本监测 / 人工</a:t>
            </a:r>
          </a:p>
        </p:txBody>
      </p:sp>
      <p:sp>
        <p:nvSpPr>
          <p:cNvPr id="39" name="6 h 口径：NVD、GHSA、OSV、厂商公告、huntr 首次发现；其余单列">
            <a:extLst xmlns:a="http://schemas.openxmlformats.org/drawingml/2006/main">
              <a:ext uri="{FF2B5EF4-FFF2-40B4-BE49-F238E27FC236}">
                <a16:creationId xmlns:a16="http://schemas.microsoft.com/office/drawing/2014/main" id="{334F88E5-9460-455D-84FA-E1792BFC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6 h 口径：NVD、GHSA、OSV、厂商公告、huntr 首次发现；其余单列</a:t>
            </a:r>
          </a:p>
        </p:txBody>
      </p:sp>
    </p:spTree>
    <p:extLst>
      <p:ext uri="{BB962C8B-B14F-4D97-AF65-F5344CB8AC3E}">
        <p14:creationId xmlns:p14="http://schemas.microsoft.com/office/powerpoint/2010/main" val="1803319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B84453-4E28-4205-A2F0-16CC7BE1A2B9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8572500" y="603932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7E97F-0FC4-4287-A36F-FC63B12B971E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715953" y="603932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DCA42-1938-4E16-8E74-F9367CDAB0A0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5715000" y="5791677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26A25-2F98-4CBC-BADC-30958A36B04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5715000" y="41819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60113-29CC-4C83-8D3D-CA874D9C922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H="1">
            <a:off x="5715000" y="2543652"/>
            <a:ext cx="953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0" name="F-11">
            <a:extLst xmlns:a="http://schemas.openxmlformats.org/drawingml/2006/main">
              <a:ext uri="{FF2B5EF4-FFF2-40B4-BE49-F238E27FC236}">
                <a16:creationId xmlns:a16="http://schemas.microsoft.com/office/drawing/2014/main" id="{6661CACE-DE00-4643-A74F-E2C963AE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F-11</a:t>
            </a:r>
          </a:p>
        </p:txBody>
      </p:sp>
      <p:sp>
        <p:nvSpPr>
          <p:cNvPr id="2" name="去重与合并的三层处理">
            <a:extLst xmlns:a="http://schemas.openxmlformats.org/drawingml/2006/main">
              <a:ext uri="{FF2B5EF4-FFF2-40B4-BE49-F238E27FC236}">
                <a16:creationId xmlns:a16="http://schemas.microsoft.com/office/drawing/2014/main" id="{69E22A00-D595-4FAD-A328-E203A18C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去重与合并的三层处理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523A7D82-CD29-4337-9815-E4EC0C4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61A68209-63DE-43DB-8940-626C5BBD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52550"/>
            <a:ext cx="8763000" cy="1162050"/>
          </a:xfrm>
          <a:custGeom xmlns:a="http://schemas.openxmlformats.org/drawingml/2006/main">
            <a:pathLst>
              <a:path w="8763000" h="1162050">
                <a:moveTo>
                  <a:pt x="0" y="0"/>
                </a:moveTo>
                <a:lnTo>
                  <a:pt x="8763000" y="0"/>
                </a:lnTo>
                <a:lnTo>
                  <a:pt x="84201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5" name="同源幂等">
            <a:extLst xmlns:a="http://schemas.openxmlformats.org/drawingml/2006/main">
              <a:ext uri="{FF2B5EF4-FFF2-40B4-BE49-F238E27FC236}">
                <a16:creationId xmlns:a16="http://schemas.microsoft.com/office/drawing/2014/main" id="{2007DB0D-6BA0-422E-833F-A30B636F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85900"/>
            <a:ext cx="790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同源幂等</a:t>
            </a:r>
          </a:p>
        </p:txBody>
      </p:sp>
      <p:sp>
        <p:nvSpPr>
          <p:cNvPr id="6" name="(source, external_id)">
            <a:extLst xmlns:a="http://schemas.openxmlformats.org/drawingml/2006/main">
              <a:ext uri="{FF2B5EF4-FFF2-40B4-BE49-F238E27FC236}">
                <a16:creationId xmlns:a16="http://schemas.microsoft.com/office/drawing/2014/main" id="{3F0B5FB6-7EF5-47FC-B67B-165FF45E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(source, external_id)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2A1C819E-C25B-4FB3-87CE-23068BB5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13962ABA-9FAF-4F0E-BF47-9976B2D0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24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517E2CF-8C37-4F1B-9A36-79B8FDE3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90850"/>
            <a:ext cx="7524750" cy="1162050"/>
          </a:xfrm>
          <a:custGeom xmlns:a="http://schemas.openxmlformats.org/drawingml/2006/main">
            <a:pathLst>
              <a:path w="7524750" h="1162050">
                <a:moveTo>
                  <a:pt x="0" y="0"/>
                </a:moveTo>
                <a:lnTo>
                  <a:pt x="7524750" y="0"/>
                </a:lnTo>
                <a:lnTo>
                  <a:pt x="718185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1" name="跨源别名并查集">
            <a:extLst xmlns:a="http://schemas.openxmlformats.org/drawingml/2006/main">
              <a:ext uri="{FF2B5EF4-FFF2-40B4-BE49-F238E27FC236}">
                <a16:creationId xmlns:a16="http://schemas.microsoft.com/office/drawing/2014/main" id="{A79B92A8-3714-4DE0-A589-E224DBB8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77DC3"/>
                </a:solidFill>
              </a:defRPr>
            </a:pPr>
            <a:r>
              <a:rPr sz="21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跨源别名并查集</a:t>
            </a:r>
          </a:p>
        </p:txBody>
      </p:sp>
      <p:sp>
        <p:nvSpPr>
          <p:cNvPr id="12" name="CVE &gt; GHSA &gt; OSV &gt; huntr &gt; SW">
            <a:extLst xmlns:a="http://schemas.openxmlformats.org/drawingml/2006/main">
              <a:ext uri="{FF2B5EF4-FFF2-40B4-BE49-F238E27FC236}">
                <a16:creationId xmlns:a16="http://schemas.microsoft.com/office/drawing/2014/main" id="{FBDA66E7-C15B-4B6D-8BF4-E4D6BF5C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099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CVE &gt; GHSA &gt; OSV &gt; huntr &gt; SW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FD23D9B5-4746-44C6-A8F5-39A3CFFD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79E75A31-C4CF-40CC-91AE-A60892B6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3DD09641-3961-4191-B4D7-9EE40D87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6286500" cy="1162050"/>
          </a:xfrm>
          <a:custGeom xmlns:a="http://schemas.openxmlformats.org/drawingml/2006/main">
            <a:pathLst>
              <a:path w="6286500" h="1162050">
                <a:moveTo>
                  <a:pt x="0" y="0"/>
                </a:moveTo>
                <a:lnTo>
                  <a:pt x="6286500" y="0"/>
                </a:lnTo>
                <a:lnTo>
                  <a:pt x="5943600" y="1162050"/>
                </a:lnTo>
                <a:lnTo>
                  <a:pt x="342900" y="1162050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7" name="无编号相似候选">
            <a:extLst xmlns:a="http://schemas.openxmlformats.org/drawingml/2006/main">
              <a:ext uri="{FF2B5EF4-FFF2-40B4-BE49-F238E27FC236}">
                <a16:creationId xmlns:a16="http://schemas.microsoft.com/office/drawing/2014/main" id="{3BE6318E-03BD-4BDC-AB98-0D1D3011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625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547D45"/>
                </a:solidFill>
              </a:defRPr>
            </a:pPr>
            <a:r>
              <a:rPr sz="21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无编号相似候选</a:t>
            </a:r>
          </a:p>
        </p:txBody>
      </p:sp>
      <p:sp>
        <p:nvSpPr>
          <p:cNvPr id="18" name="purl + SimHash ≥0.9 + 日期 ±3 天">
            <a:extLst xmlns:a="http://schemas.openxmlformats.org/drawingml/2006/main">
              <a:ext uri="{FF2B5EF4-FFF2-40B4-BE49-F238E27FC236}">
                <a16:creationId xmlns:a16="http://schemas.microsoft.com/office/drawing/2014/main" id="{D32A34BD-0499-460F-8D93-8D78828A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purl + SimHash ≥0.9 + 日期 ±3 天</a:t>
            </a:r>
          </a:p>
        </p:txBody>
      </p:sp>
      <p:sp>
        <p:nvSpPr>
          <p:cNvPr id="19" name="双 CVE 不合并 保留 DUPLICATE_OF 候选">
            <a:extLst xmlns:a="http://schemas.openxmlformats.org/drawingml/2006/main">
              <a:ext uri="{FF2B5EF4-FFF2-40B4-BE49-F238E27FC236}">
                <a16:creationId xmlns:a16="http://schemas.microsoft.com/office/drawing/2014/main" id="{01A12FCA-8450-4E61-9148-BA6756E5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4476750" cy="752475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 不合并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保留 DUPLICATE_OF 候选</a:t>
            </a:r>
          </a:p>
        </p:txBody>
      </p:sp>
      <p:sp>
        <p:nvSpPr>
          <p:cNvPr id="20" name="Critic 复核 候选不自动合并">
            <a:extLst xmlns:a="http://schemas.openxmlformats.org/drawingml/2006/main">
              <a:ext uri="{FF2B5EF4-FFF2-40B4-BE49-F238E27FC236}">
                <a16:creationId xmlns:a16="http://schemas.microsoft.com/office/drawing/2014/main" id="{7AA9B88E-2C32-4798-8AB5-400A8994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286500"/>
            <a:ext cx="4476750" cy="752475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复核</a:t>
            </a:r>
          </a:p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候选不自动合并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218260E2-BD5B-4381-AFD1-253CAA6C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9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0C50C387-1E93-4B8A-BA5C-36B68A88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0A6AE8FB-B085-4C61-B213-B9C09E05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39FC9139-52EF-403D-BB5B-85C9515F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781F2DBF-7CAC-4741-916E-EFCDF3FF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3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FA98FC54-4078-4C91-B866-9B32775D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08843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C1C25-01E6-4C8A-BD58-4026CC72D7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5715000" y="17054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5" name="F-12">
            <a:extLst xmlns:a="http://schemas.openxmlformats.org/drawingml/2006/main">
              <a:ext uri="{FF2B5EF4-FFF2-40B4-BE49-F238E27FC236}">
                <a16:creationId xmlns:a16="http://schemas.microsoft.com/office/drawing/2014/main" id="{1B6A5A0F-B795-4923-9589-5D82CAA3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F-12</a:t>
            </a:r>
          </a:p>
        </p:txBody>
      </p:sp>
      <p:sp>
        <p:nvSpPr>
          <p:cNvPr id="2" name="九维富化画像">
            <a:extLst xmlns:a="http://schemas.openxmlformats.org/drawingml/2006/main">
              <a:ext uri="{FF2B5EF4-FFF2-40B4-BE49-F238E27FC236}">
                <a16:creationId xmlns:a16="http://schemas.microsoft.com/office/drawing/2014/main" id="{452C3642-A56B-45E2-84FE-B707610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九维富化画像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2FEEA97C-F018-44B7-8C4E-894B723E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漏洞实体">
            <a:extLst xmlns:a="http://schemas.openxmlformats.org/drawingml/2006/main">
              <a:ext uri="{FF2B5EF4-FFF2-40B4-BE49-F238E27FC236}">
                <a16:creationId xmlns:a16="http://schemas.microsoft.com/office/drawing/2014/main" id="{3199D4C3-3B74-4350-8E9D-6FAABC3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09675"/>
            <a:ext cx="304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漏洞实体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2B82A3D8-DBCF-4EEA-AD17-CE4150F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06728978-174F-486C-9E79-B15BF58C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EBA71A36-7877-46CE-806E-5A4B2216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9" name="CVSS">
            <a:extLst xmlns:a="http://schemas.openxmlformats.org/drawingml/2006/main">
              <a:ext uri="{FF2B5EF4-FFF2-40B4-BE49-F238E27FC236}">
                <a16:creationId xmlns:a16="http://schemas.microsoft.com/office/drawing/2014/main" id="{C18CBE77-7D6E-4FF1-89A2-753EEF51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CVSS</a:t>
            </a:r>
          </a:p>
        </p:txBody>
      </p:sp>
      <p:sp>
        <p:nvSpPr>
          <p:cNvPr id="10" name="NVD / GHSA 保留分歧">
            <a:extLst xmlns:a="http://schemas.openxmlformats.org/drawingml/2006/main">
              <a:ext uri="{FF2B5EF4-FFF2-40B4-BE49-F238E27FC236}">
                <a16:creationId xmlns:a16="http://schemas.microsoft.com/office/drawing/2014/main" id="{C18C51B2-4FC5-44AE-85F7-1CBE1763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NVD / GHSA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保留分歧</a:t>
            </a:r>
          </a:p>
        </p:txBody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D007B12E-2FEF-40BB-B14B-FA1B58F6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8A47A599-E940-4328-92CA-1E40C207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3" name="EPSS">
            <a:extLst xmlns:a="http://schemas.openxmlformats.org/drawingml/2006/main">
              <a:ext uri="{FF2B5EF4-FFF2-40B4-BE49-F238E27FC236}">
                <a16:creationId xmlns:a16="http://schemas.microsoft.com/office/drawing/2014/main" id="{8537A2C1-5923-416E-85D6-CC463415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EPSS</a:t>
            </a:r>
          </a:p>
        </p:txBody>
      </p:sp>
      <p:sp>
        <p:nvSpPr>
          <p:cNvPr id="14" name="FIRST 每日更新">
            <a:extLst xmlns:a="http://schemas.openxmlformats.org/drawingml/2006/main">
              <a:ext uri="{FF2B5EF4-FFF2-40B4-BE49-F238E27FC236}">
                <a16:creationId xmlns:a16="http://schemas.microsoft.com/office/drawing/2014/main" id="{6A617CBF-4C27-44D7-B0FC-EA3E780D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FIRST</a:t>
            </a:r>
          </a:p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每日更新</a:t>
            </a:r>
          </a:p>
        </p:txBody>
      </p:sp>
      <p:sp>
        <p:nvSpPr>
          <p:cNvPr id="15" name="2">
            <a:extLst xmlns:a="http://schemas.openxmlformats.org/drawingml/2006/main">
              <a:ext uri="{FF2B5EF4-FFF2-40B4-BE49-F238E27FC236}">
                <a16:creationId xmlns:a16="http://schemas.microsoft.com/office/drawing/2014/main" id="{98C8A550-FCB3-43E1-B8D9-43974F9B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E9AAEA4F-B545-4B8A-B1EC-E30FE4B3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7" name="KEV">
            <a:extLst xmlns:a="http://schemas.openxmlformats.org/drawingml/2006/main">
              <a:ext uri="{FF2B5EF4-FFF2-40B4-BE49-F238E27FC236}">
                <a16:creationId xmlns:a16="http://schemas.microsoft.com/office/drawing/2014/main" id="{AAEF098C-F3D3-437D-B4B0-E8C4E186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KEV</a:t>
            </a:r>
          </a:p>
        </p:txBody>
      </p:sp>
      <p:sp>
        <p:nvSpPr>
          <p:cNvPr id="18" name="仅 KEV 置位">
            <a:extLst xmlns:a="http://schemas.openxmlformats.org/drawingml/2006/main">
              <a:ext uri="{FF2B5EF4-FFF2-40B4-BE49-F238E27FC236}">
                <a16:creationId xmlns:a16="http://schemas.microsoft.com/office/drawing/2014/main" id="{4DFFAF41-E149-4471-8428-B01A29EF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 KEV 置位</a:t>
            </a:r>
          </a:p>
        </p:txBody>
      </p:sp>
      <p:sp>
        <p:nvSpPr>
          <p:cNvPr id="19" name="3">
            <a:extLst xmlns:a="http://schemas.openxmlformats.org/drawingml/2006/main">
              <a:ext uri="{FF2B5EF4-FFF2-40B4-BE49-F238E27FC236}">
                <a16:creationId xmlns:a16="http://schemas.microsoft.com/office/drawing/2014/main" id="{08ECEFF4-D3D4-41B1-ACAE-BC3A639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8E6BC809-8360-42D6-82B4-17067CB0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71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CWE">
            <a:extLst xmlns:a="http://schemas.openxmlformats.org/drawingml/2006/main">
              <a:ext uri="{FF2B5EF4-FFF2-40B4-BE49-F238E27FC236}">
                <a16:creationId xmlns:a16="http://schemas.microsoft.com/office/drawing/2014/main" id="{B67B1C62-0AB9-41CD-B993-5415A1A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22" name="来源字段与规则">
            <a:extLst xmlns:a="http://schemas.openxmlformats.org/drawingml/2006/main">
              <a:ext uri="{FF2B5EF4-FFF2-40B4-BE49-F238E27FC236}">
                <a16:creationId xmlns:a16="http://schemas.microsoft.com/office/drawing/2014/main" id="{10A95387-6673-4463-83AC-177BB2F2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来源字段与规则</a:t>
            </a:r>
          </a:p>
        </p:txBody>
      </p:sp>
      <p:sp>
        <p:nvSpPr>
          <p:cNvPr id="23" name="4">
            <a:extLst xmlns:a="http://schemas.openxmlformats.org/drawingml/2006/main">
              <a:ext uri="{FF2B5EF4-FFF2-40B4-BE49-F238E27FC236}">
                <a16:creationId xmlns:a16="http://schemas.microsoft.com/office/drawing/2014/main" id="{826A8D15-EC6F-48B3-8537-3EDA49B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68620BF3-8B89-4782-BCF7-20D97342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671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5" name="ATLAS">
            <a:extLst xmlns:a="http://schemas.openxmlformats.org/drawingml/2006/main">
              <a:ext uri="{FF2B5EF4-FFF2-40B4-BE49-F238E27FC236}">
                <a16:creationId xmlns:a16="http://schemas.microsoft.com/office/drawing/2014/main" id="{808470C8-B1C6-4CE0-BE6B-FFA062DD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6" name="规则召回 + LLM">
            <a:extLst xmlns:a="http://schemas.openxmlformats.org/drawingml/2006/main">
              <a:ext uri="{FF2B5EF4-FFF2-40B4-BE49-F238E27FC236}">
                <a16:creationId xmlns:a16="http://schemas.microsoft.com/office/drawing/2014/main" id="{5D53CC01-0E6C-4937-B611-A334B37F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规则召回 + LLM</a:t>
            </a:r>
          </a:p>
        </p:txBody>
      </p:sp>
      <p:sp>
        <p:nvSpPr>
          <p:cNvPr id="27" name="5">
            <a:extLst xmlns:a="http://schemas.openxmlformats.org/drawingml/2006/main">
              <a:ext uri="{FF2B5EF4-FFF2-40B4-BE49-F238E27FC236}">
                <a16:creationId xmlns:a16="http://schemas.microsoft.com/office/drawing/2014/main" id="{06EED678-E7F6-46CE-9A66-7538DCBD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05680FAD-24E8-44E8-BCC4-99E4C2EE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9" name="受影响与修复版本">
            <a:extLst xmlns:a="http://schemas.openxmlformats.org/drawingml/2006/main">
              <a:ext uri="{FF2B5EF4-FFF2-40B4-BE49-F238E27FC236}">
                <a16:creationId xmlns:a16="http://schemas.microsoft.com/office/drawing/2014/main" id="{54C3BE7A-D301-46F5-94AD-9B20BBE9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受影响与修复版本</a:t>
            </a:r>
          </a:p>
        </p:txBody>
      </p:sp>
      <p:sp>
        <p:nvSpPr>
          <p:cNvPr id="30" name="OSV 区间语义">
            <a:extLst xmlns:a="http://schemas.openxmlformats.org/drawingml/2006/main">
              <a:ext uri="{FF2B5EF4-FFF2-40B4-BE49-F238E27FC236}">
                <a16:creationId xmlns:a16="http://schemas.microsoft.com/office/drawing/2014/main" id="{93A74BD1-FFC8-4298-9F34-1095ECB2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9102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OSV 区间语义</a:t>
            </a:r>
          </a:p>
        </p:txBody>
      </p:sp>
      <p:sp>
        <p:nvSpPr>
          <p:cNvPr id="31" name="6">
            <a:extLst xmlns:a="http://schemas.openxmlformats.org/drawingml/2006/main">
              <a:ext uri="{FF2B5EF4-FFF2-40B4-BE49-F238E27FC236}">
                <a16:creationId xmlns:a16="http://schemas.microsoft.com/office/drawing/2014/main" id="{A0FB68FB-C2A0-4441-9C32-E0479A38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9B0A1E06-85C9-4160-A696-A2132E06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483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3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53E1B012-E3D7-4A19-B2EC-0F3D1263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34" name="嵌入 + 组件共现">
            <a:extLst xmlns:a="http://schemas.openxmlformats.org/drawingml/2006/main">
              <a:ext uri="{FF2B5EF4-FFF2-40B4-BE49-F238E27FC236}">
                <a16:creationId xmlns:a16="http://schemas.microsoft.com/office/drawing/2014/main" id="{5893E949-153D-44E4-8C12-5AD9C177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嵌入 + 组件共现</a:t>
            </a:r>
          </a:p>
        </p:txBody>
      </p:sp>
      <p:sp>
        <p:nvSpPr>
          <p:cNvPr id="35" name="7">
            <a:extLst xmlns:a="http://schemas.openxmlformats.org/drawingml/2006/main">
              <a:ext uri="{FF2B5EF4-FFF2-40B4-BE49-F238E27FC236}">
                <a16:creationId xmlns:a16="http://schemas.microsoft.com/office/drawing/2014/main" id="{724E8455-D54F-4C8F-B076-6F204BBD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4AF2EB57-91EC-45FE-932D-96CBB329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483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7" name="PoC 存在性">
            <a:extLst xmlns:a="http://schemas.openxmlformats.org/drawingml/2006/main">
              <a:ext uri="{FF2B5EF4-FFF2-40B4-BE49-F238E27FC236}">
                <a16:creationId xmlns:a16="http://schemas.microsoft.com/office/drawing/2014/main" id="{C2DF4B93-81C2-42DA-8373-EC53F8F8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PoC 存在性</a:t>
            </a:r>
          </a:p>
        </p:txBody>
      </p:sp>
      <p:sp>
        <p:nvSpPr>
          <p:cNvPr id="38" name="仅链接与标题">
            <a:extLst xmlns:a="http://schemas.openxmlformats.org/drawingml/2006/main">
              <a:ext uri="{FF2B5EF4-FFF2-40B4-BE49-F238E27FC236}">
                <a16:creationId xmlns:a16="http://schemas.microsoft.com/office/drawing/2014/main" id="{7BC65D4B-0C1F-4CC4-820E-37D90F23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仅链接与标题</a:t>
            </a:r>
          </a:p>
        </p:txBody>
      </p:sp>
      <p:sp>
        <p:nvSpPr>
          <p:cNvPr id="39" name="8">
            <a:extLst xmlns:a="http://schemas.openxmlformats.org/drawingml/2006/main">
              <a:ext uri="{FF2B5EF4-FFF2-40B4-BE49-F238E27FC236}">
                <a16:creationId xmlns:a16="http://schemas.microsoft.com/office/drawing/2014/main" id="{75D3A336-C190-46CF-A041-FF7A6A18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50CE10DD-0A8B-4417-B210-58CE9A62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483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1" name="公网暴露面">
            <a:extLst xmlns:a="http://schemas.openxmlformats.org/drawingml/2006/main">
              <a:ext uri="{FF2B5EF4-FFF2-40B4-BE49-F238E27FC236}">
                <a16:creationId xmlns:a16="http://schemas.microsoft.com/office/drawing/2014/main" id="{FF7C7A1F-716E-426C-B792-CAE946DF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43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公网暴露面</a:t>
            </a:r>
          </a:p>
        </p:txBody>
      </p:sp>
      <p:sp>
        <p:nvSpPr>
          <p:cNvPr id="42" name="仅聚合计数">
            <a:extLst xmlns:a="http://schemas.openxmlformats.org/drawingml/2006/main">
              <a:ext uri="{FF2B5EF4-FFF2-40B4-BE49-F238E27FC236}">
                <a16:creationId xmlns:a16="http://schemas.microsoft.com/office/drawing/2014/main" id="{54120025-B0A6-409C-B0A3-D6EDA301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972175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仅聚合计数</a:t>
            </a:r>
          </a:p>
        </p:txBody>
      </p:sp>
      <p:sp>
        <p:nvSpPr>
          <p:cNvPr id="43" name="9">
            <a:extLst xmlns:a="http://schemas.openxmlformats.org/drawingml/2006/main">
              <a:ext uri="{FF2B5EF4-FFF2-40B4-BE49-F238E27FC236}">
                <a16:creationId xmlns:a16="http://schemas.microsoft.com/office/drawing/2014/main" id="{567B3304-BF59-4A92-B51D-6622B95B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7A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4" name="蓝色：规则与确定性信息；绿色：弱关联须 Critic 校验；黄色：合规边界">
            <a:extLst xmlns:a="http://schemas.openxmlformats.org/drawingml/2006/main">
              <a:ext uri="{FF2B5EF4-FFF2-40B4-BE49-F238E27FC236}">
                <a16:creationId xmlns:a16="http://schemas.microsoft.com/office/drawing/2014/main" id="{96124661-A318-473D-A754-D6B7EAB9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蓝色：规则与确定性信息；绿色：弱关联须 Critic 校验；黄色：合规边界</a:t>
            </a:r>
          </a:p>
        </p:txBody>
      </p:sp>
    </p:spTree>
    <p:extLst>
      <p:ext uri="{BB962C8B-B14F-4D97-AF65-F5344CB8AC3E}">
        <p14:creationId xmlns:p14="http://schemas.microsoft.com/office/powerpoint/2010/main" val="1624210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EC3CB-7A78-421A-9243-5ED56A2DA88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3762375" y="4915377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46EE7-B7E1-4C5B-B74E-4D12EC02183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3762375" y="3210402"/>
            <a:ext cx="953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27" name="F-13">
            <a:extLst xmlns:a="http://schemas.openxmlformats.org/drawingml/2006/main">
              <a:ext uri="{FF2B5EF4-FFF2-40B4-BE49-F238E27FC236}">
                <a16:creationId xmlns:a16="http://schemas.microsoft.com/office/drawing/2014/main" id="{16BB9DFC-71D1-4446-B774-EC7BA424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F-13</a:t>
            </a:r>
          </a:p>
        </p:txBody>
      </p:sp>
      <p:sp>
        <p:nvSpPr>
          <p:cNvPr id="2" name="暴露面计数的语法校准">
            <a:extLst xmlns:a="http://schemas.openxmlformats.org/drawingml/2006/main">
              <a:ext uri="{FF2B5EF4-FFF2-40B4-BE49-F238E27FC236}">
                <a16:creationId xmlns:a16="http://schemas.microsoft.com/office/drawing/2014/main" id="{61C1FA60-6C80-4D33-9E60-CB4CCF9B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暴露面计数的语法校准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88C6A328-8DB3-45A4-BD3A-1A87158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ake 暴露面口径收窄">
            <a:extLst xmlns:a="http://schemas.openxmlformats.org/drawingml/2006/main">
              <a:ext uri="{FF2B5EF4-FFF2-40B4-BE49-F238E27FC236}">
                <a16:creationId xmlns:a16="http://schemas.microsoft.com/office/drawing/2014/main" id="{08AABE03-7281-481B-8677-FD7C5C0F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525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1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7DC3"/>
                </a:solidFill>
              </a:defRPr>
            </a:pPr>
            <a:r>
              <a:rPr sz="21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Quake 暴露面口径收窄</a:t>
            </a:r>
          </a:p>
        </p:txBody>
      </p:sp>
      <p:sp>
        <p:nvSpPr>
          <p:cNvPr id="5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FBE51AFB-7896-4986-A5BD-64CDEF19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6286500" cy="1266825"/>
          </a:xfrm>
          <a:custGeom xmlns:a="http://schemas.openxmlformats.org/drawingml/2006/main">
            <a:pathLst>
              <a:path w="6286500" h="1266825">
                <a:moveTo>
                  <a:pt x="0" y="0"/>
                </a:moveTo>
                <a:lnTo>
                  <a:pt x="6286500" y="0"/>
                </a:lnTo>
                <a:lnTo>
                  <a:pt x="58578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6" name="823 690">
            <a:extLst xmlns:a="http://schemas.openxmlformats.org/drawingml/2006/main">
              <a:ext uri="{FF2B5EF4-FFF2-40B4-BE49-F238E27FC236}">
                <a16:creationId xmlns:a16="http://schemas.microsoft.com/office/drawing/2014/main" id="{D3575530-EE35-4FDF-8F73-D24EE3A0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907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4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657D8E"/>
                </a:solidFill>
              </a:defRPr>
            </a:pPr>
            <a:r>
              <a:rPr sz="34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823 690</a:t>
            </a:r>
          </a:p>
        </p:txBody>
      </p:sp>
      <p:sp>
        <p:nvSpPr>
          <p:cNvPr id="7" name="宽口径，仅作上限参考">
            <a:extLst xmlns:a="http://schemas.openxmlformats.org/drawingml/2006/main">
              <a:ext uri="{FF2B5EF4-FFF2-40B4-BE49-F238E27FC236}">
                <a16:creationId xmlns:a16="http://schemas.microsoft.com/office/drawing/2014/main" id="{F3389670-5AB7-4B45-BB94-C833DBAD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宽口径，仅作上限参考</a:t>
            </a:r>
          </a:p>
        </p:txBody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FD856B95-EDF5-4A92-B4A1-0252D768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09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8D283253-5376-487F-968E-2C329C7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33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82DCC709-AC26-47BD-908B-C7AACCC8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00450"/>
            <a:ext cx="5334000" cy="1266825"/>
          </a:xfrm>
          <a:custGeom xmlns:a="http://schemas.openxmlformats.org/drawingml/2006/main">
            <a:pathLst>
              <a:path w="5334000" h="1266825">
                <a:moveTo>
                  <a:pt x="0" y="0"/>
                </a:moveTo>
                <a:lnTo>
                  <a:pt x="5334000" y="0"/>
                </a:lnTo>
                <a:lnTo>
                  <a:pt x="4905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2" name="172 411">
            <a:extLst xmlns:a="http://schemas.openxmlformats.org/drawingml/2006/main">
              <a:ext uri="{FF2B5EF4-FFF2-40B4-BE49-F238E27FC236}">
                <a16:creationId xmlns:a16="http://schemas.microsoft.com/office/drawing/2014/main" id="{2FAB2D06-B0B8-44F2-A5EA-F8DFB1F0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957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4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277DC3"/>
                </a:solidFill>
              </a:defRPr>
            </a:pPr>
            <a:r>
              <a:rPr sz="34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172 411</a:t>
            </a:r>
          </a:p>
        </p:txBody>
      </p:sp>
      <p:sp>
        <p:nvSpPr>
          <p:cNvPr id="13" name="收窄全球：端口 + 响应特征">
            <a:extLst xmlns:a="http://schemas.openxmlformats.org/drawingml/2006/main">
              <a:ext uri="{FF2B5EF4-FFF2-40B4-BE49-F238E27FC236}">
                <a16:creationId xmlns:a16="http://schemas.microsoft.com/office/drawing/2014/main" id="{E77DF431-D962-402F-940D-4746CFA7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收窄全球：端口 + 响应特征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B2D0FE5D-1E7E-47FB-AF6D-052DF42C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1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C047141D-CC80-49C6-87D6-55905E7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08CC229B-BFB5-4C54-A692-48EA49B8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05425"/>
            <a:ext cx="4191000" cy="1266825"/>
          </a:xfrm>
          <a:custGeom xmlns:a="http://schemas.openxmlformats.org/drawingml/2006/main">
            <a:pathLst>
              <a:path w="4191000" h="1266825">
                <a:moveTo>
                  <a:pt x="0" y="0"/>
                </a:moveTo>
                <a:lnTo>
                  <a:pt x="4191000" y="0"/>
                </a:lnTo>
                <a:lnTo>
                  <a:pt x="3762375" y="1266825"/>
                </a:lnTo>
                <a:lnTo>
                  <a:pt x="428625" y="12668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8" name="51 612">
            <a:extLst xmlns:a="http://schemas.openxmlformats.org/drawingml/2006/main">
              <a:ext uri="{FF2B5EF4-FFF2-40B4-BE49-F238E27FC236}">
                <a16:creationId xmlns:a16="http://schemas.microsoft.com/office/drawing/2014/main" id="{CB4D3F16-E91F-45FB-9C95-A5C117AD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00675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4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547D45"/>
                </a:solidFill>
              </a:defRPr>
            </a:pPr>
            <a:r>
              <a:rPr sz="34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51 612</a:t>
            </a:r>
          </a:p>
        </p:txBody>
      </p:sp>
      <p:sp>
        <p:nvSpPr>
          <p:cNvPr id="19" name="国内：按平台国家字段">
            <a:extLst xmlns:a="http://schemas.openxmlformats.org/drawingml/2006/main">
              <a:ext uri="{FF2B5EF4-FFF2-40B4-BE49-F238E27FC236}">
                <a16:creationId xmlns:a16="http://schemas.microsoft.com/office/drawing/2014/main" id="{12E28960-BE26-403D-B935-034F8021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388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国内：按平台国家字段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B2C051E4-D2BF-4960-A58E-4F410CE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95475"/>
            <a:ext cx="3286125" cy="46767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元数据抽样验证">
            <a:extLst xmlns:a="http://schemas.openxmlformats.org/drawingml/2006/main">
              <a:ext uri="{FF2B5EF4-FFF2-40B4-BE49-F238E27FC236}">
                <a16:creationId xmlns:a16="http://schemas.microsoft.com/office/drawing/2014/main" id="{39CF488C-BE94-4DA4-8E9E-79F994EB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990725"/>
            <a:ext cx="2943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元数据抽样验证</a:t>
            </a:r>
          </a:p>
        </p:txBody>
      </p:sp>
      <p:sp>
        <p:nvSpPr>
          <p:cNvPr id="22" name="44 / 50">
            <a:extLst xmlns:a="http://schemas.openxmlformats.org/drawingml/2006/main">
              <a:ext uri="{FF2B5EF4-FFF2-40B4-BE49-F238E27FC236}">
                <a16:creationId xmlns:a16="http://schemas.microsoft.com/office/drawing/2014/main" id="{FDD98B42-95B6-4944-9948-FA579EC1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05100"/>
            <a:ext cx="2924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36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3600" b="1">
                <a:solidFill>
                  <a:srgbClr val="A67A20"/>
                </a:solidFill>
              </a:defRPr>
            </a:pPr>
            <a:r>
              <a:rPr sz="36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44 / 50</a:t>
            </a:r>
          </a:p>
        </p:txBody>
      </p:sp>
      <p:sp>
        <p:nvSpPr>
          <p:cNvPr id="23" name="精确率 88% ≥80% verified">
            <a:extLst xmlns:a="http://schemas.openxmlformats.org/drawingml/2006/main">
              <a:ext uri="{FF2B5EF4-FFF2-40B4-BE49-F238E27FC236}">
                <a16:creationId xmlns:a16="http://schemas.microsoft.com/office/drawing/2014/main" id="{BCA1BC28-3981-48F4-BC81-C617A178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05225"/>
            <a:ext cx="29241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精确率 88% ≥80%</a:t>
            </a:r>
          </a:p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24" name="抽样时间 19:55 当时总数 172 401">
            <a:extLst xmlns:a="http://schemas.openxmlformats.org/drawingml/2006/main">
              <a:ext uri="{FF2B5EF4-FFF2-40B4-BE49-F238E27FC236}">
                <a16:creationId xmlns:a16="http://schemas.microsoft.com/office/drawing/2014/main" id="{E5A417EB-35BF-493C-B6EF-DF9D6D12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972050"/>
            <a:ext cx="29813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抽样时间 19:55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当时总数 172 401</a:t>
            </a:r>
          </a:p>
        </p:txBody>
      </p:sp>
      <p:sp>
        <p:nvSpPr>
          <p:cNvPr id="25" name="计数时间 15:57">
            <a:extLst xmlns:a="http://schemas.openxmlformats.org/drawingml/2006/main">
              <a:ext uri="{FF2B5EF4-FFF2-40B4-BE49-F238E27FC236}">
                <a16:creationId xmlns:a16="http://schemas.microsoft.com/office/drawing/2014/main" id="{8AA3BD18-89D9-4C7C-AE3E-353A8513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24650"/>
            <a:ext cx="552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57D8E"/>
                </a:solidFill>
              </a:defRPr>
            </a:pPr>
            <a:r>
              <a:rPr sz="150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计数时间 15:57</a:t>
            </a:r>
          </a:p>
        </p:txBody>
      </p:sp>
      <p:sp>
        <p:nvSpPr>
          <p:cNvPr id="26" name="2026-10-15，仅计数；Talos / Shodan 文献为 1139，覆盖口径不同，不直接比较">
            <a:extLst xmlns:a="http://schemas.openxmlformats.org/drawingml/2006/main">
              <a:ext uri="{FF2B5EF4-FFF2-40B4-BE49-F238E27FC236}">
                <a16:creationId xmlns:a16="http://schemas.microsoft.com/office/drawing/2014/main" id="{0251758B-6B11-49B9-99A9-A4255010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2026-10-15，仅计数；Talos / Shodan 文献为 1139，覆盖口径不同，不直接比较</a:t>
            </a:r>
          </a:p>
        </p:txBody>
      </p:sp>
    </p:spTree>
    <p:extLst>
      <p:ext uri="{BB962C8B-B14F-4D97-AF65-F5344CB8AC3E}">
        <p14:creationId xmlns:p14="http://schemas.microsoft.com/office/powerpoint/2010/main" val="9719169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9065F6C-A0A6-4621-8A27-B7E2D5A4028A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7763828" y="5925027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4AD592B-68B6-4970-841C-9921DF6CDFD7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 flipH="1">
            <a:off x="7762875" y="4143852"/>
            <a:ext cx="953" cy="1781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7F053E8-76AB-4172-95F7-D526BDA658D2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7363778" y="414385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3E3FE2-DFA8-40F2-BDE4-5A6BF3EF55B8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H="1">
            <a:off x="3286125" y="5925027"/>
            <a:ext cx="381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13314A-3486-4FCA-AE7C-27A86FEF5F93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3667125" y="4143852"/>
            <a:ext cx="953" cy="1781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5D0110-1DC7-44C7-8275-D61B8A2E5B05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3667125" y="4143852"/>
            <a:ext cx="4010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056698-DFF7-459D-8382-9FF51DDD906C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7763828" y="382000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B511D8-27B1-4981-A7CB-B28BCBD04CB1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H="1">
            <a:off x="7762875" y="3810477"/>
            <a:ext cx="953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D32B13-525D-4362-BB11-809109B242BC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363778" y="3810477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CF85E8-4DF6-428D-A0CC-C486EEDCA0EB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3286125" y="3820002"/>
            <a:ext cx="381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293209-D4C6-4587-BBC3-767D1ED3C522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3667125" y="3810477"/>
            <a:ext cx="953" cy="9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620EAC-E97E-4692-A032-56851895CAF1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3667125" y="3810477"/>
            <a:ext cx="4010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7FC4A-F964-4EE2-BE92-D33383C3687A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763828" y="197215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FDB36-F162-4172-9FE6-A00DD150DD50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 flipV="1">
            <a:off x="7762875" y="1972152"/>
            <a:ext cx="953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2FB38-C32B-457B-8A59-48B137E5121C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363778" y="34771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DD633-4C40-4F3E-BCC3-542D76954403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668078" y="34771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B3B6B-978E-4BAA-B90B-E59D9F633041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3667125" y="1972152"/>
            <a:ext cx="953" cy="15049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BDC1C-C522-4E0D-B0CD-33F3945FA05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87078" y="197215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9" name="F-14">
            <a:extLst xmlns:a="http://schemas.openxmlformats.org/drawingml/2006/main">
              <a:ext uri="{FF2B5EF4-FFF2-40B4-BE49-F238E27FC236}">
                <a16:creationId xmlns:a16="http://schemas.microsoft.com/office/drawing/2014/main" id="{B1495FF5-59AF-49F7-A1B8-C6C409F3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F-14</a:t>
            </a:r>
          </a:p>
        </p:txBody>
      </p:sp>
      <p:sp>
        <p:nvSpPr>
          <p:cNvPr id="2" name="六类自动关联">
            <a:extLst xmlns:a="http://schemas.openxmlformats.org/drawingml/2006/main">
              <a:ext uri="{FF2B5EF4-FFF2-40B4-BE49-F238E27FC236}">
                <a16:creationId xmlns:a16="http://schemas.microsoft.com/office/drawing/2014/main" id="{EC0DA544-3291-4331-B19B-647FE19B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六类自动关联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723F9FD8-C038-48D8-B46A-10799DA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D0D03E1D-E20A-4897-B54D-C9860148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48025"/>
            <a:ext cx="329565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B6B325DF-ECAE-46EB-97D6-93996F29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3432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6" name="漏洞事实">
            <a:extLst xmlns:a="http://schemas.openxmlformats.org/drawingml/2006/main">
              <a:ext uri="{FF2B5EF4-FFF2-40B4-BE49-F238E27FC236}">
                <a16:creationId xmlns:a16="http://schemas.microsoft.com/office/drawing/2014/main" id="{42FA0C6F-12C7-44B7-90DB-559A07E9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71900"/>
            <a:ext cx="306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DE357864-B3A9-4473-AE03-D69D3A4F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017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Advisory">
            <a:extLst xmlns:a="http://schemas.openxmlformats.org/drawingml/2006/main">
              <a:ext uri="{FF2B5EF4-FFF2-40B4-BE49-F238E27FC236}">
                <a16:creationId xmlns:a16="http://schemas.microsoft.com/office/drawing/2014/main" id="{BB4DBDA2-2515-4713-802D-A35847F4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9" name="公告">
            <a:extLst xmlns:a="http://schemas.openxmlformats.org/drawingml/2006/main">
              <a:ext uri="{FF2B5EF4-FFF2-40B4-BE49-F238E27FC236}">
                <a16:creationId xmlns:a16="http://schemas.microsoft.com/office/drawing/2014/main" id="{5820CAA2-41C9-4E03-8E45-155D8A2B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CE576727-349E-41C6-BB0B-DB8F9E3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D9388611-2B30-4D5F-A967-C80604F6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A66D7FBA-1037-4F8A-8A83-7506CD91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0643357B-1E3E-40AA-B64A-F120D565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1E9B0626-2A87-40AE-BBB0-138B15B9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CF84F8DE-0EEE-4F1B-9A72-A86CD68C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DESCRIBES">
            <a:extLst xmlns:a="http://schemas.openxmlformats.org/drawingml/2006/main">
              <a:ext uri="{FF2B5EF4-FFF2-40B4-BE49-F238E27FC236}">
                <a16:creationId xmlns:a16="http://schemas.microsoft.com/office/drawing/2014/main" id="{3A5BEDA6-8E0A-4994-8B67-BBB87755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81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DESCRIBES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0C71095C-1364-432C-829A-7D302AF4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0017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Component">
            <a:extLst xmlns:a="http://schemas.openxmlformats.org/drawingml/2006/main">
              <a:ext uri="{FF2B5EF4-FFF2-40B4-BE49-F238E27FC236}">
                <a16:creationId xmlns:a16="http://schemas.microsoft.com/office/drawing/2014/main" id="{1823E794-A338-4993-8891-4024C6DC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954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22" name="组件">
            <a:extLst xmlns:a="http://schemas.openxmlformats.org/drawingml/2006/main">
              <a:ext uri="{FF2B5EF4-FFF2-40B4-BE49-F238E27FC236}">
                <a16:creationId xmlns:a16="http://schemas.microsoft.com/office/drawing/2014/main" id="{F310FD36-679A-4D4A-83CB-1E4057B0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2405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77B6E179-C4E5-4921-AB1B-89323B3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6591E880-391B-470C-AA3F-97ED07F5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703F67E2-58A5-4BD9-B682-C476E67D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75AE2938-59CD-44DA-AB89-99E5A3BB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C2619741-490F-4F0D-B391-91ECE314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53D24BA3-3963-4FDF-80F6-A8E5322F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7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AFFECTS">
            <a:extLst xmlns:a="http://schemas.openxmlformats.org/drawingml/2006/main">
              <a:ext uri="{FF2B5EF4-FFF2-40B4-BE49-F238E27FC236}">
                <a16:creationId xmlns:a16="http://schemas.microsoft.com/office/drawing/2014/main" id="{1480254D-619D-4B3F-8AB4-7D5F07D5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81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</p:txBody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7242AC62-D28F-4747-B60C-C35001AD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34" name="CWE">
            <a:extLst xmlns:a="http://schemas.openxmlformats.org/drawingml/2006/main">
              <a:ext uri="{FF2B5EF4-FFF2-40B4-BE49-F238E27FC236}">
                <a16:creationId xmlns:a16="http://schemas.microsoft.com/office/drawing/2014/main" id="{174DBB4A-3706-4260-8833-1910AB13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35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4351048C-96D2-41A7-9560-138C6477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719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09CB31B3-54A9-42A1-98D6-D0777163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D853C293-D4EB-40A0-A80C-EA1AF08D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CECAACA1-B499-449E-98D2-F052BCC8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86842621-9A4F-47E0-98B0-67A6E04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9DBCEB0A-F6F3-4382-B0DE-FD030941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6D7D1DE5-BC15-4083-8F65-773A5BF8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HAS_CWE">
            <a:extLst xmlns:a="http://schemas.openxmlformats.org/drawingml/2006/main">
              <a:ext uri="{FF2B5EF4-FFF2-40B4-BE49-F238E27FC236}">
                <a16:creationId xmlns:a16="http://schemas.microsoft.com/office/drawing/2014/main" id="{475EDB72-454F-4DBA-8819-92D6C0CE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HAS_CWE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2EB2EF16-6651-40B9-92F0-B48CC898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48025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7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2046DF9E-50E2-43C0-B3F0-5DDAE66A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432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48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00BB3216-1EA1-4AED-B6F9-CA297CF5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719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DA4F6D92-AED5-4AB8-955F-881B9FA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1D6CE1BA-2E57-4BD4-8C1A-4B4E042F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7565EDB0-9C4A-4061-872F-A53D0E0B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CD2B5CD2-4BDC-4AA1-9B12-D606564A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EA4B6A6D-42AD-4A6F-AA7D-DE67C1A7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E8C6FDF1-2449-4BC9-9C08-581EE5E1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MAPS_TO">
            <a:extLst xmlns:a="http://schemas.openxmlformats.org/drawingml/2006/main">
              <a:ext uri="{FF2B5EF4-FFF2-40B4-BE49-F238E27FC236}">
                <a16:creationId xmlns:a16="http://schemas.microsoft.com/office/drawing/2014/main" id="{011F89D3-9FB4-4019-AA6C-17E09E5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29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</p:txBody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4790A607-A927-4B88-A6A3-B5B9545B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0" name="PocRef">
            <a:extLst xmlns:a="http://schemas.openxmlformats.org/drawingml/2006/main">
              <a:ext uri="{FF2B5EF4-FFF2-40B4-BE49-F238E27FC236}">
                <a16:creationId xmlns:a16="http://schemas.microsoft.com/office/drawing/2014/main" id="{3784BAA8-D48E-4AF6-A691-60D44A48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61" name="公开引用">
            <a:extLst xmlns:a="http://schemas.openxmlformats.org/drawingml/2006/main">
              <a:ext uri="{FF2B5EF4-FFF2-40B4-BE49-F238E27FC236}">
                <a16:creationId xmlns:a16="http://schemas.microsoft.com/office/drawing/2014/main" id="{EEAFC338-B22E-4BB6-B56C-0F06FFA1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769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公开引用</a:t>
            </a:r>
          </a:p>
        </p:txBody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50317A05-1C83-4533-BA1A-E48DF86D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BAF7CF68-BD12-4034-B89B-2A8CB607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819CB79C-AACB-4794-BB60-2FCC0E7E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BE4FB994-6307-44A2-91C3-5B4EE7C7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8BE5DF8C-34D7-43B1-8795-470211E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19B69632-EB90-4326-A9E1-B76A3F80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HAS_POC_REF">
            <a:extLst xmlns:a="http://schemas.openxmlformats.org/drawingml/2006/main">
              <a:ext uri="{FF2B5EF4-FFF2-40B4-BE49-F238E27FC236}">
                <a16:creationId xmlns:a16="http://schemas.microsoft.com/office/drawing/2014/main" id="{826222F4-BFCD-497B-AB47-0996BBD7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534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2DF4D669-1EBB-45DF-AF41-2BEAC09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53050"/>
            <a:ext cx="26670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3" name="Paper / Article">
            <a:extLst xmlns:a="http://schemas.openxmlformats.org/drawingml/2006/main">
              <a:ext uri="{FF2B5EF4-FFF2-40B4-BE49-F238E27FC236}">
                <a16:creationId xmlns:a16="http://schemas.microsoft.com/office/drawing/2014/main" id="{90A5A0F7-12BF-4A1D-B712-0E0E5964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48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 / Article</a:t>
            </a:r>
          </a:p>
        </p:txBody>
      </p:sp>
      <p:sp>
        <p:nvSpPr>
          <p:cNvPr id="74" name="论文与文章">
            <a:extLst xmlns:a="http://schemas.openxmlformats.org/drawingml/2006/main">
              <a:ext uri="{FF2B5EF4-FFF2-40B4-BE49-F238E27FC236}">
                <a16:creationId xmlns:a16="http://schemas.microsoft.com/office/drawing/2014/main" id="{13346051-79F8-41F1-983B-91BA6B2E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769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论文与文章</a:t>
            </a:r>
          </a:p>
        </p:txBody>
      </p:sp>
      <p:sp>
        <p:nvSpPr>
          <p:cNvPr id="75" name="boundary">
            <a:extLst xmlns:a="http://schemas.openxmlformats.org/drawingml/2006/main">
              <a:ext uri="{FF2B5EF4-FFF2-40B4-BE49-F238E27FC236}">
                <a16:creationId xmlns:a16="http://schemas.microsoft.com/office/drawing/2014/main" id="{83BEF0DA-C5C2-440C-B463-AA12C3A0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58BD9BFA-F23A-4181-BAED-ED61A3D8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51217B3A-9C8A-47F6-8E20-840A3B4B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7FEF39F5-846E-4865-9F94-1B23F228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E1902BD6-EF9F-41E8-8A2D-89D8B184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CB385746-D4CE-488D-92A3-64B99032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924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DD7E83F9-0659-43CC-B987-8E128B9C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534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DISCUSSED_IN</a:t>
            </a:r>
          </a:p>
        </p:txBody>
      </p:sp>
      <p:sp>
        <p:nvSpPr>
          <p:cNvPr id="85" name="规则理由：aliases 含 CVE">
            <a:extLst xmlns:a="http://schemas.openxmlformats.org/drawingml/2006/main">
              <a:ext uri="{FF2B5EF4-FFF2-40B4-BE49-F238E27FC236}">
                <a16:creationId xmlns:a16="http://schemas.microsoft.com/office/drawing/2014/main" id="{9FE29D74-4D4A-469C-BD7E-50845AF9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954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77DC3"/>
                </a:solidFill>
              </a:defRPr>
            </a:pPr>
            <a:r>
              <a:rPr sz="15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规则理由：aliases 含 CVE</a:t>
            </a:r>
          </a:p>
        </p:txBody>
      </p:sp>
      <p:sp>
        <p:nvSpPr>
          <p:cNvPr id="86" name="弱关联：摘要相似 + 组件共现">
            <a:extLst xmlns:a="http://schemas.openxmlformats.org/drawingml/2006/main">
              <a:ext uri="{FF2B5EF4-FFF2-40B4-BE49-F238E27FC236}">
                <a16:creationId xmlns:a16="http://schemas.microsoft.com/office/drawing/2014/main" id="{BD89941A-62C7-4D0A-9CAD-AAFBA761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38350"/>
            <a:ext cx="3971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47D45"/>
                </a:solidFill>
              </a:defRPr>
            </a:pPr>
            <a:r>
              <a:rPr sz="15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弱关联：摘要相似 + 组件共现</a:t>
            </a:r>
          </a:p>
        </p:txBody>
      </p:sp>
      <p:sp>
        <p:nvSpPr>
          <p:cNvPr id="87" name="处置关联：修复 + 缓解模板 版本求解：清单 × 影响区间">
            <a:extLst xmlns:a="http://schemas.openxmlformats.org/drawingml/2006/main">
              <a:ext uri="{FF2B5EF4-FFF2-40B4-BE49-F238E27FC236}">
                <a16:creationId xmlns:a16="http://schemas.microsoft.com/office/drawing/2014/main" id="{57C56042-FB5E-431C-9E60-FE058885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476875"/>
            <a:ext cx="4257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处置关联：修复 + 缓解模板</a:t>
            </a:r>
          </a:p>
          <a:p xmlns:a="http://schemas.openxmlformats.org/drawingml/2006/main">
            <a:pPr algn="ctr">
              <a:defRPr sz="1725" b="0">
                <a:solidFill>
                  <a:srgbClr val="233E54"/>
                </a:solidFill>
              </a:defRPr>
            </a:pPr>
            <a:r>
              <a:rPr sz="172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版本求解：清单 × 影响区间</a:t>
            </a:r>
          </a:p>
        </p:txBody>
      </p:sp>
      <p:sp>
        <p:nvSpPr>
          <p:cNvPr id="88" name="实线表示确定性关联；虚线表示须经 Critic 校验的弱关联">
            <a:extLst xmlns:a="http://schemas.openxmlformats.org/drawingml/2006/main">
              <a:ext uri="{FF2B5EF4-FFF2-40B4-BE49-F238E27FC236}">
                <a16:creationId xmlns:a16="http://schemas.microsoft.com/office/drawing/2014/main" id="{7647972B-014E-4588-A71A-05F5F7BC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实线表示确定性关联；虚线表示须经 Critic 校验的弱关联</a:t>
            </a:r>
          </a:p>
        </p:txBody>
      </p:sp>
    </p:spTree>
    <p:extLst>
      <p:ext uri="{BB962C8B-B14F-4D97-AF65-F5344CB8AC3E}">
        <p14:creationId xmlns:p14="http://schemas.microsoft.com/office/powerpoint/2010/main" val="5800025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B2123E-A1FD-4B36-AC75-12E95873D836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84772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471DAA-BA11-45DC-B214-78028A8E38C8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8477250" y="5839302"/>
            <a:ext cx="5343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46EA1E-BCC2-4DD6-A193-844A65E5D5F4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2952750" y="583930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24445F-7F1A-421F-9884-2CB65FC3EC78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H="1">
            <a:off x="2952750" y="5839302"/>
            <a:ext cx="60588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E58C7C-0CB5-44A0-83C6-7E9C2D59B4C4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9010650" y="53630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A76F0-F48A-4E2E-B362-0C9F310AF3B0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2419350" y="4515327"/>
            <a:ext cx="953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611661-8D0C-4777-85FD-95F5EF262E0A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2419350" y="4515327"/>
            <a:ext cx="32966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2B98E-C690-419F-95A2-E1C1D59A9E5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5715000" y="4324827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539E9-58B2-46D0-AB45-38407B8E266D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13105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D737E-7E8B-4EF9-A8EE-9F6BE348D3F1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784600" y="50196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4D39A-F197-499A-B6E3-ACEE455B065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5715000" y="1705452"/>
            <a:ext cx="953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7" name="F-15">
            <a:extLst xmlns:a="http://schemas.openxmlformats.org/drawingml/2006/main">
              <a:ext uri="{FF2B5EF4-FFF2-40B4-BE49-F238E27FC236}">
                <a16:creationId xmlns:a16="http://schemas.microsoft.com/office/drawing/2014/main" id="{AEC0138D-F8C6-4FB5-AC87-09D4E1E7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F-15</a:t>
            </a:r>
          </a:p>
        </p:txBody>
      </p:sp>
      <p:sp>
        <p:nvSpPr>
          <p:cNvPr id="2" name="多源冲突的逐字段裁决">
            <a:extLst xmlns:a="http://schemas.openxmlformats.org/drawingml/2006/main">
              <a:ext uri="{FF2B5EF4-FFF2-40B4-BE49-F238E27FC236}">
                <a16:creationId xmlns:a16="http://schemas.microsoft.com/office/drawing/2014/main" id="{DCDD1A27-A851-4F62-A23F-447985D2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多源冲突的逐字段裁决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F84B8E77-58A4-44F6-84AB-74B30676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字段候选">
            <a:extLst xmlns:a="http://schemas.openxmlformats.org/drawingml/2006/main">
              <a:ext uri="{FF2B5EF4-FFF2-40B4-BE49-F238E27FC236}">
                <a16:creationId xmlns:a16="http://schemas.microsoft.com/office/drawing/2014/main" id="{9E426E76-8551-4666-913F-DBECDAC6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09675"/>
            <a:ext cx="2857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字段候选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1602D4DB-2CA4-4D5A-8EED-CD3B6B1D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04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64C35F44-FDC8-4C30-84AB-4117DEA5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62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boundary">
            <a:extLst xmlns:a="http://schemas.openxmlformats.org/drawingml/2006/main">
              <a:ext uri="{FF2B5EF4-FFF2-40B4-BE49-F238E27FC236}">
                <a16:creationId xmlns:a16="http://schemas.microsoft.com/office/drawing/2014/main" id="{7E2A97CD-1723-4D4B-ADF3-A3C94635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43125"/>
            <a:ext cx="10477500" cy="1647825"/>
          </a:xfrm>
          <a:prstGeom xmlns:a="http://schemas.openxmlformats.org/drawingml/2006/main" prst="roundRect">
            <a:avLst>
              <a:gd name="adj" fmla="val 10405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9" name="优先处理特例">
            <a:extLst xmlns:a="http://schemas.openxmlformats.org/drawingml/2006/main">
              <a:ext uri="{FF2B5EF4-FFF2-40B4-BE49-F238E27FC236}">
                <a16:creationId xmlns:a16="http://schemas.microsoft.com/office/drawing/2014/main" id="{CD017BF1-BF9B-48A7-BE8A-566F17ED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013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67A20"/>
                </a:solidFill>
              </a:defRPr>
            </a:pPr>
            <a:r>
              <a:rPr sz="18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优先处理特例</a:t>
            </a:r>
          </a:p>
        </p:txBody>
      </p:sp>
      <p:sp>
        <p:nvSpPr>
          <p:cNvPr id="10" name="KEV 专属">
            <a:extLst xmlns:a="http://schemas.openxmlformats.org/drawingml/2006/main">
              <a:ext uri="{FF2B5EF4-FFF2-40B4-BE49-F238E27FC236}">
                <a16:creationId xmlns:a16="http://schemas.microsoft.com/office/drawing/2014/main" id="{50C5394B-1235-4CB9-A9D6-C9BAF050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KEV 专属</a:t>
            </a:r>
          </a:p>
        </p:txBody>
      </p:sp>
      <p:sp>
        <p:nvSpPr>
          <p:cNvPr id="11" name="一级撤回">
            <a:extLst xmlns:a="http://schemas.openxmlformats.org/drawingml/2006/main">
              <a:ext uri="{FF2B5EF4-FFF2-40B4-BE49-F238E27FC236}">
                <a16:creationId xmlns:a16="http://schemas.microsoft.com/office/drawing/2014/main" id="{CFDFCE1C-1D0A-423C-87C4-50100C29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一级撤回</a:t>
            </a:r>
          </a:p>
        </p:txBody>
      </p:sp>
      <p:sp>
        <p:nvSpPr>
          <p:cNvPr id="12" name="区间互斥">
            <a:extLst xmlns:a="http://schemas.openxmlformats.org/drawingml/2006/main">
              <a:ext uri="{FF2B5EF4-FFF2-40B4-BE49-F238E27FC236}">
                <a16:creationId xmlns:a16="http://schemas.microsoft.com/office/drawing/2014/main" id="{B15B1925-7E25-4DB2-94ED-1516AA30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区间互斥</a:t>
            </a:r>
          </a:p>
        </p:txBody>
      </p:sp>
      <p:sp>
        <p:nvSpPr>
          <p:cNvPr id="13" name="双 CVE">
            <a:extLst xmlns:a="http://schemas.openxmlformats.org/drawingml/2006/main">
              <a:ext uri="{FF2B5EF4-FFF2-40B4-BE49-F238E27FC236}">
                <a16:creationId xmlns:a16="http://schemas.microsoft.com/office/drawing/2014/main" id="{251F55F1-4D66-46F5-9C53-C2B7BDF6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EC989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双 CVE</a:t>
            </a:r>
          </a:p>
        </p:txBody>
      </p:sp>
      <p:sp>
        <p:nvSpPr>
          <p:cNvPr id="14" name="并集、撤回、保留候选">
            <a:extLst xmlns:a="http://schemas.openxmlformats.org/drawingml/2006/main">
              <a:ext uri="{FF2B5EF4-FFF2-40B4-BE49-F238E27FC236}">
                <a16:creationId xmlns:a16="http://schemas.microsoft.com/office/drawing/2014/main" id="{CAFE839E-FB5B-47B8-8D26-D2656989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243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A67A20"/>
                </a:solidFill>
              </a:defRPr>
            </a:pPr>
            <a:r>
              <a:rPr sz="180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并集、撤回、保留候选</a:t>
            </a:r>
          </a:p>
        </p:txBody>
      </p:sp>
      <p:sp>
        <p:nvSpPr>
          <p:cNvPr id="15" name="可信度等级">
            <a:extLst xmlns:a="http://schemas.openxmlformats.org/drawingml/2006/main">
              <a:ext uri="{FF2B5EF4-FFF2-40B4-BE49-F238E27FC236}">
                <a16:creationId xmlns:a16="http://schemas.microsoft.com/office/drawing/2014/main" id="{4E5814D1-A783-4C77-A67D-4C356AD4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76775"/>
            <a:ext cx="283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可信度等级</a:t>
            </a:r>
          </a:p>
        </p:txBody>
      </p:sp>
      <p:sp>
        <p:nvSpPr>
          <p:cNvPr id="16" name="置信度">
            <a:extLst xmlns:a="http://schemas.openxmlformats.org/drawingml/2006/main">
              <a:ext uri="{FF2B5EF4-FFF2-40B4-BE49-F238E27FC236}">
                <a16:creationId xmlns:a16="http://schemas.microsoft.com/office/drawing/2014/main" id="{6B316581-2D0B-42C3-A0C4-7FE039F9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4676775"/>
            <a:ext cx="283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17" name="更新时间">
            <a:extLst xmlns:a="http://schemas.openxmlformats.org/drawingml/2006/main">
              <a:ext uri="{FF2B5EF4-FFF2-40B4-BE49-F238E27FC236}">
                <a16:creationId xmlns:a16="http://schemas.microsoft.com/office/drawing/2014/main" id="{A7559173-E4D8-467C-BA7F-F0F64DEA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4676775"/>
            <a:ext cx="2832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更新时间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9CC32358-C046-4482-B399-3756D831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4CAE0775-BC11-4329-AB54-20D16500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49A9086C-0F16-4754-92E3-49BF2BA3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2F8A07B4-B867-4CB3-9E1C-C2A0CB6B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7B61455E-F8AC-410E-ABC5-3CE68EF3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14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BD06FDA7-D183-4AAF-9D54-62940993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76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主值 + provenance">
            <a:extLst xmlns:a="http://schemas.openxmlformats.org/drawingml/2006/main">
              <a:ext uri="{FF2B5EF4-FFF2-40B4-BE49-F238E27FC236}">
                <a16:creationId xmlns:a16="http://schemas.microsoft.com/office/drawing/2014/main" id="{6B35A3EC-3F9A-4378-95F5-9C7D1ABC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44767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主值 + provenance</a:t>
            </a:r>
          </a:p>
        </p:txBody>
      </p:sp>
      <p:sp>
        <p:nvSpPr>
          <p:cNvPr id="30" name="落选值保留在 conflicts[]">
            <a:extLst xmlns:a="http://schemas.openxmlformats.org/drawingml/2006/main">
              <a:ext uri="{FF2B5EF4-FFF2-40B4-BE49-F238E27FC236}">
                <a16:creationId xmlns:a16="http://schemas.microsoft.com/office/drawing/2014/main" id="{78BE9AD8-42FE-4CB8-8299-47A38F96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315075"/>
            <a:ext cx="44767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落选值保留在 conflicts[]</a:t>
            </a:r>
          </a:p>
        </p:txBody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C9BBC15F-D1A9-4FCB-B741-91D6B479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62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3EEABBBD-011D-401A-BC57-67D00CC4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53133424-CBE8-4F13-976A-37D119DD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BF5CF69F-ACE4-43B5-BCAC-3F915370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F3A05E2F-CE36-4F7E-9497-7BABD544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CDB7A894-4656-42D0-B15D-856E740E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319E3178-7703-4754-8A6B-64C51C4A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286D785E-3409-4384-823B-6E39FAF8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419234E7-AAEC-4790-958E-F42737F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3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5EDC406A-5E6C-4959-8A0C-0AE92D50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1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CVSS 10.0 与 9.8 均保留；主值选择不抹去分歧">
            <a:extLst xmlns:a="http://schemas.openxmlformats.org/drawingml/2006/main">
              <a:ext uri="{FF2B5EF4-FFF2-40B4-BE49-F238E27FC236}">
                <a16:creationId xmlns:a16="http://schemas.microsoft.com/office/drawing/2014/main" id="{5A5811B5-0ED6-42D8-AE3B-5428374B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CVSS 10.0 与 9.8 均保留；主值选择不抹去分歧</a:t>
            </a:r>
          </a:p>
        </p:txBody>
      </p:sp>
    </p:spTree>
    <p:extLst>
      <p:ext uri="{BB962C8B-B14F-4D97-AF65-F5344CB8AC3E}">
        <p14:creationId xmlns:p14="http://schemas.microsoft.com/office/powerpoint/2010/main" val="13779887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333294-3177-4B9C-93FD-078E4D09172A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H="1">
            <a:off x="938212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D260D4-B051-46B3-90C8-3BFAC5F94782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5715953" y="5153502"/>
            <a:ext cx="36661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F7BEA8-5FC2-4CEC-8B65-DB3212A79219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A485E3-A4A9-4E3D-AA0D-E71C729CB5D1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>
            <a:off x="5715000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0A07E6-104C-4D4C-80D9-94824458B4B5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5715000" y="5153502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4AA787-C1F8-43B8-B4B1-E6523459ED6E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52F363-EB6C-468D-844F-72AB38813A13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2047875" y="5153502"/>
            <a:ext cx="95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D30908-06B6-4087-810D-E72CD20F65E8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2047875" y="5153502"/>
            <a:ext cx="366807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943E84-F36A-48C2-BD34-9FE066A9D543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5715000" y="4715352"/>
            <a:ext cx="953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21A75-45C9-4BA1-A865-7A36BD10780C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5715000" y="3000852"/>
            <a:ext cx="2667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3695D-24E2-42E0-AB00-2F0A91B60410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8382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A9749-C932-4858-8068-BA74B10375EC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5715000" y="3000852"/>
            <a:ext cx="953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D13D0-31CC-4BD0-89A8-C44A279973D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48953" y="3000852"/>
            <a:ext cx="2666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A1AA0-50F2-4F79-9C72-F0D196A9C6B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3048000" y="2572227"/>
            <a:ext cx="95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60" name="F-16">
            <a:extLst xmlns:a="http://schemas.openxmlformats.org/drawingml/2006/main">
              <a:ext uri="{FF2B5EF4-FFF2-40B4-BE49-F238E27FC236}">
                <a16:creationId xmlns:a16="http://schemas.microsoft.com/office/drawing/2014/main" id="{24626634-1123-4847-B6FB-19108A35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F-16</a:t>
            </a:r>
          </a:p>
        </p:txBody>
      </p:sp>
      <p:sp>
        <p:nvSpPr>
          <p:cNvPr id="2" name="版本自查流程">
            <a:extLst xmlns:a="http://schemas.openxmlformats.org/drawingml/2006/main">
              <a:ext uri="{FF2B5EF4-FFF2-40B4-BE49-F238E27FC236}">
                <a16:creationId xmlns:a16="http://schemas.microsoft.com/office/drawing/2014/main" id="{C975FD97-2D7E-4287-8687-4A695F4A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版本自查流程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89A37711-8B95-4D64-B9DD-34FD738C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30F4FDD2-E921-4AD2-B606-E8779186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71600"/>
            <a:ext cx="4191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依赖文件 / 清单">
            <a:extLst xmlns:a="http://schemas.openxmlformats.org/drawingml/2006/main">
              <a:ext uri="{FF2B5EF4-FFF2-40B4-BE49-F238E27FC236}">
                <a16:creationId xmlns:a16="http://schemas.microsoft.com/office/drawing/2014/main" id="{08ADE320-BB5F-4005-ADD2-DCC6FE67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依赖文件 / 清单</a:t>
            </a:r>
          </a:p>
        </p:txBody>
      </p:sp>
      <p:sp>
        <p:nvSpPr>
          <p:cNvPr id="6" name="组件与版本">
            <a:extLst xmlns:a="http://schemas.openxmlformats.org/drawingml/2006/main">
              <a:ext uri="{FF2B5EF4-FFF2-40B4-BE49-F238E27FC236}">
                <a16:creationId xmlns:a16="http://schemas.microsoft.com/office/drawing/2014/main" id="{8D260705-0F82-4723-BB69-68787652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组件与版本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8259B7CE-1DCC-4717-9A27-08721C9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71600"/>
            <a:ext cx="4191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purl 与生态">
            <a:extLst xmlns:a="http://schemas.openxmlformats.org/drawingml/2006/main">
              <a:ext uri="{FF2B5EF4-FFF2-40B4-BE49-F238E27FC236}">
                <a16:creationId xmlns:a16="http://schemas.microsoft.com/office/drawing/2014/main" id="{8651989D-41A4-4572-BA70-C9E4D5E4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purl 与生态</a:t>
            </a:r>
          </a:p>
        </p:txBody>
      </p:sp>
      <p:sp>
        <p:nvSpPr>
          <p:cNvPr id="9" name="规范化输入">
            <a:extLst xmlns:a="http://schemas.openxmlformats.org/drawingml/2006/main">
              <a:ext uri="{FF2B5EF4-FFF2-40B4-BE49-F238E27FC236}">
                <a16:creationId xmlns:a16="http://schemas.microsoft.com/office/drawing/2014/main" id="{3885A84B-436D-4839-9FE5-79D133F0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95475"/>
            <a:ext cx="3962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规范化输入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9E5B529A-5D1F-4876-99F6-20F84EA7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6858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OSV 区间求解">
            <a:extLst xmlns:a="http://schemas.openxmlformats.org/drawingml/2006/main">
              <a:ext uri="{FF2B5EF4-FFF2-40B4-BE49-F238E27FC236}">
                <a16:creationId xmlns:a16="http://schemas.microsoft.com/office/drawing/2014/main" id="{1028DA29-73C2-4474-A1E6-2F16E890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718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OSV 区间求解</a:t>
            </a:r>
          </a:p>
        </p:txBody>
      </p:sp>
      <p:sp>
        <p:nvSpPr>
          <p:cNvPr id="12" name="introduced / fixed / last_affected / limit">
            <a:extLst xmlns:a="http://schemas.openxmlformats.org/drawingml/2006/main">
              <a:ext uri="{FF2B5EF4-FFF2-40B4-BE49-F238E27FC236}">
                <a16:creationId xmlns:a16="http://schemas.microsoft.com/office/drawing/2014/main" id="{2D5B6106-A3D5-4B1A-B85A-3DCE4807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6629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introduced / fixed / last_affected / limit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97D9CF91-7849-4328-9C28-D31F68A1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A5233E28-23A4-4DB8-8408-4B743275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1B784192-5537-4162-9233-D1808F52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FBE7A8BE-0316-483B-9449-82560E0D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27784219-A17E-4086-89D4-C31C44FD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41E75433-BDDC-448F-9753-83405950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A89AB4D3-045C-4849-B008-5C02035D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F80081B5-4FB3-4102-8814-9EA5083B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3C431C63-D288-469E-BEA3-7083D753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03D2CC00-ADAA-4B5E-BB56-357364ED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受影响">
            <a:extLst xmlns:a="http://schemas.openxmlformats.org/drawingml/2006/main">
              <a:ext uri="{FF2B5EF4-FFF2-40B4-BE49-F238E27FC236}">
                <a16:creationId xmlns:a16="http://schemas.microsoft.com/office/drawing/2014/main" id="{BED34B04-1899-47EF-ADAE-FFE303B8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0070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受影响</a:t>
            </a:r>
          </a:p>
        </p:txBody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82C3CF5E-A60B-47AD-9F79-1B4E69C7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B169DC86-61F0-4A42-BA2A-BB99191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F2D5430B-79F2-4521-ADDB-B0188B42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51EB1B13-984C-44C2-B586-3DB07B08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006EF7EF-1D4C-418E-BBB7-5866E08A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A238995E-2FD4-4033-B315-BF2D5F3F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未发现已知影响">
            <a:extLst xmlns:a="http://schemas.openxmlformats.org/drawingml/2006/main">
              <a:ext uri="{FF2B5EF4-FFF2-40B4-BE49-F238E27FC236}">
                <a16:creationId xmlns:a16="http://schemas.microsoft.com/office/drawing/2014/main" id="{7A5BC254-B10F-4BD7-BAB0-5814F52F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0070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未发现已知影响</a:t>
            </a:r>
          </a:p>
        </p:txBody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C662874B-4025-4E0D-A8A9-8537F243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4ECA1095-1FC7-4989-8F2A-5FB0C0CE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EFC9A9EB-5DDB-4719-A3F5-899C6679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C50E2762-D20E-495C-A67B-74B49177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26F54727-936D-4763-ADC0-D0FC3EDE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45DBF5D1-8736-4102-AE50-26D8064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组件未收录">
            <a:extLst xmlns:a="http://schemas.openxmlformats.org/drawingml/2006/main">
              <a:ext uri="{FF2B5EF4-FFF2-40B4-BE49-F238E27FC236}">
                <a16:creationId xmlns:a16="http://schemas.microsoft.com/office/drawing/2014/main" id="{C96EED99-8EE4-4FE7-90BA-5AE39C8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0070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组件未收录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CF57F52E-A666-4F81-B393-F1F98053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49D628AB-B353-4D95-BF34-CDE58D76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2D67A468-B129-43D9-A4C4-F8CCE14E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BFA9470F-65F8-41C3-BCF7-A1404DB0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5C300CB6-319D-4A09-9F1A-1EDB0273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4074DEE5-A04A-40A7-B31B-C17973B7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共享入口：Web / check_stack / shaowang check">
            <a:extLst xmlns:a="http://schemas.openxmlformats.org/drawingml/2006/main">
              <a:ext uri="{FF2B5EF4-FFF2-40B4-BE49-F238E27FC236}">
                <a16:creationId xmlns:a16="http://schemas.microsoft.com/office/drawing/2014/main" id="{06C5CC38-DAFB-4CAC-AB2A-88C55B13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57975"/>
            <a:ext cx="1000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77DC3"/>
                </a:solidFill>
              </a:defRPr>
            </a:pPr>
            <a:r>
              <a:rPr sz="19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共享入口：Web / check_stack / shaowang check</a:t>
            </a:r>
          </a:p>
        </p:txBody>
      </p:sp>
      <p:sp>
        <p:nvSpPr>
          <p:cNvPr id="59" name="区间有分歧时提示；高危退出码 1 可接 CI；未知不等于安全">
            <a:extLst xmlns:a="http://schemas.openxmlformats.org/drawingml/2006/main">
              <a:ext uri="{FF2B5EF4-FFF2-40B4-BE49-F238E27FC236}">
                <a16:creationId xmlns:a16="http://schemas.microsoft.com/office/drawing/2014/main" id="{E66199D2-99FC-4F14-8958-BA893618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区间有分歧时提示；高危退出码 1 可接 CI；未知不等于安全</a:t>
            </a:r>
          </a:p>
        </p:txBody>
      </p:sp>
    </p:spTree>
    <p:extLst>
      <p:ext uri="{BB962C8B-B14F-4D97-AF65-F5344CB8AC3E}">
        <p14:creationId xmlns:p14="http://schemas.microsoft.com/office/powerpoint/2010/main" val="9540603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CC07244-E068-4D33-B591-779261D19A39}"/>
              </a:ext>
            </a:extLst>
          </p:cNvPr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H="1" flipV="1">
            <a:off x="1476375" y="4343877"/>
            <a:ext cx="953" cy="2181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103FBEC-383D-451C-91F2-E82C724F6E4C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1">
            <a:off x="1476375" y="6525102"/>
            <a:ext cx="23822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BA96359-6BAD-45F3-9AB5-4B852B23FF4B}"/>
              </a:ext>
            </a:extLst>
          </p:cNvPr>
          <p:cNvCxnSpPr>
            <a:stCxn xmlns:a="http://schemas.openxmlformats.org/drawingml/2006/main" id="77" idx="1"/>
            <a:endCxn xmlns:a="http://schemas.openxmlformats.org/drawingml/2006/main" id="79" idx="3"/>
          </p:cNvCxnSpPr>
          <p:nvPr/>
        </p:nvCxnSpPr>
        <p:spPr>
          <a:xfrm xmlns:a="http://schemas.openxmlformats.org/drawingml/2006/main" flipH="1">
            <a:off x="6353175" y="6524625"/>
            <a:ext cx="1533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D5589B-E00B-4514-A28F-20B8E7301FF9}"/>
              </a:ext>
            </a:extLst>
          </p:cNvPr>
          <p:cNvCxnSpPr>
            <a:stCxn xmlns:a="http://schemas.openxmlformats.org/drawingml/2006/main" id="73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 flipH="1">
            <a:off x="9444038" y="4343400"/>
            <a:ext cx="509588" cy="1847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5B7125F-213D-436D-B0BC-0971AF2866CB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8324850" y="3748088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D06355-04E8-428D-BB50-AB3AE6F18679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A6F1DF-0B38-4AA6-815F-FCF76F6543ED}"/>
              </a:ext>
            </a:extLst>
          </p:cNvPr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 flipH="1" flipV="1">
            <a:off x="621982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B7DC9C-965D-43E7-8EA1-FD26864C1199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5811203" y="559165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6AD170-8AA1-412F-A6C8-AB8511C238A4}"/>
              </a:ext>
            </a:extLst>
          </p:cNvPr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C9A28A-0EE7-4C78-80A3-AF38ED4E00B8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H="1">
            <a:off x="621982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EC04CB-5255-42D7-9F7F-45CDC7497FF5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5811203" y="3753327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87F85A-0965-4982-B7E9-D83E8F02B396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6220778" y="37533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103F48-BD4F-4721-B090-4D21DCE0BFB0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H="1">
            <a:off x="621982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38D935-3DD9-46BD-B25E-EC9830B8E525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5811203" y="1915002"/>
            <a:ext cx="4086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25B540-1E9B-48CA-BA6A-4892B68B1B58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887028" y="559165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87A9C4-234D-41CD-A43D-00CAD01192EF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H="1">
            <a:off x="2886075" y="3753327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940D92-B837-4A04-90E2-D45E90F5E39B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FCC27-6B80-4B17-95F8-A5E6ED1FDA9C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887028" y="3753327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A26836-3AFC-43BF-B86B-A9C0D5451689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2886075" y="3753327"/>
            <a:ext cx="9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5E1C2-3656-4472-890E-B1C3F318E85B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8AAEF-2165-4005-9D36-D4065D1EF58A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887028" y="1915002"/>
            <a:ext cx="3990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F960A-D058-4067-931A-1AECFA6D3A52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 flipV="1">
            <a:off x="2886075" y="1915002"/>
            <a:ext cx="953" cy="1838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932DE-1573-4A37-BBA8-C0BF323B020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525078" y="37533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89" name="F-17">
            <a:extLst xmlns:a="http://schemas.openxmlformats.org/drawingml/2006/main">
              <a:ext uri="{FF2B5EF4-FFF2-40B4-BE49-F238E27FC236}">
                <a16:creationId xmlns:a16="http://schemas.microsoft.com/office/drawing/2014/main" id="{8A81F9DA-3590-42B3-8DEB-E2095107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F-17</a:t>
            </a:r>
          </a:p>
        </p:txBody>
      </p:sp>
      <p:sp>
        <p:nvSpPr>
          <p:cNvPr id="2" name="三路混合检索与 GraphRAG 问答流程">
            <a:extLst xmlns:a="http://schemas.openxmlformats.org/drawingml/2006/main">
              <a:ext uri="{FF2B5EF4-FFF2-40B4-BE49-F238E27FC236}">
                <a16:creationId xmlns:a16="http://schemas.microsoft.com/office/drawing/2014/main" id="{4E2AA7EA-56DB-4C09-86D3-7B49BD0F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三路混合检索与 GraphRAG 问答流程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E65CFC76-030A-4904-B48B-2D5B2BB0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7F28342E-337F-4401-A12E-29C9EFAF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52775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问题与规划器">
            <a:extLst xmlns:a="http://schemas.openxmlformats.org/drawingml/2006/main">
              <a:ext uri="{FF2B5EF4-FFF2-40B4-BE49-F238E27FC236}">
                <a16:creationId xmlns:a16="http://schemas.microsoft.com/office/drawing/2014/main" id="{D2B90584-0A6A-47E2-B179-D6A07AB7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问题与规划器</a:t>
            </a:r>
          </a:p>
        </p:txBody>
      </p:sp>
      <p:sp>
        <p:nvSpPr>
          <p:cNvPr id="6" name="检索计划">
            <a:extLst xmlns:a="http://schemas.openxmlformats.org/drawingml/2006/main">
              <a:ext uri="{FF2B5EF4-FFF2-40B4-BE49-F238E27FC236}">
                <a16:creationId xmlns:a16="http://schemas.microsoft.com/office/drawing/2014/main" id="{165199E5-9D93-492C-B7AB-754C5C62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检索计划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CF672EAA-E939-45FE-9FA9-AA60431C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00175"/>
            <a:ext cx="2524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BM25">
            <a:extLst xmlns:a="http://schemas.openxmlformats.org/drawingml/2006/main">
              <a:ext uri="{FF2B5EF4-FFF2-40B4-BE49-F238E27FC236}">
                <a16:creationId xmlns:a16="http://schemas.microsoft.com/office/drawing/2014/main" id="{189041F8-06F7-4102-B583-B744FDA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954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BM25</a:t>
            </a:r>
          </a:p>
        </p:txBody>
      </p:sp>
      <p:sp>
        <p:nvSpPr>
          <p:cNvPr id="9" name="关键词召回">
            <a:extLst xmlns:a="http://schemas.openxmlformats.org/drawingml/2006/main">
              <a:ext uri="{FF2B5EF4-FFF2-40B4-BE49-F238E27FC236}">
                <a16:creationId xmlns:a16="http://schemas.microsoft.com/office/drawing/2014/main" id="{2613EFA3-F8C1-44B6-A93D-9B5A1887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2405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关键词召回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6DA3E9E7-63F9-4CED-86B0-BDB4E9AE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38500"/>
            <a:ext cx="2524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向量 top-50">
            <a:extLst xmlns:a="http://schemas.openxmlformats.org/drawingml/2006/main">
              <a:ext uri="{FF2B5EF4-FFF2-40B4-BE49-F238E27FC236}">
                <a16:creationId xmlns:a16="http://schemas.microsoft.com/office/drawing/2014/main" id="{55ADE15C-7180-4ADB-ABA5-57A26742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向量 top-50</a:t>
            </a:r>
          </a:p>
        </p:txBody>
      </p:sp>
      <p:sp>
        <p:nvSpPr>
          <p:cNvPr id="12" name="语义召回">
            <a:extLst xmlns:a="http://schemas.openxmlformats.org/drawingml/2006/main">
              <a:ext uri="{FF2B5EF4-FFF2-40B4-BE49-F238E27FC236}">
                <a16:creationId xmlns:a16="http://schemas.microsoft.com/office/drawing/2014/main" id="{103C8E4B-7591-48CA-BF1A-C84680D4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62375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语义召回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03C9E699-043C-4227-A875-2A9BC4E4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76825"/>
            <a:ext cx="25241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图扩展 1–2 跳">
            <a:extLst xmlns:a="http://schemas.openxmlformats.org/drawingml/2006/main">
              <a:ext uri="{FF2B5EF4-FFF2-40B4-BE49-F238E27FC236}">
                <a16:creationId xmlns:a16="http://schemas.microsoft.com/office/drawing/2014/main" id="{3D3EA062-DF1D-46FE-B4B1-542F3199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7207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图扩展 1–2 跳</a:t>
            </a:r>
          </a:p>
        </p:txBody>
      </p:sp>
      <p:sp>
        <p:nvSpPr>
          <p:cNvPr id="15" name="关系召回">
            <a:extLst xmlns:a="http://schemas.openxmlformats.org/drawingml/2006/main">
              <a:ext uri="{FF2B5EF4-FFF2-40B4-BE49-F238E27FC236}">
                <a16:creationId xmlns:a16="http://schemas.microsoft.com/office/drawing/2014/main" id="{9AFD1CEB-E554-43B3-B9B6-127044D5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600700"/>
            <a:ext cx="2295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关系召回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C53F0486-1252-47E8-95B5-4931637B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BF16ACCC-90BB-4CB5-8CFE-3E5DF13C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CF5E207B-6317-4840-B3AB-E535D037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B46E6712-7D2E-4329-9B25-D39D0B96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27137D79-6AC1-44BC-9D47-802B3A44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8A9C4593-822F-4870-9764-294C4717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BEFCC102-DC21-453F-851E-04892B93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C5EC98EE-3D57-4F0B-88E9-FB7D3224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786D7C27-C81E-4528-A599-3B29DD96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1BA23DCD-AF46-4CDA-8662-19A1A6E7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D17E0CAE-12B7-4B82-9A9A-AC1012D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78ED0290-E742-4D7B-88F3-5B8B4275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598C89B3-6896-464D-81D5-62F62AC2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0F43E0BF-3B53-44C6-B293-FF04A231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7C469DA7-749D-4B80-8DA1-3DA04F0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974D3ACF-0047-42B7-9DD3-2EEB214B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2B6EFF78-7822-4173-A015-28D04330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979795F9-F52E-4FF6-BBA4-47648B90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540BDA4A-27A0-44CC-8B66-3A9FECD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52775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44" name="RRF">
            <a:extLst xmlns:a="http://schemas.openxmlformats.org/drawingml/2006/main">
              <a:ext uri="{FF2B5EF4-FFF2-40B4-BE49-F238E27FC236}">
                <a16:creationId xmlns:a16="http://schemas.microsoft.com/office/drawing/2014/main" id="{EEDE27CB-0039-41F2-AACE-7D89E0AD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4802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RRF</a:t>
            </a:r>
          </a:p>
        </p:txBody>
      </p:sp>
      <p:sp>
        <p:nvSpPr>
          <p:cNvPr id="45" name="k=60">
            <a:extLst xmlns:a="http://schemas.openxmlformats.org/drawingml/2006/main">
              <a:ext uri="{FF2B5EF4-FFF2-40B4-BE49-F238E27FC236}">
                <a16:creationId xmlns:a16="http://schemas.microsoft.com/office/drawing/2014/main" id="{FD55B516-80B7-4105-BBAF-6263598F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676650"/>
            <a:ext cx="1438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k=60</a:t>
            </a:r>
          </a:p>
        </p:txBody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B5D2FB7B-F229-41FC-8049-15C80318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037CB174-9993-4E64-897E-EE06C9F5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479E4FB1-3182-406F-8EE6-9B317F8D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914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134B211F-96B8-4DD8-A685-674241D8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CA197392-5408-4FE4-8C4F-3B431B02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9B8BECA1-3B7F-440E-983F-6524F7E2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3E2C85DA-9E4D-47B5-9F09-C3EA345C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BEE95731-492B-4B38-8D0A-913A9CBC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5AEDD92E-E71F-4F0A-AE75-5EB0FCF3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4ABF5B75-4216-4EB0-A9A1-62C5F794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boundary">
            <a:extLst xmlns:a="http://schemas.openxmlformats.org/drawingml/2006/main">
              <a:ext uri="{FF2B5EF4-FFF2-40B4-BE49-F238E27FC236}">
                <a16:creationId xmlns:a16="http://schemas.microsoft.com/office/drawing/2014/main" id="{02CBA433-AC2C-4CF3-A787-67561D9F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192D5DD8-4703-4E07-8E02-988C0E46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4" name="boundary">
            <a:extLst xmlns:a="http://schemas.openxmlformats.org/drawingml/2006/main">
              <a:ext uri="{FF2B5EF4-FFF2-40B4-BE49-F238E27FC236}">
                <a16:creationId xmlns:a16="http://schemas.microsoft.com/office/drawing/2014/main" id="{C884582F-1096-40FC-A1FF-F1849802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61A20664-5D41-4F41-A634-1586BE1A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7" name="boundary">
            <a:extLst xmlns:a="http://schemas.openxmlformats.org/drawingml/2006/main">
              <a:ext uri="{FF2B5EF4-FFF2-40B4-BE49-F238E27FC236}">
                <a16:creationId xmlns:a16="http://schemas.microsoft.com/office/drawing/2014/main" id="{E477C15C-39D9-43A1-8580-791F3B7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686AF40B-D349-4D68-B686-E45506E4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boundary">
            <a:extLst xmlns:a="http://schemas.openxmlformats.org/drawingml/2006/main">
              <a:ext uri="{FF2B5EF4-FFF2-40B4-BE49-F238E27FC236}">
                <a16:creationId xmlns:a16="http://schemas.microsoft.com/office/drawing/2014/main" id="{C91C9833-6441-4A33-84C5-8568F12A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boundary">
            <a:extLst xmlns:a="http://schemas.openxmlformats.org/drawingml/2006/main">
              <a:ext uri="{FF2B5EF4-FFF2-40B4-BE49-F238E27FC236}">
                <a16:creationId xmlns:a16="http://schemas.microsoft.com/office/drawing/2014/main" id="{EAED624D-98B8-46CF-A196-64696470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A7F5CC3B-17F8-4F04-8EFF-1117F231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52775"/>
            <a:ext cx="2095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4" name="前 50 重排">
            <a:extLst xmlns:a="http://schemas.openxmlformats.org/drawingml/2006/main">
              <a:ext uri="{FF2B5EF4-FFF2-40B4-BE49-F238E27FC236}">
                <a16:creationId xmlns:a16="http://schemas.microsoft.com/office/drawing/2014/main" id="{DBE97B0C-BAFF-4079-82B4-BA238628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480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前 50 重排</a:t>
            </a:r>
          </a:p>
        </p:txBody>
      </p:sp>
      <p:sp>
        <p:nvSpPr>
          <p:cNvPr id="75" name="8–12 证据块">
            <a:extLst xmlns:a="http://schemas.openxmlformats.org/drawingml/2006/main">
              <a:ext uri="{FF2B5EF4-FFF2-40B4-BE49-F238E27FC236}">
                <a16:creationId xmlns:a16="http://schemas.microsoft.com/office/drawing/2014/main" id="{BFAED584-7685-426B-954F-723FF744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76650"/>
            <a:ext cx="186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8–12 证据块</a:t>
            </a:r>
          </a:p>
        </p:txBody>
      </p:sp>
      <p:sp>
        <p:nvSpPr>
          <p:cNvPr id="77" name="生成并逐句引用">
            <a:extLst xmlns:a="http://schemas.openxmlformats.org/drawingml/2006/main">
              <a:ext uri="{FF2B5EF4-FFF2-40B4-BE49-F238E27FC236}">
                <a16:creationId xmlns:a16="http://schemas.microsoft.com/office/drawing/2014/main" id="{B769C8A0-07C8-429A-B1B1-139884D4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91250"/>
            <a:ext cx="311467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生成并逐句引用</a:t>
            </a:r>
          </a:p>
        </p:txBody>
      </p:sp>
      <p:sp>
        <p:nvSpPr>
          <p:cNvPr id="79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F89B9665-24F6-4E7E-8AFA-0E4790B6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191250"/>
            <a:ext cx="24955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Critic 校验</a:t>
            </a:r>
          </a:p>
        </p:txBody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A961570C-036C-423B-9597-68F4C8C8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2483D813-8247-4F77-B3DC-D2040D07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boundary">
            <a:extLst xmlns:a="http://schemas.openxmlformats.org/drawingml/2006/main">
              <a:ext uri="{FF2B5EF4-FFF2-40B4-BE49-F238E27FC236}">
                <a16:creationId xmlns:a16="http://schemas.microsoft.com/office/drawing/2014/main" id="{97C072BC-78E6-4B67-8842-3A9BFAAA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boundary">
            <a:extLst xmlns:a="http://schemas.openxmlformats.org/drawingml/2006/main">
              <a:ext uri="{FF2B5EF4-FFF2-40B4-BE49-F238E27FC236}">
                <a16:creationId xmlns:a16="http://schemas.microsoft.com/office/drawing/2014/main" id="{B8A65F90-EDD2-4078-9585-7BC31073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43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fail 重新规划">
            <a:extLst xmlns:a="http://schemas.openxmlformats.org/drawingml/2006/main">
              <a:ext uri="{FF2B5EF4-FFF2-40B4-BE49-F238E27FC236}">
                <a16:creationId xmlns:a16="http://schemas.microsoft.com/office/drawing/2014/main" id="{0A03BED1-C8AF-4795-8B86-466E617F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638800"/>
            <a:ext cx="2314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AB554B"/>
                </a:solidFill>
              </a:defRPr>
            </a:pPr>
            <a:r>
              <a:rPr sz="1575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fail 重新规划</a:t>
            </a:r>
          </a:p>
        </p:txBody>
      </p:sp>
      <p:sp>
        <p:nvSpPr>
          <p:cNvPr id="88" name="三路排名融合，不混加原始分数；校验通过后返回答案">
            <a:extLst xmlns:a="http://schemas.openxmlformats.org/drawingml/2006/main">
              <a:ext uri="{FF2B5EF4-FFF2-40B4-BE49-F238E27FC236}">
                <a16:creationId xmlns:a16="http://schemas.microsoft.com/office/drawing/2014/main" id="{1D086DC5-6C81-4DCA-84A6-2B3E1C88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三路排名融合，不混加原始分数；校验通过后返回答案</a:t>
            </a:r>
          </a:p>
        </p:txBody>
      </p:sp>
    </p:spTree>
    <p:extLst>
      <p:ext uri="{BB962C8B-B14F-4D97-AF65-F5344CB8AC3E}">
        <p14:creationId xmlns:p14="http://schemas.microsoft.com/office/powerpoint/2010/main" val="1721289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ABF71-5212-438B-B10B-EBA40FBCCC9A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1543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4AB88-F468-47F5-AED6-6004E2188CA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4492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B4A84-3C51-4AE1-8CEB-D30079697D7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44153" y="47058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31" name="F-18">
            <a:extLst xmlns:a="http://schemas.openxmlformats.org/drawingml/2006/main">
              <a:ext uri="{FF2B5EF4-FFF2-40B4-BE49-F238E27FC236}">
                <a16:creationId xmlns:a16="http://schemas.microsoft.com/office/drawing/2014/main" id="{7C16CEE0-DAB5-4F4C-A130-6EAC950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F-18</a:t>
            </a:r>
          </a:p>
        </p:txBody>
      </p:sp>
      <p:sp>
        <p:nvSpPr>
          <p:cNvPr id="2" name="多跳问答的推理链示例">
            <a:extLst xmlns:a="http://schemas.openxmlformats.org/drawingml/2006/main">
              <a:ext uri="{FF2B5EF4-FFF2-40B4-BE49-F238E27FC236}">
                <a16:creationId xmlns:a16="http://schemas.microsoft.com/office/drawing/2014/main" id="{51F70787-1521-44CD-B7E1-EE394BB2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多跳问答的推理链示例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8BA48CF6-6935-4B1F-92C4-D4A95635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近 90 天影响 vLLM 且有公开 PoC 链接的漏洞及其 ATLAS 技术">
            <a:extLst xmlns:a="http://schemas.openxmlformats.org/drawingml/2006/main">
              <a:ext uri="{FF2B5EF4-FFF2-40B4-BE49-F238E27FC236}">
                <a16:creationId xmlns:a16="http://schemas.microsoft.com/office/drawing/2014/main" id="{D02329E4-84D8-4056-B968-62744309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19200"/>
            <a:ext cx="1047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 90 天影响 vLLM 且有公开 PoC 链接的漏洞及其 ATLAS 技术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77D9A22A-FAA8-4683-86B2-ADB95BF5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影响哪些漏洞">
            <a:extLst xmlns:a="http://schemas.openxmlformats.org/drawingml/2006/main">
              <a:ext uri="{FF2B5EF4-FFF2-40B4-BE49-F238E27FC236}">
                <a16:creationId xmlns:a16="http://schemas.microsoft.com/office/drawing/2014/main" id="{248BCB9A-ADA6-48D8-B8E3-E974145D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影响哪些漏洞</a:t>
            </a:r>
          </a:p>
        </p:txBody>
      </p:sp>
      <p:sp>
        <p:nvSpPr>
          <p:cNvPr id="7" name="AFFECTS vllm">
            <a:extLst xmlns:a="http://schemas.openxmlformats.org/drawingml/2006/main">
              <a:ext uri="{FF2B5EF4-FFF2-40B4-BE49-F238E27FC236}">
                <a16:creationId xmlns:a16="http://schemas.microsoft.com/office/drawing/2014/main" id="{9531CBAA-7DC1-4E65-B191-24B5ADE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8" name="图检索 / 命中 n">
            <a:extLst xmlns:a="http://schemas.openxmlformats.org/drawingml/2006/main">
              <a:ext uri="{FF2B5EF4-FFF2-40B4-BE49-F238E27FC236}">
                <a16:creationId xmlns:a16="http://schemas.microsoft.com/office/drawing/2014/main" id="{85832D89-DDF8-41B8-99BF-0AC626AE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图检索 / 命中 n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85319E16-95D0-49FD-A54D-2A892BDA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EB29C938-CA81-4415-BE2A-5CDEE1AC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2">
            <a:extLst xmlns:a="http://schemas.openxmlformats.org/drawingml/2006/main">
              <a:ext uri="{FF2B5EF4-FFF2-40B4-BE49-F238E27FC236}">
                <a16:creationId xmlns:a16="http://schemas.microsoft.com/office/drawing/2014/main" id="{C64DF0A8-5CCF-478B-9AD2-7C1D2497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是否有公开引用">
            <a:extLst xmlns:a="http://schemas.openxmlformats.org/drawingml/2006/main">
              <a:ext uri="{FF2B5EF4-FFF2-40B4-BE49-F238E27FC236}">
                <a16:creationId xmlns:a16="http://schemas.microsoft.com/office/drawing/2014/main" id="{3E9AF6BA-8325-4FAC-9843-62432E1E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是否有公开引用</a:t>
            </a:r>
          </a:p>
        </p:txBody>
      </p:sp>
      <p:sp>
        <p:nvSpPr>
          <p:cNvPr id="14" name="HAS_POC_REF">
            <a:extLst xmlns:a="http://schemas.openxmlformats.org/drawingml/2006/main">
              <a:ext uri="{FF2B5EF4-FFF2-40B4-BE49-F238E27FC236}">
                <a16:creationId xmlns:a16="http://schemas.microsoft.com/office/drawing/2014/main" id="{DB0643BB-805D-4DDD-9350-83DFCCC9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15" name="图过滤 / 命中 n">
            <a:extLst xmlns:a="http://schemas.openxmlformats.org/drawingml/2006/main">
              <a:ext uri="{FF2B5EF4-FFF2-40B4-BE49-F238E27FC236}">
                <a16:creationId xmlns:a16="http://schemas.microsoft.com/office/drawing/2014/main" id="{17FB5237-777A-4E97-ADA5-397D540A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图过滤 / 命中 n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69BB9C9E-514B-42D4-A7A7-F1025A2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8E09229F-09AC-4013-888E-014615A2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3">
            <a:extLst xmlns:a="http://schemas.openxmlformats.org/drawingml/2006/main">
              <a:ext uri="{FF2B5EF4-FFF2-40B4-BE49-F238E27FC236}">
                <a16:creationId xmlns:a16="http://schemas.microsoft.com/office/drawing/2014/main" id="{711A0693-724A-43E5-A9E7-60942BDA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是否在时间内">
            <a:extLst xmlns:a="http://schemas.openxmlformats.org/drawingml/2006/main">
              <a:ext uri="{FF2B5EF4-FFF2-40B4-BE49-F238E27FC236}">
                <a16:creationId xmlns:a16="http://schemas.microsoft.com/office/drawing/2014/main" id="{A7227FB0-2C15-4DD4-8B71-0D034621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是否在时间内</a:t>
            </a:r>
          </a:p>
        </p:txBody>
      </p:sp>
      <p:sp>
        <p:nvSpPr>
          <p:cNvPr id="21" name="近 90 天">
            <a:extLst xmlns:a="http://schemas.openxmlformats.org/drawingml/2006/main">
              <a:ext uri="{FF2B5EF4-FFF2-40B4-BE49-F238E27FC236}">
                <a16:creationId xmlns:a16="http://schemas.microsoft.com/office/drawing/2014/main" id="{7BB131F9-5E27-4FC0-9B81-7CAE64C2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近 90 天</a:t>
            </a:r>
          </a:p>
        </p:txBody>
      </p:sp>
      <p:sp>
        <p:nvSpPr>
          <p:cNvPr id="22" name="时间过滤 / 命中 n">
            <a:extLst xmlns:a="http://schemas.openxmlformats.org/drawingml/2006/main">
              <a:ext uri="{FF2B5EF4-FFF2-40B4-BE49-F238E27FC236}">
                <a16:creationId xmlns:a16="http://schemas.microsoft.com/office/drawing/2014/main" id="{DF78D3DD-FE36-448A-8B66-3A9B86EA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时间过滤 / 命中 n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6A520A24-49AF-4AE5-9A17-C270CF51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FADEC7DE-F8EE-4EDB-8BBA-BBB2D172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C240917E-A581-4BF9-B7A6-A609C6D2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95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对应什么技术">
            <a:extLst xmlns:a="http://schemas.openxmlformats.org/drawingml/2006/main">
              <a:ext uri="{FF2B5EF4-FFF2-40B4-BE49-F238E27FC236}">
                <a16:creationId xmlns:a16="http://schemas.microsoft.com/office/drawing/2014/main" id="{084EFA78-ED77-4EAE-B886-8B5FD8F3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对应什么技术</a:t>
            </a:r>
          </a:p>
        </p:txBody>
      </p:sp>
      <p:sp>
        <p:nvSpPr>
          <p:cNvPr id="28" name="MAPS_TO ATLAS">
            <a:extLst xmlns:a="http://schemas.openxmlformats.org/drawingml/2006/main">
              <a:ext uri="{FF2B5EF4-FFF2-40B4-BE49-F238E27FC236}">
                <a16:creationId xmlns:a16="http://schemas.microsoft.com/office/drawing/2014/main" id="{4CD9561D-879D-47F6-AC9D-5B4A6352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62425"/>
            <a:ext cx="21717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  <a:p xmlns:a="http://schemas.openxmlformats.org/drawingml/2006/main">
            <a:pPr algn="ctr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</a:t>
            </a:r>
          </a:p>
        </p:txBody>
      </p:sp>
      <p:sp>
        <p:nvSpPr>
          <p:cNvPr id="29" name="图扩展 / 命中 n">
            <a:extLst xmlns:a="http://schemas.openxmlformats.org/drawingml/2006/main">
              <a:ext uri="{FF2B5EF4-FFF2-40B4-BE49-F238E27FC236}">
                <a16:creationId xmlns:a16="http://schemas.microsoft.com/office/drawing/2014/main" id="{2AC11593-840F-4FEC-BB88-54C5B6F3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81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图扩展 / 命中 n</a:t>
            </a:r>
          </a:p>
        </p:txBody>
      </p:sp>
      <p:sp>
        <p:nvSpPr>
          <p:cNvPr id="30" name="reasoning_steps 保存子问题、检索方式、查询语句与命中数；n 是示意占位，非实测">
            <a:extLst xmlns:a="http://schemas.openxmlformats.org/drawingml/2006/main">
              <a:ext uri="{FF2B5EF4-FFF2-40B4-BE49-F238E27FC236}">
                <a16:creationId xmlns:a16="http://schemas.microsoft.com/office/drawing/2014/main" id="{79ED62B3-8067-484E-83A9-3E414AAB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reasoning_steps 保存子问题、检索方式、查询语句与命中数；n 是示意占位，非实测</a:t>
            </a:r>
          </a:p>
        </p:txBody>
      </p:sp>
    </p:spTree>
    <p:extLst>
      <p:ext uri="{BB962C8B-B14F-4D97-AF65-F5344CB8AC3E}">
        <p14:creationId xmlns:p14="http://schemas.microsoft.com/office/powerpoint/2010/main" val="15938979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52E2AF-CB8A-4F39-A8C6-C53D5ED5B4A1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459028" y="2515077"/>
            <a:ext cx="5514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5DBD1D-44B1-4CBC-B6C3-65E67711995C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 flipV="1">
            <a:off x="7458075" y="2515077"/>
            <a:ext cx="953" cy="1457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CC0D5-37FA-48B8-BD71-60E9269C2C5E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144703" y="3972402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C85C93-441B-40B9-8E44-62BF25B55EB5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944303" y="3972402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531E9-C06C-4DF5-960D-8B3C4B10A8E7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 flipV="1">
            <a:off x="3943350" y="3972402"/>
            <a:ext cx="953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516C9-F946-476E-B3F7-07B2CC977EFB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363278" y="5601177"/>
            <a:ext cx="58007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37" name="F-19">
            <a:extLst xmlns:a="http://schemas.openxmlformats.org/drawingml/2006/main">
              <a:ext uri="{FF2B5EF4-FFF2-40B4-BE49-F238E27FC236}">
                <a16:creationId xmlns:a16="http://schemas.microsoft.com/office/drawing/2014/main" id="{69C3341B-6CF0-4816-93A2-D237F4D9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F-19</a:t>
            </a:r>
          </a:p>
        </p:txBody>
      </p:sp>
      <p:sp>
        <p:nvSpPr>
          <p:cNvPr id="2" name="MCP 与插件生态全景">
            <a:extLst xmlns:a="http://schemas.openxmlformats.org/drawingml/2006/main">
              <a:ext uri="{FF2B5EF4-FFF2-40B4-BE49-F238E27FC236}">
                <a16:creationId xmlns:a16="http://schemas.microsoft.com/office/drawing/2014/main" id="{32B1EED0-DD50-44DA-8DF9-A32AD5C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 与插件生态全景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804B054-4BFF-4CFC-864D-9415334C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23390666-EC09-466A-AA66-C537B5E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数据面扩展">
            <a:extLst xmlns:a="http://schemas.openxmlformats.org/drawingml/2006/main">
              <a:ext uri="{FF2B5EF4-FFF2-40B4-BE49-F238E27FC236}">
                <a16:creationId xmlns:a16="http://schemas.microsoft.com/office/drawing/2014/main" id="{F3FD1641-728C-40CA-B135-D3E670BB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数据面扩展</a:t>
            </a:r>
          </a:p>
        </p:txBody>
      </p:sp>
      <p:sp>
        <p:nvSpPr>
          <p:cNvPr id="6" name="Source Connector">
            <a:extLst xmlns:a="http://schemas.openxmlformats.org/drawingml/2006/main">
              <a:ext uri="{FF2B5EF4-FFF2-40B4-BE49-F238E27FC236}">
                <a16:creationId xmlns:a16="http://schemas.microsoft.com/office/drawing/2014/main" id="{D4FF1CC9-F18A-40D0-9B47-793087DF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Source Connector</a:t>
            </a:r>
          </a:p>
        </p:txBody>
      </p:sp>
      <p:sp>
        <p:nvSpPr>
          <p:cNvPr id="7" name="Enricher">
            <a:extLst xmlns:a="http://schemas.openxmlformats.org/drawingml/2006/main">
              <a:ext uri="{FF2B5EF4-FFF2-40B4-BE49-F238E27FC236}">
                <a16:creationId xmlns:a16="http://schemas.microsoft.com/office/drawing/2014/main" id="{D428912F-D671-4649-ADA3-00CDE76E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Enricher</a:t>
            </a:r>
          </a:p>
        </p:txBody>
      </p:sp>
      <p:sp>
        <p:nvSpPr>
          <p:cNvPr id="8" name="Tool / Skill">
            <a:extLst xmlns:a="http://schemas.openxmlformats.org/drawingml/2006/main">
              <a:ext uri="{FF2B5EF4-FFF2-40B4-BE49-F238E27FC236}">
                <a16:creationId xmlns:a16="http://schemas.microsoft.com/office/drawing/2014/main" id="{BDEAC39D-4F3E-44EF-9318-A6FEBF33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676525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Tool / Skill</a:t>
            </a:r>
          </a:p>
        </p:txBody>
      </p:sp>
      <p:sp>
        <p:nvSpPr>
          <p:cNvPr id="9" name="shaowang-sdk 签名索引">
            <a:extLst xmlns:a="http://schemas.openxmlformats.org/drawingml/2006/main">
              <a:ext uri="{FF2B5EF4-FFF2-40B4-BE49-F238E27FC236}">
                <a16:creationId xmlns:a16="http://schemas.microsoft.com/office/drawing/2014/main" id="{DB2F7303-B579-40AF-ABEC-99A2207E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267652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shaowang-sdk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签名索引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E70264BF-444B-4126-AF6E-13A1D546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857500" cy="132397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intel-core">
            <a:extLst xmlns:a="http://schemas.openxmlformats.org/drawingml/2006/main">
              <a:ext uri="{FF2B5EF4-FFF2-40B4-BE49-F238E27FC236}">
                <a16:creationId xmlns:a16="http://schemas.microsoft.com/office/drawing/2014/main" id="{C92BC006-9661-4F39-A17F-B311F406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4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547D45"/>
                </a:solidFill>
              </a:defRPr>
            </a:pPr>
            <a:r>
              <a:rPr sz="24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intel-core</a:t>
            </a:r>
          </a:p>
        </p:txBody>
      </p:sp>
      <p:sp>
        <p:nvSpPr>
          <p:cNvPr id="12" name="统一服务层">
            <a:extLst xmlns:a="http://schemas.openxmlformats.org/drawingml/2006/main">
              <a:ext uri="{FF2B5EF4-FFF2-40B4-BE49-F238E27FC236}">
                <a16:creationId xmlns:a16="http://schemas.microsoft.com/office/drawing/2014/main" id="{85202871-804E-4B3C-AABE-7F505099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38575"/>
            <a:ext cx="262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统一服务层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2EBDA010-F601-42EE-A1CD-376E4D4A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3190875" cy="5048250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智能体接入">
            <a:extLst xmlns:a="http://schemas.openxmlformats.org/drawingml/2006/main">
              <a:ext uri="{FF2B5EF4-FFF2-40B4-BE49-F238E27FC236}">
                <a16:creationId xmlns:a16="http://schemas.microsoft.com/office/drawing/2014/main" id="{B484A697-5441-41AE-B25A-67D11699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47800"/>
            <a:ext cx="2847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77DC3"/>
                </a:solidFill>
              </a:defRPr>
            </a:pPr>
            <a:r>
              <a:rPr sz="180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智能体接入</a:t>
            </a:r>
          </a:p>
        </p:txBody>
      </p:sp>
      <p:sp>
        <p:nvSpPr>
          <p:cNvPr id="15" name="MCP / OpenAPI / CLI">
            <a:extLst xmlns:a="http://schemas.openxmlformats.org/drawingml/2006/main">
              <a:ext uri="{FF2B5EF4-FFF2-40B4-BE49-F238E27FC236}">
                <a16:creationId xmlns:a16="http://schemas.microsoft.com/office/drawing/2014/main" id="{EE4CFD4C-B729-42A4-A2BE-29BA222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27908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33E54"/>
                </a:solidFill>
              </a:defRPr>
            </a:pPr>
            <a:r>
              <a:rPr sz="1725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 / OpenAPI / CLI</a:t>
            </a:r>
          </a:p>
        </p:txBody>
      </p:sp>
      <p:sp>
        <p:nvSpPr>
          <p:cNvPr id="16" name="Agent Plugins 包">
            <a:extLst xmlns:a="http://schemas.openxmlformats.org/drawingml/2006/main">
              <a:ext uri="{FF2B5EF4-FFF2-40B4-BE49-F238E27FC236}">
                <a16:creationId xmlns:a16="http://schemas.microsoft.com/office/drawing/2014/main" id="{0831C95C-99E8-4BAF-B655-B2EFBCA9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33750"/>
            <a:ext cx="2790825" cy="7239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Agent Plugins 包</a:t>
            </a:r>
          </a:p>
        </p:txBody>
      </p:sp>
      <p:sp>
        <p:nvSpPr>
          <p:cNvPr id="17" name="Claude Code / Codex Cursor / Gemini CLI Kimi 等：待核实">
            <a:extLst xmlns:a="http://schemas.openxmlformats.org/drawingml/2006/main">
              <a:ext uri="{FF2B5EF4-FFF2-40B4-BE49-F238E27FC236}">
                <a16:creationId xmlns:a16="http://schemas.microsoft.com/office/drawing/2014/main" id="{92D1B928-EB0B-4ED4-82B4-8FBD09D0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657725"/>
            <a:ext cx="2762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Claude Code / Codex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Cursor / Gemini CLI</a:t>
            </a:r>
          </a:p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Kimi 等：待核实</a:t>
            </a:r>
          </a:p>
        </p:txBody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80826242-2665-4863-A43F-E412B612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F4321440-8EE9-4126-A200-1D24B0D2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0336CF4A-1137-415B-ABD5-2C4D5B16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00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15D2CD20-B814-432E-AE2C-E74151FB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7ACCBE49-F908-4140-AE89-207C7A68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2EEA5D02-CC25-45EA-8E79-B9282791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0B1EBC2E-522E-434F-B450-8F3CFBF8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BC122275-2063-4005-B614-AA1CE256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89F33F68-C6F7-4648-9E42-5FBA803B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1E2D8E9B-4535-45FE-9521-9D1DFEB4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6058576F-85F0-4336-98F5-6F41A485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6246DE7D-7ECF-4BF4-AE10-DD57B8CE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514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统一鉴权、限流、审计与长任务句柄">
            <a:extLst xmlns:a="http://schemas.openxmlformats.org/drawingml/2006/main">
              <a:ext uri="{FF2B5EF4-FFF2-40B4-BE49-F238E27FC236}">
                <a16:creationId xmlns:a16="http://schemas.microsoft.com/office/drawing/2014/main" id="{3EF9560B-CE36-4B49-8271-D954C458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统一鉴权、限流、审计与长任务句柄</a:t>
            </a:r>
          </a:p>
        </p:txBody>
      </p:sp>
    </p:spTree>
    <p:extLst>
      <p:ext uri="{BB962C8B-B14F-4D97-AF65-F5344CB8AC3E}">
        <p14:creationId xmlns:p14="http://schemas.microsoft.com/office/powerpoint/2010/main" val="11970086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8C3825-4946-4A20-A79D-06AE0610E113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10763250" y="6763227"/>
            <a:ext cx="3057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5899C2-6C01-449A-8677-77AF29C7393F}"/>
              </a:ext>
            </a:extLst>
          </p:cNvPr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H="1">
            <a:off x="11068050" y="4401027"/>
            <a:ext cx="953" cy="23622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8314F3-34B2-43BA-BE69-765C06B9ABC1}"/>
              </a:ext>
            </a:extLst>
          </p:cNvPr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0764203" y="4401027"/>
            <a:ext cx="3038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dash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7192E7-1AAB-4D40-8938-CBF4CC27D7D8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 flipV="1">
            <a:off x="5715000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D1E783-AE1A-4041-9D90-D592415D58E8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5715000" y="5610702"/>
            <a:ext cx="37633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1AE54-3ED8-42ED-BE97-B7C81A5FD05F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9477375" y="4782027"/>
            <a:ext cx="95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8D815-7E11-441F-873A-B3B4996B20E4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1952625" y="3286602"/>
            <a:ext cx="953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BC5B3-A81C-488F-A206-98A8A68944DE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1952625" y="3286602"/>
            <a:ext cx="75257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D3B6E-D2A7-4645-81BB-B7380C97122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9477375" y="2229327"/>
            <a:ext cx="953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A9CC3-6CB8-407A-AA8D-AB51BC1C711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00875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B8808-C074-4C14-BA10-B0C8933F9B8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38500" y="44005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47D45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BA4E3-B4E0-4E69-BCCA-80E54F4298F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000875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83FD5-035A-4E74-A74B-5AAE550A395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18478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sp>
        <p:nvSpPr>
          <p:cNvPr id="48" name="F-20">
            <a:extLst xmlns:a="http://schemas.openxmlformats.org/drawingml/2006/main">
              <a:ext uri="{FF2B5EF4-FFF2-40B4-BE49-F238E27FC236}">
                <a16:creationId xmlns:a16="http://schemas.microsoft.com/office/drawing/2014/main" id="{77FE884B-8C9F-4F95-A561-C300973D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F-20</a:t>
            </a:r>
          </a:p>
        </p:txBody>
      </p:sp>
      <p:sp>
        <p:nvSpPr>
          <p:cNvPr id="2" name="插件生命周期">
            <a:extLst xmlns:a="http://schemas.openxmlformats.org/drawingml/2006/main">
              <a:ext uri="{FF2B5EF4-FFF2-40B4-BE49-F238E27FC236}">
                <a16:creationId xmlns:a16="http://schemas.microsoft.com/office/drawing/2014/main" id="{918E75E1-E27A-45E1-8CCA-A7C2EFC3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插件生命周期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5D430E1-18AD-41A3-8382-0DF65C0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scovered">
            <a:extLst xmlns:a="http://schemas.openxmlformats.org/drawingml/2006/main">
              <a:ext uri="{FF2B5EF4-FFF2-40B4-BE49-F238E27FC236}">
                <a16:creationId xmlns:a16="http://schemas.microsoft.com/office/drawing/2014/main" id="{CA560AED-36AD-4233-AA2E-49704690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Discovered</a:t>
            </a:r>
          </a:p>
        </p:txBody>
      </p:sp>
      <p:sp>
        <p:nvSpPr>
          <p:cNvPr id="5" name="Validated">
            <a:extLst xmlns:a="http://schemas.openxmlformats.org/drawingml/2006/main">
              <a:ext uri="{FF2B5EF4-FFF2-40B4-BE49-F238E27FC236}">
                <a16:creationId xmlns:a16="http://schemas.microsoft.com/office/drawing/2014/main" id="{DFFF8B89-25A5-4C8F-9A51-D3DF9AC7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668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Validated</a:t>
            </a:r>
          </a:p>
        </p:txBody>
      </p:sp>
      <p:sp>
        <p:nvSpPr>
          <p:cNvPr id="6" name="Installed">
            <a:extLst xmlns:a="http://schemas.openxmlformats.org/drawingml/2006/main">
              <a:ext uri="{FF2B5EF4-FFF2-40B4-BE49-F238E27FC236}">
                <a16:creationId xmlns:a16="http://schemas.microsoft.com/office/drawing/2014/main" id="{BB88A9C8-FC19-4B0B-AFAF-EF62C150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668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Installed</a:t>
            </a:r>
          </a:p>
        </p:txBody>
      </p:sp>
      <p:sp>
        <p:nvSpPr>
          <p:cNvPr id="9" name="清单 / Schema / 签名">
            <a:extLst xmlns:a="http://schemas.openxmlformats.org/drawingml/2006/main">
              <a:ext uri="{FF2B5EF4-FFF2-40B4-BE49-F238E27FC236}">
                <a16:creationId xmlns:a16="http://schemas.microsoft.com/office/drawing/2014/main" id="{830DC204-8DFB-4FC4-85CE-E2E5DF4F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清单 / Schema / 签名</a:t>
            </a:r>
          </a:p>
        </p:txBody>
      </p:sp>
      <p:sp>
        <p:nvSpPr>
          <p:cNvPr id="10" name="管理员审批权限">
            <a:extLst xmlns:a="http://schemas.openxmlformats.org/drawingml/2006/main">
              <a:ext uri="{FF2B5EF4-FFF2-40B4-BE49-F238E27FC236}">
                <a16:creationId xmlns:a16="http://schemas.microsoft.com/office/drawing/2014/main" id="{984A420A-B369-491D-AAA1-0F02BF93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05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57D8E"/>
                </a:solidFill>
              </a:defRPr>
            </a:pPr>
            <a:r>
              <a:rPr sz="1725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管理员审批权限</a:t>
            </a:r>
          </a:p>
        </p:txBody>
      </p:sp>
      <p:sp>
        <p:nvSpPr>
          <p:cNvPr id="11" name="Loaded">
            <a:extLst xmlns:a="http://schemas.openxmlformats.org/drawingml/2006/main">
              <a:ext uri="{FF2B5EF4-FFF2-40B4-BE49-F238E27FC236}">
                <a16:creationId xmlns:a16="http://schemas.microsoft.com/office/drawing/2014/main" id="{13C36E7A-47C9-4E16-85D7-57C59323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33E54"/>
                </a:solidFill>
              </a:defRPr>
            </a:pPr>
            <a:r>
              <a:rPr sz="21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Loaded</a:t>
            </a:r>
          </a:p>
        </p:txBody>
      </p:sp>
      <p:sp>
        <p:nvSpPr>
          <p:cNvPr id="12" name="Running">
            <a:extLst xmlns:a="http://schemas.openxmlformats.org/drawingml/2006/main">
              <a:ext uri="{FF2B5EF4-FFF2-40B4-BE49-F238E27FC236}">
                <a16:creationId xmlns:a16="http://schemas.microsoft.com/office/drawing/2014/main" id="{E0C6284F-2365-46A9-9CC0-8E43E85C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95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547D45"/>
                </a:solidFill>
              </a:defRPr>
            </a:pPr>
            <a:r>
              <a:rPr sz="21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13" name="Degraded">
            <a:extLst xmlns:a="http://schemas.openxmlformats.org/drawingml/2006/main">
              <a:ext uri="{FF2B5EF4-FFF2-40B4-BE49-F238E27FC236}">
                <a16:creationId xmlns:a16="http://schemas.microsoft.com/office/drawing/2014/main" id="{2A637DDC-0C60-4E5C-AF08-D6013C19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571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Degraded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FB8F9E33-89D8-47B6-88BD-B0242DD7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FEE7E876-152F-4249-A6CB-06DE80BB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435061AD-DB31-459F-8C5D-00B8AB2A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8ABD9193-376E-4E58-803F-38E693E5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CF996E29-D244-422B-909F-2AD0F17F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66E2E4ED-2E02-43EB-BE90-63C19C5B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连续失败 ≥3 或 Schema 违规率 &gt;5%">
            <a:extLst xmlns:a="http://schemas.openxmlformats.org/drawingml/2006/main">
              <a:ext uri="{FF2B5EF4-FFF2-40B4-BE49-F238E27FC236}">
                <a16:creationId xmlns:a16="http://schemas.microsoft.com/office/drawing/2014/main" id="{2C35C6E7-8E41-45AC-B50B-74A5030E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575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A67A20"/>
                </a:solidFill>
              </a:defRPr>
            </a:pPr>
            <a:r>
              <a:rPr sz="16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连续失败 ≥3 或 Schema 违规率 &gt;5%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E30D9FBE-3F26-4D74-84EE-315A062C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5D487C44-29B0-4A4F-947A-4BDBD677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C94E0DF9-3DD4-46C7-B7AC-EFEBE3C6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4F862A8B-47A1-4199-8098-2401178B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05B69DB2-2921-4D32-8629-EFC81FF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10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4F9DC185-A81C-4ADC-BAAA-D3596090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healthcheck 恢复">
            <a:extLst xmlns:a="http://schemas.openxmlformats.org/drawingml/2006/main">
              <a:ext uri="{FF2B5EF4-FFF2-40B4-BE49-F238E27FC236}">
                <a16:creationId xmlns:a16="http://schemas.microsoft.com/office/drawing/2014/main" id="{38617987-E483-4F3A-A226-DE4E3CC8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245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7D45"/>
                </a:solidFill>
              </a:defRPr>
            </a:pPr>
            <a:r>
              <a:rPr sz="165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healthcheck 恢复</a:t>
            </a:r>
          </a:p>
        </p:txBody>
      </p:sp>
      <p:sp>
        <p:nvSpPr>
          <p:cNvPr id="36" name="Disabled">
            <a:extLst xmlns:a="http://schemas.openxmlformats.org/drawingml/2006/main">
              <a:ext uri="{FF2B5EF4-FFF2-40B4-BE49-F238E27FC236}">
                <a16:creationId xmlns:a16="http://schemas.microsoft.com/office/drawing/2014/main" id="{72DEFC18-372C-479B-82BB-CE62EF27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57950"/>
            <a:ext cx="2571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Disabled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788C7A76-D931-4A2D-A83B-3F687469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B226FC96-67B9-4FDE-BB1A-B3A1FB3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7C6326EC-5E95-4DD4-86D5-927F234B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boundary">
            <a:extLst xmlns:a="http://schemas.openxmlformats.org/drawingml/2006/main">
              <a:ext uri="{FF2B5EF4-FFF2-40B4-BE49-F238E27FC236}">
                <a16:creationId xmlns:a16="http://schemas.microsoft.com/office/drawing/2014/main" id="{12ECD382-014B-4F19-BF37-BC3AB1C1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3D92E676-774E-4EE6-8FFD-C16771D9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057ABAFA-EA1C-4FCE-897C-C09B6F8C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76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24 h 未恢复 或 Critic 违规">
            <a:extLst xmlns:a="http://schemas.openxmlformats.org/drawingml/2006/main">
              <a:ext uri="{FF2B5EF4-FFF2-40B4-BE49-F238E27FC236}">
                <a16:creationId xmlns:a16="http://schemas.microsoft.com/office/drawing/2014/main" id="{836D4734-4138-4F2E-828F-EEBAF8BE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912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0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AB554B"/>
                </a:solidFill>
              </a:defRPr>
            </a:pPr>
            <a:r>
              <a:rPr sz="150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24 h 未恢复</a:t>
            </a:r>
          </a:p>
          <a:p xmlns:a="http://schemas.openxmlformats.org/drawingml/2006/main">
            <a:pPr algn="ctr">
              <a:defRPr sz="1500" b="0">
                <a:solidFill>
                  <a:srgbClr val="AB554B"/>
                </a:solidFill>
              </a:defRPr>
            </a:pPr>
            <a:r>
              <a:rPr sz="1500" b="0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或 Critic 违规</a:t>
            </a:r>
          </a:p>
        </p:txBody>
      </p:sp>
      <p:sp>
        <p:nvSpPr>
          <p:cNvPr id="47" name="升级 MINOR 热升级 / MAJOR 重审">
            <a:extLst xmlns:a="http://schemas.openxmlformats.org/drawingml/2006/main">
              <a:ext uri="{FF2B5EF4-FFF2-40B4-BE49-F238E27FC236}">
                <a16:creationId xmlns:a16="http://schemas.microsoft.com/office/drawing/2014/main" id="{C39B515F-AACC-4164-8FBB-3035EAC0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4762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升级</a:t>
            </a:r>
          </a:p>
          <a:p xmlns:a="http://schemas.openxmlformats.org/drawingml/2006/main">
            <a:pPr algn="ctr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MINOR 热升级 / MAJOR 重审</a:t>
            </a:r>
          </a:p>
        </p:txBody>
      </p:sp>
    </p:spTree>
    <p:extLst>
      <p:ext uri="{BB962C8B-B14F-4D97-AF65-F5344CB8AC3E}">
        <p14:creationId xmlns:p14="http://schemas.microsoft.com/office/powerpoint/2010/main" val="13594648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-21">
            <a:extLst xmlns:a="http://schemas.openxmlformats.org/drawingml/2006/main">
              <a:ext uri="{FF2B5EF4-FFF2-40B4-BE49-F238E27FC236}">
                <a16:creationId xmlns:a16="http://schemas.microsoft.com/office/drawing/2014/main" id="{8CEA4F17-65FD-46D4-92FF-4F765E44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F-21</a:t>
            </a:r>
          </a:p>
        </p:txBody>
      </p:sp>
      <p:sp>
        <p:nvSpPr>
          <p:cNvPr id="2" name="公开 Schema 与 OSV / STIX 2.1 / CSAF 2.0 的对应">
            <a:extLst xmlns:a="http://schemas.openxmlformats.org/drawingml/2006/main">
              <a:ext uri="{FF2B5EF4-FFF2-40B4-BE49-F238E27FC236}">
                <a16:creationId xmlns:a16="http://schemas.microsoft.com/office/drawing/2014/main" id="{398288DD-884B-4A1B-A4A4-4247D1B0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 Schema 与 OSV / STIX 2.1 / CSAF 2.0 的对应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0F42AC8E-FC56-4BA9-900A-EBA07468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8 类公开 Schema">
            <a:extLst xmlns:a="http://schemas.openxmlformats.org/drawingml/2006/main">
              <a:ext uri="{FF2B5EF4-FFF2-40B4-BE49-F238E27FC236}">
                <a16:creationId xmlns:a16="http://schemas.microsoft.com/office/drawing/2014/main" id="{40482078-4E3B-41C3-887D-DE4117EA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144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8 类公开 Schema</a:t>
            </a:r>
          </a:p>
        </p:txBody>
      </p:sp>
      <p:sp>
        <p:nvSpPr>
          <p:cNvPr id="5" name="common">
            <a:extLst xmlns:a="http://schemas.openxmlformats.org/drawingml/2006/main">
              <a:ext uri="{FF2B5EF4-FFF2-40B4-BE49-F238E27FC236}">
                <a16:creationId xmlns:a16="http://schemas.microsoft.com/office/drawing/2014/main" id="{60FC1744-DF54-47F0-8903-BDF7F862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6" name="normalized-intel">
            <a:extLst xmlns:a="http://schemas.openxmlformats.org/drawingml/2006/main">
              <a:ext uri="{FF2B5EF4-FFF2-40B4-BE49-F238E27FC236}">
                <a16:creationId xmlns:a16="http://schemas.microsoft.com/office/drawing/2014/main" id="{C0B20526-5176-44CA-A8C8-AD285EE6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normalized-intel</a:t>
            </a:r>
          </a:p>
        </p:txBody>
      </p:sp>
      <p:sp>
        <p:nvSpPr>
          <p:cNvPr id="7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5EA09C2D-E305-4D08-86A9-66D2F7CD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8" name="advisory">
            <a:extLst xmlns:a="http://schemas.openxmlformats.org/drawingml/2006/main">
              <a:ext uri="{FF2B5EF4-FFF2-40B4-BE49-F238E27FC236}">
                <a16:creationId xmlns:a16="http://schemas.microsoft.com/office/drawing/2014/main" id="{B1082A5B-AA52-456A-B841-3CF3EBF4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049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9" name="component">
            <a:extLst xmlns:a="http://schemas.openxmlformats.org/drawingml/2006/main">
              <a:ext uri="{FF2B5EF4-FFF2-40B4-BE49-F238E27FC236}">
                <a16:creationId xmlns:a16="http://schemas.microsoft.com/office/drawing/2014/main" id="{8193C958-8FC1-4F17-9EB1-03E5B782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0" name="enrichment">
            <a:extLst xmlns:a="http://schemas.openxmlformats.org/drawingml/2006/main">
              <a:ext uri="{FF2B5EF4-FFF2-40B4-BE49-F238E27FC236}">
                <a16:creationId xmlns:a16="http://schemas.microsoft.com/office/drawing/2014/main" id="{0A71E6DE-73F8-485C-95FC-03A93486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enrichment</a:t>
            </a:r>
          </a:p>
        </p:txBody>
      </p:sp>
      <p:sp>
        <p:nvSpPr>
          <p:cNvPr id="11" name="relation">
            <a:extLst xmlns:a="http://schemas.openxmlformats.org/drawingml/2006/main">
              <a:ext uri="{FF2B5EF4-FFF2-40B4-BE49-F238E27FC236}">
                <a16:creationId xmlns:a16="http://schemas.microsoft.com/office/drawing/2014/main" id="{0F2C9CC9-53FC-439E-8315-5BACE66F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relation</a:t>
            </a:r>
          </a:p>
        </p:txBody>
      </p:sp>
      <p:sp>
        <p:nvSpPr>
          <p:cNvPr id="12" name="qa-answer">
            <a:extLst xmlns:a="http://schemas.openxmlformats.org/drawingml/2006/main">
              <a:ext uri="{FF2B5EF4-FFF2-40B4-BE49-F238E27FC236}">
                <a16:creationId xmlns:a16="http://schemas.microsoft.com/office/drawing/2014/main" id="{928158F5-0922-46B4-90E1-B1067D02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52675"/>
            <a:ext cx="24193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qa-answer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6CDEA-3D31-4D0B-9C31-71B5C7B4A02D}"/>
              </a:ext>
            </a:extLst>
          </p:cNvPr>
          <p:cNvGraphicFramePr/>
          <p:nvPr/>
        </p:nvGraphicFramePr>
        <p:xfrm>
          <a:off xmlns:a="http://schemas.openxmlformats.org/drawingml/2006/main" x="476250" y="3333750"/>
          <a:ext xmlns:a="http://schemas.openxmlformats.org/drawingml/2006/main" cx="10477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476500"/>
                <a:gridCol w="3143250"/>
                <a:gridCol w="2524125"/>
              </a:tblGrid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映射对象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OSV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STIX 2.1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CSAF 2.0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标识 / 别名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 / aliases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cve / ids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影响区间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ranges.events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+ relation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product_status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处置建议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 引用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course-of-action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remediations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attack-pattern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关系与置信度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relationship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无原生项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5238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PoC 引用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 链接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external_references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references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按映射表保留语义；没有原生字段的内容使用扩展，不能宣称天然无损">
            <a:extLst xmlns:a="http://schemas.openxmlformats.org/drawingml/2006/main">
              <a:ext uri="{FF2B5EF4-FFF2-40B4-BE49-F238E27FC236}">
                <a16:creationId xmlns:a16="http://schemas.microsoft.com/office/drawing/2014/main" id="{A6CFEAE7-3C4F-44B5-89B8-EE4641A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按映射表保留语义；没有原生字段的内容使用扩展，不能宣称天然无损</a:t>
            </a:r>
          </a:p>
        </p:txBody>
      </p:sp>
    </p:spTree>
    <p:extLst>
      <p:ext uri="{BB962C8B-B14F-4D97-AF65-F5344CB8AC3E}">
        <p14:creationId xmlns:p14="http://schemas.microsoft.com/office/powerpoint/2010/main" val="17126512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-22">
            <a:extLst xmlns:a="http://schemas.openxmlformats.org/drawingml/2006/main">
              <a:ext uri="{FF2B5EF4-FFF2-40B4-BE49-F238E27FC236}">
                <a16:creationId xmlns:a16="http://schemas.microsoft.com/office/drawing/2014/main" id="{B9C1811D-321A-48B0-87AA-760CFDBF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F-22</a:t>
            </a:r>
          </a:p>
        </p:txBody>
      </p:sp>
      <p:sp>
        <p:nvSpPr>
          <p:cNvPr id="2" name="技术栈分层">
            <a:extLst xmlns:a="http://schemas.openxmlformats.org/drawingml/2006/main">
              <a:ext uri="{FF2B5EF4-FFF2-40B4-BE49-F238E27FC236}">
                <a16:creationId xmlns:a16="http://schemas.microsoft.com/office/drawing/2014/main" id="{B5756297-059B-42E5-B0B1-192A2EF1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技术栈分层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89F961B5-7D18-41F4-A6D5-CA0066B7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02F87-9D61-4481-B5F0-D781AD71B51D}"/>
              </a:ext>
            </a:extLst>
          </p:cNvPr>
          <p:cNvGraphicFramePr/>
          <p:nvPr/>
        </p:nvGraphicFramePr>
        <p:xfrm>
          <a:off xmlns:a="http://schemas.openxmlformats.org/drawingml/2006/main" x="476250" y="1219200"/>
          <a:ext xmlns:a="http://schemas.openxmlformats.org/drawingml/2006/main" cx="10477500" cy="582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3333750"/>
              </a:tblGrid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报告方案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T w="9525">
                      <a:solidFill>
                        <a:srgbClr val="A6C4DB"/>
                      </a:solidFill>
                      <a:prstDash val="solid"/>
                    </a:lnT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277DC3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/ httpx（建议）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requests / Scrapy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消息调度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Redis Streams / NATS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Kafka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LangGraph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AutoGen / CrewAI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 / DeepSeek（建议）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主存储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 + pgvector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Milvus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图谱与检索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Neo4j / OpenSearch + IK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 / Meilisearch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嵌入与重排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 / bge-reranker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商用嵌入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后端与 MCP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 / 官方 Python SDK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Litestar / FastMCP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 / ECharts / Cytoscape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/ AntV G6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/ Prometheus / Grafana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OpenTelemetry 后端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A6C4DB"/>
                      </a:solidFill>
                      <a:prstDash val="solid"/>
                    </a:lnL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 compose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650" b="0">
                          <a:solidFill>
                            <a:srgbClr val="233E5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Kubernetes / Helm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A6C4DB"/>
                      </a:solidFill>
                      <a:prstDash val="solid"/>
                    </a:lnR>
                    <a:lnB w="9525">
                      <a:solidFill>
                        <a:srgbClr val="A6C4DB"/>
                      </a:solidFill>
                      <a:prstDash val="solid"/>
                    </a:lnB>
                    <a:solidFill>
                      <a:srgbClr val="EAF4FC"/>
                    </a:solidFill>
                  </a:tcPr>
                </a:tc>
              </a:tr>
            </a:tbl>
          </a:graphicData>
        </a:graphic>
      </p:graphicFrame>
      <p:sp>
        <p:nvSpPr>
          <p:cNvPr id="5" name="右列为备选；建议项与规划项不等于已经部署">
            <a:extLst xmlns:a="http://schemas.openxmlformats.org/drawingml/2006/main">
              <a:ext uri="{FF2B5EF4-FFF2-40B4-BE49-F238E27FC236}">
                <a16:creationId xmlns:a16="http://schemas.microsoft.com/office/drawing/2014/main" id="{BBD139B0-E82E-4072-9780-1F4B5ABC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右列为备选；建议项与规划项不等于已经部署</a:t>
            </a:r>
          </a:p>
        </p:txBody>
      </p:sp>
    </p:spTree>
    <p:extLst>
      <p:ext uri="{BB962C8B-B14F-4D97-AF65-F5344CB8AC3E}">
        <p14:creationId xmlns:p14="http://schemas.microsoft.com/office/powerpoint/2010/main" val="12953945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F-23">
            <a:extLst xmlns:a="http://schemas.openxmlformats.org/drawingml/2006/main">
              <a:ext uri="{FF2B5EF4-FFF2-40B4-BE49-F238E27FC236}">
                <a16:creationId xmlns:a16="http://schemas.microsoft.com/office/drawing/2014/main" id="{CB3E3C30-6D53-4360-8DB6-54B22F28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F-23</a:t>
            </a:r>
          </a:p>
        </p:txBody>
      </p:sp>
      <p:sp>
        <p:nvSpPr>
          <p:cNvPr id="2" name="docker compose 单机部署结构">
            <a:extLst xmlns:a="http://schemas.openxmlformats.org/drawingml/2006/main">
              <a:ext uri="{FF2B5EF4-FFF2-40B4-BE49-F238E27FC236}">
                <a16:creationId xmlns:a16="http://schemas.microsoft.com/office/drawing/2014/main" id="{07D115A2-D302-41C5-9B44-005A58F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docker compose 单机部署结构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DF64E6EE-DEA1-4E11-8EA8-81BF9D50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748059E-CB9C-4A99-96A6-E57FB137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0DEA9DCD-6AB1-42F9-B85D-0DB52507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621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6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2FB5834D-65B0-4F87-9B46-A489A2DE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620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7" name="应用容器">
            <a:extLst xmlns:a="http://schemas.openxmlformats.org/drawingml/2006/main">
              <a:ext uri="{FF2B5EF4-FFF2-40B4-BE49-F238E27FC236}">
                <a16:creationId xmlns:a16="http://schemas.microsoft.com/office/drawing/2014/main" id="{AA544DCD-849C-41FC-8208-A502236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859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应用容器</a:t>
            </a:r>
          </a:p>
        </p:txBody>
      </p:sp>
      <p:sp>
        <p:nvSpPr>
          <p:cNvPr id="8" name="api /api/v1">
            <a:extLst xmlns:a="http://schemas.openxmlformats.org/drawingml/2006/main">
              <a:ext uri="{FF2B5EF4-FFF2-40B4-BE49-F238E27FC236}">
                <a16:creationId xmlns:a16="http://schemas.microsoft.com/office/drawing/2014/main" id="{C75DC6DB-C5B6-4823-A2FD-13C70709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/api/v1</a:t>
            </a:r>
          </a:p>
        </p:txBody>
      </p:sp>
      <p:sp>
        <p:nvSpPr>
          <p:cNvPr id="9" name="mcp /mcp">
            <a:extLst xmlns:a="http://schemas.openxmlformats.org/drawingml/2006/main">
              <a:ext uri="{FF2B5EF4-FFF2-40B4-BE49-F238E27FC236}">
                <a16:creationId xmlns:a16="http://schemas.microsoft.com/office/drawing/2014/main" id="{5A609F19-B844-4D4D-94DD-8F25F3A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/mcp</a:t>
            </a:r>
          </a:p>
        </p:txBody>
      </p:sp>
      <p:sp>
        <p:nvSpPr>
          <p:cNvPr id="10" name="workers 9 个角色">
            <a:extLst xmlns:a="http://schemas.openxmlformats.org/drawingml/2006/main">
              <a:ext uri="{FF2B5EF4-FFF2-40B4-BE49-F238E27FC236}">
                <a16:creationId xmlns:a16="http://schemas.microsoft.com/office/drawing/2014/main" id="{A7428E42-CAE0-4783-A216-DE131640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workers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9 个角色</a:t>
            </a:r>
          </a:p>
        </p:txBody>
      </p:sp>
      <p:sp>
        <p:nvSpPr>
          <p:cNvPr id="11" name="scheduler">
            <a:extLst xmlns:a="http://schemas.openxmlformats.org/drawingml/2006/main">
              <a:ext uri="{FF2B5EF4-FFF2-40B4-BE49-F238E27FC236}">
                <a16:creationId xmlns:a16="http://schemas.microsoft.com/office/drawing/2014/main" id="{71B40486-9BAF-4E58-832B-2CD46F37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</p:txBody>
      </p:sp>
      <p:sp>
        <p:nvSpPr>
          <p:cNvPr id="12" name="web">
            <a:extLst xmlns:a="http://schemas.openxmlformats.org/drawingml/2006/main">
              <a:ext uri="{FF2B5EF4-FFF2-40B4-BE49-F238E27FC236}">
                <a16:creationId xmlns:a16="http://schemas.microsoft.com/office/drawing/2014/main" id="{3314D62D-413B-46A4-BC0D-6ED6CEED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650"/>
            <a:ext cx="14763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13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4EAEDF39-F6F3-4634-8DA3-AFD987B7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2EEF7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2C7F1195-A08D-40F6-9B39-79763672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7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5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6F5561A7-8278-4EDF-B0DC-9ED517F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92C5EC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16" name="数据容器">
            <a:extLst xmlns:a="http://schemas.openxmlformats.org/drawingml/2006/main">
              <a:ext uri="{FF2B5EF4-FFF2-40B4-BE49-F238E27FC236}">
                <a16:creationId xmlns:a16="http://schemas.microsoft.com/office/drawing/2014/main" id="{1531B605-6827-4927-A6CE-81FF9DDF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245D8F"/>
                </a:solidFill>
              </a:defRPr>
            </a:pPr>
            <a:r>
              <a:rPr sz="2025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数据容器</a:t>
            </a:r>
          </a:p>
        </p:txBody>
      </p:sp>
      <p:sp>
        <p:nvSpPr>
          <p:cNvPr id="17" name="postgres pgvector">
            <a:extLst xmlns:a="http://schemas.openxmlformats.org/drawingml/2006/main">
              <a:ext uri="{FF2B5EF4-FFF2-40B4-BE49-F238E27FC236}">
                <a16:creationId xmlns:a16="http://schemas.microsoft.com/office/drawing/2014/main" id="{33DF2F03-B684-48AD-8AE8-650531B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postgres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pgvector</a:t>
            </a:r>
          </a:p>
        </p:txBody>
      </p:sp>
      <p:sp>
        <p:nvSpPr>
          <p:cNvPr id="18" name="neo4j">
            <a:extLst xmlns:a="http://schemas.openxmlformats.org/drawingml/2006/main">
              <a:ext uri="{FF2B5EF4-FFF2-40B4-BE49-F238E27FC236}">
                <a16:creationId xmlns:a16="http://schemas.microsoft.com/office/drawing/2014/main" id="{FE59296D-1571-4D08-8A41-65AA7DDC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neo4j</a:t>
            </a:r>
          </a:p>
        </p:txBody>
      </p:sp>
      <p:sp>
        <p:nvSpPr>
          <p:cNvPr id="19" name="opensearch IK">
            <a:extLst xmlns:a="http://schemas.openxmlformats.org/drawingml/2006/main">
              <a:ext uri="{FF2B5EF4-FFF2-40B4-BE49-F238E27FC236}">
                <a16:creationId xmlns:a16="http://schemas.microsoft.com/office/drawing/2014/main" id="{52CCD01B-A042-449D-9C50-9B99C995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opensearch</a:t>
            </a:r>
          </a:p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IK</a:t>
            </a:r>
          </a:p>
        </p:txBody>
      </p:sp>
      <p:sp>
        <p:nvSpPr>
          <p:cNvPr id="20" name="redis / nats">
            <a:extLst xmlns:a="http://schemas.openxmlformats.org/drawingml/2006/main">
              <a:ext uri="{FF2B5EF4-FFF2-40B4-BE49-F238E27FC236}">
                <a16:creationId xmlns:a16="http://schemas.microsoft.com/office/drawing/2014/main" id="{37D20AF6-BFDF-4F44-BB0E-1419FB26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redis / nats</a:t>
            </a:r>
          </a:p>
        </p:txBody>
      </p:sp>
      <p:sp>
        <p:nvSpPr>
          <p:cNvPr id="21" name="minio">
            <a:extLst xmlns:a="http://schemas.openxmlformats.org/drawingml/2006/main">
              <a:ext uri="{FF2B5EF4-FFF2-40B4-BE49-F238E27FC236}">
                <a16:creationId xmlns:a16="http://schemas.microsoft.com/office/drawing/2014/main" id="{8DF9124D-267D-41BB-8F01-A765269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29050"/>
            <a:ext cx="1476375" cy="866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33E54"/>
                </a:solidFill>
              </a:defRPr>
            </a:pPr>
            <a:r>
              <a:rPr sz="16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minio</a:t>
            </a:r>
          </a:p>
        </p:txBody>
      </p:sp>
      <p:sp>
        <p:nvSpPr>
          <p:cNvPr id="22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B15E1C92-4FEB-473F-A70C-972CD6FE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10477500" cy="200025"/>
          </a:xfrm>
          <a:custGeom xmlns:a="http://schemas.openxmlformats.org/drawingml/2006/main">
            <a:pathLst>
              <a:path w="10477500" h="200025">
                <a:moveTo>
                  <a:pt x="0" y="0"/>
                </a:moveTo>
                <a:lnTo>
                  <a:pt x="10239375" y="0"/>
                </a:lnTo>
                <a:lnTo>
                  <a:pt x="10477500" y="200025"/>
                </a:lnTo>
                <a:lnTo>
                  <a:pt x="238125" y="200025"/>
                </a:lnTo>
                <a:close/>
              </a:path>
            </a:pathLst>
          </a:custGeom>
          <a:solidFill xmlns:a="http://schemas.openxmlformats.org/drawingml/2006/main">
            <a:srgbClr val="E5F0DA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3C7B46B8-F769-4C9D-BA95-27B37A5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2393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4" name="layer surface">
            <a:extLst xmlns:a="http://schemas.openxmlformats.org/drawingml/2006/main">
              <a:ext uri="{FF2B5EF4-FFF2-40B4-BE49-F238E27FC236}">
                <a16:creationId xmlns:a16="http://schemas.microsoft.com/office/drawing/2014/main" id="{10845329-B1D0-4B26-ACD7-D8C531F6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238125" cy="1533525"/>
          </a:xfrm>
          <a:custGeom xmlns:a="http://schemas.openxmlformats.org/drawingml/2006/main">
            <a:pathLst>
              <a:path w="238125" h="1533525">
                <a:moveTo>
                  <a:pt x="0" y="0"/>
                </a:moveTo>
                <a:lnTo>
                  <a:pt x="238125" y="200025"/>
                </a:lnTo>
                <a:lnTo>
                  <a:pt x="238125" y="1533525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BAD6A3"/>
          </a:solidFill>
          <a:ln xmlns:a="http://schemas.openxmlformats.org/drawingml/2006/main" w="9525">
            <a:solidFill>
              <a:srgbClr val="A6C4DB"/>
            </a:solidFill>
          </a:ln>
        </p:spPr>
      </p:sp>
      <p:sp>
        <p:nvSpPr>
          <p:cNvPr id="25" name="可观测容器">
            <a:extLst xmlns:a="http://schemas.openxmlformats.org/drawingml/2006/main">
              <a:ext uri="{FF2B5EF4-FFF2-40B4-BE49-F238E27FC236}">
                <a16:creationId xmlns:a16="http://schemas.microsoft.com/office/drawing/2014/main" id="{ACEA4D34-8936-4D3A-8A65-55EEE8C6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可观测容器</a:t>
            </a:r>
          </a:p>
        </p:txBody>
      </p:sp>
      <p:sp>
        <p:nvSpPr>
          <p:cNvPr id="26" name="langfuse">
            <a:extLst xmlns:a="http://schemas.openxmlformats.org/drawingml/2006/main">
              <a:ext uri="{FF2B5EF4-FFF2-40B4-BE49-F238E27FC236}">
                <a16:creationId xmlns:a16="http://schemas.microsoft.com/office/drawing/2014/main" id="{8E651869-525C-43ED-8C51-435731BF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67425"/>
            <a:ext cx="22574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langfuse</a:t>
            </a:r>
          </a:p>
        </p:txBody>
      </p:sp>
      <p:sp>
        <p:nvSpPr>
          <p:cNvPr id="27" name="prometheus">
            <a:extLst xmlns:a="http://schemas.openxmlformats.org/drawingml/2006/main">
              <a:ext uri="{FF2B5EF4-FFF2-40B4-BE49-F238E27FC236}">
                <a16:creationId xmlns:a16="http://schemas.microsoft.com/office/drawing/2014/main" id="{FCEE8DA9-FD19-4F50-A848-C031CEE9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067425"/>
            <a:ext cx="22574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prometheus</a:t>
            </a:r>
          </a:p>
        </p:txBody>
      </p:sp>
      <p:sp>
        <p:nvSpPr>
          <p:cNvPr id="28" name="grafana">
            <a:extLst xmlns:a="http://schemas.openxmlformats.org/drawingml/2006/main">
              <a:ext uri="{FF2B5EF4-FFF2-40B4-BE49-F238E27FC236}">
                <a16:creationId xmlns:a16="http://schemas.microsoft.com/office/drawing/2014/main" id="{133E0974-BC56-4270-9BBB-B6546095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067425"/>
            <a:ext cx="22574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grafana</a:t>
            </a:r>
          </a:p>
        </p:txBody>
      </p:sp>
      <p:sp>
        <p:nvSpPr>
          <p:cNvPr id="29" name="网络与消息队列">
            <a:extLst xmlns:a="http://schemas.openxmlformats.org/drawingml/2006/main">
              <a:ext uri="{FF2B5EF4-FFF2-40B4-BE49-F238E27FC236}">
                <a16:creationId xmlns:a16="http://schemas.microsoft.com/office/drawing/2014/main" id="{9BD7E0F9-A726-485F-9469-225BB274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432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77DC3"/>
                </a:solidFill>
              </a:defRPr>
            </a:pPr>
            <a:r>
              <a:rPr sz="165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网络与消息队列</a:t>
            </a:r>
          </a:p>
        </p:txBody>
      </p:sp>
      <p:sp>
        <p:nvSpPr>
          <p:cNvPr id="30" name="调用追踪 / 任务与时效指标">
            <a:extLst xmlns:a="http://schemas.openxmlformats.org/drawingml/2006/main">
              <a:ext uri="{FF2B5EF4-FFF2-40B4-BE49-F238E27FC236}">
                <a16:creationId xmlns:a16="http://schemas.microsoft.com/office/drawing/2014/main" id="{2875FC70-308C-47E0-A42A-6FAC70D9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47D45"/>
                </a:solidFill>
              </a:defRPr>
            </a:pPr>
            <a:r>
              <a:rPr sz="1650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调用追踪 / 任务与时效指标</a:t>
            </a:r>
          </a:p>
        </p:txBody>
      </p:sp>
    </p:spTree>
    <p:extLst>
      <p:ext uri="{BB962C8B-B14F-4D97-AF65-F5344CB8AC3E}">
        <p14:creationId xmlns:p14="http://schemas.microsoft.com/office/powerpoint/2010/main" val="97631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E046748-3AD4-4AC8-B82E-CAD94A4D4E03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5715000" y="589597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FF5D2B-F802-4AA4-8AB7-A3A01DC7259D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5715000" y="4324350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D03625E-675D-4F90-B28B-A8155BF080A5}"/>
              </a:ext>
            </a:extLst>
          </p:cNvPr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 flipH="1">
            <a:off x="10325100" y="50582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9FDD5E-9E62-4804-9EC8-A92E27B812D3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 flipH="1">
            <a:off x="8963025" y="5058252"/>
            <a:ext cx="953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44614A-AC24-4B9C-AB17-74E96EB4BEE5}"/>
              </a:ext>
            </a:extLst>
          </p:cNvPr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7620953" y="5058252"/>
            <a:ext cx="27041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AD2DC1-4599-4717-BE0B-B3D6DFD12A8E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 flipH="1">
            <a:off x="7620000" y="4058127"/>
            <a:ext cx="953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5FAE19-ED69-428F-97FB-B3645AB970DD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7249478" y="4058127"/>
            <a:ext cx="3705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B927A3-3E69-4D41-893F-81737542329E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7973378" y="3953352"/>
            <a:ext cx="3800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  <a:tailEnd type="triangle" w="sm" len="sm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BDC663-8260-4363-80C4-9E8D2B35B998}"/>
              </a:ext>
            </a:extLst>
          </p:cNvPr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7972425" y="3705702"/>
            <a:ext cx="953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75CAE3A-F7C4-447A-8C9B-9FDC9B0512B0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7249478" y="3705702"/>
            <a:ext cx="7229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47D45"/>
            </a:solidFill>
            <a:prstDash val="dash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42524D-F806-4FF6-80B8-3DAF7CC8F83B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H="1">
            <a:off x="9639300" y="2315052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DC3"/>
            </a:solidFill>
            <a:prstDash val="solid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D9402C-FC2C-4604-9015-DD0F5DCF29F7}"/>
              </a:ext>
            </a:extLst>
          </p:cNvPr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7763828" y="1838802"/>
            <a:ext cx="5895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8C58A6-41AC-4184-AB22-1AAF329061DB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H="1" flipV="1">
            <a:off x="7762875" y="1838802"/>
            <a:ext cx="953" cy="1495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EE7E08-9ED6-45B6-825F-8FC617B5AE9A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249478" y="333422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6A588F-1AB1-490E-8E9A-2A45A7A0E7AB}"/>
              </a:ext>
            </a:extLst>
          </p:cNvPr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>
            <a:off x="3105150" y="5810727"/>
            <a:ext cx="524828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355DF4-3A49-4BC6-A423-C75D4CA46E34}"/>
              </a:ext>
            </a:extLst>
          </p:cNvPr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>
            <a:off x="3629025" y="4058127"/>
            <a:ext cx="953" cy="17526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0898A7-DA6F-42DE-A917-8C38271D636A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3629025" y="4058127"/>
            <a:ext cx="55340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C8169A-8F8A-43CF-9D97-901A266F84D5}"/>
              </a:ext>
            </a:extLst>
          </p:cNvPr>
          <p:cNvCxnSpPr>
            <a:stCxn xmlns:a="http://schemas.openxmlformats.org/drawingml/2006/main" id="4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105150" y="3705225"/>
            <a:ext cx="10763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0EE70A-8886-404D-9B85-0B6114F8AD52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629978" y="3334227"/>
            <a:ext cx="55149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699F68-9866-4268-B9DC-B9DF01DD4620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H="1">
            <a:off x="3629025" y="1838802"/>
            <a:ext cx="953" cy="14954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B7CFE-1C9A-41B7-81EB-2AC486E303D2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106103" y="1838802"/>
            <a:ext cx="522922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sp>
        <p:nvSpPr>
          <p:cNvPr id="93" name="F-24">
            <a:extLst xmlns:a="http://schemas.openxmlformats.org/drawingml/2006/main">
              <a:ext uri="{FF2B5EF4-FFF2-40B4-BE49-F238E27FC236}">
                <a16:creationId xmlns:a16="http://schemas.microsoft.com/office/drawing/2014/main" id="{CE540C86-D95A-4523-913E-05F79F09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F-24</a:t>
            </a:r>
          </a:p>
        </p:txBody>
      </p:sp>
      <p:sp>
        <p:nvSpPr>
          <p:cNvPr id="2" name="知识图谱数据模型">
            <a:extLst xmlns:a="http://schemas.openxmlformats.org/drawingml/2006/main">
              <a:ext uri="{FF2B5EF4-FFF2-40B4-BE49-F238E27FC236}">
                <a16:creationId xmlns:a16="http://schemas.microsoft.com/office/drawing/2014/main" id="{CF414CF2-F5A8-4AD9-B7AD-2B65574E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知识图谱数据模型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9A6E8AF3-28B6-423C-B0E0-238E272C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C76BFCED-17D0-4F80-94DA-C47722C0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86100"/>
            <a:ext cx="30670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1DE6FAF2-C2F3-44CE-8F7C-A76BD07D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1813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Vulnerability</a:t>
            </a:r>
          </a:p>
        </p:txBody>
      </p:sp>
      <p:sp>
        <p:nvSpPr>
          <p:cNvPr id="6" name="漏洞事实实体">
            <a:extLst xmlns:a="http://schemas.openxmlformats.org/drawingml/2006/main">
              <a:ext uri="{FF2B5EF4-FFF2-40B4-BE49-F238E27FC236}">
                <a16:creationId xmlns:a16="http://schemas.microsoft.com/office/drawing/2014/main" id="{1EBF9FBF-2A27-4CB7-93F4-48B98927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09975"/>
            <a:ext cx="283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漏洞事实实体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51FD7741-7202-40CA-819D-05D7916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Advisory">
            <a:extLst xmlns:a="http://schemas.openxmlformats.org/drawingml/2006/main">
              <a:ext uri="{FF2B5EF4-FFF2-40B4-BE49-F238E27FC236}">
                <a16:creationId xmlns:a16="http://schemas.microsoft.com/office/drawing/2014/main" id="{B02786FD-99AA-4CFD-ADA0-F66B2061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Advisory</a:t>
            </a:r>
          </a:p>
        </p:txBody>
      </p:sp>
      <p:sp>
        <p:nvSpPr>
          <p:cNvPr id="9" name="公告">
            <a:extLst xmlns:a="http://schemas.openxmlformats.org/drawingml/2006/main">
              <a:ext uri="{FF2B5EF4-FFF2-40B4-BE49-F238E27FC236}">
                <a16:creationId xmlns:a16="http://schemas.microsoft.com/office/drawing/2014/main" id="{9AB753DD-6C47-4D92-A45A-BC6EF7A1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1983F474-7A6B-4A3A-AC8F-71254AEF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CWE">
            <a:extLst xmlns:a="http://schemas.openxmlformats.org/drawingml/2006/main">
              <a:ext uri="{FF2B5EF4-FFF2-40B4-BE49-F238E27FC236}">
                <a16:creationId xmlns:a16="http://schemas.microsoft.com/office/drawing/2014/main" id="{8CB3AFD7-06E9-4CA3-ADB4-B3CD4E42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62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CWE</a:t>
            </a:r>
          </a:p>
        </p:txBody>
      </p:sp>
      <p:sp>
        <p:nvSpPr>
          <p:cNvPr id="12" name="弱点分类">
            <a:extLst xmlns:a="http://schemas.openxmlformats.org/drawingml/2006/main">
              <a:ext uri="{FF2B5EF4-FFF2-40B4-BE49-F238E27FC236}">
                <a16:creationId xmlns:a16="http://schemas.microsoft.com/office/drawing/2014/main" id="{A2D35DD2-C45E-42FC-ADE0-4FF7118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弱点分类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1306F405-ADE9-450F-9F69-9F472AB8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4" name="PocRef">
            <a:extLst xmlns:a="http://schemas.openxmlformats.org/drawingml/2006/main">
              <a:ext uri="{FF2B5EF4-FFF2-40B4-BE49-F238E27FC236}">
                <a16:creationId xmlns:a16="http://schemas.microsoft.com/office/drawing/2014/main" id="{9340C5AE-B752-41D9-A80C-C44568FF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PocRef</a:t>
            </a:r>
          </a:p>
        </p:txBody>
      </p:sp>
      <p:sp>
        <p:nvSpPr>
          <p:cNvPr id="15" name="公开 PoC 引用">
            <a:extLst xmlns:a="http://schemas.openxmlformats.org/drawingml/2006/main">
              <a:ext uri="{FF2B5EF4-FFF2-40B4-BE49-F238E27FC236}">
                <a16:creationId xmlns:a16="http://schemas.microsoft.com/office/drawing/2014/main" id="{58C27D6D-0C89-461D-AFCF-9DA934E9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公开 PoC 引用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4D1B01B6-656E-4400-8524-0A65CD8E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6207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7" name="Component">
            <a:extLst xmlns:a="http://schemas.openxmlformats.org/drawingml/2006/main">
              <a:ext uri="{FF2B5EF4-FFF2-40B4-BE49-F238E27FC236}">
                <a16:creationId xmlns:a16="http://schemas.microsoft.com/office/drawing/2014/main" id="{1FB6A594-A6F1-4036-93F8-DD9E176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57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Component</a:t>
            </a:r>
          </a:p>
        </p:txBody>
      </p:sp>
      <p:sp>
        <p:nvSpPr>
          <p:cNvPr id="18" name="受影响组件">
            <a:extLst xmlns:a="http://schemas.openxmlformats.org/drawingml/2006/main">
              <a:ext uri="{FF2B5EF4-FFF2-40B4-BE49-F238E27FC236}">
                <a16:creationId xmlns:a16="http://schemas.microsoft.com/office/drawing/2014/main" id="{6D2C3449-C067-4288-B4D3-D7B4D81D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8595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受影响组件</a:t>
            </a:r>
          </a:p>
        </p:txBody>
      </p:sp>
      <p:sp>
        <p:nvSpPr>
          <p:cNvPr id="19" name="Version  区间 / fixed">
            <a:extLst xmlns:a="http://schemas.openxmlformats.org/drawingml/2006/main">
              <a:ext uri="{FF2B5EF4-FFF2-40B4-BE49-F238E27FC236}">
                <a16:creationId xmlns:a16="http://schemas.microsoft.com/office/drawing/2014/main" id="{BA260292-0627-4702-8CCC-067A05FD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2571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Version  区间 / fixed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E8D276DD-1815-4AD2-9136-38CD66D4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76625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C8C6F123-1B8D-4BA6-9648-A1B33185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71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AtlasTechnique</a:t>
            </a:r>
          </a:p>
        </p:txBody>
      </p:sp>
      <p:sp>
        <p:nvSpPr>
          <p:cNvPr id="22" name="攻击技术">
            <a:extLst xmlns:a="http://schemas.openxmlformats.org/drawingml/2006/main">
              <a:ext uri="{FF2B5EF4-FFF2-40B4-BE49-F238E27FC236}">
                <a16:creationId xmlns:a16="http://schemas.microsoft.com/office/drawing/2014/main" id="{90C44867-6AF8-42A4-9991-1185BFBC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00500"/>
            <a:ext cx="2343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攻击技术</a:t>
            </a:r>
          </a:p>
        </p:txBody>
      </p:sp>
      <p:sp>
        <p:nvSpPr>
          <p:cNvPr id="23" name="Paper">
            <a:extLst xmlns:a="http://schemas.openxmlformats.org/drawingml/2006/main">
              <a:ext uri="{FF2B5EF4-FFF2-40B4-BE49-F238E27FC236}">
                <a16:creationId xmlns:a16="http://schemas.microsoft.com/office/drawing/2014/main" id="{12CD8FE8-75D3-4985-90F4-1EBBEA6B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48300"/>
            <a:ext cx="1219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Paper</a:t>
            </a:r>
          </a:p>
        </p:txBody>
      </p:sp>
      <p:sp>
        <p:nvSpPr>
          <p:cNvPr id="24" name="Article">
            <a:extLst xmlns:a="http://schemas.openxmlformats.org/drawingml/2006/main">
              <a:ext uri="{FF2B5EF4-FFF2-40B4-BE49-F238E27FC236}">
                <a16:creationId xmlns:a16="http://schemas.microsoft.com/office/drawing/2014/main" id="{D95AA169-0171-44DC-8CA1-F8A99C78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48300"/>
            <a:ext cx="1209675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547D45"/>
                </a:solidFill>
              </a:defRPr>
            </a:pPr>
            <a:r>
              <a:rPr sz="17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Article</a:t>
            </a:r>
          </a:p>
        </p:txBody>
      </p:sp>
      <p:sp>
        <p:nvSpPr>
          <p:cNvPr id="25" name="RiskCategory">
            <a:extLst xmlns:a="http://schemas.openxmlformats.org/drawingml/2006/main">
              <a:ext uri="{FF2B5EF4-FFF2-40B4-BE49-F238E27FC236}">
                <a16:creationId xmlns:a16="http://schemas.microsoft.com/office/drawing/2014/main" id="{A704745F-DDBB-4941-A703-A4647141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14950"/>
            <a:ext cx="30289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RiskCategory</a:t>
            </a:r>
          </a:p>
        </p:txBody>
      </p:sp>
      <p:sp>
        <p:nvSpPr>
          <p:cNvPr id="26" name="Regulation">
            <a:extLst xmlns:a="http://schemas.openxmlformats.org/drawingml/2006/main">
              <a:ext uri="{FF2B5EF4-FFF2-40B4-BE49-F238E27FC236}">
                <a16:creationId xmlns:a16="http://schemas.microsoft.com/office/drawing/2014/main" id="{DE2481DA-DD0B-4F8D-9368-101CF3B3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619875"/>
            <a:ext cx="30289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Regulation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863225D8-0D63-4F79-86A2-1FCEE4E5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boundary">
            <a:extLst xmlns:a="http://schemas.openxmlformats.org/drawingml/2006/main">
              <a:ext uri="{FF2B5EF4-FFF2-40B4-BE49-F238E27FC236}">
                <a16:creationId xmlns:a16="http://schemas.microsoft.com/office/drawing/2014/main" id="{6627DBA3-438C-4BB9-9E6D-94D8394F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FF36AE3E-F0DD-4FA7-87AF-7D6E87C2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boundary">
            <a:extLst xmlns:a="http://schemas.openxmlformats.org/drawingml/2006/main">
              <a:ext uri="{FF2B5EF4-FFF2-40B4-BE49-F238E27FC236}">
                <a16:creationId xmlns:a16="http://schemas.microsoft.com/office/drawing/2014/main" id="{BC68CC75-3B3A-4B5C-9724-617C0123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2B432A71-32AB-4563-9C1E-CEEC0063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boundary">
            <a:extLst xmlns:a="http://schemas.openxmlformats.org/drawingml/2006/main">
              <a:ext uri="{FF2B5EF4-FFF2-40B4-BE49-F238E27FC236}">
                <a16:creationId xmlns:a16="http://schemas.microsoft.com/office/drawing/2014/main" id="{5B28613C-42B1-4BB0-998E-BCBAA72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DESCRIBES">
            <a:extLst xmlns:a="http://schemas.openxmlformats.org/drawingml/2006/main">
              <a:ext uri="{FF2B5EF4-FFF2-40B4-BE49-F238E27FC236}">
                <a16:creationId xmlns:a16="http://schemas.microsoft.com/office/drawing/2014/main" id="{CA438C05-F91F-48FB-8BBF-33BFA254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05075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DESCRIBES</a:t>
            </a:r>
          </a:p>
        </p:txBody>
      </p:sp>
      <p:sp>
        <p:nvSpPr>
          <p:cNvPr id="38" name="HAS_CWE">
            <a:extLst xmlns:a="http://schemas.openxmlformats.org/drawingml/2006/main">
              <a:ext uri="{FF2B5EF4-FFF2-40B4-BE49-F238E27FC236}">
                <a16:creationId xmlns:a16="http://schemas.microsoft.com/office/drawing/2014/main" id="{C4113659-28FE-456B-BBC2-05FEF561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291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HAS_CWE</a:t>
            </a:r>
          </a:p>
        </p:txBody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9FED4DFB-2058-48CA-AAF9-7DA4D296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boundary">
            <a:extLst xmlns:a="http://schemas.openxmlformats.org/drawingml/2006/main">
              <a:ext uri="{FF2B5EF4-FFF2-40B4-BE49-F238E27FC236}">
                <a16:creationId xmlns:a16="http://schemas.microsoft.com/office/drawing/2014/main" id="{A8D886E5-4DA2-4C65-AA0B-32CAB2C6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boundary">
            <a:extLst xmlns:a="http://schemas.openxmlformats.org/drawingml/2006/main">
              <a:ext uri="{FF2B5EF4-FFF2-40B4-BE49-F238E27FC236}">
                <a16:creationId xmlns:a16="http://schemas.microsoft.com/office/drawing/2014/main" id="{F62F048B-7CD9-43BE-A57A-7BBFA421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C25ADDE5-FB99-43C5-8C9F-20C80AF7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81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boundary">
            <a:extLst xmlns:a="http://schemas.openxmlformats.org/drawingml/2006/main">
              <a:ext uri="{FF2B5EF4-FFF2-40B4-BE49-F238E27FC236}">
                <a16:creationId xmlns:a16="http://schemas.microsoft.com/office/drawing/2014/main" id="{5C7DA7A4-0E3D-4E20-B825-D2DE12CA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81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boundary">
            <a:extLst xmlns:a="http://schemas.openxmlformats.org/drawingml/2006/main">
              <a:ext uri="{FF2B5EF4-FFF2-40B4-BE49-F238E27FC236}">
                <a16:creationId xmlns:a16="http://schemas.microsoft.com/office/drawing/2014/main" id="{0F5CFE62-00FB-4035-B532-D15E2CDB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810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HAS_POC_REF">
            <a:extLst xmlns:a="http://schemas.openxmlformats.org/drawingml/2006/main">
              <a:ext uri="{FF2B5EF4-FFF2-40B4-BE49-F238E27FC236}">
                <a16:creationId xmlns:a16="http://schemas.microsoft.com/office/drawing/2014/main" id="{5ED5A7F2-8E67-497B-977F-D746456B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0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277DC3"/>
                </a:solidFill>
              </a:defRPr>
            </a:pPr>
            <a:r>
              <a:rPr sz="1275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HAS_POC_REF</a:t>
            </a:r>
          </a:p>
        </p:txBody>
      </p:sp>
      <p:sp>
        <p:nvSpPr>
          <p:cNvPr id="49" name="boundary">
            <a:extLst xmlns:a="http://schemas.openxmlformats.org/drawingml/2006/main">
              <a:ext uri="{FF2B5EF4-FFF2-40B4-BE49-F238E27FC236}">
                <a16:creationId xmlns:a16="http://schemas.microsoft.com/office/drawing/2014/main" id="{A962492A-62B8-4FF6-BDD3-C923F88C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boundary">
            <a:extLst xmlns:a="http://schemas.openxmlformats.org/drawingml/2006/main">
              <a:ext uri="{FF2B5EF4-FFF2-40B4-BE49-F238E27FC236}">
                <a16:creationId xmlns:a16="http://schemas.microsoft.com/office/drawing/2014/main" id="{79E08C49-E300-414D-9B68-1240C6D2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oundary">
            <a:extLst xmlns:a="http://schemas.openxmlformats.org/drawingml/2006/main">
              <a:ext uri="{FF2B5EF4-FFF2-40B4-BE49-F238E27FC236}">
                <a16:creationId xmlns:a16="http://schemas.microsoft.com/office/drawing/2014/main" id="{1B3AF3D9-1B6A-4CAD-8154-F4CA7172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33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boundary">
            <a:extLst xmlns:a="http://schemas.openxmlformats.org/drawingml/2006/main">
              <a:ext uri="{FF2B5EF4-FFF2-40B4-BE49-F238E27FC236}">
                <a16:creationId xmlns:a16="http://schemas.microsoft.com/office/drawing/2014/main" id="{C02BBA4F-61BD-4696-BEDE-48385FCA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AF5A29D9-4422-4D40-9A90-4F0F675A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boundary">
            <a:extLst xmlns:a="http://schemas.openxmlformats.org/drawingml/2006/main">
              <a:ext uri="{FF2B5EF4-FFF2-40B4-BE49-F238E27FC236}">
                <a16:creationId xmlns:a16="http://schemas.microsoft.com/office/drawing/2014/main" id="{16487FC3-74B4-4316-83B7-2CCA1361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8" name="AFFECTS">
            <a:extLst xmlns:a="http://schemas.openxmlformats.org/drawingml/2006/main">
              <a:ext uri="{FF2B5EF4-FFF2-40B4-BE49-F238E27FC236}">
                <a16:creationId xmlns:a16="http://schemas.microsoft.com/office/drawing/2014/main" id="{3381E337-B495-48DE-A8C4-BAABBFBC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12287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277DC3"/>
                </a:solidFill>
              </a:defRPr>
            </a:pPr>
            <a:r>
              <a:rPr sz="1350" b="0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AFFECTS</a:t>
            </a:r>
          </a:p>
        </p:txBody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44EBCA53-7726-4996-BF74-95030C9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14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0" name="boundary">
            <a:extLst xmlns:a="http://schemas.openxmlformats.org/drawingml/2006/main">
              <a:ext uri="{FF2B5EF4-FFF2-40B4-BE49-F238E27FC236}">
                <a16:creationId xmlns:a16="http://schemas.microsoft.com/office/drawing/2014/main" id="{F3BAAC43-BBF3-42F1-802F-0FEB968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oundary">
            <a:extLst xmlns:a="http://schemas.openxmlformats.org/drawingml/2006/main">
              <a:ext uri="{FF2B5EF4-FFF2-40B4-BE49-F238E27FC236}">
                <a16:creationId xmlns:a16="http://schemas.microsoft.com/office/drawing/2014/main" id="{5F739487-4067-4B26-8301-D7589E04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3" name="boundary">
            <a:extLst xmlns:a="http://schemas.openxmlformats.org/drawingml/2006/main">
              <a:ext uri="{FF2B5EF4-FFF2-40B4-BE49-F238E27FC236}">
                <a16:creationId xmlns:a16="http://schemas.microsoft.com/office/drawing/2014/main" id="{7BC15016-9132-479C-A474-713D9252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boundary">
            <a:extLst xmlns:a="http://schemas.openxmlformats.org/drawingml/2006/main">
              <a:ext uri="{FF2B5EF4-FFF2-40B4-BE49-F238E27FC236}">
                <a16:creationId xmlns:a16="http://schemas.microsoft.com/office/drawing/2014/main" id="{26D1300F-FC7B-4C71-B114-C19ECC2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oundary">
            <a:extLst xmlns:a="http://schemas.openxmlformats.org/drawingml/2006/main">
              <a:ext uri="{FF2B5EF4-FFF2-40B4-BE49-F238E27FC236}">
                <a16:creationId xmlns:a16="http://schemas.microsoft.com/office/drawing/2014/main" id="{9084EA72-E160-4991-BB48-16276D26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boundary">
            <a:extLst xmlns:a="http://schemas.openxmlformats.org/drawingml/2006/main">
              <a:ext uri="{FF2B5EF4-FFF2-40B4-BE49-F238E27FC236}">
                <a16:creationId xmlns:a16="http://schemas.microsoft.com/office/drawing/2014/main" id="{DD8872C5-B655-4062-81D6-2382ADB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oundary">
            <a:extLst xmlns:a="http://schemas.openxmlformats.org/drawingml/2006/main">
              <a:ext uri="{FF2B5EF4-FFF2-40B4-BE49-F238E27FC236}">
                <a16:creationId xmlns:a16="http://schemas.microsoft.com/office/drawing/2014/main" id="{57D229FE-60D8-436D-905F-7F4733F1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MAPS_TO">
            <a:extLst xmlns:a="http://schemas.openxmlformats.org/drawingml/2006/main">
              <a:ext uri="{FF2B5EF4-FFF2-40B4-BE49-F238E27FC236}">
                <a16:creationId xmlns:a16="http://schemas.microsoft.com/office/drawing/2014/main" id="{276D275E-B8ED-4D86-AD8E-97E1569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00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MAPS_TO</a:t>
            </a:r>
          </a:p>
        </p:txBody>
      </p:sp>
      <p:sp>
        <p:nvSpPr>
          <p:cNvPr id="72" name="boundary">
            <a:extLst xmlns:a="http://schemas.openxmlformats.org/drawingml/2006/main">
              <a:ext uri="{FF2B5EF4-FFF2-40B4-BE49-F238E27FC236}">
                <a16:creationId xmlns:a16="http://schemas.microsoft.com/office/drawing/2014/main" id="{C75292A0-ABD2-4886-A43D-CB2E3250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oundary">
            <a:extLst xmlns:a="http://schemas.openxmlformats.org/drawingml/2006/main">
              <a:ext uri="{FF2B5EF4-FFF2-40B4-BE49-F238E27FC236}">
                <a16:creationId xmlns:a16="http://schemas.microsoft.com/office/drawing/2014/main" id="{80C48404-870D-481E-82BB-F64D600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boundary">
            <a:extLst xmlns:a="http://schemas.openxmlformats.org/drawingml/2006/main">
              <a:ext uri="{FF2B5EF4-FFF2-40B4-BE49-F238E27FC236}">
                <a16:creationId xmlns:a16="http://schemas.microsoft.com/office/drawing/2014/main" id="{8A90549F-B6B5-4BDA-B719-34C8DA70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boundary">
            <a:extLst xmlns:a="http://schemas.openxmlformats.org/drawingml/2006/main">
              <a:ext uri="{FF2B5EF4-FFF2-40B4-BE49-F238E27FC236}">
                <a16:creationId xmlns:a16="http://schemas.microsoft.com/office/drawing/2014/main" id="{D32942ED-A704-4624-82CA-A009E248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boundary">
            <a:extLst xmlns:a="http://schemas.openxmlformats.org/drawingml/2006/main">
              <a:ext uri="{FF2B5EF4-FFF2-40B4-BE49-F238E27FC236}">
                <a16:creationId xmlns:a16="http://schemas.microsoft.com/office/drawing/2014/main" id="{01150347-099B-4232-97A5-A4AAF449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9" name="boundary">
            <a:extLst xmlns:a="http://schemas.openxmlformats.org/drawingml/2006/main">
              <a:ext uri="{FF2B5EF4-FFF2-40B4-BE49-F238E27FC236}">
                <a16:creationId xmlns:a16="http://schemas.microsoft.com/office/drawing/2014/main" id="{0F50A6C6-F22F-4D31-977C-F644CB8C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1" name="boundary">
            <a:extLst xmlns:a="http://schemas.openxmlformats.org/drawingml/2006/main">
              <a:ext uri="{FF2B5EF4-FFF2-40B4-BE49-F238E27FC236}">
                <a16:creationId xmlns:a16="http://schemas.microsoft.com/office/drawing/2014/main" id="{DCC451C0-587F-4FC2-BC1D-E731E6C9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boundary">
            <a:extLst xmlns:a="http://schemas.openxmlformats.org/drawingml/2006/main">
              <a:ext uri="{FF2B5EF4-FFF2-40B4-BE49-F238E27FC236}">
                <a16:creationId xmlns:a16="http://schemas.microsoft.com/office/drawing/2014/main" id="{CF9B488E-A14E-4545-81EB-D89D683D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44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4" name="boundary">
            <a:extLst xmlns:a="http://schemas.openxmlformats.org/drawingml/2006/main">
              <a:ext uri="{FF2B5EF4-FFF2-40B4-BE49-F238E27FC236}">
                <a16:creationId xmlns:a16="http://schemas.microsoft.com/office/drawing/2014/main" id="{DA3CA9F5-67EE-4CC2-BCE7-B758F8FB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boundary">
            <a:extLst xmlns:a="http://schemas.openxmlformats.org/drawingml/2006/main">
              <a:ext uri="{FF2B5EF4-FFF2-40B4-BE49-F238E27FC236}">
                <a16:creationId xmlns:a16="http://schemas.microsoft.com/office/drawing/2014/main" id="{A642A59B-0761-443C-88A0-7287F6FE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44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7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EB8CC45D-86B0-448D-9594-CF1E86F8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00600"/>
            <a:ext cx="2333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75" b="0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547D45"/>
                </a:solidFill>
              </a:defRPr>
            </a:pPr>
            <a:r>
              <a:rPr sz="1275" b="0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DISCUSSED_IN</a:t>
            </a:r>
          </a:p>
        </p:txBody>
      </p:sp>
      <p:sp>
        <p:nvSpPr>
          <p:cNvPr id="89" name="IN_CATEGORY">
            <a:extLst xmlns:a="http://schemas.openxmlformats.org/drawingml/2006/main">
              <a:ext uri="{FF2B5EF4-FFF2-40B4-BE49-F238E27FC236}">
                <a16:creationId xmlns:a16="http://schemas.microsoft.com/office/drawing/2014/main" id="{DF9C3D98-06F4-4DDD-B5FB-EB4631FA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9625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A67A20"/>
                </a:solidFill>
              </a:defRPr>
            </a:pPr>
            <a:r>
              <a:rPr sz="13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IN_CATEGORY</a:t>
            </a:r>
          </a:p>
        </p:txBody>
      </p:sp>
      <p:sp>
        <p:nvSpPr>
          <p:cNvPr id="91" name="GOVERNED_BY">
            <a:extLst xmlns:a="http://schemas.openxmlformats.org/drawingml/2006/main">
              <a:ext uri="{FF2B5EF4-FFF2-40B4-BE49-F238E27FC236}">
                <a16:creationId xmlns:a16="http://schemas.microsoft.com/office/drawing/2014/main" id="{8B53E01A-B1B3-4773-92C4-31AB6B38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096000"/>
            <a:ext cx="2286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A67A20"/>
                </a:solidFill>
              </a:defRPr>
            </a:pPr>
            <a:r>
              <a:rPr sz="1350" b="0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GOVERNED_BY</a:t>
            </a:r>
          </a:p>
        </p:txBody>
      </p:sp>
      <p:sp>
        <p:nvSpPr>
          <p:cNvPr id="92" name="边属性：reason / confidence / method / created_by_agent">
            <a:extLst xmlns:a="http://schemas.openxmlformats.org/drawingml/2006/main">
              <a:ext uri="{FF2B5EF4-FFF2-40B4-BE49-F238E27FC236}">
                <a16:creationId xmlns:a16="http://schemas.microsoft.com/office/drawing/2014/main" id="{B49D7039-06CB-4352-B5D0-8557E3F1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边属性：reason / confidence / method / created_by_agent</a:t>
            </a:r>
          </a:p>
        </p:txBody>
      </p:sp>
    </p:spTree>
    <p:extLst>
      <p:ext uri="{BB962C8B-B14F-4D97-AF65-F5344CB8AC3E}">
        <p14:creationId xmlns:p14="http://schemas.microsoft.com/office/powerpoint/2010/main" val="11723991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648328-E4C5-4609-A672-6B2FD6528916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H="1">
            <a:off x="5715000" y="5944077"/>
            <a:ext cx="2858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941824-2E03-453B-B9E2-B8AEC6C274DE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8572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3242C1-F04D-4873-B650-9DBDD6226710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5715000" y="5944077"/>
            <a:ext cx="953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DC2A76-2FFF-4630-971F-68D09D343E20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858453" y="5944077"/>
            <a:ext cx="2856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59ECCD-7696-4511-8C89-1D4D1C59BCDD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H="1">
            <a:off x="2857500" y="5639277"/>
            <a:ext cx="953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67A20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E9A5B-7D3E-4170-8426-8C203C4D510B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8572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A5E8F-DA5B-4CB1-BC1F-BEDF57E269EA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239953" y="3096102"/>
            <a:ext cx="1332547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AB554B"/>
            </a:solidFill>
            <a:prstDash val="soli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D39A6-5F2F-4DD4-A679-85BBD0DE6AB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2857500" y="3096102"/>
            <a:ext cx="953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BF04D-5725-4720-82F7-075027AC8C4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2857500" y="3096102"/>
            <a:ext cx="1334453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77DC3"/>
            </a:solidFill>
            <a:prstDash val="soli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79EAD-0959-4E2F-94C6-0B0C676A4044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18192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B554B"/>
            </a:solidFill>
            <a:prstDash val="solid"/>
            <a:tailEnd type="triangle" w="sm" len="sm"/>
          </a:ln>
        </p:spPr>
      </p:cxnSp>
      <p:sp>
        <p:nvSpPr>
          <p:cNvPr id="42" name="F-25">
            <a:extLst xmlns:a="http://schemas.openxmlformats.org/drawingml/2006/main">
              <a:ext uri="{FF2B5EF4-FFF2-40B4-BE49-F238E27FC236}">
                <a16:creationId xmlns:a16="http://schemas.microsoft.com/office/drawing/2014/main" id="{F1A693E7-3741-4ADA-B164-00CFDE66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F-25</a:t>
            </a:r>
          </a:p>
        </p:txBody>
      </p:sp>
      <p:sp>
        <p:nvSpPr>
          <p:cNvPr id="2" name="失败重试、死信重放与熔断降级">
            <a:extLst xmlns:a="http://schemas.openxmlformats.org/drawingml/2006/main">
              <a:ext uri="{FF2B5EF4-FFF2-40B4-BE49-F238E27FC236}">
                <a16:creationId xmlns:a16="http://schemas.microsoft.com/office/drawing/2014/main" id="{345E2992-D226-498E-B308-F452F304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失败重试、死信重放与熔断降级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1D1653B-DEAB-400A-BF47-6276F809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请求失败">
            <a:extLst xmlns:a="http://schemas.openxmlformats.org/drawingml/2006/main">
              <a:ext uri="{FF2B5EF4-FFF2-40B4-BE49-F238E27FC236}">
                <a16:creationId xmlns:a16="http://schemas.microsoft.com/office/drawing/2014/main" id="{6CAA675F-681B-42EA-BA0C-90550BD1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81100"/>
            <a:ext cx="30480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B554B"/>
                </a:solidFill>
              </a:defRPr>
            </a:pPr>
            <a:r>
              <a:rPr sz="21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请求失败</a:t>
            </a:r>
          </a:p>
        </p:txBody>
      </p:sp>
      <p:sp>
        <p:nvSpPr>
          <p:cNvPr id="5" name="错误类型">
            <a:extLst xmlns:a="http://schemas.openxmlformats.org/drawingml/2006/main">
              <a:ext uri="{FF2B5EF4-FFF2-40B4-BE49-F238E27FC236}">
                <a16:creationId xmlns:a16="http://schemas.microsoft.com/office/drawing/2014/main" id="{7C19A309-B80E-4155-BAF1-59B7711C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3048000" cy="1238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67A20"/>
                </a:solidFill>
              </a:defRPr>
            </a:pPr>
            <a:r>
              <a:rPr sz="210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错误类型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A149A7F5-5DB1-43FF-9117-BC37E08C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44767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8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7E367434-114D-44DA-9B3F-F9738409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429 / 5xx / 超时</a:t>
            </a:r>
          </a:p>
        </p:txBody>
      </p:sp>
      <p:sp>
        <p:nvSpPr>
          <p:cNvPr id="9" name="退避重试 ≤6 次">
            <a:extLst xmlns:a="http://schemas.openxmlformats.org/drawingml/2006/main">
              <a:ext uri="{FF2B5EF4-FFF2-40B4-BE49-F238E27FC236}">
                <a16:creationId xmlns:a16="http://schemas.microsoft.com/office/drawing/2014/main" id="{026E6235-59DB-4726-BD59-66720A83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退避重试 ≤6 次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58CA306E-360C-4D16-AAE0-3DAF974B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71975"/>
            <a:ext cx="4476750" cy="1266825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11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506969BD-F9F3-47DD-9712-9750266B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4xx（非 429）</a:t>
            </a:r>
          </a:p>
        </p:txBody>
      </p:sp>
      <p:sp>
        <p:nvSpPr>
          <p:cNvPr id="12" name="直接死信并告警">
            <a:extLst xmlns:a="http://schemas.openxmlformats.org/drawingml/2006/main">
              <a:ext uri="{FF2B5EF4-FFF2-40B4-BE49-F238E27FC236}">
                <a16:creationId xmlns:a16="http://schemas.microsoft.com/office/drawing/2014/main" id="{8BAB3673-40E4-481F-ABD9-F50D31E7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8958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33E54"/>
                </a:solidFill>
              </a:defRPr>
            </a:pPr>
            <a:r>
              <a:rPr sz="1575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直接死信并告警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BB0461CB-2554-4858-A2E8-CB42DD9E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1E7F1085-8D4B-4F6F-86AC-4EAC7656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E1C27B22-9C9E-4FA0-BDB7-566D9BA1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A71EC129-B77B-4618-B76F-B5201762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B516984C-0C71-4552-88B1-CA05B79C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72E21FDB-0207-4E9B-BD87-93F4AC6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233C9CD7-3207-454C-9FF4-E2675F2E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393E22C3-CA1D-4A5F-934F-8C286FF4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71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DLQ / 每 15 min 重放">
            <a:extLst xmlns:a="http://schemas.openxmlformats.org/drawingml/2006/main">
              <a:ext uri="{FF2B5EF4-FFF2-40B4-BE49-F238E27FC236}">
                <a16:creationId xmlns:a16="http://schemas.microsoft.com/office/drawing/2014/main" id="{B69AD7CC-A646-4144-8A17-49766024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343650"/>
            <a:ext cx="4667250" cy="6096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67A20"/>
                </a:solidFill>
              </a:defRPr>
            </a:pPr>
            <a:r>
              <a:rPr sz="18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DLQ / 每 15 min 重放</a:t>
            </a:r>
          </a:p>
        </p:txBody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F8BC96E0-0A25-43FB-9E47-F54ED8A4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1280E094-E857-4F29-87DE-0B44E4EB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A38513B4-3EAE-4E63-9AF9-E76EBD5E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boundary">
            <a:extLst xmlns:a="http://schemas.openxmlformats.org/drawingml/2006/main">
              <a:ext uri="{FF2B5EF4-FFF2-40B4-BE49-F238E27FC236}">
                <a16:creationId xmlns:a16="http://schemas.microsoft.com/office/drawing/2014/main" id="{04BD0E3B-2EFC-4216-9FFC-0331692A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B86143E2-697F-4144-B566-EA6FD6F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51FCBD3A-58CB-455F-BA5F-5ABD8771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4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boundary">
            <a:extLst xmlns:a="http://schemas.openxmlformats.org/drawingml/2006/main">
              <a:ext uri="{FF2B5EF4-FFF2-40B4-BE49-F238E27FC236}">
                <a16:creationId xmlns:a16="http://schemas.microsoft.com/office/drawing/2014/main" id="{365B9A22-5B3B-413D-8638-423B5A2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38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00625D68-B68C-4CE3-B9C6-A7A3C525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boundary">
            <a:extLst xmlns:a="http://schemas.openxmlformats.org/drawingml/2006/main">
              <a:ext uri="{FF2B5EF4-FFF2-40B4-BE49-F238E27FC236}">
                <a16:creationId xmlns:a16="http://schemas.microsoft.com/office/drawing/2014/main" id="{88904621-1B9B-4AD3-85A3-32CD9400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boundary">
            <a:extLst xmlns:a="http://schemas.openxmlformats.org/drawingml/2006/main">
              <a:ext uri="{FF2B5EF4-FFF2-40B4-BE49-F238E27FC236}">
                <a16:creationId xmlns:a16="http://schemas.microsoft.com/office/drawing/2014/main" id="{FA46027D-4BC4-41E2-8982-10F2142D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4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etry-After 优先；否则 1 s 起 ×2，上限 5 min，±20% 抖动；连续 3 周期失败后降级">
            <a:extLst xmlns:a="http://schemas.openxmlformats.org/drawingml/2006/main">
              <a:ext uri="{FF2B5EF4-FFF2-40B4-BE49-F238E27FC236}">
                <a16:creationId xmlns:a16="http://schemas.microsoft.com/office/drawing/2014/main" id="{FDE4AC2E-A98E-4927-8837-34CA9CF3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Retry-After 优先；否则 1 s 起 ×2，上限 5 min，±20% 抖动；连续 3 周期失败后降级</a:t>
            </a:r>
          </a:p>
        </p:txBody>
      </p:sp>
    </p:spTree>
    <p:extLst>
      <p:ext uri="{BB962C8B-B14F-4D97-AF65-F5344CB8AC3E}">
        <p14:creationId xmlns:p14="http://schemas.microsoft.com/office/powerpoint/2010/main" val="7123120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C69FD-64BE-41B5-962C-2D20B8221F1F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097078" y="3886677"/>
            <a:ext cx="3514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B554B"/>
            </a:solidFill>
            <a:prstDash val="dash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F4777-070F-4693-8E41-609320C66C86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3810000" y="3886677"/>
            <a:ext cx="52482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7D45"/>
            </a:solidFill>
            <a:prstDash val="solid"/>
            <a:tailEnd type="triangle" w="sm" len="sm"/>
          </a:ln>
        </p:spPr>
      </p:cxnSp>
      <p:sp>
        <p:nvSpPr>
          <p:cNvPr id="32" name="F-26">
            <a:extLst xmlns:a="http://schemas.openxmlformats.org/drawingml/2006/main">
              <a:ext uri="{FF2B5EF4-FFF2-40B4-BE49-F238E27FC236}">
                <a16:creationId xmlns:a16="http://schemas.microsoft.com/office/drawing/2014/main" id="{939CD366-003C-4FDC-902C-887C5D08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F-26</a:t>
            </a:r>
          </a:p>
        </p:txBody>
      </p:sp>
      <p:sp>
        <p:nvSpPr>
          <p:cNvPr id="2" name="对外合规边界">
            <a:extLst xmlns:a="http://schemas.openxmlformats.org/drawingml/2006/main">
              <a:ext uri="{FF2B5EF4-FFF2-40B4-BE49-F238E27FC236}">
                <a16:creationId xmlns:a16="http://schemas.microsoft.com/office/drawing/2014/main" id="{24253474-CE2C-4E41-9454-8BCE3BA1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对外合规边界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B62778E-404B-4661-9C2E-BCA79FFD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6062D6E1-467C-487E-A8EA-3DB0D7D6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5" name="允许提供">
            <a:extLst xmlns:a="http://schemas.openxmlformats.org/drawingml/2006/main">
              <a:ext uri="{FF2B5EF4-FFF2-40B4-BE49-F238E27FC236}">
                <a16:creationId xmlns:a16="http://schemas.microsoft.com/office/drawing/2014/main" id="{58B0DC25-B4E6-4C70-BBA6-FBFA2F42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547D45"/>
                </a:solidFill>
              </a:defRPr>
            </a:pPr>
            <a:r>
              <a:rPr sz="180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允许提供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F1E20432-8D32-40FF-A41E-29FB1B57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09700"/>
            <a:ext cx="3333750" cy="5133975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7E2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7" name="禁止提供">
            <a:extLst xmlns:a="http://schemas.openxmlformats.org/drawingml/2006/main">
              <a:ext uri="{FF2B5EF4-FFF2-40B4-BE49-F238E27FC236}">
                <a16:creationId xmlns:a16="http://schemas.microsoft.com/office/drawing/2014/main" id="{6C4730EC-CE40-4072-A34B-BD3A9428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04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B554B"/>
                </a:solidFill>
              </a:defRPr>
            </a:pPr>
            <a:r>
              <a:rPr sz="1800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禁止提供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A8837F13-3576-44F3-BFBF-B9C22605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聚合计数与分布">
            <a:extLst xmlns:a="http://schemas.openxmlformats.org/drawingml/2006/main">
              <a:ext uri="{FF2B5EF4-FFF2-40B4-BE49-F238E27FC236}">
                <a16:creationId xmlns:a16="http://schemas.microsoft.com/office/drawing/2014/main" id="{4DC4A27E-4520-447A-A8BE-BFB551C8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聚合计数与分布</a:t>
            </a:r>
          </a:p>
        </p:txBody>
      </p:sp>
      <p:sp>
        <p:nvSpPr>
          <p:cNvPr id="10" name="2">
            <a:extLst xmlns:a="http://schemas.openxmlformats.org/drawingml/2006/main">
              <a:ext uri="{FF2B5EF4-FFF2-40B4-BE49-F238E27FC236}">
                <a16:creationId xmlns:a16="http://schemas.microsoft.com/office/drawing/2014/main" id="{7823B945-BE92-4E7A-B9C2-E6F8904D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PoC 链接与标题">
            <a:extLst xmlns:a="http://schemas.openxmlformats.org/drawingml/2006/main">
              <a:ext uri="{FF2B5EF4-FFF2-40B4-BE49-F238E27FC236}">
                <a16:creationId xmlns:a16="http://schemas.microsoft.com/office/drawing/2014/main" id="{C1C56BB4-114E-412C-A7A5-BA0CB810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PoC 链接与标题</a:t>
            </a:r>
          </a:p>
        </p:txBody>
      </p:sp>
      <p:sp>
        <p:nvSpPr>
          <p:cNvPr id="12" name="3">
            <a:extLst xmlns:a="http://schemas.openxmlformats.org/drawingml/2006/main">
              <a:ext uri="{FF2B5EF4-FFF2-40B4-BE49-F238E27FC236}">
                <a16:creationId xmlns:a16="http://schemas.microsoft.com/office/drawing/2014/main" id="{3AD94765-9C65-475D-8CFB-06FD5EAD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修复版本与缓解">
            <a:extLst xmlns:a="http://schemas.openxmlformats.org/drawingml/2006/main">
              <a:ext uri="{FF2B5EF4-FFF2-40B4-BE49-F238E27FC236}">
                <a16:creationId xmlns:a16="http://schemas.microsoft.com/office/drawing/2014/main" id="{1AB50F4E-1E9F-4FD6-B76E-1422E945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2238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547D45"/>
                </a:solidFill>
              </a:defRPr>
            </a:pPr>
            <a:r>
              <a:rPr sz="187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修复版本与缓解</a:t>
            </a:r>
          </a:p>
        </p:txBody>
      </p:sp>
      <p:sp>
        <p:nvSpPr>
          <p:cNvPr id="14" name="×">
            <a:extLst xmlns:a="http://schemas.openxmlformats.org/drawingml/2006/main">
              <a:ext uri="{FF2B5EF4-FFF2-40B4-BE49-F238E27FC236}">
                <a16:creationId xmlns:a16="http://schemas.microsoft.com/office/drawing/2014/main" id="{84DFF320-EB77-4DD8-9E64-810544AD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IP / 主机明细">
            <a:extLst xmlns:a="http://schemas.openxmlformats.org/drawingml/2006/main">
              <a:ext uri="{FF2B5EF4-FFF2-40B4-BE49-F238E27FC236}">
                <a16:creationId xmlns:a16="http://schemas.microsoft.com/office/drawing/2014/main" id="{24CA2F06-8E7F-467E-AD05-8E66CBD9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241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IP / 主机明细</a:t>
            </a:r>
          </a:p>
        </p:txBody>
      </p:sp>
      <p:sp>
        <p:nvSpPr>
          <p:cNvPr id="16" name="×">
            <a:extLst xmlns:a="http://schemas.openxmlformats.org/drawingml/2006/main">
              <a:ext uri="{FF2B5EF4-FFF2-40B4-BE49-F238E27FC236}">
                <a16:creationId xmlns:a16="http://schemas.microsoft.com/office/drawing/2014/main" id="{E74D9BDA-FF7F-4963-88EF-CB1510D1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57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7" name="利用代码">
            <a:extLst xmlns:a="http://schemas.openxmlformats.org/drawingml/2006/main">
              <a:ext uri="{FF2B5EF4-FFF2-40B4-BE49-F238E27FC236}">
                <a16:creationId xmlns:a16="http://schemas.microsoft.com/office/drawing/2014/main" id="{1449E7D1-4010-42E5-9C93-7501FCC5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0045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利用代码</a:t>
            </a:r>
          </a:p>
        </p:txBody>
      </p:sp>
      <p:sp>
        <p:nvSpPr>
          <p:cNvPr id="18" name="×">
            <a:extLst xmlns:a="http://schemas.openxmlformats.org/drawingml/2006/main">
              <a:ext uri="{FF2B5EF4-FFF2-40B4-BE49-F238E27FC236}">
                <a16:creationId xmlns:a16="http://schemas.microsoft.com/office/drawing/2014/main" id="{62658AAF-364F-4962-B39F-91B8EFF8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执行能力 / 主动扫描">
            <a:extLst xmlns:a="http://schemas.openxmlformats.org/drawingml/2006/main">
              <a:ext uri="{FF2B5EF4-FFF2-40B4-BE49-F238E27FC236}">
                <a16:creationId xmlns:a16="http://schemas.microsoft.com/office/drawing/2014/main" id="{2669AF66-0F03-4103-8203-3B82F7A0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76800"/>
            <a:ext cx="2343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75" b="1">
                <a:solidFill>
                  <a:srgbClr val="AB554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B554B"/>
                </a:solidFill>
              </a:defRPr>
            </a:pPr>
            <a:r>
              <a:rPr sz="1875" b="1">
                <a:solidFill>
                  <a:srgbClr val="AB554B"/>
                </a:solidFill>
                <a:latin typeface="Microsoft YaHei"/>
                <a:ea typeface="Microsoft YaHei"/>
                <a:cs typeface="Microsoft YaHei"/>
              </a:rPr>
              <a:t>执行能力 / 主动扫描</a:t>
            </a:r>
          </a:p>
        </p:txBody>
      </p:sp>
      <p:sp>
        <p:nvSpPr>
          <p:cNvPr id="20" name="boundary">
            <a:extLst xmlns:a="http://schemas.openxmlformats.org/drawingml/2006/main">
              <a:ext uri="{FF2B5EF4-FFF2-40B4-BE49-F238E27FC236}">
                <a16:creationId xmlns:a16="http://schemas.microsoft.com/office/drawing/2014/main" id="{2352EA66-BC44-490D-A585-0D8AD3A6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86075"/>
            <a:ext cx="2762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</p:sp>
      <p:sp>
        <p:nvSpPr>
          <p:cNvPr id="21" name="只读服务层">
            <a:extLst xmlns:a="http://schemas.openxmlformats.org/drawingml/2006/main">
              <a:ext uri="{FF2B5EF4-FFF2-40B4-BE49-F238E27FC236}">
                <a16:creationId xmlns:a16="http://schemas.microsoft.com/office/drawing/2014/main" id="{F3E0FB21-37E2-4DCA-B303-A5AA080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813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只读服务层</a:t>
            </a:r>
          </a:p>
        </p:txBody>
      </p:sp>
      <p:sp>
        <p:nvSpPr>
          <p:cNvPr id="22" name="Critic 输出过滤">
            <a:extLst xmlns:a="http://schemas.openxmlformats.org/drawingml/2006/main">
              <a:ext uri="{FF2B5EF4-FFF2-40B4-BE49-F238E27FC236}">
                <a16:creationId xmlns:a16="http://schemas.microsoft.com/office/drawing/2014/main" id="{C45DFBD7-F5BF-4A89-BE9C-C3F10697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9950"/>
            <a:ext cx="25336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输出过滤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215B6C4C-5668-42E2-8D03-1E94324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boundary">
            <a:extLst xmlns:a="http://schemas.openxmlformats.org/drawingml/2006/main">
              <a:ext uri="{FF2B5EF4-FFF2-40B4-BE49-F238E27FC236}">
                <a16:creationId xmlns:a16="http://schemas.microsoft.com/office/drawing/2014/main" id="{A34D9D69-7106-4040-A766-C2D5E9DB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F7047BC3-421F-4F2C-9DD4-AEED6D8C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52547717-0179-4394-A901-998C8544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boundary">
            <a:extLst xmlns:a="http://schemas.openxmlformats.org/drawingml/2006/main">
              <a:ext uri="{FF2B5EF4-FFF2-40B4-BE49-F238E27FC236}">
                <a16:creationId xmlns:a16="http://schemas.microsoft.com/office/drawing/2014/main" id="{7AB7D4CD-0FEA-4C74-96F2-EDAFDE3E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195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5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多层边界执行">
            <a:extLst xmlns:a="http://schemas.openxmlformats.org/drawingml/2006/main">
              <a:ext uri="{FF2B5EF4-FFF2-40B4-BE49-F238E27FC236}">
                <a16:creationId xmlns:a16="http://schemas.microsoft.com/office/drawing/2014/main" id="{AB07A235-0EC5-4100-9DDC-83FC3A6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57875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77DC3"/>
                </a:solidFill>
              </a:defRPr>
            </a:pPr>
            <a:r>
              <a:rPr sz="187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多层边界执行</a:t>
            </a:r>
          </a:p>
        </p:txBody>
      </p:sp>
      <p:sp>
        <p:nvSpPr>
          <p:cNvPr id="31" name="合规限制在采集、存储、服务与校验多个边界执行">
            <a:extLst xmlns:a="http://schemas.openxmlformats.org/drawingml/2006/main">
              <a:ext uri="{FF2B5EF4-FFF2-40B4-BE49-F238E27FC236}">
                <a16:creationId xmlns:a16="http://schemas.microsoft.com/office/drawing/2014/main" id="{873FF196-E79E-4399-AF00-F103DB47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合规限制在采集、存储、服务与校验多个边界执行</a:t>
            </a:r>
          </a:p>
        </p:txBody>
      </p:sp>
    </p:spTree>
    <p:extLst>
      <p:ext uri="{BB962C8B-B14F-4D97-AF65-F5344CB8AC3E}">
        <p14:creationId xmlns:p14="http://schemas.microsoft.com/office/powerpoint/2010/main" val="12609091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3375B-9104-43C6-A242-C4B7BDF3642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382078" y="2572227"/>
            <a:ext cx="8666797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77DC3"/>
            </a:solidFill>
            <a:prstDash val="solid"/>
          </a:ln>
        </p:spPr>
      </p:cxnSp>
      <p:sp>
        <p:nvSpPr>
          <p:cNvPr id="26" name="F-27">
            <a:extLst xmlns:a="http://schemas.openxmlformats.org/drawingml/2006/main">
              <a:ext uri="{FF2B5EF4-FFF2-40B4-BE49-F238E27FC236}">
                <a16:creationId xmlns:a16="http://schemas.microsoft.com/office/drawing/2014/main" id="{01B06F33-D42E-4786-BE2D-E073616D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F-27</a:t>
            </a:r>
          </a:p>
        </p:txBody>
      </p:sp>
      <p:sp>
        <p:nvSpPr>
          <p:cNvPr id="2" name="时效统计的时间戳定义">
            <a:extLst xmlns:a="http://schemas.openxmlformats.org/drawingml/2006/main">
              <a:ext uri="{FF2B5EF4-FFF2-40B4-BE49-F238E27FC236}">
                <a16:creationId xmlns:a16="http://schemas.microsoft.com/office/drawing/2014/main" id="{FA43EF88-5158-4355-B8A0-44906DF9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时效统计的时间戳定义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E31C6863-E7F2-4601-9A8C-867CD016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">
            <a:extLst xmlns:a="http://schemas.openxmlformats.org/drawingml/2006/main">
              <a:ext uri="{FF2B5EF4-FFF2-40B4-BE49-F238E27FC236}">
                <a16:creationId xmlns:a16="http://schemas.microsoft.com/office/drawing/2014/main" id="{847B0F61-C6AF-4FFD-AAEF-FB386B30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017BF155-09D3-4740-960B-25BEA8B4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71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ECC4230B-5400-4D2D-93F9-00053DCC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B6C26A5F-721E-485F-94CC-D64001BE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来源发布</a:t>
            </a:r>
          </a:p>
        </p:txBody>
      </p:sp>
      <p:sp>
        <p:nvSpPr>
          <p:cNvPr id="9" name="source_published_at">
            <a:extLst xmlns:a="http://schemas.openxmlformats.org/drawingml/2006/main">
              <a:ext uri="{FF2B5EF4-FFF2-40B4-BE49-F238E27FC236}">
                <a16:creationId xmlns:a16="http://schemas.microsoft.com/office/drawing/2014/main" id="{99AA9265-4EE1-43FB-BC79-E21FBCCA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source_published_at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EFE6D22F-7DD9-422D-A64E-5E4DDA36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09EC468A-B1C1-42D8-81D7-17ABE114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首次发现</a:t>
            </a:r>
          </a:p>
        </p:txBody>
      </p:sp>
      <p:sp>
        <p:nvSpPr>
          <p:cNvPr id="12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0ECB82C1-BA00-49A0-8238-A3227782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first_seen_at</a:t>
            </a:r>
          </a:p>
        </p:txBody>
      </p:sp>
      <p:sp>
        <p:nvSpPr>
          <p:cNvPr id="13" name="boundary">
            <a:extLst xmlns:a="http://schemas.openxmlformats.org/drawingml/2006/main">
              <a:ext uri="{FF2B5EF4-FFF2-40B4-BE49-F238E27FC236}">
                <a16:creationId xmlns:a16="http://schemas.microsoft.com/office/drawing/2014/main" id="{07476F2F-B5B4-4FBC-AC3A-B676929B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6E892527-2F92-41E9-96C9-322AE882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完成归一</a:t>
            </a:r>
          </a:p>
        </p:txBody>
      </p:sp>
      <p:sp>
        <p:nvSpPr>
          <p:cNvPr id="15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DCC1EF71-FB22-48E9-8DEC-D4EF35F4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normalized_at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BB828DB5-EB32-4A61-BCB4-74A4FD8E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974FD348-9E32-42B3-A595-17118547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完成富化</a:t>
            </a:r>
          </a:p>
        </p:txBody>
      </p:sp>
      <p:sp>
        <p:nvSpPr>
          <p:cNvPr id="18" name="enriched_at">
            <a:extLst xmlns:a="http://schemas.openxmlformats.org/drawingml/2006/main">
              <a:ext uri="{FF2B5EF4-FFF2-40B4-BE49-F238E27FC236}">
                <a16:creationId xmlns:a16="http://schemas.microsoft.com/office/drawing/2014/main" id="{2A1486B7-69AF-40BA-AE02-869E3261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enriched_at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B0445E21-9A32-4079-A494-9DF98C09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可查询">
            <a:extLst xmlns:a="http://schemas.openxmlformats.org/drawingml/2006/main">
              <a:ext uri="{FF2B5EF4-FFF2-40B4-BE49-F238E27FC236}">
                <a16:creationId xmlns:a16="http://schemas.microsoft.com/office/drawing/2014/main" id="{64D22951-ADC4-4DFF-9380-8DF387FC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45D8F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5D8F"/>
                </a:solidFill>
              </a:defRPr>
            </a:pPr>
            <a:r>
              <a:rPr sz="1950" b="1">
                <a:solidFill>
                  <a:srgbClr val="245D8F"/>
                </a:solidFill>
                <a:latin typeface="Microsoft YaHei"/>
                <a:ea typeface="Microsoft YaHei"/>
                <a:cs typeface="Microsoft YaHei"/>
              </a:rPr>
              <a:t>可查询</a:t>
            </a:r>
          </a:p>
        </p:txBody>
      </p:sp>
      <p:sp>
        <p:nvSpPr>
          <p:cNvPr id="21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5F18ED2B-2AC6-47F0-B46D-D8230AB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43225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queryable_at</a:t>
            </a:r>
          </a:p>
        </p:txBody>
      </p:sp>
      <p:sp>
        <p:nvSpPr>
          <p:cNvPr id="22" name="采集时延 首见 − 发布">
            <a:extLst xmlns:a="http://schemas.openxmlformats.org/drawingml/2006/main">
              <a:ext uri="{FF2B5EF4-FFF2-40B4-BE49-F238E27FC236}">
                <a16:creationId xmlns:a16="http://schemas.microsoft.com/office/drawing/2014/main" id="{853A7985-E5BA-41F2-B5B6-34E84107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6289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采集时延</a:t>
            </a:r>
          </a:p>
          <a:p xmlns:a="http://schemas.openxmlformats.org/drawingml/2006/main">
            <a:pPr algn="ctr">
              <a:defRPr sz="1950" b="1">
                <a:solidFill>
                  <a:srgbClr val="233E54"/>
                </a:solidFill>
              </a:defRPr>
            </a:pPr>
            <a:r>
              <a:rPr sz="195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首见 − 发布</a:t>
            </a:r>
          </a:p>
        </p:txBody>
      </p:sp>
      <p:sp>
        <p:nvSpPr>
          <p:cNvPr id="23" name="处理时延 可查询 − 首见">
            <a:extLst xmlns:a="http://schemas.openxmlformats.org/drawingml/2006/main">
              <a:ext uri="{FF2B5EF4-FFF2-40B4-BE49-F238E27FC236}">
                <a16:creationId xmlns:a16="http://schemas.microsoft.com/office/drawing/2014/main" id="{0A555720-9EF5-4AED-8D2B-88CDE7D8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133850"/>
            <a:ext cx="70961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9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处理时延</a:t>
            </a:r>
          </a:p>
          <a:p xmlns:a="http://schemas.openxmlformats.org/drawingml/2006/main">
            <a:pPr algn="ctr">
              <a:defRPr sz="1950" b="1">
                <a:solidFill>
                  <a:srgbClr val="547D45"/>
                </a:solidFill>
              </a:defRPr>
            </a:pPr>
            <a:r>
              <a:rPr sz="19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可查询 − 首见</a:t>
            </a:r>
          </a:p>
        </p:txBody>
      </p:sp>
      <p:sp>
        <p:nvSpPr>
          <p:cNvPr id="24" name="端到端 = 可查询 − 发布 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898F3428-ED69-4DB8-991D-34B31200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096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2175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端到端 = 可查询 − 发布</a:t>
            </a:r>
          </a:p>
          <a:p xmlns:a="http://schemas.openxmlformats.org/drawingml/2006/main">
            <a:pPr algn="ctr">
              <a:defRPr sz="2175" b="1">
                <a:solidFill>
                  <a:srgbClr val="A67A20"/>
                </a:solidFill>
              </a:defRPr>
            </a:pPr>
            <a:r>
              <a:rPr sz="2175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h（待测）</a:t>
            </a:r>
          </a:p>
        </p:txBody>
      </p:sp>
      <p:sp>
        <p:nvSpPr>
          <p:cNvPr id="25" name="仅漏洞类首次发现；日更源单列；DEMO 不计；日期精度不足按当日零点计，保守高估">
            <a:extLst xmlns:a="http://schemas.openxmlformats.org/drawingml/2006/main">
              <a:ext uri="{FF2B5EF4-FFF2-40B4-BE49-F238E27FC236}">
                <a16:creationId xmlns:a16="http://schemas.microsoft.com/office/drawing/2014/main" id="{083C2B0C-D425-42C4-9E0B-18DF6626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仅漏洞类首次发现；日更源单列；DEMO 不计；日期精度不足按当日零点计，保守高估</a:t>
            </a:r>
          </a:p>
        </p:txBody>
      </p:sp>
    </p:spTree>
    <p:extLst>
      <p:ext uri="{BB962C8B-B14F-4D97-AF65-F5344CB8AC3E}">
        <p14:creationId xmlns:p14="http://schemas.microsoft.com/office/powerpoint/2010/main" val="18909217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F-29">
            <a:extLst xmlns:a="http://schemas.openxmlformats.org/drawingml/2006/main">
              <a:ext uri="{FF2B5EF4-FFF2-40B4-BE49-F238E27FC236}">
                <a16:creationId xmlns:a16="http://schemas.microsoft.com/office/drawing/2014/main" id="{015037BD-91F8-4C13-AA36-1D7F4472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F-29</a:t>
            </a:r>
          </a:p>
        </p:txBody>
      </p:sp>
      <p:sp>
        <p:nvSpPr>
          <p:cNvPr id="2" name="七项创新点总览">
            <a:extLst xmlns:a="http://schemas.openxmlformats.org/drawingml/2006/main">
              <a:ext uri="{FF2B5EF4-FFF2-40B4-BE49-F238E27FC236}">
                <a16:creationId xmlns:a16="http://schemas.microsoft.com/office/drawing/2014/main" id="{18008804-FE91-4BC4-A4BC-EFDCF52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七项创新点总览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C87E0AF0-366E-469C-96EE-16411C6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创新方向">
            <a:extLst xmlns:a="http://schemas.openxmlformats.org/drawingml/2006/main">
              <a:ext uri="{FF2B5EF4-FFF2-40B4-BE49-F238E27FC236}">
                <a16:creationId xmlns:a16="http://schemas.microsoft.com/office/drawing/2014/main" id="{A9EE185F-BE24-4AC8-A236-3FB07C4B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1144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创新方向</a:t>
            </a:r>
          </a:p>
        </p:txBody>
      </p:sp>
      <p:sp>
        <p:nvSpPr>
          <p:cNvPr id="5" name="关键机制">
            <a:extLst xmlns:a="http://schemas.openxmlformats.org/drawingml/2006/main">
              <a:ext uri="{FF2B5EF4-FFF2-40B4-BE49-F238E27FC236}">
                <a16:creationId xmlns:a16="http://schemas.microsoft.com/office/drawing/2014/main" id="{DF5970B1-9117-4EC4-9B81-054CED44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1144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77DC3"/>
                </a:solidFill>
              </a:defRPr>
            </a:pPr>
            <a:r>
              <a:rPr sz="2025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关键机制</a:t>
            </a:r>
          </a:p>
        </p:txBody>
      </p:sp>
      <p:sp>
        <p:nvSpPr>
          <p:cNvPr id="6" name="验证维度">
            <a:extLst xmlns:a="http://schemas.openxmlformats.org/drawingml/2006/main">
              <a:ext uri="{FF2B5EF4-FFF2-40B4-BE49-F238E27FC236}">
                <a16:creationId xmlns:a16="http://schemas.microsoft.com/office/drawing/2014/main" id="{6CD27DF5-2D19-44E7-B356-86A3B098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1144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025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547D45"/>
                </a:solidFill>
              </a:defRPr>
            </a:pPr>
            <a:r>
              <a:rPr sz="2025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验证维度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B33BC526-2ABE-45A2-B0BC-86938220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771336EA-7D05-4F55-8280-7A0B2CEC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面向 AI 基础设施的垂直多源融合">
            <a:extLst xmlns:a="http://schemas.openxmlformats.org/drawingml/2006/main">
              <a:ext uri="{FF2B5EF4-FFF2-40B4-BE49-F238E27FC236}">
                <a16:creationId xmlns:a16="http://schemas.microsoft.com/office/drawing/2014/main" id="{CB439248-B19F-43A3-8C87-7363897D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面向 AI 基础设施的垂直多源融合</a:t>
            </a:r>
          </a:p>
        </p:txBody>
      </p:sp>
      <p:sp>
        <p:nvSpPr>
          <p:cNvPr id="10" name="P0 5 min / 无 CVE 入库">
            <a:extLst xmlns:a="http://schemas.openxmlformats.org/drawingml/2006/main">
              <a:ext uri="{FF2B5EF4-FFF2-40B4-BE49-F238E27FC236}">
                <a16:creationId xmlns:a16="http://schemas.microsoft.com/office/drawing/2014/main" id="{89D26874-9DE8-4169-852A-F547C46D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P0 5 min / 无 CVE 入库</a:t>
            </a:r>
          </a:p>
        </p:txBody>
      </p:sp>
      <p:sp>
        <p:nvSpPr>
          <p:cNvPr id="11" name="监测 / 时效">
            <a:extLst xmlns:a="http://schemas.openxmlformats.org/drawingml/2006/main">
              <a:ext uri="{FF2B5EF4-FFF2-40B4-BE49-F238E27FC236}">
                <a16:creationId xmlns:a16="http://schemas.microsoft.com/office/drawing/2014/main" id="{E9B8E22B-E116-4337-8199-EE9C4269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0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监测 / 时效</a:t>
            </a:r>
          </a:p>
        </p:txBody>
      </p:sp>
      <p:sp>
        <p:nvSpPr>
          <p:cNvPr id="12" name="boundary">
            <a:extLst xmlns:a="http://schemas.openxmlformats.org/drawingml/2006/main">
              <a:ext uri="{FF2B5EF4-FFF2-40B4-BE49-F238E27FC236}">
                <a16:creationId xmlns:a16="http://schemas.microsoft.com/office/drawing/2014/main" id="{E8DCC90C-AA7F-404E-888F-D2713D3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2">
            <a:extLst xmlns:a="http://schemas.openxmlformats.org/drawingml/2006/main">
              <a:ext uri="{FF2B5EF4-FFF2-40B4-BE49-F238E27FC236}">
                <a16:creationId xmlns:a16="http://schemas.microsoft.com/office/drawing/2014/main" id="{528DD44F-C96F-4977-8A51-AC92FEFC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可解释的自动关联推理引擎">
            <a:extLst xmlns:a="http://schemas.openxmlformats.org/drawingml/2006/main">
              <a:ext uri="{FF2B5EF4-FFF2-40B4-BE49-F238E27FC236}">
                <a16:creationId xmlns:a16="http://schemas.microsoft.com/office/drawing/2014/main" id="{CA7F7D6E-0DEF-4E81-8E4D-7C47AA58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6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可解释的自动关联推理引擎</a:t>
            </a:r>
          </a:p>
        </p:txBody>
      </p:sp>
      <p:sp>
        <p:nvSpPr>
          <p:cNvPr id="15" name="边带理由 / Critic 门槛">
            <a:extLst xmlns:a="http://schemas.openxmlformats.org/drawingml/2006/main">
              <a:ext uri="{FF2B5EF4-FFF2-40B4-BE49-F238E27FC236}">
                <a16:creationId xmlns:a16="http://schemas.microsoft.com/office/drawing/2014/main" id="{511901DA-7559-496A-A467-6E8E2BC9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7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边带理由 / Critic 门槛</a:t>
            </a:r>
          </a:p>
        </p:txBody>
      </p:sp>
      <p:sp>
        <p:nvSpPr>
          <p:cNvPr id="16" name="富化 / 准确">
            <a:extLst xmlns:a="http://schemas.openxmlformats.org/drawingml/2006/main">
              <a:ext uri="{FF2B5EF4-FFF2-40B4-BE49-F238E27FC236}">
                <a16:creationId xmlns:a16="http://schemas.microsoft.com/office/drawing/2014/main" id="{C1D4344E-5309-4C77-82A1-30B88B2A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7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准确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481FF843-EE69-473E-8EC2-31E96960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6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3">
            <a:extLst xmlns:a="http://schemas.openxmlformats.org/drawingml/2006/main">
              <a:ext uri="{FF2B5EF4-FFF2-40B4-BE49-F238E27FC236}">
                <a16:creationId xmlns:a16="http://schemas.microsoft.com/office/drawing/2014/main" id="{F3F8D345-8B4D-449D-A96F-A518DBF2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从依赖文件出发的影响自查">
            <a:extLst xmlns:a="http://schemas.openxmlformats.org/drawingml/2006/main">
              <a:ext uri="{FF2B5EF4-FFF2-40B4-BE49-F238E27FC236}">
                <a16:creationId xmlns:a16="http://schemas.microsoft.com/office/drawing/2014/main" id="{947058D4-C537-47C8-8566-53FFFA85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从依赖文件出发的影响自查</a:t>
            </a:r>
          </a:p>
        </p:txBody>
      </p:sp>
      <p:sp>
        <p:nvSpPr>
          <p:cNvPr id="20" name="OSV 求解 / 三种结果">
            <a:extLst xmlns:a="http://schemas.openxmlformats.org/drawingml/2006/main">
              <a:ext uri="{FF2B5EF4-FFF2-40B4-BE49-F238E27FC236}">
                <a16:creationId xmlns:a16="http://schemas.microsoft.com/office/drawing/2014/main" id="{42E1732D-BBC1-4E97-9D86-7C9EB63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33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OSV 求解 / 三种结果</a:t>
            </a:r>
          </a:p>
        </p:txBody>
      </p:sp>
      <p:sp>
        <p:nvSpPr>
          <p:cNvPr id="21" name="富化 / Agent">
            <a:extLst xmlns:a="http://schemas.openxmlformats.org/drawingml/2006/main">
              <a:ext uri="{FF2B5EF4-FFF2-40B4-BE49-F238E27FC236}">
                <a16:creationId xmlns:a16="http://schemas.microsoft.com/office/drawing/2014/main" id="{EB8D848F-71F3-4493-B3B8-C901067D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33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富化 / Agent</a:t>
            </a:r>
          </a:p>
        </p:txBody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FBB13104-BDAC-4626-86AD-CDB9F2A8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48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4">
            <a:extLst xmlns:a="http://schemas.openxmlformats.org/drawingml/2006/main">
              <a:ext uri="{FF2B5EF4-FFF2-40B4-BE49-F238E27FC236}">
                <a16:creationId xmlns:a16="http://schemas.microsoft.com/office/drawing/2014/main" id="{20BD1356-4780-40C4-9026-7670E996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可解释 GraphRAG 问答">
            <a:extLst xmlns:a="http://schemas.openxmlformats.org/drawingml/2006/main">
              <a:ext uri="{FF2B5EF4-FFF2-40B4-BE49-F238E27FC236}">
                <a16:creationId xmlns:a16="http://schemas.microsoft.com/office/drawing/2014/main" id="{11247FC2-8EC5-4E3D-B787-88F60B70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86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可解释 GraphRAG 问答</a:t>
            </a:r>
          </a:p>
        </p:txBody>
      </p:sp>
      <p:sp>
        <p:nvSpPr>
          <p:cNvPr id="25" name="三路检索 / 逐句引用">
            <a:extLst xmlns:a="http://schemas.openxmlformats.org/drawingml/2006/main">
              <a:ext uri="{FF2B5EF4-FFF2-40B4-BE49-F238E27FC236}">
                <a16:creationId xmlns:a16="http://schemas.microsoft.com/office/drawing/2014/main" id="{53C57239-F341-4114-9DDE-5655AE2F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三路检索 / 逐句引用</a:t>
            </a:r>
          </a:p>
        </p:txBody>
      </p:sp>
      <p:sp>
        <p:nvSpPr>
          <p:cNvPr id="26" name="问答 / 准确">
            <a:extLst xmlns:a="http://schemas.openxmlformats.org/drawingml/2006/main">
              <a:ext uri="{FF2B5EF4-FFF2-40B4-BE49-F238E27FC236}">
                <a16:creationId xmlns:a16="http://schemas.microsoft.com/office/drawing/2014/main" id="{35198FB2-FD22-4DDA-8DE9-8A1E03A5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95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问答 / 准确</a:t>
            </a:r>
          </a:p>
        </p:txBody>
      </p:sp>
      <p:sp>
        <p:nvSpPr>
          <p:cNvPr id="27" name="boundary">
            <a:extLst xmlns:a="http://schemas.openxmlformats.org/drawingml/2006/main">
              <a:ext uri="{FF2B5EF4-FFF2-40B4-BE49-F238E27FC236}">
                <a16:creationId xmlns:a16="http://schemas.microsoft.com/office/drawing/2014/main" id="{7C3E5828-6B64-4571-A12C-B8D2D2A6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0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5">
            <a:extLst xmlns:a="http://schemas.openxmlformats.org/drawingml/2006/main">
              <a:ext uri="{FF2B5EF4-FFF2-40B4-BE49-F238E27FC236}">
                <a16:creationId xmlns:a16="http://schemas.microsoft.com/office/drawing/2014/main" id="{04EEB46F-DCDC-4488-87A9-E303C942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内部多智能体编排与外部 MCP 开放">
            <a:extLst xmlns:a="http://schemas.openxmlformats.org/drawingml/2006/main">
              <a:ext uri="{FF2B5EF4-FFF2-40B4-BE49-F238E27FC236}">
                <a16:creationId xmlns:a16="http://schemas.microsoft.com/office/drawing/2014/main" id="{642D58A7-CDE2-4959-9A38-2240324F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内部多智能体编排与外部 MCP 开放</a:t>
            </a:r>
          </a:p>
        </p:txBody>
      </p:sp>
      <p:sp>
        <p:nvSpPr>
          <p:cNvPr id="30" name="9 角色 / 统一服务层">
            <a:extLst xmlns:a="http://schemas.openxmlformats.org/drawingml/2006/main">
              <a:ext uri="{FF2B5EF4-FFF2-40B4-BE49-F238E27FC236}">
                <a16:creationId xmlns:a16="http://schemas.microsoft.com/office/drawing/2014/main" id="{1CFC292C-58E9-434D-BF3E-2F5D8B48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57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9 角色 / 统一服务层</a:t>
            </a:r>
          </a:p>
        </p:txBody>
      </p:sp>
      <p:sp>
        <p:nvSpPr>
          <p:cNvPr id="31" name="Agent">
            <a:extLst xmlns:a="http://schemas.openxmlformats.org/drawingml/2006/main">
              <a:ext uri="{FF2B5EF4-FFF2-40B4-BE49-F238E27FC236}">
                <a16:creationId xmlns:a16="http://schemas.microsoft.com/office/drawing/2014/main" id="{238E3512-92A0-42CB-9CA6-BA2EBBDA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857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0FA240EC-DB08-4100-80A7-4707DE35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2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6">
            <a:extLst xmlns:a="http://schemas.openxmlformats.org/drawingml/2006/main">
              <a:ext uri="{FF2B5EF4-FFF2-40B4-BE49-F238E27FC236}">
                <a16:creationId xmlns:a16="http://schemas.microsoft.com/office/drawing/2014/main" id="{29F7A2DC-7291-44FB-B627-A104AD4C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时效可观测与故障自愈">
            <a:extLst xmlns:a="http://schemas.openxmlformats.org/drawingml/2006/main">
              <a:ext uri="{FF2B5EF4-FFF2-40B4-BE49-F238E27FC236}">
                <a16:creationId xmlns:a16="http://schemas.microsoft.com/office/drawing/2014/main" id="{B78EABA9-D88A-4C38-89DA-259C5B7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时效可观测与故障自愈</a:t>
            </a:r>
          </a:p>
        </p:txBody>
      </p:sp>
      <p:sp>
        <p:nvSpPr>
          <p:cNvPr id="35" name="五段时间戳 / 故障恢复">
            <a:extLst xmlns:a="http://schemas.openxmlformats.org/drawingml/2006/main">
              <a:ext uri="{FF2B5EF4-FFF2-40B4-BE49-F238E27FC236}">
                <a16:creationId xmlns:a16="http://schemas.microsoft.com/office/drawing/2014/main" id="{62776FC3-04DC-4479-854E-40B21CBC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19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五段时间戳 / 故障恢复</a:t>
            </a:r>
          </a:p>
        </p:txBody>
      </p:sp>
      <p:sp>
        <p:nvSpPr>
          <p:cNvPr id="36" name="时效 / 自动化">
            <a:extLst xmlns:a="http://schemas.openxmlformats.org/drawingml/2006/main">
              <a:ext uri="{FF2B5EF4-FFF2-40B4-BE49-F238E27FC236}">
                <a16:creationId xmlns:a16="http://schemas.microsoft.com/office/drawing/2014/main" id="{D518F9E3-C487-43DE-AAF4-0DB5E507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619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时效 / 自动化</a:t>
            </a:r>
          </a:p>
        </p:txBody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592BDFDA-10C3-4F64-BB42-E32EF205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34125"/>
            <a:ext cx="104775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7">
            <a:extLst xmlns:a="http://schemas.openxmlformats.org/drawingml/2006/main">
              <a:ext uri="{FF2B5EF4-FFF2-40B4-BE49-F238E27FC236}">
                <a16:creationId xmlns:a16="http://schemas.microsoft.com/office/drawing/2014/main" id="{15B8FAE7-ECBC-4E70-B997-768C8183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开放的插件生态">
            <a:extLst xmlns:a="http://schemas.openxmlformats.org/drawingml/2006/main">
              <a:ext uri="{FF2B5EF4-FFF2-40B4-BE49-F238E27FC236}">
                <a16:creationId xmlns:a16="http://schemas.microsoft.com/office/drawing/2014/main" id="{C6DD07CB-7429-4DE0-B15F-15B0F910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72225"/>
            <a:ext cx="4648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8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E54"/>
                </a:solidFill>
              </a:defRPr>
            </a:pPr>
            <a:r>
              <a:rPr sz="18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开放的插件生态</a:t>
            </a:r>
          </a:p>
        </p:txBody>
      </p:sp>
      <p:sp>
        <p:nvSpPr>
          <p:cNvPr id="40" name="8 Schema / 三类扩展点">
            <a:extLst xmlns:a="http://schemas.openxmlformats.org/drawingml/2006/main">
              <a:ext uri="{FF2B5EF4-FFF2-40B4-BE49-F238E27FC236}">
                <a16:creationId xmlns:a16="http://schemas.microsoft.com/office/drawing/2014/main" id="{A85B6930-ECA9-4DD7-931E-BC9D0B32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38175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57D8E"/>
                </a:solidFill>
              </a:defRPr>
            </a:pPr>
            <a:r>
              <a:rPr sz="16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8 Schema / 三类扩展点</a:t>
            </a:r>
          </a:p>
        </p:txBody>
      </p:sp>
      <p:sp>
        <p:nvSpPr>
          <p:cNvPr id="41" name="Agent / 文档">
            <a:extLst xmlns:a="http://schemas.openxmlformats.org/drawingml/2006/main">
              <a:ext uri="{FF2B5EF4-FFF2-40B4-BE49-F238E27FC236}">
                <a16:creationId xmlns:a16="http://schemas.microsoft.com/office/drawing/2014/main" id="{50E5CDE3-E758-4F25-AC1D-421FC14B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6381750"/>
            <a:ext cx="161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Agent / 文档</a:t>
            </a:r>
          </a:p>
        </p:txBody>
      </p:sp>
      <p:sp>
        <p:nvSpPr>
          <p:cNvPr id="42" name="七项创新均需第四章评测验证；当前未测结果保持占位">
            <a:extLst xmlns:a="http://schemas.openxmlformats.org/drawingml/2006/main">
              <a:ext uri="{FF2B5EF4-FFF2-40B4-BE49-F238E27FC236}">
                <a16:creationId xmlns:a16="http://schemas.microsoft.com/office/drawing/2014/main" id="{CEA852E6-934A-45B9-840D-0AAF52A0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七项创新均需第四章评测验证；当前未测结果保持占位</a:t>
            </a:r>
          </a:p>
        </p:txBody>
      </p:sp>
    </p:spTree>
    <p:extLst>
      <p:ext uri="{BB962C8B-B14F-4D97-AF65-F5344CB8AC3E}">
        <p14:creationId xmlns:p14="http://schemas.microsoft.com/office/powerpoint/2010/main" val="18606342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EBD1C3-376F-4DFA-A8ED-C3FEE6FD4A3B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H="1">
            <a:off x="102489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C0337D-4207-4534-B311-B9D2A83224E8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H="1">
            <a:off x="102489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DDD9FC-B47E-4E1B-98B0-259D1D056ECC}"/>
              </a:ext>
            </a:extLst>
          </p:cNvPr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 flipH="1">
            <a:off x="83629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3697C2-68E4-4BF4-AEBE-0AFC43F98BE0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H="1">
            <a:off x="83629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DC245F-44AB-4A38-A2E2-B818B7D575B0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64770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6583AB-478E-4745-9488-74CBA2F1E0C5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H="1">
            <a:off x="64770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1C725-1B47-4B11-9A00-52404C9D3625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459105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A7722-7A88-463F-B808-7FFEED04C3A9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>
            <a:off x="459105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CE169-0605-4C51-86BD-2884BB6D440F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H="1">
            <a:off x="2705100" y="44200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7BBF7-5612-47BF-8289-4C4839EBA45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2705100" y="3353277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C4DB"/>
            </a:solidFill>
            <a:prstDash val="solid"/>
            <a:tailEnd type="triangle" w="sm" len="sm"/>
          </a:ln>
        </p:spPr>
      </p:cxnSp>
      <p:sp>
        <p:nvSpPr>
          <p:cNvPr id="64" name="F-30">
            <a:extLst xmlns:a="http://schemas.openxmlformats.org/drawingml/2006/main">
              <a:ext uri="{FF2B5EF4-FFF2-40B4-BE49-F238E27FC236}">
                <a16:creationId xmlns:a16="http://schemas.microsoft.com/office/drawing/2014/main" id="{BF9F779D-449E-4837-98A5-4B18EBC1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1650" b="1">
                <a:solidFill>
                  <a:srgbClr val="277DC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7DC3"/>
                </a:solidFill>
              </a:defRPr>
            </a:pPr>
            <a:r>
              <a:rPr sz="1650" b="1">
                <a:solidFill>
                  <a:srgbClr val="277DC3"/>
                </a:solidFill>
                <a:latin typeface="Microsoft YaHei"/>
                <a:ea typeface="Microsoft YaHei"/>
                <a:cs typeface="Microsoft YaHei"/>
              </a:rPr>
              <a:t>F-30</a:t>
            </a:r>
          </a:p>
        </p:txBody>
      </p:sp>
      <p:sp>
        <p:nvSpPr>
          <p:cNvPr id="2" name="评测体系总览">
            <a:extLst xmlns:a="http://schemas.openxmlformats.org/drawingml/2006/main">
              <a:ext uri="{FF2B5EF4-FFF2-40B4-BE49-F238E27FC236}">
                <a16:creationId xmlns:a16="http://schemas.microsoft.com/office/drawing/2014/main" id="{AC1A0D40-F093-40E1-A85D-D2F7E3A8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24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l">
              <a:defRPr sz="2400" b="1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3E54"/>
                </a:solidFill>
              </a:defRPr>
            </a:pPr>
            <a:r>
              <a:rPr sz="2400" b="1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评测体系总览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AF62AED0-3AD0-4FE5-9850-C5D9F449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8675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输入">
            <a:extLst xmlns:a="http://schemas.openxmlformats.org/drawingml/2006/main">
              <a:ext uri="{FF2B5EF4-FFF2-40B4-BE49-F238E27FC236}">
                <a16:creationId xmlns:a16="http://schemas.microsoft.com/office/drawing/2014/main" id="{34788DED-78C9-499C-865B-12C0C376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6765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5" name="对照 / 方法">
            <a:extLst xmlns:a="http://schemas.openxmlformats.org/drawingml/2006/main">
              <a:ext uri="{FF2B5EF4-FFF2-40B4-BE49-F238E27FC236}">
                <a16:creationId xmlns:a16="http://schemas.microsoft.com/office/drawing/2014/main" id="{9EF2B7C1-FF00-4BE4-A439-E453A47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7433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对照 / 方法</a:t>
            </a:r>
          </a:p>
        </p:txBody>
      </p:sp>
      <p:sp>
        <p:nvSpPr>
          <p:cNvPr id="6" name="观测指标">
            <a:extLst xmlns:a="http://schemas.openxmlformats.org/drawingml/2006/main">
              <a:ext uri="{FF2B5EF4-FFF2-40B4-BE49-F238E27FC236}">
                <a16:creationId xmlns:a16="http://schemas.microsoft.com/office/drawing/2014/main" id="{C31CA692-4E29-4745-93F2-99B3F369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8101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观测指标</a:t>
            </a:r>
          </a:p>
        </p:txBody>
      </p:sp>
      <p:sp>
        <p:nvSpPr>
          <p:cNvPr id="7" name="验收目标">
            <a:extLst xmlns:a="http://schemas.openxmlformats.org/drawingml/2006/main">
              <a:ext uri="{FF2B5EF4-FFF2-40B4-BE49-F238E27FC236}">
                <a16:creationId xmlns:a16="http://schemas.microsoft.com/office/drawing/2014/main" id="{104C15A7-6BB0-41AB-9162-ACC4350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769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657D8E"/>
                </a:solidFill>
              </a:defRPr>
            </a:pPr>
            <a:r>
              <a:rPr sz="1650" b="1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验收目标</a:t>
            </a:r>
          </a:p>
        </p:txBody>
      </p:sp>
      <p:sp>
        <p:nvSpPr>
          <p:cNvPr id="8" name="时效">
            <a:extLst xmlns:a="http://schemas.openxmlformats.org/drawingml/2006/main">
              <a:ext uri="{FF2B5EF4-FFF2-40B4-BE49-F238E27FC236}">
                <a16:creationId xmlns:a16="http://schemas.microsoft.com/office/drawing/2014/main" id="{7BFB6C2E-4517-4A44-AAAD-CC4ABD39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时效</a:t>
            </a:r>
          </a:p>
        </p:txBody>
      </p:sp>
      <p:sp>
        <p:nvSpPr>
          <p:cNvPr id="9" name="五段时间戳">
            <a:extLst xmlns:a="http://schemas.openxmlformats.org/drawingml/2006/main">
              <a:ext uri="{FF2B5EF4-FFF2-40B4-BE49-F238E27FC236}">
                <a16:creationId xmlns:a16="http://schemas.microsoft.com/office/drawing/2014/main" id="{27E6AF13-3DC3-4D65-9102-36F89C43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五段时间戳</a:t>
            </a:r>
          </a:p>
        </p:txBody>
      </p:sp>
      <p:sp>
        <p:nvSpPr>
          <p:cNvPr id="10" name="boundary">
            <a:extLst xmlns:a="http://schemas.openxmlformats.org/drawingml/2006/main">
              <a:ext uri="{FF2B5EF4-FFF2-40B4-BE49-F238E27FC236}">
                <a16:creationId xmlns:a16="http://schemas.microsoft.com/office/drawing/2014/main" id="{1B5F152E-3AAC-4F86-832E-F782A2E8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boundary">
            <a:extLst xmlns:a="http://schemas.openxmlformats.org/drawingml/2006/main">
              <a:ext uri="{FF2B5EF4-FFF2-40B4-BE49-F238E27FC236}">
                <a16:creationId xmlns:a16="http://schemas.microsoft.com/office/drawing/2014/main" id="{EB3E6C15-4CBF-41DB-A12C-8FA22540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按源分项">
            <a:extLst xmlns:a="http://schemas.openxmlformats.org/drawingml/2006/main">
              <a:ext uri="{FF2B5EF4-FFF2-40B4-BE49-F238E27FC236}">
                <a16:creationId xmlns:a16="http://schemas.microsoft.com/office/drawing/2014/main" id="{1061F6B3-8920-41FD-93CD-7CB3575B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按源分项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3082137E-D219-4703-94A4-8B2CBDA9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C3B7779E-90FE-4D40-BCF1-07D66106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50 / P95">
            <a:extLst xmlns:a="http://schemas.openxmlformats.org/drawingml/2006/main">
              <a:ext uri="{FF2B5EF4-FFF2-40B4-BE49-F238E27FC236}">
                <a16:creationId xmlns:a16="http://schemas.microsoft.com/office/drawing/2014/main" id="{C67D6F02-7031-44E3-AF61-64F48579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P50 / P95</a:t>
            </a:r>
          </a:p>
        </p:txBody>
      </p:sp>
      <p:sp>
        <p:nvSpPr>
          <p:cNvPr id="18" name="目标值 ≤6 h （待测）">
            <a:extLst xmlns:a="http://schemas.openxmlformats.org/drawingml/2006/main">
              <a:ext uri="{FF2B5EF4-FFF2-40B4-BE49-F238E27FC236}">
                <a16:creationId xmlns:a16="http://schemas.microsoft.com/office/drawing/2014/main" id="{1C29A6E0-4F22-4224-B2A4-5C4BB5BA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≤6 h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19" name="富化">
            <a:extLst xmlns:a="http://schemas.openxmlformats.org/drawingml/2006/main">
              <a:ext uri="{FF2B5EF4-FFF2-40B4-BE49-F238E27FC236}">
                <a16:creationId xmlns:a16="http://schemas.microsoft.com/office/drawing/2014/main" id="{3ED526AC-9512-4D2E-8EAC-3D9906AD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富化</a:t>
            </a:r>
          </a:p>
        </p:txBody>
      </p:sp>
      <p:sp>
        <p:nvSpPr>
          <p:cNvPr id="20" name="200 条金标">
            <a:extLst xmlns:a="http://schemas.openxmlformats.org/drawingml/2006/main">
              <a:ext uri="{FF2B5EF4-FFF2-40B4-BE49-F238E27FC236}">
                <a16:creationId xmlns:a16="http://schemas.microsoft.com/office/drawing/2014/main" id="{7F41E1EE-E166-4AE1-BCDC-D9238F6A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200 条金标</a:t>
            </a:r>
          </a:p>
        </p:txBody>
      </p:sp>
      <p:sp>
        <p:nvSpPr>
          <p:cNvPr id="21" name="boundary">
            <a:extLst xmlns:a="http://schemas.openxmlformats.org/drawingml/2006/main">
              <a:ext uri="{FF2B5EF4-FFF2-40B4-BE49-F238E27FC236}">
                <a16:creationId xmlns:a16="http://schemas.microsoft.com/office/drawing/2014/main" id="{5C7BB4A9-C908-4B22-BF4C-2C424B13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boundary">
            <a:extLst xmlns:a="http://schemas.openxmlformats.org/drawingml/2006/main">
              <a:ext uri="{FF2B5EF4-FFF2-40B4-BE49-F238E27FC236}">
                <a16:creationId xmlns:a16="http://schemas.microsoft.com/office/drawing/2014/main" id="{B8A10689-CBA3-41E0-A409-75BED1ED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Critic 前后">
            <a:extLst xmlns:a="http://schemas.openxmlformats.org/drawingml/2006/main">
              <a:ext uri="{FF2B5EF4-FFF2-40B4-BE49-F238E27FC236}">
                <a16:creationId xmlns:a16="http://schemas.microsoft.com/office/drawing/2014/main" id="{ECBCCC26-C8CD-41DE-9D64-4CCD9E83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Critic 前后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57183480-29D5-486D-A72F-32100816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boundary">
            <a:extLst xmlns:a="http://schemas.openxmlformats.org/drawingml/2006/main">
              <a:ext uri="{FF2B5EF4-FFF2-40B4-BE49-F238E27FC236}">
                <a16:creationId xmlns:a16="http://schemas.microsoft.com/office/drawing/2014/main" id="{F5740D43-F09E-4495-BEE7-D463968A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准确率 / κ">
            <a:extLst xmlns:a="http://schemas.openxmlformats.org/drawingml/2006/main">
              <a:ext uri="{FF2B5EF4-FFF2-40B4-BE49-F238E27FC236}">
                <a16:creationId xmlns:a16="http://schemas.microsoft.com/office/drawing/2014/main" id="{806222BC-7FE4-4B74-8143-7298D10C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准确率 / κ</a:t>
            </a:r>
          </a:p>
        </p:txBody>
      </p:sp>
      <p:sp>
        <p:nvSpPr>
          <p:cNvPr id="29" name="目标值 ≥95% （待测）">
            <a:extLst xmlns:a="http://schemas.openxmlformats.org/drawingml/2006/main">
              <a:ext uri="{FF2B5EF4-FFF2-40B4-BE49-F238E27FC236}">
                <a16:creationId xmlns:a16="http://schemas.microsoft.com/office/drawing/2014/main" id="{151F1D2B-8237-4859-A020-EED345AC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 ≥95%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30" name="问答">
            <a:extLst xmlns:a="http://schemas.openxmlformats.org/drawingml/2006/main">
              <a:ext uri="{FF2B5EF4-FFF2-40B4-BE49-F238E27FC236}">
                <a16:creationId xmlns:a16="http://schemas.microsoft.com/office/drawing/2014/main" id="{BBDA88F5-6AE3-4C8E-A53D-0CAFDF44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问答</a:t>
            </a:r>
          </a:p>
        </p:txBody>
      </p:sp>
      <p:sp>
        <p:nvSpPr>
          <p:cNvPr id="31" name="约 100 题">
            <a:extLst xmlns:a="http://schemas.openxmlformats.org/drawingml/2006/main">
              <a:ext uri="{FF2B5EF4-FFF2-40B4-BE49-F238E27FC236}">
                <a16:creationId xmlns:a16="http://schemas.microsoft.com/office/drawing/2014/main" id="{B76C50F9-5DEB-4A40-95C4-6C2E0ADB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约 100 题</a:t>
            </a:r>
          </a:p>
        </p:txBody>
      </p:sp>
      <p:sp>
        <p:nvSpPr>
          <p:cNvPr id="32" name="boundary">
            <a:extLst xmlns:a="http://schemas.openxmlformats.org/drawingml/2006/main">
              <a:ext uri="{FF2B5EF4-FFF2-40B4-BE49-F238E27FC236}">
                <a16:creationId xmlns:a16="http://schemas.microsoft.com/office/drawing/2014/main" id="{8E85DAA5-D6C3-4E69-A0A5-EF57BBC8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boundary">
            <a:extLst xmlns:a="http://schemas.openxmlformats.org/drawingml/2006/main">
              <a:ext uri="{FF2B5EF4-FFF2-40B4-BE49-F238E27FC236}">
                <a16:creationId xmlns:a16="http://schemas.microsoft.com/office/drawing/2014/main" id="{26C9925C-1210-4E34-A892-EFB232E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三组对照">
            <a:extLst xmlns:a="http://schemas.openxmlformats.org/drawingml/2006/main">
              <a:ext uri="{FF2B5EF4-FFF2-40B4-BE49-F238E27FC236}">
                <a16:creationId xmlns:a16="http://schemas.microsoft.com/office/drawing/2014/main" id="{E9BE6531-BF05-45C4-9C2D-DC706732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三组对照</a:t>
            </a:r>
          </a:p>
        </p:txBody>
      </p:sp>
      <p:sp>
        <p:nvSpPr>
          <p:cNvPr id="36" name="boundary">
            <a:extLst xmlns:a="http://schemas.openxmlformats.org/drawingml/2006/main">
              <a:ext uri="{FF2B5EF4-FFF2-40B4-BE49-F238E27FC236}">
                <a16:creationId xmlns:a16="http://schemas.microsoft.com/office/drawing/2014/main" id="{60AB03EE-3AEF-4C83-BCFF-D284C65A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boundary">
            <a:extLst xmlns:a="http://schemas.openxmlformats.org/drawingml/2006/main">
              <a:ext uri="{FF2B5EF4-FFF2-40B4-BE49-F238E27FC236}">
                <a16:creationId xmlns:a16="http://schemas.microsoft.com/office/drawing/2014/main" id="{20B875D7-CA3E-41FC-A53B-1E4C6366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答案 / 引用">
            <a:extLst xmlns:a="http://schemas.openxmlformats.org/drawingml/2006/main">
              <a:ext uri="{FF2B5EF4-FFF2-40B4-BE49-F238E27FC236}">
                <a16:creationId xmlns:a16="http://schemas.microsoft.com/office/drawing/2014/main" id="{16C11464-C950-477F-B247-C2AB369F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答案 / 引用</a:t>
            </a:r>
          </a:p>
        </p:txBody>
      </p:sp>
      <p:sp>
        <p:nvSpPr>
          <p:cNvPr id="40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48BAEAF9-ED66-474E-9C7F-32F9A01F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41" name="自愈">
            <a:extLst xmlns:a="http://schemas.openxmlformats.org/drawingml/2006/main">
              <a:ext uri="{FF2B5EF4-FFF2-40B4-BE49-F238E27FC236}">
                <a16:creationId xmlns:a16="http://schemas.microsoft.com/office/drawing/2014/main" id="{9F6869EA-4C2B-4ABB-95D4-10F7F5C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45D8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自愈</a:t>
            </a:r>
          </a:p>
        </p:txBody>
      </p:sp>
      <p:sp>
        <p:nvSpPr>
          <p:cNvPr id="42" name="6 个场景">
            <a:extLst xmlns:a="http://schemas.openxmlformats.org/drawingml/2006/main">
              <a:ext uri="{FF2B5EF4-FFF2-40B4-BE49-F238E27FC236}">
                <a16:creationId xmlns:a16="http://schemas.microsoft.com/office/drawing/2014/main" id="{4D908C28-7DE1-4FDD-84C0-6A5B82D7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6 个场景</a:t>
            </a:r>
          </a:p>
        </p:txBody>
      </p:sp>
      <p:sp>
        <p:nvSpPr>
          <p:cNvPr id="43" name="boundary">
            <a:extLst xmlns:a="http://schemas.openxmlformats.org/drawingml/2006/main">
              <a:ext uri="{FF2B5EF4-FFF2-40B4-BE49-F238E27FC236}">
                <a16:creationId xmlns:a16="http://schemas.microsoft.com/office/drawing/2014/main" id="{F7796C65-A6DD-42EA-ACF7-666ECEB4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boundary">
            <a:extLst xmlns:a="http://schemas.openxmlformats.org/drawingml/2006/main">
              <a:ext uri="{FF2B5EF4-FFF2-40B4-BE49-F238E27FC236}">
                <a16:creationId xmlns:a16="http://schemas.microsoft.com/office/drawing/2014/main" id="{892261B6-3BF6-4E7A-9FD2-E4887C34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故障注入">
            <a:extLst xmlns:a="http://schemas.openxmlformats.org/drawingml/2006/main">
              <a:ext uri="{FF2B5EF4-FFF2-40B4-BE49-F238E27FC236}">
                <a16:creationId xmlns:a16="http://schemas.microsoft.com/office/drawing/2014/main" id="{6E4AB582-7371-4F76-9626-323019E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故障注入</a:t>
            </a:r>
          </a:p>
        </p:txBody>
      </p:sp>
      <p:sp>
        <p:nvSpPr>
          <p:cNvPr id="47" name="boundary">
            <a:extLst xmlns:a="http://schemas.openxmlformats.org/drawingml/2006/main">
              <a:ext uri="{FF2B5EF4-FFF2-40B4-BE49-F238E27FC236}">
                <a16:creationId xmlns:a16="http://schemas.microsoft.com/office/drawing/2014/main" id="{F975E648-91A3-4855-A9CF-0133E210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boundary">
            <a:extLst xmlns:a="http://schemas.openxmlformats.org/drawingml/2006/main">
              <a:ext uri="{FF2B5EF4-FFF2-40B4-BE49-F238E27FC236}">
                <a16:creationId xmlns:a16="http://schemas.microsoft.com/office/drawing/2014/main" id="{50E0489C-5B0B-4146-B14E-35F6B02A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成功率 / 恢复">
            <a:extLst xmlns:a="http://schemas.openxmlformats.org/drawingml/2006/main">
              <a:ext uri="{FF2B5EF4-FFF2-40B4-BE49-F238E27FC236}">
                <a16:creationId xmlns:a16="http://schemas.microsoft.com/office/drawing/2014/main" id="{EF674837-E837-46CB-8B64-00760CE2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成功率 / 恢复</a:t>
            </a:r>
          </a:p>
        </p:txBody>
      </p:sp>
      <p:sp>
        <p:nvSpPr>
          <p:cNvPr id="51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9DDD5EA6-15B4-42A4-B5DA-A3DD10AC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52" name="兼容">
            <a:extLst xmlns:a="http://schemas.openxmlformats.org/drawingml/2006/main">
              <a:ext uri="{FF2B5EF4-FFF2-40B4-BE49-F238E27FC236}">
                <a16:creationId xmlns:a16="http://schemas.microsoft.com/office/drawing/2014/main" id="{9D99F074-AB9E-495A-B558-C81CF4DA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33525"/>
            <a:ext cx="175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77D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兼容</a:t>
            </a:r>
          </a:p>
        </p:txBody>
      </p:sp>
      <p:sp>
        <p:nvSpPr>
          <p:cNvPr id="53" name="4 类客户端">
            <a:extLst xmlns:a="http://schemas.openxmlformats.org/drawingml/2006/main">
              <a:ext uri="{FF2B5EF4-FFF2-40B4-BE49-F238E27FC236}">
                <a16:creationId xmlns:a16="http://schemas.microsoft.com/office/drawing/2014/main" id="{2B50757F-7BA2-44B2-9F22-45DCEEB0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431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4 类客户端</a:t>
            </a:r>
          </a:p>
        </p:txBody>
      </p:sp>
      <p:sp>
        <p:nvSpPr>
          <p:cNvPr id="54" name="boundary">
            <a:extLst xmlns:a="http://schemas.openxmlformats.org/drawingml/2006/main">
              <a:ext uri="{FF2B5EF4-FFF2-40B4-BE49-F238E27FC236}">
                <a16:creationId xmlns:a16="http://schemas.microsoft.com/office/drawing/2014/main" id="{5ED139E0-A6C4-4EE1-B5CD-A3733ECC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boundary">
            <a:extLst xmlns:a="http://schemas.openxmlformats.org/drawingml/2006/main">
              <a:ext uri="{FF2B5EF4-FFF2-40B4-BE49-F238E27FC236}">
                <a16:creationId xmlns:a16="http://schemas.microsoft.com/office/drawing/2014/main" id="{2E018E12-1186-478E-812D-60569190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远程 / stdio">
            <a:extLst xmlns:a="http://schemas.openxmlformats.org/drawingml/2006/main">
              <a:ext uri="{FF2B5EF4-FFF2-40B4-BE49-F238E27FC236}">
                <a16:creationId xmlns:a16="http://schemas.microsoft.com/office/drawing/2014/main" id="{CA72D13E-DD16-4EA5-BE20-2CD5B204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233E54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33E54"/>
                </a:solidFill>
              </a:defRPr>
            </a:pPr>
            <a:r>
              <a:rPr sz="1650" b="0">
                <a:solidFill>
                  <a:srgbClr val="233E54"/>
                </a:solidFill>
                <a:latin typeface="Microsoft YaHei"/>
                <a:ea typeface="Microsoft YaHei"/>
                <a:cs typeface="Microsoft YaHei"/>
              </a:rPr>
              <a:t>远程 / stdio</a:t>
            </a:r>
          </a:p>
        </p:txBody>
      </p:sp>
      <p:sp>
        <p:nvSpPr>
          <p:cNvPr id="58" name="boundary">
            <a:extLst xmlns:a="http://schemas.openxmlformats.org/drawingml/2006/main">
              <a:ext uri="{FF2B5EF4-FFF2-40B4-BE49-F238E27FC236}">
                <a16:creationId xmlns:a16="http://schemas.microsoft.com/office/drawing/2014/main" id="{71954733-7128-4C16-9DA8-6A3ED653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boundary">
            <a:extLst xmlns:a="http://schemas.openxmlformats.org/drawingml/2006/main">
              <a:ext uri="{FF2B5EF4-FFF2-40B4-BE49-F238E27FC236}">
                <a16:creationId xmlns:a16="http://schemas.microsoft.com/office/drawing/2014/main" id="{BFE4E276-727A-4C1B-9CC7-34C1D189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65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加载 / 续取">
            <a:extLst xmlns:a="http://schemas.openxmlformats.org/drawingml/2006/main">
              <a:ext uri="{FF2B5EF4-FFF2-40B4-BE49-F238E27FC236}">
                <a16:creationId xmlns:a16="http://schemas.microsoft.com/office/drawing/2014/main" id="{9B512C1B-03D2-4C54-B333-D0FFF792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76775"/>
            <a:ext cx="17526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E5F0DA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547D4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547D45"/>
                </a:solidFill>
              </a:defRPr>
            </a:pPr>
            <a:r>
              <a:rPr sz="1650" b="1">
                <a:solidFill>
                  <a:srgbClr val="547D45"/>
                </a:solidFill>
                <a:latin typeface="Microsoft YaHei"/>
                <a:ea typeface="Microsoft YaHei"/>
                <a:cs typeface="Microsoft YaHei"/>
              </a:rPr>
              <a:t>加载 / 续取</a:t>
            </a:r>
          </a:p>
        </p:txBody>
      </p:sp>
      <p:sp>
        <p:nvSpPr>
          <p:cNvPr id="62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3AC622A6-05AE-44A8-B621-F1B1EBE7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838825"/>
            <a:ext cx="17526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1CB"/>
          </a:solidFill>
          <a:ln xmlns:a="http://schemas.openxmlformats.org/drawingml/2006/main" w="13335">
            <a:solidFill>
              <a:srgbClr val="A6C4D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A67A2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目标值待定</a:t>
            </a:r>
          </a:p>
          <a:p xmlns:a="http://schemas.openxmlformats.org/drawingml/2006/main">
            <a:pPr algn="ctr">
              <a:defRPr sz="1650" b="1">
                <a:solidFill>
                  <a:srgbClr val="A67A20"/>
                </a:solidFill>
              </a:defRPr>
            </a:pPr>
            <a:r>
              <a:rPr sz="1650" b="1">
                <a:solidFill>
                  <a:srgbClr val="A67A20"/>
                </a:solidFill>
                <a:latin typeface="Microsoft YaHei"/>
                <a:ea typeface="Microsoft YaHei"/>
                <a:cs typeface="Microsoft YaHei"/>
              </a:rPr>
              <a:t>（待测）</a:t>
            </a:r>
          </a:p>
        </p:txBody>
      </p:sp>
      <p:sp>
        <p:nvSpPr>
          <p:cNvPr id="63" name="同模型同提示；保存原始结果；未执行不计为通过">
            <a:extLst xmlns:a="http://schemas.openxmlformats.org/drawingml/2006/main">
              <a:ext uri="{FF2B5EF4-FFF2-40B4-BE49-F238E27FC236}">
                <a16:creationId xmlns:a16="http://schemas.microsoft.com/office/drawing/2014/main" id="{47554350-1DEC-42CC-AB22-C2DA917E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353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 b="0">
                <a:solidFill>
                  <a:srgbClr val="657D8E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57D8E"/>
                </a:solidFill>
              </a:defRPr>
            </a:pPr>
            <a:r>
              <a:rPr sz="1350" b="0">
                <a:solidFill>
                  <a:srgbClr val="657D8E"/>
                </a:solidFill>
                <a:latin typeface="Microsoft YaHei"/>
                <a:ea typeface="Microsoft YaHei"/>
                <a:cs typeface="Microsoft YaHei"/>
              </a:rPr>
              <a:t>同模型同提示；保存原始结果；未执行不计为通过</a:t>
            </a:r>
          </a:p>
        </p:txBody>
      </p:sp>
    </p:spTree>
    <p:extLst>
      <p:ext uri="{BB962C8B-B14F-4D97-AF65-F5344CB8AC3E}">
        <p14:creationId xmlns:p14="http://schemas.microsoft.com/office/powerpoint/2010/main" val="1438983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2026-10-16T04:38:11.1700000Z</dcterms:created>
  <dcterms:modified xsi:type="dcterms:W3CDTF">2026-10-16T04:38:11.1700000Z</dcterms:modified>
</coreProperties>
</file>