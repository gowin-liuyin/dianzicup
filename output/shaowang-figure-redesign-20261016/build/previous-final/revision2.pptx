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53473a42c2463d" /><Relationship Type="http://schemas.openxmlformats.org/officeDocument/2006/relationships/extended-properties" Target="/docProps/app.xml" Id="R1b46a2e8c8be4fdf" /><Relationship Type="http://schemas.openxmlformats.org/officeDocument/2006/relationships/officeDocument" Target="/ppt/presentation.xml" Id="R8cc758caf0be40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30505ae55f4467"/>
  </p:sldMasterIdLst>
  <p:notesMasterIdLst>
    <p:notesMasterId xmlns:r="http://schemas.openxmlformats.org/officeDocument/2006/relationships" r:id="R9140f5aeda47410f"/>
  </p:notesMasterIdLst>
  <p:sldIdLst>
    <p:sldId xmlns:r="http://schemas.openxmlformats.org/officeDocument/2006/relationships" id="256" r:id="R8df08fcae0624bf8"/>
    <p:sldId xmlns:r="http://schemas.openxmlformats.org/officeDocument/2006/relationships" id="257" r:id="R20f8f6f9b11a4276"/>
    <p:sldId xmlns:r="http://schemas.openxmlformats.org/officeDocument/2006/relationships" id="258" r:id="R236180dd777c4088"/>
    <p:sldId xmlns:r="http://schemas.openxmlformats.org/officeDocument/2006/relationships" id="259" r:id="R14667cad0ada41f8"/>
    <p:sldId xmlns:r="http://schemas.openxmlformats.org/officeDocument/2006/relationships" id="260" r:id="Rb680a905ff104fab"/>
    <p:sldId xmlns:r="http://schemas.openxmlformats.org/officeDocument/2006/relationships" id="261" r:id="R9fe9a16d87944cbf"/>
    <p:sldId xmlns:r="http://schemas.openxmlformats.org/officeDocument/2006/relationships" id="262" r:id="Rcc7f5b66f6d2449a"/>
    <p:sldId xmlns:r="http://schemas.openxmlformats.org/officeDocument/2006/relationships" id="263" r:id="R79a4ae5f83844c28"/>
    <p:sldId xmlns:r="http://schemas.openxmlformats.org/officeDocument/2006/relationships" id="264" r:id="Rad17aa95de624b80"/>
    <p:sldId xmlns:r="http://schemas.openxmlformats.org/officeDocument/2006/relationships" id="265" r:id="Rf477d59c327644e1"/>
    <p:sldId xmlns:r="http://schemas.openxmlformats.org/officeDocument/2006/relationships" id="266" r:id="R9786f063f80e48e1"/>
    <p:sldId xmlns:r="http://schemas.openxmlformats.org/officeDocument/2006/relationships" id="267" r:id="R6992b6462c5c4456"/>
    <p:sldId xmlns:r="http://schemas.openxmlformats.org/officeDocument/2006/relationships" id="268" r:id="R018eda0759f24900"/>
    <p:sldId xmlns:r="http://schemas.openxmlformats.org/officeDocument/2006/relationships" id="269" r:id="Rfa295b6b87724cd3"/>
    <p:sldId xmlns:r="http://schemas.openxmlformats.org/officeDocument/2006/relationships" id="270" r:id="R221f8cd5480d4a63"/>
    <p:sldId xmlns:r="http://schemas.openxmlformats.org/officeDocument/2006/relationships" id="271" r:id="Rced503bde04543ab"/>
    <p:sldId xmlns:r="http://schemas.openxmlformats.org/officeDocument/2006/relationships" id="272" r:id="R410bfda30f6f425e"/>
    <p:sldId xmlns:r="http://schemas.openxmlformats.org/officeDocument/2006/relationships" id="273" r:id="R376e9cf925a5422a"/>
    <p:sldId xmlns:r="http://schemas.openxmlformats.org/officeDocument/2006/relationships" id="274" r:id="R04dfdc4c74f1491f"/>
    <p:sldId xmlns:r="http://schemas.openxmlformats.org/officeDocument/2006/relationships" id="275" r:id="Rd3a700f49ce444a9"/>
    <p:sldId xmlns:r="http://schemas.openxmlformats.org/officeDocument/2006/relationships" id="276" r:id="R886d1cf6d4014ad8"/>
    <p:sldId xmlns:r="http://schemas.openxmlformats.org/officeDocument/2006/relationships" id="277" r:id="Rac7679b1ff404aaf"/>
    <p:sldId xmlns:r="http://schemas.openxmlformats.org/officeDocument/2006/relationships" id="278" r:id="Reebcff2825a7460b"/>
    <p:sldId xmlns:r="http://schemas.openxmlformats.org/officeDocument/2006/relationships" id="279" r:id="R252760cfe185437d"/>
    <p:sldId xmlns:r="http://schemas.openxmlformats.org/officeDocument/2006/relationships" id="280" r:id="R7050dfffad09419a"/>
    <p:sldId xmlns:r="http://schemas.openxmlformats.org/officeDocument/2006/relationships" id="281" r:id="R808eb76aab2f4d6d"/>
    <p:sldId xmlns:r="http://schemas.openxmlformats.org/officeDocument/2006/relationships" id="282" r:id="R904f4975bdf24592"/>
    <p:sldId xmlns:r="http://schemas.openxmlformats.org/officeDocument/2006/relationships" id="283" r:id="R87cb9baf5471487f"/>
    <p:sldId xmlns:r="http://schemas.openxmlformats.org/officeDocument/2006/relationships" id="284" r:id="R2bbcbcaaaccf4a0a"/>
  </p:sldIdLst>
  <p:sldSz cx="11430000" cy="800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e4e03e3bd4a03" /><Relationship Type="http://schemas.openxmlformats.org/officeDocument/2006/relationships/slideMaster" Target="/ppt/slideMasters/slideMaster1.xml" Id="R5130505ae55f4467" /><Relationship Type="http://schemas.openxmlformats.org/officeDocument/2006/relationships/notesMaster" Target="/ppt/notesMasters/notesMaster1.xml" Id="R9140f5aeda47410f" /><Relationship Type="http://schemas.openxmlformats.org/officeDocument/2006/relationships/presProps" Target="/ppt/presProps.xml" Id="R86a17569fe064463" /><Relationship Type="http://schemas.openxmlformats.org/officeDocument/2006/relationships/tableStyles" Target="/ppt/tableStyles.xml" Id="Re97bbe117a444d54" /><Relationship Type="http://schemas.openxmlformats.org/officeDocument/2006/relationships/slide" Target="/ppt/slides/slide1.xml" Id="R8df08fcae0624bf8" /><Relationship Type="http://schemas.openxmlformats.org/officeDocument/2006/relationships/slide" Target="/ppt/slides/slide2.xml" Id="R20f8f6f9b11a4276" /><Relationship Type="http://schemas.openxmlformats.org/officeDocument/2006/relationships/slide" Target="/ppt/slides/slide3.xml" Id="R236180dd777c4088" /><Relationship Type="http://schemas.openxmlformats.org/officeDocument/2006/relationships/slide" Target="/ppt/slides/slide4.xml" Id="R14667cad0ada41f8" /><Relationship Type="http://schemas.openxmlformats.org/officeDocument/2006/relationships/slide" Target="/ppt/slides/slide5.xml" Id="Rb680a905ff104fab" /><Relationship Type="http://schemas.openxmlformats.org/officeDocument/2006/relationships/slide" Target="/ppt/slides/slide6.xml" Id="R9fe9a16d87944cbf" /><Relationship Type="http://schemas.openxmlformats.org/officeDocument/2006/relationships/slide" Target="/ppt/slides/slide7.xml" Id="Rcc7f5b66f6d2449a" /><Relationship Type="http://schemas.openxmlformats.org/officeDocument/2006/relationships/slide" Target="/ppt/slides/slide8.xml" Id="R79a4ae5f83844c28" /><Relationship Type="http://schemas.openxmlformats.org/officeDocument/2006/relationships/slide" Target="/ppt/slides/slide9.xml" Id="Rad17aa95de624b80" /><Relationship Type="http://schemas.openxmlformats.org/officeDocument/2006/relationships/slide" Target="/ppt/slides/slide10.xml" Id="Rf477d59c327644e1" /><Relationship Type="http://schemas.openxmlformats.org/officeDocument/2006/relationships/slide" Target="/ppt/slides/slide11.xml" Id="R9786f063f80e48e1" /><Relationship Type="http://schemas.openxmlformats.org/officeDocument/2006/relationships/slide" Target="/ppt/slides/slide12.xml" Id="R6992b6462c5c4456" /><Relationship Type="http://schemas.openxmlformats.org/officeDocument/2006/relationships/slide" Target="/ppt/slides/slide13.xml" Id="R018eda0759f24900" /><Relationship Type="http://schemas.openxmlformats.org/officeDocument/2006/relationships/slide" Target="/ppt/slides/slide14.xml" Id="Rfa295b6b87724cd3" /><Relationship Type="http://schemas.openxmlformats.org/officeDocument/2006/relationships/slide" Target="/ppt/slides/slide15.xml" Id="R221f8cd5480d4a63" /><Relationship Type="http://schemas.openxmlformats.org/officeDocument/2006/relationships/slide" Target="/ppt/slides/slide16.xml" Id="Rced503bde04543ab" /><Relationship Type="http://schemas.openxmlformats.org/officeDocument/2006/relationships/slide" Target="/ppt/slides/slide17.xml" Id="R410bfda30f6f425e" /><Relationship Type="http://schemas.openxmlformats.org/officeDocument/2006/relationships/slide" Target="/ppt/slides/slide18.xml" Id="R376e9cf925a5422a" /><Relationship Type="http://schemas.openxmlformats.org/officeDocument/2006/relationships/slide" Target="/ppt/slides/slide19.xml" Id="R04dfdc4c74f1491f" /><Relationship Type="http://schemas.openxmlformats.org/officeDocument/2006/relationships/slide" Target="/ppt/slides/slide20.xml" Id="Rd3a700f49ce444a9" /><Relationship Type="http://schemas.openxmlformats.org/officeDocument/2006/relationships/slide" Target="/ppt/slides/slide21.xml" Id="R886d1cf6d4014ad8" /><Relationship Type="http://schemas.openxmlformats.org/officeDocument/2006/relationships/slide" Target="/ppt/slides/slide22.xml" Id="Rac7679b1ff404aaf" /><Relationship Type="http://schemas.openxmlformats.org/officeDocument/2006/relationships/slide" Target="/ppt/slides/slide23.xml" Id="Reebcff2825a7460b" /><Relationship Type="http://schemas.openxmlformats.org/officeDocument/2006/relationships/slide" Target="/ppt/slides/slide24.xml" Id="R252760cfe185437d" /><Relationship Type="http://schemas.openxmlformats.org/officeDocument/2006/relationships/slide" Target="/ppt/slides/slide25.xml" Id="R7050dfffad09419a" /><Relationship Type="http://schemas.openxmlformats.org/officeDocument/2006/relationships/slide" Target="/ppt/slides/slide26.xml" Id="R808eb76aab2f4d6d" /><Relationship Type="http://schemas.openxmlformats.org/officeDocument/2006/relationships/slide" Target="/ppt/slides/slide27.xml" Id="R904f4975bdf24592" /><Relationship Type="http://schemas.openxmlformats.org/officeDocument/2006/relationships/slide" Target="/ppt/slides/slide28.xml" Id="R87cb9baf5471487f" /><Relationship Type="http://schemas.openxmlformats.org/officeDocument/2006/relationships/slide" Target="/ppt/slides/slide29.xml" Id="R2bbcbcaaaccf4a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e5fc17d3df4e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ddcc5bdd384f16" /><Relationship Type="http://schemas.openxmlformats.org/officeDocument/2006/relationships/notesMaster" Target="/ppt/notesMasters/notesMaster1.xml" Id="Rd06dd5952f9145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77a5beb2354bb7" /><Relationship Type="http://schemas.openxmlformats.org/officeDocument/2006/relationships/notesMaster" Target="/ppt/notesMasters/notesMaster1.xml" Id="R4aa2b3a4a47844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4dff96d6544f5c" /><Relationship Type="http://schemas.openxmlformats.org/officeDocument/2006/relationships/notesMaster" Target="/ppt/notesMasters/notesMaster1.xml" Id="R0dc3df58510c49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8ac27632844fbc" /><Relationship Type="http://schemas.openxmlformats.org/officeDocument/2006/relationships/notesMaster" Target="/ppt/notesMasters/notesMaster1.xml" Id="R666d9b44b8fa49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9f99fc8dad4871" /><Relationship Type="http://schemas.openxmlformats.org/officeDocument/2006/relationships/notesMaster" Target="/ppt/notesMasters/notesMaster1.xml" Id="Refb47a22c9994f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3608171f5e4a49" /><Relationship Type="http://schemas.openxmlformats.org/officeDocument/2006/relationships/notesMaster" Target="/ppt/notesMasters/notesMaster1.xml" Id="R668cd73f9f97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78ab784f924cec" /><Relationship Type="http://schemas.openxmlformats.org/officeDocument/2006/relationships/notesMaster" Target="/ppt/notesMasters/notesMaster1.xml" Id="R6bd27b6d578d4f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7b90c801f64029" /><Relationship Type="http://schemas.openxmlformats.org/officeDocument/2006/relationships/notesMaster" Target="/ppt/notesMasters/notesMaster1.xml" Id="R62f780f6584941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abe301b73d4202" /><Relationship Type="http://schemas.openxmlformats.org/officeDocument/2006/relationships/notesMaster" Target="/ppt/notesMasters/notesMaster1.xml" Id="R1233bd1eac834b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771c9b82014cc0" /><Relationship Type="http://schemas.openxmlformats.org/officeDocument/2006/relationships/notesMaster" Target="/ppt/notesMasters/notesMaster1.xml" Id="R0f2f4efe84dd47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f03cdaf68b4107" /><Relationship Type="http://schemas.openxmlformats.org/officeDocument/2006/relationships/notesMaster" Target="/ppt/notesMasters/notesMaster1.xml" Id="R416a4cc97d6d40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b27ee799e948f0" /><Relationship Type="http://schemas.openxmlformats.org/officeDocument/2006/relationships/notesMaster" Target="/ppt/notesMasters/notesMaster1.xml" Id="Rafc1f6de73fc49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5d229730654bcc" /><Relationship Type="http://schemas.openxmlformats.org/officeDocument/2006/relationships/notesMaster" Target="/ppt/notesMasters/notesMaster1.xml" Id="Rc30da09904fa4c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747ac265024867" /><Relationship Type="http://schemas.openxmlformats.org/officeDocument/2006/relationships/notesMaster" Target="/ppt/notesMasters/notesMaster1.xml" Id="R21e8b47810b649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b1d6d2b3e7472c" /><Relationship Type="http://schemas.openxmlformats.org/officeDocument/2006/relationships/notesMaster" Target="/ppt/notesMasters/notesMaster1.xml" Id="Rcb210513030642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4f381b02d44a69" /><Relationship Type="http://schemas.openxmlformats.org/officeDocument/2006/relationships/notesMaster" Target="/ppt/notesMasters/notesMaster1.xml" Id="R2a82ae3d33034a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9bbe955480408f" /><Relationship Type="http://schemas.openxmlformats.org/officeDocument/2006/relationships/notesMaster" Target="/ppt/notesMasters/notesMaster1.xml" Id="R3ff6fa7db6e04f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4f2924bc5a4680" /><Relationship Type="http://schemas.openxmlformats.org/officeDocument/2006/relationships/notesMaster" Target="/ppt/notesMasters/notesMaster1.xml" Id="Rd3e22b1e0dd54e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899333cf1d4ce4" /><Relationship Type="http://schemas.openxmlformats.org/officeDocument/2006/relationships/notesMaster" Target="/ppt/notesMasters/notesMaster1.xml" Id="R04a1c2d152b04b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9ece10a18a4c92" /><Relationship Type="http://schemas.openxmlformats.org/officeDocument/2006/relationships/notesMaster" Target="/ppt/notesMasters/notesMaster1.xml" Id="R546c961ec9bc41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3981f17a144b86" /><Relationship Type="http://schemas.openxmlformats.org/officeDocument/2006/relationships/notesMaster" Target="/ppt/notesMasters/notesMaster1.xml" Id="R4238bcf433c941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4963d18b26482e" /><Relationship Type="http://schemas.openxmlformats.org/officeDocument/2006/relationships/notesMaster" Target="/ppt/notesMasters/notesMaster1.xml" Id="R0c3a8d74053b4f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c1f3aaaa1b468f" /><Relationship Type="http://schemas.openxmlformats.org/officeDocument/2006/relationships/notesMaster" Target="/ppt/notesMasters/notesMaster1.xml" Id="Rb62982bd14b849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4b2d7d025d481d" /><Relationship Type="http://schemas.openxmlformats.org/officeDocument/2006/relationships/notesMaster" Target="/ppt/notesMasters/notesMaster1.xml" Id="Rd68c54c3b7fc4ac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1001bc7cb3432e" /><Relationship Type="http://schemas.openxmlformats.org/officeDocument/2006/relationships/notesMaster" Target="/ppt/notesMasters/notesMaster1.xml" Id="R16bf99f60a2c41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bfd20e98b354cb3" /><Relationship Type="http://schemas.openxmlformats.org/officeDocument/2006/relationships/notesMaster" Target="/ppt/notesMasters/notesMaster1.xml" Id="R8e927e922ab84a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76f85c08644057" /><Relationship Type="http://schemas.openxmlformats.org/officeDocument/2006/relationships/notesMaster" Target="/ppt/notesMasters/notesMaster1.xml" Id="Rcff03514108f48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2a4ce00ad149c8" /><Relationship Type="http://schemas.openxmlformats.org/officeDocument/2006/relationships/notesMaster" Target="/ppt/notesMasters/notesMaster1.xml" Id="Rd8ee5e03e49c4e3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65862a1948a47f4" /><Relationship Type="http://schemas.openxmlformats.org/officeDocument/2006/relationships/notesMaster" Target="/ppt/notesMasters/notesMaster1.xml" Id="R13f261d57fc743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 哨望总体架构</a:t>
            </a:r>
          </a:p>
          <a:p xmlns:a="http://schemas.openxmlformats.org/drawingml/2006/main">
            <a:r>
              <a:t>报告位置：概述（缩略版）+ 2.1</a:t>
            </a:r>
          </a:p>
          <a:p xmlns:a="http://schemas.openxmlformats.org/drawingml/2006/main">
            <a:r>
              <a:t>技术内容沿用 ShaoWang-技术报告.docx 与原图源，依据 design-dossier.md D3.1。设计参数不代表已测或已部署。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F-02 监测—富化—问答闭环</a:t>
            </a:r>
          </a:p>
          <a:p xmlns:a="http://schemas.openxmlformats.org/drawingml/2006/main">
            <a:r>
              <a:t>报告位置：1.3</a:t>
            </a:r>
          </a:p>
          <a:p xmlns:a="http://schemas.openxmlformats.org/drawingml/2006/main">
            <a:r>
              <a:t>技术内容沿用 ShaoWang-技术报告.docx 与原图源，依据 design-dossier.md D1.1、D3.2。设计参数不代表已测或已部署。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F-03 端到端数据流与阶段时间戳</a:t>
            </a:r>
          </a:p>
          <a:p xmlns:a="http://schemas.openxmlformats.org/drawingml/2006/main">
            <a:r>
              <a:t>报告位置：2.2.1</a:t>
            </a:r>
          </a:p>
          <a:p xmlns:a="http://schemas.openxmlformats.org/drawingml/2006/main">
            <a:r>
              <a:t>技术内容沿用 ShaoWang-技术报告.docx 与原图源，依据 design-dossier.md D3.2、D2.8。设计参数不代表已测或已部署。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F-04 一条新公告从发布到可问答的时序</a:t>
            </a:r>
          </a:p>
          <a:p xmlns:a="http://schemas.openxmlformats.org/drawingml/2006/main">
            <a:r>
              <a:t>报告位置：2.2.2</a:t>
            </a:r>
          </a:p>
          <a:p xmlns:a="http://schemas.openxmlformats.org/drawingml/2006/main">
            <a:r>
              <a:t>技术内容沿用 ShaoWang-技术报告.docx 与原图源，依据 design-dossier.md D3.2、D5.3。设计参数不代表已测或已部署。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F-05 查询请求的处理路径</a:t>
            </a:r>
          </a:p>
          <a:p xmlns:a="http://schemas.openxmlformats.org/drawingml/2006/main">
            <a:r>
              <a:t>报告位置：2.2.3</a:t>
            </a:r>
          </a:p>
          <a:p xmlns:a="http://schemas.openxmlformats.org/drawingml/2006/main">
            <a:r>
              <a:t>技术内容沿用 ShaoWang-技术报告.docx 与原图源，依据 design-dossier.md D3.3、D3.4。设计参数不代表已测或已部署。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F-06 九个智能体的协作关系</a:t>
            </a:r>
          </a:p>
          <a:p xmlns:a="http://schemas.openxmlformats.org/drawingml/2006/main">
            <a:r>
              <a:t>报告位置：2.3.1</a:t>
            </a:r>
          </a:p>
          <a:p xmlns:a="http://schemas.openxmlformats.org/drawingml/2006/main">
            <a:r>
              <a:t>技术内容沿用 ShaoWang-技术报告.docx 与原图源，依据 design-dossier.md D4.1、D4.2。设计参数不代表已测或已部署。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F-07 任务状态机</a:t>
            </a:r>
          </a:p>
          <a:p xmlns:a="http://schemas.openxmlformats.org/drawingml/2006/main">
            <a:r>
              <a:t>报告位置：2.3.2</a:t>
            </a:r>
          </a:p>
          <a:p xmlns:a="http://schemas.openxmlformats.org/drawingml/2006/main">
            <a:r>
              <a:t>技术内容沿用 ShaoWang-技术报告.docx 与原图源，依据 design-dossier.md D4.3。设计参数不代表已测或已部署。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F-08 Critic 校验闭环</a:t>
            </a:r>
          </a:p>
          <a:p xmlns:a="http://schemas.openxmlformats.org/drawingml/2006/main">
            <a:r>
              <a:t>报告位置：2.3.3</a:t>
            </a:r>
          </a:p>
          <a:p xmlns:a="http://schemas.openxmlformats.org/drawingml/2006/main">
            <a:r>
              <a:t>技术内容沿用 ShaoWang-技术报告.docx 与原图源，依据 design-dossier.md D4.4。设计参数不代表已测或已部署。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F-09 九类数据源与三级可信度</a:t>
            </a:r>
          </a:p>
          <a:p xmlns:a="http://schemas.openxmlformats.org/drawingml/2006/main">
            <a:r>
              <a:t>报告位置：2.4.1</a:t>
            </a:r>
          </a:p>
          <a:p xmlns:a="http://schemas.openxmlformats.org/drawingml/2006/main">
            <a:r>
              <a:t>技术内容沿用 ShaoWang-技术报告.docx 与原图源，依据 design-dossier.md D5.1。设计参数不代表已测或已部署。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F-10 各来源采集节奏与目标时延</a:t>
            </a:r>
          </a:p>
          <a:p xmlns:a="http://schemas.openxmlformats.org/drawingml/2006/main">
            <a:r>
              <a:t>报告位置：2.4.2</a:t>
            </a:r>
          </a:p>
          <a:p xmlns:a="http://schemas.openxmlformats.org/drawingml/2006/main">
            <a:r>
              <a:t>技术内容沿用 ShaoWang-技术报告.docx 与原图源，依据 design-dossier.md D5.2。设计参数不代表已测或已部署。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F-11 去重与合并的三层处理</a:t>
            </a:r>
          </a:p>
          <a:p xmlns:a="http://schemas.openxmlformats.org/drawingml/2006/main">
            <a:r>
              <a:t>报告位置：2.4.3</a:t>
            </a:r>
          </a:p>
          <a:p xmlns:a="http://schemas.openxmlformats.org/drawingml/2006/main">
            <a:r>
              <a:t>技术内容沿用 ShaoWang-技术报告.docx 与原图源，依据 design-dossier.md D5.4。设计参数不代表已测或已部署。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F-12 九维富化画像</a:t>
            </a:r>
          </a:p>
          <a:p xmlns:a="http://schemas.openxmlformats.org/drawingml/2006/main">
            <a:r>
              <a:t>报告位置：2.5.1</a:t>
            </a:r>
          </a:p>
          <a:p xmlns:a="http://schemas.openxmlformats.org/drawingml/2006/main">
            <a:r>
              <a:t>技术内容沿用 ShaoWang-技术报告.docx 与原图源，依据 design-dossier.md D6.1。设计参数不代表已测或已部署。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F-13 暴露面计数的语法校准</a:t>
            </a:r>
          </a:p>
          <a:p xmlns:a="http://schemas.openxmlformats.org/drawingml/2006/main">
            <a:r>
              <a:t>报告位置：2.5.1 或 4.6.2</a:t>
            </a:r>
          </a:p>
          <a:p xmlns:a="http://schemas.openxmlformats.org/drawingml/2006/main">
            <a:r>
              <a:t>技术内容沿用 ShaoWang-技术报告.docx 与原图源，依据 design-dossier.md D18.2。设计参数不代表已测或已部署。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F-14 六类自动关联</a:t>
            </a:r>
          </a:p>
          <a:p xmlns:a="http://schemas.openxmlformats.org/drawingml/2006/main">
            <a:r>
              <a:t>报告位置：2.5.2</a:t>
            </a:r>
          </a:p>
          <a:p xmlns:a="http://schemas.openxmlformats.org/drawingml/2006/main">
            <a:r>
              <a:t>技术内容沿用 ShaoWang-技术报告.docx 与原图源，依据 design-dossier.md D6.3。设计参数不代表已测或已部署。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F-15 多源冲突的逐字段裁决</a:t>
            </a:r>
          </a:p>
          <a:p xmlns:a="http://schemas.openxmlformats.org/drawingml/2006/main">
            <a:r>
              <a:t>报告位置：2.5.3</a:t>
            </a:r>
          </a:p>
          <a:p xmlns:a="http://schemas.openxmlformats.org/drawingml/2006/main">
            <a:r>
              <a:t>技术内容沿用 ShaoWang-技术报告.docx 与原图源，依据 design-dossier.md D6.4。设计参数不代表已测或已部署。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F-16 版本自查流程</a:t>
            </a:r>
          </a:p>
          <a:p xmlns:a="http://schemas.openxmlformats.org/drawingml/2006/main">
            <a:r>
              <a:t>报告位置：2.5.4</a:t>
            </a:r>
          </a:p>
          <a:p xmlns:a="http://schemas.openxmlformats.org/drawingml/2006/main">
            <a:r>
              <a:t>技术内容沿用 ShaoWang-技术报告.docx 与原图源，依据 design-dossier.md D6.5。设计参数不代表已测或已部署。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F-17 三路混合检索与 GraphRAG 问答流程</a:t>
            </a:r>
          </a:p>
          <a:p xmlns:a="http://schemas.openxmlformats.org/drawingml/2006/main">
            <a:r>
              <a:t>报告位置：2.6.1</a:t>
            </a:r>
          </a:p>
          <a:p xmlns:a="http://schemas.openxmlformats.org/drawingml/2006/main">
            <a:r>
              <a:t>技术内容沿用 ShaoWang-技术报告.docx 与原图源，依据 design-dossier.md D7.1–D7.3。设计参数不代表已测或已部署。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F-18 多跳问答的推理链示例</a:t>
            </a:r>
          </a:p>
          <a:p xmlns:a="http://schemas.openxmlformats.org/drawingml/2006/main">
            <a:r>
              <a:t>报告位置：2.6.2</a:t>
            </a:r>
          </a:p>
          <a:p xmlns:a="http://schemas.openxmlformats.org/drawingml/2006/main">
            <a:r>
              <a:t>技术内容沿用 ShaoWang-技术报告.docx 与原图源，依据 design-dossier.md D7.2。设计参数不代表已测或已部署。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F-19 MCP 与插件生态全景</a:t>
            </a:r>
          </a:p>
          <a:p xmlns:a="http://schemas.openxmlformats.org/drawingml/2006/main">
            <a:r>
              <a:t>报告位置：2.7.1 / 2.7.3</a:t>
            </a:r>
          </a:p>
          <a:p xmlns:a="http://schemas.openxmlformats.org/drawingml/2006/main">
            <a:r>
              <a:t>技术内容沿用 ShaoWang-技术报告.docx 与原图源，依据 design-dossier.md D8、D9.3。设计参数不代表已测或已部署。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F-20 插件生命周期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F-21 公开 Schema 与 OSV / STIX 2.1 / CSAF 2.0 的对应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D9.1、D9.2。设计参数不代表已测或已部署。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F-22 技术栈分层</a:t>
            </a:r>
          </a:p>
          <a:p xmlns:a="http://schemas.openxmlformats.org/drawingml/2006/main">
            <a:r>
              <a:t>报告位置：2.8</a:t>
            </a:r>
          </a:p>
          <a:p xmlns:a="http://schemas.openxmlformats.org/drawingml/2006/main">
            <a:r>
              <a:t>技术内容沿用 ShaoWang-技术报告.docx 与原图源，依据 design-dossier.md D10。设计参数不代表已测或已部署。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F-23 docker compose 单机部署结构</a:t>
            </a:r>
          </a:p>
          <a:p xmlns:a="http://schemas.openxmlformats.org/drawingml/2006/main">
            <a:r>
              <a:t>报告位置：3.1.1</a:t>
            </a:r>
          </a:p>
          <a:p xmlns:a="http://schemas.openxmlformats.org/drawingml/2006/main">
            <a:r>
              <a:t>技术内容沿用 ShaoWang-技术报告.docx 与原图源，依据 design-dossier.md D3.5。设计参数不代表已测或已部署。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F-24 知识图谱数据模型</a:t>
            </a:r>
          </a:p>
          <a:p xmlns:a="http://schemas.openxmlformats.org/drawingml/2006/main">
            <a:r>
              <a:t>报告位置：3.1.2</a:t>
            </a:r>
          </a:p>
          <a:p xmlns:a="http://schemas.openxmlformats.org/drawingml/2006/main">
            <a:r>
              <a:t>技术内容沿用 ShaoWang-技术报告.docx 与原图源，依据 design-dossier.md D11.2、D2.7。设计参数不代表已测或已部署。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F-25 失败重试、死信重放与熔断降级</a:t>
            </a:r>
          </a:p>
          <a:p xmlns:a="http://schemas.openxmlformats.org/drawingml/2006/main">
            <a:r>
              <a:t>报告位置：3.1.3</a:t>
            </a:r>
          </a:p>
          <a:p xmlns:a="http://schemas.openxmlformats.org/drawingml/2006/main">
            <a:r>
              <a:t>技术内容沿用 ShaoWang-技术报告.docx 与原图源，依据 design-dossier.md D12.1、D12.2。设计参数不代表已测或已部署。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F-26 对外合规边界</a:t>
            </a:r>
          </a:p>
          <a:p xmlns:a="http://schemas.openxmlformats.org/drawingml/2006/main">
            <a:r>
              <a:t>报告位置：3.1.5</a:t>
            </a:r>
          </a:p>
          <a:p xmlns:a="http://schemas.openxmlformats.org/drawingml/2006/main">
            <a:r>
              <a:t>技术内容沿用 ShaoWang-技术报告.docx 与原图源，依据 design-dossier.md D13。设计参数不代表已测或已部署。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F-27 时效统计的时间戳定义</a:t>
            </a:r>
          </a:p>
          <a:p xmlns:a="http://schemas.openxmlformats.org/drawingml/2006/main">
            <a:r>
              <a:t>报告位置：4.2.1</a:t>
            </a:r>
          </a:p>
          <a:p xmlns:a="http://schemas.openxmlformats.org/drawingml/2006/main">
            <a:r>
              <a:t>技术内容沿用 ShaoWang-技术报告.docx 与原图源，依据 design-dossier.md D2.8、D16.3。设计参数不代表已测或已部署。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F-29 七项创新点总览</a:t>
            </a:r>
          </a:p>
          <a:p xmlns:a="http://schemas.openxmlformats.org/drawingml/2006/main">
            <a:r>
              <a:t>报告位置：第五章开头</a:t>
            </a:r>
          </a:p>
          <a:p xmlns:a="http://schemas.openxmlformats.org/drawingml/2006/main">
            <a:r>
              <a:t>技术内容沿用 ShaoWang-技术报告.docx 与原图源，依据 design-dossier.md D17。设计参数不代表已测或已部署。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F-30 评测体系总览</a:t>
            </a:r>
          </a:p>
          <a:p xmlns:a="http://schemas.openxmlformats.org/drawingml/2006/main">
            <a:r>
              <a:t>报告位置：4.1</a:t>
            </a:r>
          </a:p>
          <a:p xmlns:a="http://schemas.openxmlformats.org/drawingml/2006/main">
            <a:r>
              <a:t>技术内容沿用 ShaoWang-技术报告.docx 与原图源，依据 design-dossier.md D16。设计参数不代表已测或已部署。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42fe4375e41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8c361aafc4a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f8db6b48b4b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e5299ac0245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152b617d54f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0c5031e8a4f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C2E7B3-DF02-48BE-B050-C22E35A49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022600"/>
            <a:ext cx="9144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1D0B6F-9354-44C1-8AD9-84F3F20045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4400550"/>
            <a:ext cx="8001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AFB57C-8E3F-4698-B308-2C4904292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333750"/>
            <a:ext cx="914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59AB1D-149E-4D69-8947-91E95DBC7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1D6B73-76D9-4DCA-8DE0-C76B45833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1014412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5BE772-24DA-4440-9081-A757F6F35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149BF7-00F4-4355-BB1D-11C432D9A5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DF0522-7205-44CA-BA90-0B3A6D581A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B68274-79C7-463A-B9F1-5D98A8F6E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9BA970-0154-4DFD-ACF0-C79E0C8F36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4bfc16c0ad4a5f" /><Relationship Type="http://schemas.openxmlformats.org/officeDocument/2006/relationships/slideLayout" Target="/ppt/slideLayouts/slideLayout1.xml" Id="R16ddd1977ab94e27" /><Relationship Type="http://schemas.openxmlformats.org/officeDocument/2006/relationships/slideLayout" Target="/ppt/slideLayouts/slideLayout2.xml" Id="R65fb644da27d4c25" /><Relationship Type="http://schemas.openxmlformats.org/officeDocument/2006/relationships/slideLayout" Target="/ppt/slideLayouts/slideLayout3.xml" Id="Rb28131a82c4d476b" /><Relationship Type="http://schemas.openxmlformats.org/officeDocument/2006/relationships/slideLayout" Target="/ppt/slideLayouts/slideLayout4.xml" Id="Rbda53463f6c7448a" /><Relationship Type="http://schemas.openxmlformats.org/officeDocument/2006/relationships/slideLayout" Target="/ppt/slideLayouts/slideLayout5.xml" Id="Rb530cd9529c04ba2" /><Relationship Type="http://schemas.openxmlformats.org/officeDocument/2006/relationships/slideLayout" Target="/ppt/slideLayouts/slideLayout6.xml" Id="Rccd1be141cb34d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ddd1977ab94e27"/>
    <p:sldLayoutId xmlns:r="http://schemas.openxmlformats.org/officeDocument/2006/relationships" id="2147483650" r:id="R65fb644da27d4c25"/>
    <p:sldLayoutId xmlns:r="http://schemas.openxmlformats.org/officeDocument/2006/relationships" id="2147483651" r:id="Rb28131a82c4d476b"/>
    <p:sldLayoutId xmlns:r="http://schemas.openxmlformats.org/officeDocument/2006/relationships" id="2147483652" r:id="Rbda53463f6c7448a"/>
    <p:sldLayoutId xmlns:r="http://schemas.openxmlformats.org/officeDocument/2006/relationships" id="2147483653" r:id="Rb530cd9529c04ba2"/>
    <p:sldLayoutId xmlns:r="http://schemas.openxmlformats.org/officeDocument/2006/relationships" id="2147483654" r:id="Rccd1be141cb34d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be4f3af13a4042" /><Relationship Type="http://schemas.openxmlformats.org/officeDocument/2006/relationships/notesSlide" Target="/ppt/notesSlides/notesSlide1.xml" Id="Rb09b9f40fe4d47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9c61ec7ca4cdf" /><Relationship Type="http://schemas.openxmlformats.org/officeDocument/2006/relationships/notesSlide" Target="/ppt/notesSlides/notesSlide2.xml" Id="R2bbb674805dc44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b9880c97f47f8" /><Relationship Type="http://schemas.openxmlformats.org/officeDocument/2006/relationships/notesSlide" Target="/ppt/notesSlides/notesSlide3.xml" Id="Ra2dd8517183d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6f49276d64896" /><Relationship Type="http://schemas.openxmlformats.org/officeDocument/2006/relationships/notesSlide" Target="/ppt/notesSlides/notesSlide4.xml" Id="R7eb7b0ff9c7b4b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e1f6ed9034382" /><Relationship Type="http://schemas.openxmlformats.org/officeDocument/2006/relationships/notesSlide" Target="/ppt/notesSlides/notesSlide5.xml" Id="R407c1f8084634a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11337b977454a" /><Relationship Type="http://schemas.openxmlformats.org/officeDocument/2006/relationships/notesSlide" Target="/ppt/notesSlides/notesSlide6.xml" Id="R0bf336b9702147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2398b42184554" /><Relationship Type="http://schemas.openxmlformats.org/officeDocument/2006/relationships/notesSlide" Target="/ppt/notesSlides/notesSlide7.xml" Id="Raff5f873a2a948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e36b557ec46bd" /><Relationship Type="http://schemas.openxmlformats.org/officeDocument/2006/relationships/notesSlide" Target="/ppt/notesSlides/notesSlide8.xml" Id="R1bae8aec80f147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587cfa81942d4" /><Relationship Type="http://schemas.openxmlformats.org/officeDocument/2006/relationships/notesSlide" Target="/ppt/notesSlides/notesSlide9.xml" Id="R9ff3f0f29ce749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9251299fd4624" /><Relationship Type="http://schemas.openxmlformats.org/officeDocument/2006/relationships/notesSlide" Target="/ppt/notesSlides/notesSlide10.xml" Id="R7011da225ed442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a5431269c4036" /><Relationship Type="http://schemas.openxmlformats.org/officeDocument/2006/relationships/notesSlide" Target="/ppt/notesSlides/notesSlide11.xml" Id="R34d04ecc415345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ee4d388b04b36" /><Relationship Type="http://schemas.openxmlformats.org/officeDocument/2006/relationships/notesSlide" Target="/ppt/notesSlides/notesSlide12.xml" Id="R774efcbea4dc4c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c8dfd7ab441c3" /><Relationship Type="http://schemas.openxmlformats.org/officeDocument/2006/relationships/notesSlide" Target="/ppt/notesSlides/notesSlide13.xml" Id="Rd83ab8ed3ead47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73a7d489974fcd" /><Relationship Type="http://schemas.openxmlformats.org/officeDocument/2006/relationships/notesSlide" Target="/ppt/notesSlides/notesSlide14.xml" Id="Rb17341d6a05e49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27352d0ae452b" /><Relationship Type="http://schemas.openxmlformats.org/officeDocument/2006/relationships/notesSlide" Target="/ppt/notesSlides/notesSlide15.xml" Id="R553c8b362e4f48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7c2dfca6a42a3" /><Relationship Type="http://schemas.openxmlformats.org/officeDocument/2006/relationships/notesSlide" Target="/ppt/notesSlides/notesSlide16.xml" Id="R7948710498a742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c84bc876954e34" /><Relationship Type="http://schemas.openxmlformats.org/officeDocument/2006/relationships/notesSlide" Target="/ppt/notesSlides/notesSlide17.xml" Id="R4d169d0643054d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fa0b5f64c40fe" /><Relationship Type="http://schemas.openxmlformats.org/officeDocument/2006/relationships/notesSlide" Target="/ppt/notesSlides/notesSlide18.xml" Id="R505fbdc0072641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62c36f5b84fbd" /><Relationship Type="http://schemas.openxmlformats.org/officeDocument/2006/relationships/notesSlide" Target="/ppt/notesSlides/notesSlide19.xml" Id="R477a5c9a7d574f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1b145d5304219" /><Relationship Type="http://schemas.openxmlformats.org/officeDocument/2006/relationships/notesSlide" Target="/ppt/notesSlides/notesSlide20.xml" Id="R47badca0953f4c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eac5924be4416" /><Relationship Type="http://schemas.openxmlformats.org/officeDocument/2006/relationships/notesSlide" Target="/ppt/notesSlides/notesSlide21.xml" Id="Rb340bf806fd649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7c5e92140462e" /><Relationship Type="http://schemas.openxmlformats.org/officeDocument/2006/relationships/notesSlide" Target="/ppt/notesSlides/notesSlide22.xml" Id="Ra24e1bb9af1c43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f3929e65f4ee0" /><Relationship Type="http://schemas.openxmlformats.org/officeDocument/2006/relationships/notesSlide" Target="/ppt/notesSlides/notesSlide23.xml" Id="R67caf06ff6f44f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f59a9bc4846b6" /><Relationship Type="http://schemas.openxmlformats.org/officeDocument/2006/relationships/notesSlide" Target="/ppt/notesSlides/notesSlide24.xml" Id="Rc10b259c167540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e88d092884efa" /><Relationship Type="http://schemas.openxmlformats.org/officeDocument/2006/relationships/notesSlide" Target="/ppt/notesSlides/notesSlide25.xml" Id="Rcce7acd1e901465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2bca7d9034a46" /><Relationship Type="http://schemas.openxmlformats.org/officeDocument/2006/relationships/notesSlide" Target="/ppt/notesSlides/notesSlide26.xml" Id="R87e3570dd47b4ca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33237cac847da" /><Relationship Type="http://schemas.openxmlformats.org/officeDocument/2006/relationships/notesSlide" Target="/ppt/notesSlides/notesSlide27.xml" Id="R039c78e4c41445c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222516117409a" /><Relationship Type="http://schemas.openxmlformats.org/officeDocument/2006/relationships/notesSlide" Target="/ppt/notesSlides/notesSlide28.xml" Id="R2cfcca2826a644e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e0efe7a1b4747" /><Relationship Type="http://schemas.openxmlformats.org/officeDocument/2006/relationships/notesSlide" Target="/ppt/notesSlides/notesSlide29.xml" Id="R535d8b52882541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B45D7D-4160-48FD-B9D1-1125352BB137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 flipV="1">
            <a:off x="295275" y="1648302"/>
            <a:ext cx="953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75AFE4-D5E5-42A1-B0D7-A364C84F63AF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8772525" y="1457802"/>
            <a:ext cx="953" cy="528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</a:ln>
        </p:spPr>
      </p:cxnSp>
      <p:sp>
        <p:nvSpPr>
          <p:cNvPr id="45" name="F-01">
            <a:extLst xmlns:a="http://schemas.openxmlformats.org/drawingml/2006/main">
              <a:ext uri="{FF2B5EF4-FFF2-40B4-BE49-F238E27FC236}">
                <a16:creationId xmlns:a16="http://schemas.microsoft.com/office/drawing/2014/main" id="{DA0D51BE-4CF5-43DF-949C-384918AE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F-01</a:t>
            </a:r>
          </a:p>
        </p:txBody>
      </p:sp>
      <p:sp>
        <p:nvSpPr>
          <p:cNvPr id="2" name="哨望总体架构">
            <a:extLst xmlns:a="http://schemas.openxmlformats.org/drawingml/2006/main">
              <a:ext uri="{FF2B5EF4-FFF2-40B4-BE49-F238E27FC236}">
                <a16:creationId xmlns:a16="http://schemas.microsoft.com/office/drawing/2014/main" id="{F4241EDB-B6DE-40D7-BD7D-0290787C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哨望总体架构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07374105-4B2D-4766-AA11-2512705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C889718D-C0A5-4FDB-B5E1-7397892F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BA6D939C-D79C-44F0-AFD5-B1CEC1FB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23541D1-CB51-461C-BE5A-BBF81954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7" name="接入层">
            <a:extLst xmlns:a="http://schemas.openxmlformats.org/drawingml/2006/main">
              <a:ext uri="{FF2B5EF4-FFF2-40B4-BE49-F238E27FC236}">
                <a16:creationId xmlns:a16="http://schemas.microsoft.com/office/drawing/2014/main" id="{44D8CF7F-50A8-4A99-A8F1-C277438C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430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接入层</a:t>
            </a:r>
          </a:p>
        </p:txBody>
      </p:sp>
      <p:sp>
        <p:nvSpPr>
          <p:cNvPr id="8" name="Web / MCP 7 工具 / OpenAPI CLI / Agent Plugins">
            <a:extLst xmlns:a="http://schemas.openxmlformats.org/drawingml/2006/main">
              <a:ext uri="{FF2B5EF4-FFF2-40B4-BE49-F238E27FC236}">
                <a16:creationId xmlns:a16="http://schemas.microsoft.com/office/drawing/2014/main" id="{CD51333C-2892-4461-9C3B-916D1D1E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668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 / MCP 7 工具 / OpenAPI</a:t>
            </a:r>
          </a:p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CLI / Agent Plugins</a:t>
            </a:r>
          </a:p>
        </p:txBody>
      </p:sp>
      <p:sp>
        <p:nvSpPr>
          <p:cNvPr id="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D381B6E-20A2-4494-86B2-A038E6C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F530A9C8-3F94-4F08-AA64-AD11402E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7AFA01A0-D422-41EF-BC80-386E5C5A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2" name="服务层">
            <a:extLst xmlns:a="http://schemas.openxmlformats.org/drawingml/2006/main">
              <a:ext uri="{FF2B5EF4-FFF2-40B4-BE49-F238E27FC236}">
                <a16:creationId xmlns:a16="http://schemas.microsoft.com/office/drawing/2014/main" id="{5AE4D43A-94C7-455A-8F33-37448A50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860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3" name="intel-core    GraphRAG    鉴权与结果裁剪">
            <a:extLst xmlns:a="http://schemas.openxmlformats.org/drawingml/2006/main">
              <a:ext uri="{FF2B5EF4-FFF2-40B4-BE49-F238E27FC236}">
                <a16:creationId xmlns:a16="http://schemas.microsoft.com/office/drawing/2014/main" id="{81C2681D-CB21-40EA-9122-16E9C207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98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    GraphRAG    鉴权与结果裁剪</a:t>
            </a:r>
          </a:p>
        </p:txBody>
      </p:sp>
      <p:sp>
        <p:nvSpPr>
          <p:cNvPr id="1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E0AB89CB-F4E2-4844-BF88-1FDBBB80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F534B9CB-B859-4956-B448-1E79B354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C3F4CD4-E831-46A2-8659-E29A9B73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7" name="智能体编排层">
            <a:extLst xmlns:a="http://schemas.openxmlformats.org/drawingml/2006/main">
              <a:ext uri="{FF2B5EF4-FFF2-40B4-BE49-F238E27FC236}">
                <a16:creationId xmlns:a16="http://schemas.microsoft.com/office/drawing/2014/main" id="{CA3E02C7-1F0C-4767-8836-E78E18A7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290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智能体编排层</a:t>
            </a:r>
          </a:p>
        </p:txBody>
      </p:sp>
      <p:sp>
        <p:nvSpPr>
          <p:cNvPr id="18" name="Orchestrator + 8 个角色    LangGraph">
            <a:extLst xmlns:a="http://schemas.openxmlformats.org/drawingml/2006/main">
              <a:ext uri="{FF2B5EF4-FFF2-40B4-BE49-F238E27FC236}">
                <a16:creationId xmlns:a16="http://schemas.microsoft.com/office/drawing/2014/main" id="{0793D7DF-C78C-4843-A432-448CA4B2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Orchestrator + 8 个角色    LangGraph</a:t>
            </a:r>
          </a:p>
        </p:txBody>
      </p:sp>
      <p:sp>
        <p:nvSpPr>
          <p:cNvPr id="1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9FF341A-5B4D-4F7D-848B-0AA9C8D5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633F9DEB-3B4A-42AE-835F-66454262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C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26B51755-8831-42D4-8344-43851FF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2" name="知识层">
            <a:extLst xmlns:a="http://schemas.openxmlformats.org/drawingml/2006/main">
              <a:ext uri="{FF2B5EF4-FFF2-40B4-BE49-F238E27FC236}">
                <a16:creationId xmlns:a16="http://schemas.microsoft.com/office/drawing/2014/main" id="{E31C85A8-843F-41B8-8FAE-E08DDAB3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7197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3" name="PostgreSQL + pgvector    Neo4j    OpenSearch MinIO    Redis Streams 或 NATS JetStream">
            <a:extLst xmlns:a="http://schemas.openxmlformats.org/drawingml/2006/main">
              <a:ext uri="{FF2B5EF4-FFF2-40B4-BE49-F238E27FC236}">
                <a16:creationId xmlns:a16="http://schemas.microsoft.com/office/drawing/2014/main" id="{8ADD2531-9AAE-4690-A15B-32AE67C5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9577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PostgreSQL + pgvector    Neo4j    OpenSearch</a:t>
            </a:r>
          </a:p>
          <a:p xmlns:a="http://schemas.openxmlformats.org/drawingml/2006/main">
            <a:pPr algn="l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    Redis Streams 或 NATS JetStream</a:t>
            </a:r>
          </a:p>
        </p:txBody>
      </p:sp>
      <p:sp>
        <p:nvSpPr>
          <p:cNvPr id="2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2F16786-41E0-481F-92C9-6AFB46EB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D1285685-C03B-4BD2-9C50-C3A6C4C3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0AE79094-A169-40D1-BB94-FDC36C37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7" name="采集层">
            <a:extLst xmlns:a="http://schemas.openxmlformats.org/drawingml/2006/main">
              <a:ext uri="{FF2B5EF4-FFF2-40B4-BE49-F238E27FC236}">
                <a16:creationId xmlns:a16="http://schemas.microsoft.com/office/drawing/2014/main" id="{42CA1B26-34E0-4E91-B02B-A228A598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149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28" name="Connector × N    自有仓库 webhook">
            <a:extLst xmlns:a="http://schemas.openxmlformats.org/drawingml/2006/main">
              <a:ext uri="{FF2B5EF4-FFF2-40B4-BE49-F238E27FC236}">
                <a16:creationId xmlns:a16="http://schemas.microsoft.com/office/drawing/2014/main" id="{05DAC16D-9046-40D4-A502-81A71535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Connector × N    自有仓库 webhook</a:t>
            </a:r>
          </a:p>
        </p:txBody>
      </p:sp>
      <p:sp>
        <p:nvSpPr>
          <p:cNvPr id="2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DD819822-F1D4-4C38-AE31-C440D206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86C6119D-35BC-4746-BBD2-C1FA535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D21A321-B566-4463-951D-3945D078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32" name="数据源层">
            <a:extLst xmlns:a="http://schemas.openxmlformats.org/drawingml/2006/main">
              <a:ext uri="{FF2B5EF4-FFF2-40B4-BE49-F238E27FC236}">
                <a16:creationId xmlns:a16="http://schemas.microsoft.com/office/drawing/2014/main" id="{7E60CB3A-A500-4F2A-A5B1-17F1F939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2579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数据源层</a:t>
            </a:r>
          </a:p>
        </p:txBody>
      </p:sp>
      <p:sp>
        <p:nvSpPr>
          <p:cNvPr id="33" name="9 类来源    三级可信度    分级轮询">
            <a:extLst xmlns:a="http://schemas.openxmlformats.org/drawingml/2006/main">
              <a:ext uri="{FF2B5EF4-FFF2-40B4-BE49-F238E27FC236}">
                <a16:creationId xmlns:a16="http://schemas.microsoft.com/office/drawing/2014/main" id="{198A8633-732D-4F0D-A100-F625B93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817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    三级可信度    分级轮询</a:t>
            </a:r>
          </a:p>
        </p:txBody>
      </p:sp>
      <p:sp>
        <p:nvSpPr>
          <p:cNvPr id="34" name="时效可观测">
            <a:extLst xmlns:a="http://schemas.openxmlformats.org/drawingml/2006/main">
              <a:ext uri="{FF2B5EF4-FFF2-40B4-BE49-F238E27FC236}">
                <a16:creationId xmlns:a16="http://schemas.microsoft.com/office/drawing/2014/main" id="{FABE16CE-BB84-4A27-AB47-740D8BFD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</a:t>
            </a:r>
          </a:p>
        </p:txBody>
      </p:sp>
      <p:sp>
        <p:nvSpPr>
          <p:cNvPr id="35" name="可信与裁决">
            <a:extLst xmlns:a="http://schemas.openxmlformats.org/drawingml/2006/main">
              <a:ext uri="{FF2B5EF4-FFF2-40B4-BE49-F238E27FC236}">
                <a16:creationId xmlns:a16="http://schemas.microsoft.com/office/drawing/2014/main" id="{7F406905-71BA-48D6-8595-0D7CCC67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0825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可信与裁决</a:t>
            </a:r>
          </a:p>
        </p:txBody>
      </p:sp>
      <p:sp>
        <p:nvSpPr>
          <p:cNvPr id="36" name="合规边界">
            <a:extLst xmlns:a="http://schemas.openxmlformats.org/drawingml/2006/main">
              <a:ext uri="{FF2B5EF4-FFF2-40B4-BE49-F238E27FC236}">
                <a16:creationId xmlns:a16="http://schemas.microsoft.com/office/drawing/2014/main" id="{0A36023E-BF34-43AE-95EE-D3CEF749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529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合规边界</a:t>
            </a:r>
          </a:p>
        </p:txBody>
      </p:sp>
      <p:sp>
        <p:nvSpPr>
          <p:cNvPr id="37" name="开放生态">
            <a:extLst xmlns:a="http://schemas.openxmlformats.org/drawingml/2006/main">
              <a:ext uri="{FF2B5EF4-FFF2-40B4-BE49-F238E27FC236}">
                <a16:creationId xmlns:a16="http://schemas.microsoft.com/office/drawing/2014/main" id="{7F6BFD37-E6B4-4C9E-8C9E-068DD82B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14975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开放生态</a:t>
            </a:r>
          </a:p>
        </p:txBody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471BDB79-FE9C-489B-853C-AE4ADAD9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45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C0DE98C9-0265-4B75-B92C-D6A60DEC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674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18068B5E-7E7C-406B-BC05-28253A9A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6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FC28DCAF-D2CB-426D-AF58-7996918F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4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PostgreSQL 是事实源；outbox 同步图库与全文索引">
            <a:extLst xmlns:a="http://schemas.openxmlformats.org/drawingml/2006/main">
              <a:ext uri="{FF2B5EF4-FFF2-40B4-BE49-F238E27FC236}">
                <a16:creationId xmlns:a16="http://schemas.microsoft.com/office/drawing/2014/main" id="{706AE9AC-1AA6-4CAA-89B1-0EF74C98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PostgreSQL 是事实源；outbox 同步图库与全文索引</a:t>
            </a:r>
          </a:p>
        </p:txBody>
      </p:sp>
    </p:spTree>
    <p:extLst>
      <p:ext uri="{BB962C8B-B14F-4D97-AF65-F5344CB8AC3E}">
        <p14:creationId xmlns:p14="http://schemas.microsoft.com/office/powerpoint/2010/main" val="305003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76F1E-AFE5-4AC7-B00E-40D5FF0F1FD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715000" y="4610100"/>
            <a:ext cx="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59D471-63B6-499D-A24D-1F448DA420E6}"/>
              </a:ext>
            </a:extLst>
          </p:cNvPr>
          <p:cNvCxnSpPr>
            <a:stCxn xmlns:a="http://schemas.openxmlformats.org/drawingml/2006/main" id="13" idx="4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381875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EB2462-0852-42D1-95B9-AA21EBAAD76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3333750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27BB26-D61D-4B91-8BA8-97C40B3A6E63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204787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6FD6F-480E-46BC-80C9-DBBD19551857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2047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26F34-474A-4023-A803-D3F0378A5609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7000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DB0B0-1A81-4FDA-B601-5F07005D05B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938212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1B7B6-5564-4425-BFBC-67C801A541D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34703" y="2286477"/>
            <a:ext cx="4761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9" name="F-02">
            <a:extLst xmlns:a="http://schemas.openxmlformats.org/drawingml/2006/main">
              <a:ext uri="{FF2B5EF4-FFF2-40B4-BE49-F238E27FC236}">
                <a16:creationId xmlns:a16="http://schemas.microsoft.com/office/drawing/2014/main" id="{42C82981-09FC-4EC3-A3F5-AEC88997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F-02</a:t>
            </a:r>
          </a:p>
        </p:txBody>
      </p:sp>
      <p:sp>
        <p:nvSpPr>
          <p:cNvPr id="2" name="监测—富化—问答闭环">
            <a:extLst xmlns:a="http://schemas.openxmlformats.org/drawingml/2006/main">
              <a:ext uri="{FF2B5EF4-FFF2-40B4-BE49-F238E27FC236}">
                <a16:creationId xmlns:a16="http://schemas.microsoft.com/office/drawing/2014/main" id="{E6A1314A-601F-480A-B3D1-22D2556C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监测—富化—问答闭环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A52AE06F-886F-4783-BEAE-26C9F05C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9AF53DE8-9110-4184-8781-F7243D1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监测">
            <a:extLst xmlns:a="http://schemas.openxmlformats.org/drawingml/2006/main">
              <a:ext uri="{FF2B5EF4-FFF2-40B4-BE49-F238E27FC236}">
                <a16:creationId xmlns:a16="http://schemas.microsoft.com/office/drawing/2014/main" id="{8A547F87-C437-4DC6-B54F-196405E0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监测</a:t>
            </a:r>
          </a:p>
        </p:txBody>
      </p:sp>
      <p:sp>
        <p:nvSpPr>
          <p:cNvPr id="6" name="9 类来源 持续发现与归一">
            <a:extLst xmlns:a="http://schemas.openxmlformats.org/drawingml/2006/main">
              <a:ext uri="{FF2B5EF4-FFF2-40B4-BE49-F238E27FC236}">
                <a16:creationId xmlns:a16="http://schemas.microsoft.com/office/drawing/2014/main" id="{5BF98C3C-F120-4250-ACB0-9DA5DD7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持续发现与归一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7FC3F6AF-D346-4412-A33E-6557A53B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富化">
            <a:extLst xmlns:a="http://schemas.openxmlformats.org/drawingml/2006/main">
              <a:ext uri="{FF2B5EF4-FFF2-40B4-BE49-F238E27FC236}">
                <a16:creationId xmlns:a16="http://schemas.microsoft.com/office/drawing/2014/main" id="{41692B15-9579-457C-AF22-CA0C45AE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9" name="9 个维度 实体、关系与证据">
            <a:extLst xmlns:a="http://schemas.openxmlformats.org/drawingml/2006/main">
              <a:ext uri="{FF2B5EF4-FFF2-40B4-BE49-F238E27FC236}">
                <a16:creationId xmlns:a16="http://schemas.microsoft.com/office/drawing/2014/main" id="{A343B46E-1200-4FC7-9F8C-7D51D844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个维度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实体、关系与证据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834DE9A8-80AF-43A8-A6C9-005823C0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340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问答">
            <a:extLst xmlns:a="http://schemas.openxmlformats.org/drawingml/2006/main">
              <a:ext uri="{FF2B5EF4-FFF2-40B4-BE49-F238E27FC236}">
                <a16:creationId xmlns:a16="http://schemas.microsoft.com/office/drawing/2014/main" id="{C4F43765-E600-4B86-8581-BDA42155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6292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12" name="逐句引用 回答与版本自查">
            <a:extLst xmlns:a="http://schemas.openxmlformats.org/drawingml/2006/main">
              <a:ext uri="{FF2B5EF4-FFF2-40B4-BE49-F238E27FC236}">
                <a16:creationId xmlns:a16="http://schemas.microsoft.com/office/drawing/2014/main" id="{81595284-663B-4BB7-B2EB-8C98D554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057900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逐句引用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回答与版本自查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60AB22CB-15E5-4C07-9A6B-D57A3508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86100"/>
            <a:ext cx="3333750" cy="1524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知识图谱与事实库">
            <a:extLst xmlns:a="http://schemas.openxmlformats.org/drawingml/2006/main">
              <a:ext uri="{FF2B5EF4-FFF2-40B4-BE49-F238E27FC236}">
                <a16:creationId xmlns:a16="http://schemas.microsoft.com/office/drawing/2014/main" id="{DA6E3CAC-5E67-42B3-95C2-601808C2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71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知识图谱与事实库</a:t>
            </a:r>
          </a:p>
        </p:txBody>
      </p:sp>
      <p:sp>
        <p:nvSpPr>
          <p:cNvPr id="15" name="事实版本与可追溯证据">
            <a:extLst xmlns:a="http://schemas.openxmlformats.org/drawingml/2006/main">
              <a:ext uri="{FF2B5EF4-FFF2-40B4-BE49-F238E27FC236}">
                <a16:creationId xmlns:a16="http://schemas.microsoft.com/office/drawing/2014/main" id="{AC9C570F-9898-42B0-8A56-292AD8D9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00475"/>
            <a:ext cx="310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事实版本与可追溯证据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49D697CE-219C-4008-98F6-5E872315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587490AF-C7C8-4A06-96E9-7DA24E93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归并后的事件">
            <a:extLst xmlns:a="http://schemas.openxmlformats.org/drawingml/2006/main">
              <a:ext uri="{FF2B5EF4-FFF2-40B4-BE49-F238E27FC236}">
                <a16:creationId xmlns:a16="http://schemas.microsoft.com/office/drawing/2014/main" id="{E013D356-2C88-4A95-ADD5-6D7262C6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19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77DC3"/>
                </a:solidFill>
              </a:defRPr>
            </a:pPr>
            <a:r>
              <a:rPr sz="165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归并后的事件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99AFB3BA-C6A0-48EB-98C7-714E29BF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8A43D405-62E0-42CE-9D87-86E93805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8F4035EC-D4BF-41B0-818F-F66FD2B5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12D8933D-C8E3-4350-A3AE-DB6B4B4B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5FC1FBF6-5A53-4543-AA2E-65677A0A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94F7D68A-C2FC-43F4-B309-E79DFB3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576F8B75-7042-468B-9D69-EE7C5185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54B514DE-34BF-4254-9493-B691B413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B407996D-EDB9-4185-963C-F35B09A3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9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36" name="版本自查">
            <a:extLst xmlns:a="http://schemas.openxmlformats.org/drawingml/2006/main">
              <a:ext uri="{FF2B5EF4-FFF2-40B4-BE49-F238E27FC236}">
                <a16:creationId xmlns:a16="http://schemas.microsoft.com/office/drawing/2014/main" id="{EA08C795-5EED-4F7F-A983-C6AC2D06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版本自查</a:t>
            </a:r>
          </a:p>
        </p:txBody>
      </p:sp>
      <p:sp>
        <p:nvSpPr>
          <p:cNvPr id="37" name="MCP 开放">
            <a:extLst xmlns:a="http://schemas.openxmlformats.org/drawingml/2006/main">
              <a:ext uri="{FF2B5EF4-FFF2-40B4-BE49-F238E27FC236}">
                <a16:creationId xmlns:a16="http://schemas.microsoft.com/office/drawing/2014/main" id="{6C9EF5B4-81DC-48F6-A8EC-99937AC4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MCP 开放</a:t>
            </a:r>
          </a:p>
        </p:txBody>
      </p:sp>
      <p:sp>
        <p:nvSpPr>
          <p:cNvPr id="38" name="时效可观测贯穿发现、富化、校验与服务">
            <a:extLst xmlns:a="http://schemas.openxmlformats.org/drawingml/2006/main">
              <a:ext uri="{FF2B5EF4-FFF2-40B4-BE49-F238E27FC236}">
                <a16:creationId xmlns:a16="http://schemas.microsoft.com/office/drawing/2014/main" id="{FBED03FE-3F4B-420C-BD2A-EB2BC2C4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时效可观测贯穿发现、富化、校验与服务</a:t>
            </a:r>
          </a:p>
        </p:txBody>
      </p:sp>
    </p:spTree>
    <p:extLst>
      <p:ext uri="{BB962C8B-B14F-4D97-AF65-F5344CB8AC3E}">
        <p14:creationId xmlns:p14="http://schemas.microsoft.com/office/powerpoint/2010/main" val="891505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D932D-EB43-4F3E-85DB-94FB2139B47A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382078" y="4096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FBE68-49BF-41D7-A7C9-79D1E2CB8BA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662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E2E7C-0938-437B-A740-E9AAA9FCEEC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7870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83024-F164-4C17-8F5F-68282220757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9117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71613-8D1C-4D51-A8C2-7E537012840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0365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A3CDF-54AF-473C-84B7-610CC29737F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161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7" name="F-03">
            <a:extLst xmlns:a="http://schemas.openxmlformats.org/drawingml/2006/main">
              <a:ext uri="{FF2B5EF4-FFF2-40B4-BE49-F238E27FC236}">
                <a16:creationId xmlns:a16="http://schemas.microsoft.com/office/drawing/2014/main" id="{87D160AE-2B0E-4B5D-8094-5E371A74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F-03</a:t>
            </a:r>
          </a:p>
        </p:txBody>
      </p:sp>
      <p:sp>
        <p:nvSpPr>
          <p:cNvPr id="2" name="端到端数据流与阶段时间戳">
            <a:extLst xmlns:a="http://schemas.openxmlformats.org/drawingml/2006/main">
              <a:ext uri="{FF2B5EF4-FFF2-40B4-BE49-F238E27FC236}">
                <a16:creationId xmlns:a16="http://schemas.microsoft.com/office/drawing/2014/main" id="{E56B07BD-DAC3-49A5-A1D0-D1374549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端到端数据流与阶段时间戳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5527F33F-5B1F-4549-9FA0-EFDCA03A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采集">
            <a:extLst xmlns:a="http://schemas.openxmlformats.org/drawingml/2006/main">
              <a:ext uri="{FF2B5EF4-FFF2-40B4-BE49-F238E27FC236}">
                <a16:creationId xmlns:a16="http://schemas.microsoft.com/office/drawing/2014/main" id="{52C32DBF-EC82-43BD-8B48-44732180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5" name="归一">
            <a:extLst xmlns:a="http://schemas.openxmlformats.org/drawingml/2006/main">
              <a:ext uri="{FF2B5EF4-FFF2-40B4-BE49-F238E27FC236}">
                <a16:creationId xmlns:a16="http://schemas.microsoft.com/office/drawing/2014/main" id="{BFF533BB-FFD1-47C6-80B4-28F034B3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775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</a:t>
            </a:r>
          </a:p>
        </p:txBody>
      </p:sp>
      <p:sp>
        <p:nvSpPr>
          <p:cNvPr id="6" name="富化">
            <a:extLst xmlns:a="http://schemas.openxmlformats.org/drawingml/2006/main">
              <a:ext uri="{FF2B5EF4-FFF2-40B4-BE49-F238E27FC236}">
                <a16:creationId xmlns:a16="http://schemas.microsoft.com/office/drawing/2014/main" id="{1B02C59F-3B01-45F3-996D-4E3FCCFD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7" name="校验">
            <a:extLst xmlns:a="http://schemas.openxmlformats.org/drawingml/2006/main">
              <a:ext uri="{FF2B5EF4-FFF2-40B4-BE49-F238E27FC236}">
                <a16:creationId xmlns:a16="http://schemas.microsoft.com/office/drawing/2014/main" id="{6A429515-2D85-4914-BC6B-5EAFA49E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8" name="存储">
            <a:extLst xmlns:a="http://schemas.openxmlformats.org/drawingml/2006/main">
              <a:ext uri="{FF2B5EF4-FFF2-40B4-BE49-F238E27FC236}">
                <a16:creationId xmlns:a16="http://schemas.microsoft.com/office/drawing/2014/main" id="{B0FB1BC8-6B16-46CF-8166-A6D9E90C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</p:txBody>
      </p:sp>
      <p:sp>
        <p:nvSpPr>
          <p:cNvPr id="9" name="服务">
            <a:extLst xmlns:a="http://schemas.openxmlformats.org/drawingml/2006/main">
              <a:ext uri="{FF2B5EF4-FFF2-40B4-BE49-F238E27FC236}">
                <a16:creationId xmlns:a16="http://schemas.microsoft.com/office/drawing/2014/main" id="{5BE8D727-13AC-483D-9985-E1C3D141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5C3287BA-DAB4-4ED1-9897-CF75F53B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7F2D9FBB-E55C-4320-B2B8-7FB95557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4113E8DB-5612-4895-B760-A28B464C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3A5CFE6B-5FE9-42FE-A768-5A0A5A13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AADFDCBA-831B-4F6C-B23C-1CA5818C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C991A646-32AE-46AD-9BCA-D446244A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F9EC4994-DCDA-4402-8E4A-DF3AAAFF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EC108F6C-3776-4F4B-B099-D7091744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671E0842-3574-418C-A8D5-642B8D97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C650A943-473B-4B2E-97C3-9551B482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3D00D1ED-802A-4E61-9DF1-FD81AA91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可查询">
            <a:extLst xmlns:a="http://schemas.openxmlformats.org/drawingml/2006/main">
              <a:ext uri="{FF2B5EF4-FFF2-40B4-BE49-F238E27FC236}">
                <a16:creationId xmlns:a16="http://schemas.microsoft.com/office/drawing/2014/main" id="{6713BC36-5624-4F8E-A65F-22B1EEF8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28" name="source_published_at">
            <a:extLst xmlns:a="http://schemas.openxmlformats.org/drawingml/2006/main">
              <a:ext uri="{FF2B5EF4-FFF2-40B4-BE49-F238E27FC236}">
                <a16:creationId xmlns:a16="http://schemas.microsoft.com/office/drawing/2014/main" id="{85CD4578-D9CC-44A9-A0FC-BD70E84A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source_published_at</a:t>
            </a:r>
          </a:p>
        </p:txBody>
      </p:sp>
      <p:sp>
        <p:nvSpPr>
          <p:cNvPr id="29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88DE7E42-7D28-45A7-BC28-78C3D549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30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E9C44A82-8EA5-4745-B988-4D040BA9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31" name="enriched_at">
            <a:extLst xmlns:a="http://schemas.openxmlformats.org/drawingml/2006/main">
              <a:ext uri="{FF2B5EF4-FFF2-40B4-BE49-F238E27FC236}">
                <a16:creationId xmlns:a16="http://schemas.microsoft.com/office/drawing/2014/main" id="{09F433AB-24BA-4E82-BC81-22ACA997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32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73767D1B-F8F4-4499-8340-6D1181D3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33" name="采集时延">
            <a:extLst xmlns:a="http://schemas.openxmlformats.org/drawingml/2006/main">
              <a:ext uri="{FF2B5EF4-FFF2-40B4-BE49-F238E27FC236}">
                <a16:creationId xmlns:a16="http://schemas.microsoft.com/office/drawing/2014/main" id="{518BF48A-87E6-4B5A-B058-B37A68D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286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</p:txBody>
      </p:sp>
      <p:sp>
        <p:nvSpPr>
          <p:cNvPr id="34" name="处理时延">
            <a:extLst xmlns:a="http://schemas.openxmlformats.org/drawingml/2006/main">
              <a:ext uri="{FF2B5EF4-FFF2-40B4-BE49-F238E27FC236}">
                <a16:creationId xmlns:a16="http://schemas.microsoft.com/office/drawing/2014/main" id="{2A7A0D07-DCE3-4A95-821C-82037B3A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762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</p:txBody>
      </p:sp>
      <p:sp>
        <p:nvSpPr>
          <p:cNvPr id="35" name="端到端时延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C3102861-4FD8-4E2C-8EC9-F20EE270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09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端到端时延目标值 ≤6 h（待测）</a:t>
            </a:r>
          </a:p>
        </p:txBody>
      </p:sp>
      <p:sp>
        <p:nvSpPr>
          <p:cNvPr id="36" name="漏洞类首次发现纳入统计；日更源单列；DEMO 不计">
            <a:extLst xmlns:a="http://schemas.openxmlformats.org/drawingml/2006/main">
              <a:ext uri="{FF2B5EF4-FFF2-40B4-BE49-F238E27FC236}">
                <a16:creationId xmlns:a16="http://schemas.microsoft.com/office/drawing/2014/main" id="{35563641-AF29-4DCA-8C80-567ED08B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漏洞类首次发现纳入统计；日更源单列；DEMO 不计</a:t>
            </a:r>
          </a:p>
        </p:txBody>
      </p:sp>
    </p:spTree>
    <p:extLst>
      <p:ext uri="{BB962C8B-B14F-4D97-AF65-F5344CB8AC3E}">
        <p14:creationId xmlns:p14="http://schemas.microsoft.com/office/powerpoint/2010/main" val="10854151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0B149F-5835-4724-A42F-668D5C2D8F7B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9473566" y="64584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9002F1-0E63-4BF6-9989-AB2BAEA32BB8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8221028" y="5934552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344748-7442-4292-9439-61BC28B69381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6968491" y="541067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64468D-9804-4B0D-B265-8C5A622A3B66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5715953" y="4886802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5438F2-52D6-4932-AFB4-7E8990D86FD0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463416" y="43629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7F249F-F14E-4D41-8D28-918EBB6504F9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210878" y="3839052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0A8C81-E34A-44F5-B904-5FA51E454AE0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05803" y="3315177"/>
            <a:ext cx="25041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721F90-8C55-4852-9984-4A548EA6B9D6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704850" y="2791302"/>
            <a:ext cx="25060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397567-6883-4A51-B17A-96ACA7AC5031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958341" y="22674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8E34AD-CECF-4367-B43E-4A9059554579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10725150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9F096F-D134-435C-B8A4-B6A602F9B7F6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9472613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E37C85-35F3-478C-89CF-7E073AC105E6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8220075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C639A-5C60-445E-A4E6-E763FC846F2F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6967538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8E5A3-3F02-44C3-B774-6B23A333402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5715000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A8D28-BBDC-4436-8773-F50CFA9FBD73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4462463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B8577-3E13-4E1E-AEDD-CF117C6514D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3209925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F9356-2B64-4911-B5E1-F94EA62CD1A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1957388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5CD05-1CC9-4147-B5EC-B73861AAEF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704850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sp>
        <p:nvSpPr>
          <p:cNvPr id="77" name="F-04">
            <a:extLst xmlns:a="http://schemas.openxmlformats.org/drawingml/2006/main">
              <a:ext uri="{FF2B5EF4-FFF2-40B4-BE49-F238E27FC236}">
                <a16:creationId xmlns:a16="http://schemas.microsoft.com/office/drawing/2014/main" id="{CF729A67-5701-4863-80AA-AAB94014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F-04</a:t>
            </a:r>
          </a:p>
        </p:txBody>
      </p:sp>
      <p:sp>
        <p:nvSpPr>
          <p:cNvPr id="2" name="一条新公告从发布到可问答的时序">
            <a:extLst xmlns:a="http://schemas.openxmlformats.org/drawingml/2006/main">
              <a:ext uri="{FF2B5EF4-FFF2-40B4-BE49-F238E27FC236}">
                <a16:creationId xmlns:a16="http://schemas.microsoft.com/office/drawing/2014/main" id="{B6C260C6-A3A1-4108-A6F3-A604918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一条新公告从发布到可问答的时序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A664556F-3E21-400D-B8DC-ECF7A53D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厂商仓库">
            <a:extLst xmlns:a="http://schemas.openxmlformats.org/drawingml/2006/main">
              <a:ext uri="{FF2B5EF4-FFF2-40B4-BE49-F238E27FC236}">
                <a16:creationId xmlns:a16="http://schemas.microsoft.com/office/drawing/2014/main" id="{0C8AB56D-7E02-440C-BF11-55AA7798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厂商仓库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DC1C1D80-00B7-4909-98DD-96BE4723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20A6CE19-4B3F-45D3-B905-D8BCFC73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08A4224D-A418-4937-9E81-2ADD6F0E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1228725"/>
            <a:ext cx="1333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3E54"/>
                </a:solidFill>
              </a:defRPr>
            </a:pPr>
            <a:r>
              <a:rPr sz="12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FA85C760-3A7D-4BA8-BE05-2E965E02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20E91996-49D9-46C2-A896-F38E6294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Collector">
            <a:extLst xmlns:a="http://schemas.openxmlformats.org/drawingml/2006/main">
              <a:ext uri="{FF2B5EF4-FFF2-40B4-BE49-F238E27FC236}">
                <a16:creationId xmlns:a16="http://schemas.microsoft.com/office/drawing/2014/main" id="{93569235-B3EB-49B7-A887-B62996B2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Collector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7D2FD130-57B7-4936-9912-8D26A84C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E09B8336-0E7C-4F69-97B1-AD9769B2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Triage">
            <a:extLst xmlns:a="http://schemas.openxmlformats.org/drawingml/2006/main">
              <a:ext uri="{FF2B5EF4-FFF2-40B4-BE49-F238E27FC236}">
                <a16:creationId xmlns:a16="http://schemas.microsoft.com/office/drawing/2014/main" id="{20DFD51F-4114-413B-8E02-064E81D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Triage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49FDC8AC-F435-4307-BBC6-305D89BE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5B315894-A24E-468F-B3B6-7AA8A610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Enricher">
            <a:extLst xmlns:a="http://schemas.openxmlformats.org/drawingml/2006/main">
              <a:ext uri="{FF2B5EF4-FFF2-40B4-BE49-F238E27FC236}">
                <a16:creationId xmlns:a16="http://schemas.microsoft.com/office/drawing/2014/main" id="{F9AD39A8-E006-42AA-9880-291ABC28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8B93B8C5-B725-4DD5-B783-53ACAB5E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5916323B-5228-4032-8948-ECC3DBC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Critic">
            <a:extLst xmlns:a="http://schemas.openxmlformats.org/drawingml/2006/main">
              <a:ext uri="{FF2B5EF4-FFF2-40B4-BE49-F238E27FC236}">
                <a16:creationId xmlns:a16="http://schemas.microsoft.com/office/drawing/2014/main" id="{6963019A-89D8-485A-8E68-DF296278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4CAF0378-E1B2-4D66-B761-68D8D7F8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B10753DC-E4B2-4E23-AC7A-3B690929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GraphWriter">
            <a:extLst xmlns:a="http://schemas.openxmlformats.org/drawingml/2006/main">
              <a:ext uri="{FF2B5EF4-FFF2-40B4-BE49-F238E27FC236}">
                <a16:creationId xmlns:a16="http://schemas.microsoft.com/office/drawing/2014/main" id="{64F58ED7-8CD8-403D-9AF1-8775EFEB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228725"/>
            <a:ext cx="1333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3E54"/>
                </a:solidFill>
              </a:defRPr>
            </a:pPr>
            <a:r>
              <a:rPr sz="12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GraphWriter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8F9FF600-1716-4338-ABB0-34897EC8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9A0125B1-6B57-4144-B9F4-DD098A5E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ssessor">
            <a:extLst xmlns:a="http://schemas.openxmlformats.org/drawingml/2006/main">
              <a:ext uri="{FF2B5EF4-FFF2-40B4-BE49-F238E27FC236}">
                <a16:creationId xmlns:a16="http://schemas.microsoft.com/office/drawing/2014/main" id="{F027A5D7-76A4-4208-B70C-4A85C409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Assessor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E9BEE063-25B4-41FF-B094-F9616B06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E1787385-0741-4674-8F07-6FF1493E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A9A87D09-F03D-481B-BC73-442AD318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编码智能体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1571796B-928D-4F47-96E7-AF2182D2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4EB9BB16-8963-4593-8BF8-35B99659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BE542115-38AE-4D76-88DF-D851B0B9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38AD2E94-43F8-40A1-B9BA-A07C1C85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定时派发">
            <a:extLst xmlns:a="http://schemas.openxmlformats.org/drawingml/2006/main">
              <a:ext uri="{FF2B5EF4-FFF2-40B4-BE49-F238E27FC236}">
                <a16:creationId xmlns:a16="http://schemas.microsoft.com/office/drawing/2014/main" id="{7257D067-7C5A-43DC-8C60-07C85564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3" y="194310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定时派发</a:t>
            </a:r>
          </a:p>
        </p:txBody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5A481A3B-9914-4A7C-8878-DCD25EF5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20147F98-7017-4A77-AB6B-DDFB0C53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增量轮询">
            <a:extLst xmlns:a="http://schemas.openxmlformats.org/drawingml/2006/main">
              <a:ext uri="{FF2B5EF4-FFF2-40B4-BE49-F238E27FC236}">
                <a16:creationId xmlns:a16="http://schemas.microsoft.com/office/drawing/2014/main" id="{C69B1EF4-B83A-4490-B320-97F84B36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66975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增量轮询</a:t>
            </a:r>
          </a:p>
        </p:txBody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C0F94211-632E-42B9-B2E0-44AB9AE4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9B3DF890-C229-4689-A5CD-71FCB3F8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公告内容">
            <a:extLst xmlns:a="http://schemas.openxmlformats.org/drawingml/2006/main">
              <a:ext uri="{FF2B5EF4-FFF2-40B4-BE49-F238E27FC236}">
                <a16:creationId xmlns:a16="http://schemas.microsoft.com/office/drawing/2014/main" id="{E4B5A15A-515E-4E1E-92D0-E4B55389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公告内容</a:t>
            </a:r>
          </a:p>
        </p:txBody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90A17BB9-F8B6-4D42-B923-BB2634AE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F24D4F93-6064-431F-BC6B-87A972F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RawEvent">
            <a:extLst xmlns:a="http://schemas.openxmlformats.org/drawingml/2006/main">
              <a:ext uri="{FF2B5EF4-FFF2-40B4-BE49-F238E27FC236}">
                <a16:creationId xmlns:a16="http://schemas.microsoft.com/office/drawing/2014/main" id="{88AA623D-5FDE-40A0-AF0C-743AE0A5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14725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RawEvent</a:t>
            </a:r>
          </a:p>
        </p:txBody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D4531388-7A7A-4434-A485-24E25DA3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B994CAAA-5DE3-4C66-B2CA-41795F2E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归一结果">
            <a:extLst xmlns:a="http://schemas.openxmlformats.org/drawingml/2006/main">
              <a:ext uri="{FF2B5EF4-FFF2-40B4-BE49-F238E27FC236}">
                <a16:creationId xmlns:a16="http://schemas.microsoft.com/office/drawing/2014/main" id="{E2A74C32-3654-4FE1-8F6B-C29353AB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88" y="403860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归一结果</a:t>
            </a:r>
          </a:p>
        </p:txBody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20CF98ED-6CE5-4A92-813C-77F61A88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86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FDC1D2A5-38B5-47AE-A09A-735BDF81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4886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富化产出">
            <a:extLst xmlns:a="http://schemas.openxmlformats.org/drawingml/2006/main">
              <a:ext uri="{FF2B5EF4-FFF2-40B4-BE49-F238E27FC236}">
                <a16:creationId xmlns:a16="http://schemas.microsoft.com/office/drawing/2014/main" id="{59CCCE40-18B2-4DD0-9D99-8F7922F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62475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富化产出</a:t>
            </a:r>
          </a:p>
        </p:txBody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919E04BA-4AD5-4099-9B62-89C958EC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FCBFAEA4-8235-4F08-B11D-3ACBD041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校验通过">
            <a:extLst xmlns:a="http://schemas.openxmlformats.org/drawingml/2006/main">
              <a:ext uri="{FF2B5EF4-FFF2-40B4-BE49-F238E27FC236}">
                <a16:creationId xmlns:a16="http://schemas.microsoft.com/office/drawing/2014/main" id="{48375ADD-EA60-4774-AC49-D31A7744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508635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校验通过</a:t>
            </a:r>
          </a:p>
        </p:txBody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F40464D9-8DDB-476B-91E9-A50A4E54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93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E0FD5335-1390-421C-80CA-D0707BE0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593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27C6ACE4-8C0B-48DC-967B-BFAC9A7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10225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F2E84E0E-C14D-4B3C-81D1-4D2817D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645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FBFB86B4-7A20-4702-A7E9-25840FAA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5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经 Critic 返回">
            <a:extLst xmlns:a="http://schemas.openxmlformats.org/drawingml/2006/main">
              <a:ext uri="{FF2B5EF4-FFF2-40B4-BE49-F238E27FC236}">
                <a16:creationId xmlns:a16="http://schemas.microsoft.com/office/drawing/2014/main" id="{5BD72454-48B8-428A-84ED-E9FACFEF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613410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经 Critic 返回</a:t>
            </a:r>
          </a:p>
        </p:txBody>
      </p:sp>
      <p:sp>
        <p:nvSpPr>
          <p:cNvPr id="76" name="演示注入 / 自有仓库 webhook 验签后触发立即 poll；DEMO 单列">
            <a:extLst xmlns:a="http://schemas.openxmlformats.org/drawingml/2006/main">
              <a:ext uri="{FF2B5EF4-FFF2-40B4-BE49-F238E27FC236}">
                <a16:creationId xmlns:a16="http://schemas.microsoft.com/office/drawing/2014/main" id="{12CD6671-3BA7-4EA7-96B8-767C61B6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演示注入 / 自有仓库 webhook 验签后触发立即 poll；DEMO 单列</a:t>
            </a:r>
          </a:p>
        </p:txBody>
      </p:sp>
    </p:spTree>
    <p:extLst>
      <p:ext uri="{BB962C8B-B14F-4D97-AF65-F5344CB8AC3E}">
        <p14:creationId xmlns:p14="http://schemas.microsoft.com/office/powerpoint/2010/main" val="103214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E19697-2C10-4604-B7AA-40423119D006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872038" y="5857875"/>
            <a:ext cx="852488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4339B4-BB69-4D5A-AEEF-B0D6606F543C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6038850" y="5248275"/>
            <a:ext cx="1057275" cy="204788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254835-123B-4CD0-9A1F-A4427782071A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76550" y="54530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2AC863-9E96-4975-B86C-29C7AA304BCF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1781175" y="4305300"/>
            <a:ext cx="61912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6F89F-4481-4E9C-937C-B2076C9812A3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429625" y="38862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CBD4E-C19C-4569-91D6-AF70585F43D4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4114800" y="3286125"/>
            <a:ext cx="298132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AD7B8-A5BA-4852-AF3B-908A18708383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8429625" y="238172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C7676-611A-4C90-AA89-2DA604CC0C3A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8429625" y="2381727"/>
            <a:ext cx="1039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2274F-94DA-46E9-9737-BBEBBD3C8D2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9467850" y="1905477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23BEF-BA56-4457-BF21-39B21D3A929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5962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B4BF3-E392-44CC-BFFC-283C8CCFFC4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0837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7" name="F-05">
            <a:extLst xmlns:a="http://schemas.openxmlformats.org/drawingml/2006/main">
              <a:ext uri="{FF2B5EF4-FFF2-40B4-BE49-F238E27FC236}">
                <a16:creationId xmlns:a16="http://schemas.microsoft.com/office/drawing/2014/main" id="{7F3C9394-575F-4F38-9795-B5AA318D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F-05</a:t>
            </a:r>
          </a:p>
        </p:txBody>
      </p:sp>
      <p:sp>
        <p:nvSpPr>
          <p:cNvPr id="2" name="查询请求的处理路径">
            <a:extLst xmlns:a="http://schemas.openxmlformats.org/drawingml/2006/main">
              <a:ext uri="{FF2B5EF4-FFF2-40B4-BE49-F238E27FC236}">
                <a16:creationId xmlns:a16="http://schemas.microsoft.com/office/drawing/2014/main" id="{47032EE7-6894-42DA-A8BB-62A184FC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查询请求的处理路径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B6AF62B6-9D83-4C2D-AE64-04451AB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F85F2DCA-2077-4AEB-9604-B956BE54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288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编码智能体</a:t>
            </a:r>
          </a:p>
        </p:txBody>
      </p:sp>
      <p:sp>
        <p:nvSpPr>
          <p:cNvPr id="5" name="/mcp">
            <a:extLst xmlns:a="http://schemas.openxmlformats.org/drawingml/2006/main">
              <a:ext uri="{FF2B5EF4-FFF2-40B4-BE49-F238E27FC236}">
                <a16:creationId xmlns:a16="http://schemas.microsoft.com/office/drawing/2014/main" id="{AC141E8A-B97E-45BA-8125-9F5673CB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1257300"/>
            <a:ext cx="288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6" name="intel-core">
            <a:extLst xmlns:a="http://schemas.openxmlformats.org/drawingml/2006/main">
              <a:ext uri="{FF2B5EF4-FFF2-40B4-BE49-F238E27FC236}">
                <a16:creationId xmlns:a16="http://schemas.microsoft.com/office/drawing/2014/main" id="{64E4A2B6-0F25-430B-A2DD-1DAC97BA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1257300"/>
            <a:ext cx="288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9" name="凭据 / scope / 限流 / 审计">
            <a:extLst xmlns:a="http://schemas.openxmlformats.org/drawingml/2006/main">
              <a:ext uri="{FF2B5EF4-FFF2-40B4-BE49-F238E27FC236}">
                <a16:creationId xmlns:a16="http://schemas.microsoft.com/office/drawing/2014/main" id="{8E8B01D5-EE05-4BB6-8D56-D894CE1A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9775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57D8E"/>
                </a:solidFill>
              </a:defRPr>
            </a:pPr>
            <a:r>
              <a:rPr sz="157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凭据 / scope / 限流 / 审计</a:t>
            </a:r>
          </a:p>
        </p:txBody>
      </p:sp>
      <p:sp>
        <p:nvSpPr>
          <p:cNvPr id="10" name="耗时估计">
            <a:extLst xmlns:a="http://schemas.openxmlformats.org/drawingml/2006/main">
              <a:ext uri="{FF2B5EF4-FFF2-40B4-BE49-F238E27FC236}">
                <a16:creationId xmlns:a16="http://schemas.microsoft.com/office/drawing/2014/main" id="{D56DCC78-8D53-407F-B04D-1022F18A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2667000" cy="1200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67A20"/>
                </a:solidFill>
              </a:defRPr>
            </a:pPr>
            <a:r>
              <a:rPr sz="19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耗时估计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EA60D77C-8F9D-43E9-81D1-D2A42281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A33E41EA-8192-4483-94CB-C5558C45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D02443FA-89EA-4394-BFC8-C1C463F9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5D84B745-8B79-492B-8BA8-F69E85A7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2C3E64F6-F281-466F-8662-668C26E4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041D4CFD-998A-4870-AED3-15E24A11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5D016B1E-3B8E-4E49-8FE3-625755AC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同步求解">
            <a:extLst xmlns:a="http://schemas.openxmlformats.org/drawingml/2006/main">
              <a:ext uri="{FF2B5EF4-FFF2-40B4-BE49-F238E27FC236}">
                <a16:creationId xmlns:a16="http://schemas.microsoft.com/office/drawing/2014/main" id="{6E4724A3-FC29-4279-B08E-8D633A6E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同步求解</a:t>
            </a:r>
          </a:p>
        </p:txBody>
      </p:sp>
      <p:sp>
        <p:nvSpPr>
          <p:cNvPr id="22" name="版本 / QA + Critic">
            <a:extLst xmlns:a="http://schemas.openxmlformats.org/drawingml/2006/main">
              <a:ext uri="{FF2B5EF4-FFF2-40B4-BE49-F238E27FC236}">
                <a16:creationId xmlns:a16="http://schemas.microsoft.com/office/drawing/2014/main" id="{596125F6-F6B5-4802-931D-590CEFFF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20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 / QA + Critic</a:t>
            </a:r>
          </a:p>
        </p:txBody>
      </p:sp>
      <p:sp>
        <p:nvSpPr>
          <p:cNvPr id="24" name="≤60 s">
            <a:extLst xmlns:a="http://schemas.openxmlformats.org/drawingml/2006/main">
              <a:ext uri="{FF2B5EF4-FFF2-40B4-BE49-F238E27FC236}">
                <a16:creationId xmlns:a16="http://schemas.microsoft.com/office/drawing/2014/main" id="{9F8E1E8C-CC36-473A-8C72-447B7C72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≤60 s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AFDF751C-3106-4B7A-9BC4-20DA514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482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6" name="TaskHandle">
            <a:extLst xmlns:a="http://schemas.openxmlformats.org/drawingml/2006/main">
              <a:ext uri="{FF2B5EF4-FFF2-40B4-BE49-F238E27FC236}">
                <a16:creationId xmlns:a16="http://schemas.microsoft.com/office/drawing/2014/main" id="{13EE6F9B-098F-4BC9-BDF0-9DE196C0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TaskHandle</a:t>
            </a:r>
          </a:p>
        </p:txBody>
      </p:sp>
      <p:sp>
        <p:nvSpPr>
          <p:cNvPr id="27" name="get_task_result">
            <a:extLst xmlns:a="http://schemas.openxmlformats.org/drawingml/2006/main">
              <a:ext uri="{FF2B5EF4-FFF2-40B4-BE49-F238E27FC236}">
                <a16:creationId xmlns:a16="http://schemas.microsoft.com/office/drawing/2014/main" id="{E1249BCB-BFC8-49F4-B212-8DEB1EA5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172075"/>
            <a:ext cx="2438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get_task_result</a:t>
            </a:r>
          </a:p>
        </p:txBody>
      </p:sp>
      <p:sp>
        <p:nvSpPr>
          <p:cNvPr id="29" name="&gt;60 s">
            <a:extLst xmlns:a="http://schemas.openxmlformats.org/drawingml/2006/main">
              <a:ext uri="{FF2B5EF4-FFF2-40B4-BE49-F238E27FC236}">
                <a16:creationId xmlns:a16="http://schemas.microsoft.com/office/drawing/2014/main" id="{48079221-526E-4817-8ADA-CF3979AE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100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&gt;60 s</a:t>
            </a:r>
          </a:p>
        </p:txBody>
      </p:sp>
      <p:sp>
        <p:nvSpPr>
          <p:cNvPr id="30" name="合规过滤">
            <a:extLst xmlns:a="http://schemas.openxmlformats.org/drawingml/2006/main">
              <a:ext uri="{FF2B5EF4-FFF2-40B4-BE49-F238E27FC236}">
                <a16:creationId xmlns:a16="http://schemas.microsoft.com/office/drawing/2014/main" id="{F7F37F32-0628-449D-A4EC-85873543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190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合规过滤</a:t>
            </a:r>
          </a:p>
        </p:txBody>
      </p:sp>
      <p:sp>
        <p:nvSpPr>
          <p:cNvPr id="32" name="结果裁剪 ≤8k tokens">
            <a:extLst xmlns:a="http://schemas.openxmlformats.org/drawingml/2006/main">
              <a:ext uri="{FF2B5EF4-FFF2-40B4-BE49-F238E27FC236}">
                <a16:creationId xmlns:a16="http://schemas.microsoft.com/office/drawing/2014/main" id="{037C9F61-D358-4103-B810-5E8408A7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48250"/>
            <a:ext cx="2333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结果裁剪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≤8k tokens</a:t>
            </a:r>
          </a:p>
        </p:txBody>
      </p:sp>
      <p:sp>
        <p:nvSpPr>
          <p:cNvPr id="35" name="返回 / 分页续取">
            <a:extLst xmlns:a="http://schemas.openxmlformats.org/drawingml/2006/main">
              <a:ext uri="{FF2B5EF4-FFF2-40B4-BE49-F238E27FC236}">
                <a16:creationId xmlns:a16="http://schemas.microsoft.com/office/drawing/2014/main" id="{370C6AF2-5C0C-4C4D-A072-C2D72892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419850"/>
            <a:ext cx="40386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返回 / 分页续取</a:t>
            </a:r>
          </a:p>
        </p:txBody>
      </p:sp>
    </p:spTree>
    <p:extLst>
      <p:ext uri="{BB962C8B-B14F-4D97-AF65-F5344CB8AC3E}">
        <p14:creationId xmlns:p14="http://schemas.microsoft.com/office/powerpoint/2010/main" val="811314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49DB28-6514-4FAC-B133-774AFA21A79E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>
            <a:off x="7915275" y="4439127"/>
            <a:ext cx="1420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A6D671-2829-4499-A22A-1C9B3C778BAB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H="1" flipV="1">
            <a:off x="933450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1A2984-5044-4846-8AA0-8C448BB8EC75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 flipV="1">
            <a:off x="569595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ABAAF5-43E3-4E32-982D-109D222A0F99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 flipV="1">
            <a:off x="7915275" y="3839052"/>
            <a:ext cx="953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EF8E2D-B0CE-4B8A-A267-B714D315340C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067878" y="4439127"/>
            <a:ext cx="58473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2501A8-12A0-4BF9-9BD7-BBC278150DAC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 flipV="1">
            <a:off x="2066925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7C3DB8-ABE1-4AEE-9171-6447BD4A65A6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9329738" y="3838575"/>
            <a:ext cx="728663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3B6D7-7224-49F1-8839-541E4B72567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1428750" y="2467452"/>
            <a:ext cx="953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CB07B-40B4-42F0-B73E-262B4189B5F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1428750" y="2467452"/>
            <a:ext cx="428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CB799-3C92-49EC-9513-3035B7D72BC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5715000" y="1962627"/>
            <a:ext cx="953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DA183-E1D1-448D-8B20-6D9EADF9A27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296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CB0EF-B059-4BD8-B35A-460DDD174AD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579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748AB-CAD3-4BE6-9F6C-36BF6242B07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862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AF539-2DE0-4EFB-B714-35577488894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145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56" name="F-06">
            <a:extLst xmlns:a="http://schemas.openxmlformats.org/drawingml/2006/main">
              <a:ext uri="{FF2B5EF4-FFF2-40B4-BE49-F238E27FC236}">
                <a16:creationId xmlns:a16="http://schemas.microsoft.com/office/drawing/2014/main" id="{49E5F411-3C2D-42DB-806D-26B20007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F-06</a:t>
            </a:r>
          </a:p>
        </p:txBody>
      </p:sp>
      <p:sp>
        <p:nvSpPr>
          <p:cNvPr id="2" name="九个智能体的协作关系">
            <a:extLst xmlns:a="http://schemas.openxmlformats.org/drawingml/2006/main">
              <a:ext uri="{FF2B5EF4-FFF2-40B4-BE49-F238E27FC236}">
                <a16:creationId xmlns:a16="http://schemas.microsoft.com/office/drawing/2014/main" id="{19585C4C-DF2A-420F-976C-66686D20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九个智能体的协作关系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7DD1211-859C-44D9-8298-9C0A1B8B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D2E19C93-8D8D-4125-8D0C-072A222B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81100"/>
            <a:ext cx="3048000" cy="7810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5" name="Collector">
            <a:extLst xmlns:a="http://schemas.openxmlformats.org/drawingml/2006/main">
              <a:ext uri="{FF2B5EF4-FFF2-40B4-BE49-F238E27FC236}">
                <a16:creationId xmlns:a16="http://schemas.microsoft.com/office/drawing/2014/main" id="{E9401F2F-8812-407F-9DA0-968C1AF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Collector</a:t>
            </a:r>
          </a:p>
        </p:txBody>
      </p:sp>
      <p:sp>
        <p:nvSpPr>
          <p:cNvPr id="6" name="Triage">
            <a:extLst xmlns:a="http://schemas.openxmlformats.org/drawingml/2006/main">
              <a:ext uri="{FF2B5EF4-FFF2-40B4-BE49-F238E27FC236}">
                <a16:creationId xmlns:a16="http://schemas.microsoft.com/office/drawing/2014/main" id="{770D3DE1-8369-4195-8F24-E4A6F641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Triage</a:t>
            </a:r>
          </a:p>
        </p:txBody>
      </p:sp>
      <p:sp>
        <p:nvSpPr>
          <p:cNvPr id="7" name="Enricher">
            <a:extLst xmlns:a="http://schemas.openxmlformats.org/drawingml/2006/main">
              <a:ext uri="{FF2B5EF4-FFF2-40B4-BE49-F238E27FC236}">
                <a16:creationId xmlns:a16="http://schemas.microsoft.com/office/drawing/2014/main" id="{F4A1EB2A-3C7E-484A-8251-D7CC6C0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8" name="Critic">
            <a:extLst xmlns:a="http://schemas.openxmlformats.org/drawingml/2006/main">
              <a:ext uri="{FF2B5EF4-FFF2-40B4-BE49-F238E27FC236}">
                <a16:creationId xmlns:a16="http://schemas.microsoft.com/office/drawing/2014/main" id="{72294750-473F-4B40-9FDD-A7DC528D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9" name="GraphWriter">
            <a:extLst xmlns:a="http://schemas.openxmlformats.org/drawingml/2006/main">
              <a:ext uri="{FF2B5EF4-FFF2-40B4-BE49-F238E27FC236}">
                <a16:creationId xmlns:a16="http://schemas.microsoft.com/office/drawing/2014/main" id="{A279F5E2-280E-4B62-A233-2AE13937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GraphWriter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DA10356E-FCF3-4D34-89D8-684264B6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62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72EAAD39-1E06-4607-BF97-774834BB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F610F6D5-EC6A-4B93-BB9C-AA9AEB1F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81C832CA-CBD3-437F-8086-40C6E98D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5FFEFA54-3B87-4997-A8F4-8E5F176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276F71F9-051F-4C5B-A5A3-47C936ED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任务调度">
            <a:extLst xmlns:a="http://schemas.openxmlformats.org/drawingml/2006/main">
              <a:ext uri="{FF2B5EF4-FFF2-40B4-BE49-F238E27FC236}">
                <a16:creationId xmlns:a16="http://schemas.microsoft.com/office/drawing/2014/main" id="{065DA9EB-1F0D-47E7-8EB7-AB341587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50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D8E"/>
                </a:solidFill>
              </a:defRPr>
            </a:pPr>
            <a:r>
              <a:rPr sz="150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任务调度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F285A2C7-012B-425C-8A40-963ADD2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22383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5" name="QA">
            <a:extLst xmlns:a="http://schemas.openxmlformats.org/drawingml/2006/main">
              <a:ext uri="{FF2B5EF4-FFF2-40B4-BE49-F238E27FC236}">
                <a16:creationId xmlns:a16="http://schemas.microsoft.com/office/drawing/2014/main" id="{5D1286C1-C2E9-42B2-8D44-E5176D4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26" name="问答产出">
            <a:extLst xmlns:a="http://schemas.openxmlformats.org/drawingml/2006/main">
              <a:ext uri="{FF2B5EF4-FFF2-40B4-BE49-F238E27FC236}">
                <a16:creationId xmlns:a16="http://schemas.microsoft.com/office/drawing/2014/main" id="{FAE735AA-BD76-4A18-B952-4BA74688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问答产出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30FE0123-F125-48D7-8D98-B98D5D13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905375"/>
            <a:ext cx="22383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8" name="Reporter">
            <a:extLst xmlns:a="http://schemas.openxmlformats.org/drawingml/2006/main">
              <a:ext uri="{FF2B5EF4-FFF2-40B4-BE49-F238E27FC236}">
                <a16:creationId xmlns:a16="http://schemas.microsoft.com/office/drawing/2014/main" id="{C9DA97E1-2F57-482C-91E2-A8484DF7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Reporter</a:t>
            </a:r>
          </a:p>
        </p:txBody>
      </p:sp>
      <p:sp>
        <p:nvSpPr>
          <p:cNvPr id="29" name="报告产出">
            <a:extLst xmlns:a="http://schemas.openxmlformats.org/drawingml/2006/main">
              <a:ext uri="{FF2B5EF4-FFF2-40B4-BE49-F238E27FC236}">
                <a16:creationId xmlns:a16="http://schemas.microsoft.com/office/drawing/2014/main" id="{16BAF39A-A579-4E12-B5D5-455788A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报告产出</a:t>
            </a:r>
          </a:p>
        </p:txBody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CA904500-76EB-4FF9-B6D0-CC126F0B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05375"/>
            <a:ext cx="22383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1" name="Assessor">
            <a:extLst xmlns:a="http://schemas.openxmlformats.org/drawingml/2006/main">
              <a:ext uri="{FF2B5EF4-FFF2-40B4-BE49-F238E27FC236}">
                <a16:creationId xmlns:a16="http://schemas.microsoft.com/office/drawing/2014/main" id="{2C3473A5-4DA6-42B9-AE6D-2604E130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Assessor</a:t>
            </a:r>
          </a:p>
        </p:txBody>
      </p:sp>
      <p:sp>
        <p:nvSpPr>
          <p:cNvPr id="32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50277CFD-7895-4A2E-B0D3-EEEBECFF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42B0C050-4602-496F-A821-62B0AC98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971F371E-4966-4C02-BC1A-697FA618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800EB3B0-BE63-4FA3-B826-C7FB29FF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8550E5AE-D8D8-4CF8-8BAE-CCFAC0F1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52F316D4-0DD5-42D2-A832-A6A56A7D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0555EC5F-2639-4AF9-A705-B60B444E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7715AEBC-52B2-4EB7-A9A2-EE8DD40F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F0E43B77-E999-40E7-AD6F-CB9310AE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BBE182E0-1CB3-481B-AC99-85E84F75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237F2881-52A4-4096-BC17-C00B4C5F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D160082D-AB33-4D6C-B988-AE1C2376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84501BE7-DE41-4C42-82C4-FB3772B3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DLQ 失败任务">
            <a:extLst xmlns:a="http://schemas.openxmlformats.org/drawingml/2006/main">
              <a:ext uri="{FF2B5EF4-FFF2-40B4-BE49-F238E27FC236}">
                <a16:creationId xmlns:a16="http://schemas.microsoft.com/office/drawing/2014/main" id="{73A16677-E1A3-43AB-A261-C49D6BF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86525"/>
            <a:ext cx="2238375" cy="5429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B554B"/>
                </a:solidFill>
              </a:defRPr>
            </a:pPr>
            <a:r>
              <a:rPr sz="165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 失败任务</a:t>
            </a:r>
          </a:p>
        </p:txBody>
      </p:sp>
      <p:sp>
        <p:nvSpPr>
          <p:cNvPr id="53" name="调度器重放">
            <a:extLst xmlns:a="http://schemas.openxmlformats.org/drawingml/2006/main">
              <a:ext uri="{FF2B5EF4-FFF2-40B4-BE49-F238E27FC236}">
                <a16:creationId xmlns:a16="http://schemas.microsoft.com/office/drawing/2014/main" id="{13B4D118-8306-46A0-ADF4-B8B07FE3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524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B554B"/>
                </a:solidFill>
              </a:defRPr>
            </a:pPr>
            <a:r>
              <a:rPr sz="165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调度器重放</a:t>
            </a:r>
          </a:p>
        </p:txBody>
      </p:sp>
      <p:sp>
        <p:nvSpPr>
          <p:cNvPr id="54" name="所有对外产出均经 Critic 校验">
            <a:extLst xmlns:a="http://schemas.openxmlformats.org/drawingml/2006/main">
              <a:ext uri="{FF2B5EF4-FFF2-40B4-BE49-F238E27FC236}">
                <a16:creationId xmlns:a16="http://schemas.microsoft.com/office/drawing/2014/main" id="{4F08EE30-37C9-4568-9D6A-CEC06F50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493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所有对外产出均经 Critic 校验</a:t>
            </a:r>
          </a:p>
        </p:txBody>
      </p:sp>
      <p:sp>
        <p:nvSpPr>
          <p:cNvPr id="55" name="9 个角色通过数据与任务状态交接">
            <a:extLst xmlns:a="http://schemas.openxmlformats.org/drawingml/2006/main">
              <a:ext uri="{FF2B5EF4-FFF2-40B4-BE49-F238E27FC236}">
                <a16:creationId xmlns:a16="http://schemas.microsoft.com/office/drawing/2014/main" id="{33A55AC2-7F2E-4698-A09E-13A76621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个角色通过数据与任务状态交接</a:t>
            </a:r>
          </a:p>
        </p:txBody>
      </p:sp>
    </p:spTree>
    <p:extLst>
      <p:ext uri="{BB962C8B-B14F-4D97-AF65-F5344CB8AC3E}">
        <p14:creationId xmlns:p14="http://schemas.microsoft.com/office/powerpoint/2010/main" val="352753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F63ED3-FE23-43D5-8A5F-955AB65D67FE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 flipV="1">
            <a:off x="6324600" y="23245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325377-B11D-4A58-99F3-45ECFDE59E7E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6324600" y="2648427"/>
            <a:ext cx="13725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115967-FF36-4C37-92A5-79134A16E895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 flipV="1">
            <a:off x="7696200" y="2648427"/>
            <a:ext cx="953" cy="3648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711FA4-5994-456C-8328-339192107038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954203" y="6296502"/>
            <a:ext cx="741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C8419-E017-45D4-9710-32D2078A20D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738813" y="45720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B44413-678D-42BA-B262-41667AC56D2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644063" y="23241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57D8E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BDB60-1F21-40AC-88FE-EFC7B359714B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3048000" y="4048602"/>
            <a:ext cx="686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46108-D30B-45A5-A665-F66F9D95D946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3733800" y="1953102"/>
            <a:ext cx="953" cy="2095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8B2A6-CADD-466F-B764-1485C6C8E8BF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3733800" y="1953102"/>
            <a:ext cx="7915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3C028-F8DD-45A7-A62A-D6AF727447C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738813" y="232410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dash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1261C-41F7-4DC6-86A0-E759BE6A2B9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5325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10A2B-D6FC-4386-B547-65C16E73AD1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5" name="F-07">
            <a:extLst xmlns:a="http://schemas.openxmlformats.org/drawingml/2006/main">
              <a:ext uri="{FF2B5EF4-FFF2-40B4-BE49-F238E27FC236}">
                <a16:creationId xmlns:a16="http://schemas.microsoft.com/office/drawing/2014/main" id="{F2EEF22C-2314-449D-BCC6-C211438A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F-07</a:t>
            </a:r>
          </a:p>
        </p:txBody>
      </p:sp>
      <p:sp>
        <p:nvSpPr>
          <p:cNvPr id="2" name="任务状态机">
            <a:extLst xmlns:a="http://schemas.openxmlformats.org/drawingml/2006/main">
              <a:ext uri="{FF2B5EF4-FFF2-40B4-BE49-F238E27FC236}">
                <a16:creationId xmlns:a16="http://schemas.microsoft.com/office/drawing/2014/main" id="{66B14817-F83E-4952-8DDD-44AE8089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任务状态机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FE84E8D1-FDD1-43F4-B943-A4093AD4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ued">
            <a:extLst xmlns:a="http://schemas.openxmlformats.org/drawingml/2006/main">
              <a:ext uri="{FF2B5EF4-FFF2-40B4-BE49-F238E27FC236}">
                <a16:creationId xmlns:a16="http://schemas.microsoft.com/office/drawing/2014/main" id="{6322EF37-B9DD-43AA-BCCA-23FC173C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906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queued</a:t>
            </a:r>
          </a:p>
        </p:txBody>
      </p:sp>
      <p:sp>
        <p:nvSpPr>
          <p:cNvPr id="5" name="running">
            <a:extLst xmlns:a="http://schemas.openxmlformats.org/drawingml/2006/main">
              <a:ext uri="{FF2B5EF4-FFF2-40B4-BE49-F238E27FC236}">
                <a16:creationId xmlns:a16="http://schemas.microsoft.com/office/drawing/2014/main" id="{30C966ED-1734-41C5-95FB-A3188012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906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6" name="succeeded">
            <a:extLst xmlns:a="http://schemas.openxmlformats.org/drawingml/2006/main">
              <a:ext uri="{FF2B5EF4-FFF2-40B4-BE49-F238E27FC236}">
                <a16:creationId xmlns:a16="http://schemas.microsoft.com/office/drawing/2014/main" id="{9E68CED1-A0A0-4AE4-B323-2542EF8D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906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succeeded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5B4A2C66-92CB-4FC1-897D-7B49CF61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2428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0" name="retrying">
            <a:extLst xmlns:a="http://schemas.openxmlformats.org/drawingml/2006/main">
              <a:ext uri="{FF2B5EF4-FFF2-40B4-BE49-F238E27FC236}">
                <a16:creationId xmlns:a16="http://schemas.microsoft.com/office/drawing/2014/main" id="{344AA53D-53D2-478B-B020-98ED01FC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retrying</a:t>
            </a:r>
          </a:p>
        </p:txBody>
      </p:sp>
      <p:sp>
        <p:nvSpPr>
          <p:cNvPr id="11" name="内部状态">
            <a:extLst xmlns:a="http://schemas.openxmlformats.org/drawingml/2006/main">
              <a:ext uri="{FF2B5EF4-FFF2-40B4-BE49-F238E27FC236}">
                <a16:creationId xmlns:a16="http://schemas.microsoft.com/office/drawing/2014/main" id="{E5F1E0E9-84B4-4F48-9537-B227A7FA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48125"/>
            <a:ext cx="2200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内部状态</a:t>
            </a:r>
          </a:p>
        </p:txBody>
      </p:sp>
      <p:sp>
        <p:nvSpPr>
          <p:cNvPr id="13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E87A2092-97E0-405F-8C16-E68EC34E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2809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67A20"/>
                </a:solidFill>
              </a:defRPr>
            </a:pPr>
            <a:r>
              <a:rPr sz="16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14" name="failed">
            <a:extLst xmlns:a="http://schemas.openxmlformats.org/drawingml/2006/main">
              <a:ext uri="{FF2B5EF4-FFF2-40B4-BE49-F238E27FC236}">
                <a16:creationId xmlns:a16="http://schemas.microsoft.com/office/drawing/2014/main" id="{DC6A9532-E8CB-40CE-95D1-762CE9B2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7EEB897E-9C28-4D22-BAF8-82A7F62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66297593-0F6F-4FC2-AA9E-CF7C5500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277E400D-71CD-4D17-8B02-43ABF473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3EC2D614-E54B-41D4-AA00-40C707F3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DB26E3D5-5452-48F3-98CD-77944DA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F481EA5D-9FFE-440F-ABF3-EC4E56AA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A5A32F0D-55B2-4C67-B871-A50A7725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B554B"/>
                </a:solidFill>
              </a:defRPr>
            </a:pPr>
            <a:r>
              <a:rPr sz="165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25" name="expired">
            <a:extLst xmlns:a="http://schemas.openxmlformats.org/drawingml/2006/main">
              <a:ext uri="{FF2B5EF4-FFF2-40B4-BE49-F238E27FC236}">
                <a16:creationId xmlns:a16="http://schemas.microsoft.com/office/drawing/2014/main" id="{29F164EA-8C7B-4112-9A42-C5A8F071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861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expired</a:t>
            </a:r>
          </a:p>
        </p:txBody>
      </p:sp>
      <p:sp>
        <p:nvSpPr>
          <p:cNvPr id="27" name="结果保留 24 h">
            <a:extLst xmlns:a="http://schemas.openxmlformats.org/drawingml/2006/main">
              <a:ext uri="{FF2B5EF4-FFF2-40B4-BE49-F238E27FC236}">
                <a16:creationId xmlns:a16="http://schemas.microsoft.com/office/drawing/2014/main" id="{8B77DECB-8730-41E3-B51E-8DBF3855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419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结果保留 24 h</a:t>
            </a:r>
          </a:p>
        </p:txBody>
      </p:sp>
      <p:sp>
        <p:nvSpPr>
          <p:cNvPr id="28" name="DLQ">
            <a:extLst xmlns:a="http://schemas.openxmlformats.org/drawingml/2006/main">
              <a:ext uri="{FF2B5EF4-FFF2-40B4-BE49-F238E27FC236}">
                <a16:creationId xmlns:a16="http://schemas.microsoft.com/office/drawing/2014/main" id="{04D70CF6-47CF-405D-8D4E-2D9986F0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34075"/>
            <a:ext cx="2428875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</a:t>
            </a:r>
          </a:p>
        </p:txBody>
      </p:sp>
      <p:sp>
        <p:nvSpPr>
          <p:cNvPr id="30" name="超过 6 次">
            <a:extLst xmlns:a="http://schemas.openxmlformats.org/drawingml/2006/main">
              <a:ext uri="{FF2B5EF4-FFF2-40B4-BE49-F238E27FC236}">
                <a16:creationId xmlns:a16="http://schemas.microsoft.com/office/drawing/2014/main" id="{5A8FAAF5-A6B6-4A8D-B600-6AC28705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1149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B554B"/>
                </a:solidFill>
              </a:defRPr>
            </a:pPr>
            <a:r>
              <a:rPr sz="165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超过 6 次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20719ADE-37F5-4BFD-BAF9-76A2F42F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E42C0E06-C100-45EC-AD9F-CEBB19E6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ED01B820-3C73-4574-B461-081AA644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8C07660F-4A4D-47DA-BCDF-1BDABD1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A85DB058-F140-4B3D-8691-D9C61B47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98411318-E620-4E19-82FB-34915E99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A8C7AB9E-3F45-4217-8364-EACFC6C9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07A3D3FA-1289-4E8A-B815-79D6B8FD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每 15 min 重放">
            <a:extLst xmlns:a="http://schemas.openxmlformats.org/drawingml/2006/main">
              <a:ext uri="{FF2B5EF4-FFF2-40B4-BE49-F238E27FC236}">
                <a16:creationId xmlns:a16="http://schemas.microsoft.com/office/drawing/2014/main" id="{0BC45446-CD9F-4247-AE1F-F4844A89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292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每 15 min 重放</a:t>
            </a:r>
          </a:p>
        </p:txBody>
      </p:sp>
      <p:sp>
        <p:nvSpPr>
          <p:cNvPr id="44" name="retrying 与死信对外均显示为 running">
            <a:extLst xmlns:a="http://schemas.openxmlformats.org/drawingml/2006/main">
              <a:ext uri="{FF2B5EF4-FFF2-40B4-BE49-F238E27FC236}">
                <a16:creationId xmlns:a16="http://schemas.microsoft.com/office/drawing/2014/main" id="{4BC77A6A-6DDC-422E-9DB6-649D117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retrying 与死信对外均显示为 running</a:t>
            </a:r>
          </a:p>
        </p:txBody>
      </p:sp>
    </p:spTree>
    <p:extLst>
      <p:ext uri="{BB962C8B-B14F-4D97-AF65-F5344CB8AC3E}">
        <p14:creationId xmlns:p14="http://schemas.microsoft.com/office/powerpoint/2010/main" val="1315867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DFEC90-50C9-4D09-BB51-A1AFF1F43258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938212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37ABD3-D04D-4C57-B69F-2332E816E52F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5715953" y="521065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5D402F-87B9-4C99-8F57-2033C72B51B5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5DDECB-A1C2-4057-91C8-64F3492D7586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H="1">
            <a:off x="5715000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842E94-AD63-4D71-B6E9-A1CE5E551907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H="1">
            <a:off x="5715000" y="521065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476AB5-76A7-4AAD-8758-ED07CF3B5B89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EC0D9E-712C-4944-BDD6-56EA80EDD98F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204787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86FF75-86AB-4E44-88DC-0634508AC6DB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2047875" y="521065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5DB6C3-8FF6-403A-9377-DF74EEBE7508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B728B2-7C06-4768-BF90-C986FA853C1F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5715000" y="3839052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2D75A-09A0-4FED-B0A4-12AC04A9EE5E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5715000" y="3839052"/>
            <a:ext cx="32680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A4CB2A-CC53-4FA6-9099-64E5478B9065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8982075" y="3467577"/>
            <a:ext cx="953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93D38-4279-4C14-844C-C654C3157DA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2457450" y="2200752"/>
            <a:ext cx="953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00FBB-56F8-4A49-84BA-A4C3E037D72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457450" y="2200752"/>
            <a:ext cx="32585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03D02-699C-4D0F-B606-F3B611FED91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5715000" y="1857852"/>
            <a:ext cx="953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327B4-FCD9-4F1D-A105-E8954E8EC87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80250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38D8A-EB89-4414-A8A2-824CB0BD408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25875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66" name="F-08">
            <a:extLst xmlns:a="http://schemas.openxmlformats.org/drawingml/2006/main">
              <a:ext uri="{FF2B5EF4-FFF2-40B4-BE49-F238E27FC236}">
                <a16:creationId xmlns:a16="http://schemas.microsoft.com/office/drawing/2014/main" id="{71B6BB4F-C964-42C2-9B13-C4A99558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F-08</a:t>
            </a:r>
          </a:p>
        </p:txBody>
      </p:sp>
      <p:sp>
        <p:nvSpPr>
          <p:cNvPr id="2" name="Critic 校验闭环">
            <a:extLst xmlns:a="http://schemas.openxmlformats.org/drawingml/2006/main">
              <a:ext uri="{FF2B5EF4-FFF2-40B4-BE49-F238E27FC236}">
                <a16:creationId xmlns:a16="http://schemas.microsoft.com/office/drawing/2014/main" id="{BBA63C71-024D-44A6-9B49-53D2F6CC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 校验闭环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E270B743-20B2-4746-AB84-64CB45F5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富化 / 评估 / 问答 / 报告">
            <a:extLst xmlns:a="http://schemas.openxmlformats.org/drawingml/2006/main">
              <a:ext uri="{FF2B5EF4-FFF2-40B4-BE49-F238E27FC236}">
                <a16:creationId xmlns:a16="http://schemas.microsoft.com/office/drawing/2014/main" id="{B289DC4C-EFB0-4006-92A2-9FA709A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38250"/>
            <a:ext cx="6667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 / 评估 / 问答 / 报告</a:t>
            </a:r>
          </a:p>
        </p:txBody>
      </p:sp>
      <p:sp>
        <p:nvSpPr>
          <p:cNvPr id="5" name="引用可回溯">
            <a:extLst xmlns:a="http://schemas.openxmlformats.org/drawingml/2006/main">
              <a:ext uri="{FF2B5EF4-FFF2-40B4-BE49-F238E27FC236}">
                <a16:creationId xmlns:a16="http://schemas.microsoft.com/office/drawing/2014/main" id="{9C31D6AF-C992-4899-8EBA-8B95BE03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9850"/>
            <a:ext cx="2730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引用可回溯</a:t>
            </a:r>
          </a:p>
        </p:txBody>
      </p:sp>
      <p:sp>
        <p:nvSpPr>
          <p:cNvPr id="6" name="置信度达门槛">
            <a:extLst xmlns:a="http://schemas.openxmlformats.org/drawingml/2006/main">
              <a:ext uri="{FF2B5EF4-FFF2-40B4-BE49-F238E27FC236}">
                <a16:creationId xmlns:a16="http://schemas.microsoft.com/office/drawing/2014/main" id="{9D26D41C-C0AB-4F54-AD28-8C9C9216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09850"/>
            <a:ext cx="2730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置信度达门槛</a:t>
            </a:r>
          </a:p>
        </p:txBody>
      </p:sp>
      <p:sp>
        <p:nvSpPr>
          <p:cNvPr id="7" name="无违规内容">
            <a:extLst xmlns:a="http://schemas.openxmlformats.org/drawingml/2006/main">
              <a:ext uri="{FF2B5EF4-FFF2-40B4-BE49-F238E27FC236}">
                <a16:creationId xmlns:a16="http://schemas.microsoft.com/office/drawing/2014/main" id="{851AB69F-1CF3-4E02-A071-3E872BF5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609850"/>
            <a:ext cx="2730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无违规内容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8577100F-58F4-4668-B8D7-636A2FD4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4B42E0D8-A6BD-4164-9767-9BF1ABFD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94B85832-3114-4BF0-917F-C7C04E9B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F8C74FC7-E05B-4408-A0F0-2146AADA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E5D3F869-07D8-4724-907D-D65D245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606EC793-9947-4703-A362-52A283CD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综合校验结论">
            <a:extLst xmlns:a="http://schemas.openxmlformats.org/drawingml/2006/main">
              <a:ext uri="{FF2B5EF4-FFF2-40B4-BE49-F238E27FC236}">
                <a16:creationId xmlns:a16="http://schemas.microsoft.com/office/drawing/2014/main" id="{D66E8408-F23A-426E-83BB-6AA1D69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43375"/>
            <a:ext cx="3048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综合校验结论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7E70ED16-DC55-43D8-A27B-5B3D8B0F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F2610202-A76B-432C-A2A1-7DEDF1F2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17329E89-49E3-435D-80F1-27623F7B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7EE1E075-B976-4FF3-93CE-2772344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36C8561E-941E-42D5-9BD3-BF4065B3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D6164D9F-B00A-4546-A6FA-6B93C3C1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7E39B571-F462-47D2-9717-BD2EE172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24525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0" name="pass">
            <a:extLst xmlns:a="http://schemas.openxmlformats.org/drawingml/2006/main">
              <a:ext uri="{FF2B5EF4-FFF2-40B4-BE49-F238E27FC236}">
                <a16:creationId xmlns:a16="http://schemas.microsoft.com/office/drawing/2014/main" id="{C12D749E-1A22-4E66-A60F-A42ACEEC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1" name="写入或返回">
            <a:extLst xmlns:a="http://schemas.openxmlformats.org/drawingml/2006/main">
              <a:ext uri="{FF2B5EF4-FFF2-40B4-BE49-F238E27FC236}">
                <a16:creationId xmlns:a16="http://schemas.microsoft.com/office/drawing/2014/main" id="{C642BFA7-856D-4E8D-8495-8A848F1C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写入或返回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D19A080C-48D1-4F3D-9E42-523DFC16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24525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3" name="partial">
            <a:extLst xmlns:a="http://schemas.openxmlformats.org/drawingml/2006/main">
              <a:ext uri="{FF2B5EF4-FFF2-40B4-BE49-F238E27FC236}">
                <a16:creationId xmlns:a16="http://schemas.microsoft.com/office/drawing/2014/main" id="{30879DF4-8C9C-4D98-9863-494F9D6D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34" name="标明不受支持句">
            <a:extLst xmlns:a="http://schemas.openxmlformats.org/drawingml/2006/main">
              <a:ext uri="{FF2B5EF4-FFF2-40B4-BE49-F238E27FC236}">
                <a16:creationId xmlns:a16="http://schemas.microsoft.com/office/drawing/2014/main" id="{84E3A56A-DFBB-43C2-909A-D04229EF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标明不受支持句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DD976655-290A-4294-8580-17E2EFFA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24525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6" name="reject / fail">
            <a:extLst xmlns:a="http://schemas.openxmlformats.org/drawingml/2006/main">
              <a:ext uri="{FF2B5EF4-FFF2-40B4-BE49-F238E27FC236}">
                <a16:creationId xmlns:a16="http://schemas.microsoft.com/office/drawing/2014/main" id="{03D83CE9-BC3F-428E-B7D5-7CB942AD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reject / fail</a:t>
            </a:r>
          </a:p>
        </p:txBody>
      </p:sp>
      <p:sp>
        <p:nvSpPr>
          <p:cNvPr id="37" name="重新检索或富化">
            <a:extLst xmlns:a="http://schemas.openxmlformats.org/drawingml/2006/main">
              <a:ext uri="{FF2B5EF4-FFF2-40B4-BE49-F238E27FC236}">
                <a16:creationId xmlns:a16="http://schemas.microsoft.com/office/drawing/2014/main" id="{547F9017-DDBA-424A-9CA2-02A5DD2B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重新检索或富化</a:t>
            </a:r>
          </a:p>
        </p:txBody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4E1CA145-E3FF-47E6-8DEC-C5A6E62C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B85CEC01-1F96-4FC7-BD60-7151F190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E7FB5B2D-0C26-4CB6-9866-C35DABFE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823D7B1A-39C8-47D7-8ED0-0631F0C1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C5D3C875-2EF8-44CF-B1AF-18726634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3A650EB8-5463-4950-A62A-BAE658F3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010B2378-20FD-410E-B1EF-9E7583F9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E13B3073-7330-47BE-8676-34917F48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947C55C9-4FF3-4B03-A6E7-B0D2AAF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boundary">
            <a:extLst xmlns:a="http://schemas.openxmlformats.org/drawingml/2006/main">
              <a:ext uri="{FF2B5EF4-FFF2-40B4-BE49-F238E27FC236}">
                <a16:creationId xmlns:a16="http://schemas.microsoft.com/office/drawing/2014/main" id="{D3912D5D-AFEC-4736-B99D-991A1047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FA8A0F41-02E7-4614-A775-5BC706E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8C97B508-0B3D-4309-9B02-71470E3A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B4E55C9F-3EE7-485A-A207-8C33D7B2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8386E671-F2B5-44CE-BC47-C93A68E7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A08721CD-86AB-4AA6-B797-D169DD4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9AFC466A-736B-40B8-B280-1C492EB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16AC0579-F44D-4B85-A136-BBA4A96B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2FC90411-32B6-49DB-8CF1-2C1665D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关系边门槛 0.6；问答 partial 比例 ≤30%；LLM 产出 20% 抽检">
            <a:extLst xmlns:a="http://schemas.openxmlformats.org/drawingml/2006/main">
              <a:ext uri="{FF2B5EF4-FFF2-40B4-BE49-F238E27FC236}">
                <a16:creationId xmlns:a16="http://schemas.microsoft.com/office/drawing/2014/main" id="{7902832A-3861-4C9C-A96F-6D5C1F32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关系边门槛 0.6；问答 partial 比例 ≤30%；LLM 产出 20% 抽检</a:t>
            </a:r>
          </a:p>
        </p:txBody>
      </p:sp>
    </p:spTree>
    <p:extLst>
      <p:ext uri="{BB962C8B-B14F-4D97-AF65-F5344CB8AC3E}">
        <p14:creationId xmlns:p14="http://schemas.microsoft.com/office/powerpoint/2010/main" val="1529359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-09">
            <a:extLst xmlns:a="http://schemas.openxmlformats.org/drawingml/2006/main">
              <a:ext uri="{FF2B5EF4-FFF2-40B4-BE49-F238E27FC236}">
                <a16:creationId xmlns:a16="http://schemas.microsoft.com/office/drawing/2014/main" id="{F2E551AB-0550-4FCD-B2CA-BB051D1F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F-09</a:t>
            </a:r>
          </a:p>
        </p:txBody>
      </p:sp>
      <p:sp>
        <p:nvSpPr>
          <p:cNvPr id="2" name="九类数据源与三级可信度">
            <a:extLst xmlns:a="http://schemas.openxmlformats.org/drawingml/2006/main">
              <a:ext uri="{FF2B5EF4-FFF2-40B4-BE49-F238E27FC236}">
                <a16:creationId xmlns:a16="http://schemas.microsoft.com/office/drawing/2014/main" id="{E6B60A9D-2886-4EA5-B6AD-D34FA744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九类数据源与三级可信度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4EA4F90-A133-443F-BF70-BD5C0D24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148370C3-C420-44FA-9497-84A93441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一级 官方">
            <a:extLst xmlns:a="http://schemas.openxmlformats.org/drawingml/2006/main">
              <a:ext uri="{FF2B5EF4-FFF2-40B4-BE49-F238E27FC236}">
                <a16:creationId xmlns:a16="http://schemas.microsoft.com/office/drawing/2014/main" id="{DF62233F-8B48-41CE-AEC6-EE77A1A8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一级 官方</a:t>
            </a:r>
          </a:p>
        </p:txBody>
      </p:sp>
      <p:sp>
        <p:nvSpPr>
          <p:cNvPr id="6" name="1.0">
            <a:extLst xmlns:a="http://schemas.openxmlformats.org/drawingml/2006/main">
              <a:ext uri="{FF2B5EF4-FFF2-40B4-BE49-F238E27FC236}">
                <a16:creationId xmlns:a16="http://schemas.microsoft.com/office/drawing/2014/main" id="{1DBDAB46-F7AB-445A-AECF-7559EEB2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4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277DC3"/>
                </a:solidFill>
              </a:defRPr>
            </a:pPr>
            <a:r>
              <a:rPr sz="4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7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BF1083A4-87AF-4C24-8517-3E4E08D1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77DC3"/>
                </a:solidFill>
              </a:defRPr>
            </a:pPr>
            <a:r>
              <a:rPr sz="150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8" name="NVD / GHSA reviewed OSV / KEV / EPSS ATLAS / 厂商公告 CNNVD / 标准法规 CNVD：人工导入">
            <a:extLst xmlns:a="http://schemas.openxmlformats.org/drawingml/2006/main">
              <a:ext uri="{FF2B5EF4-FFF2-40B4-BE49-F238E27FC236}">
                <a16:creationId xmlns:a16="http://schemas.microsoft.com/office/drawing/2014/main" id="{D8A787CA-B6A9-41F4-9D46-7F1FC218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 reviewed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/ KEV / EPSS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ATLAS / 厂商公告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CNNVD / 标准法规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CNVD：人工导入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8B338D64-4141-493B-B446-A087204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二级 专业平台">
            <a:extLst xmlns:a="http://schemas.openxmlformats.org/drawingml/2006/main">
              <a:ext uri="{FF2B5EF4-FFF2-40B4-BE49-F238E27FC236}">
                <a16:creationId xmlns:a16="http://schemas.microsoft.com/office/drawing/2014/main" id="{017308A0-3AA0-47B1-A8C7-48D7F1C3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716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二级 专业平台</a:t>
            </a:r>
          </a:p>
        </p:txBody>
      </p:sp>
      <p:sp>
        <p:nvSpPr>
          <p:cNvPr id="11" name="0.7">
            <a:extLst xmlns:a="http://schemas.openxmlformats.org/drawingml/2006/main">
              <a:ext uri="{FF2B5EF4-FFF2-40B4-BE49-F238E27FC236}">
                <a16:creationId xmlns:a16="http://schemas.microsoft.com/office/drawing/2014/main" id="{366E6E0E-4CF3-49C6-B7AA-9A585472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4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547D45"/>
                </a:solidFill>
              </a:defRPr>
            </a:pPr>
            <a:r>
              <a:rPr sz="4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0.7</a:t>
            </a:r>
          </a:p>
        </p:txBody>
      </p:sp>
      <p:sp>
        <p:nvSpPr>
          <p:cNvPr id="12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AAF84168-CBAC-4B09-A0CD-D23B7E97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47D45"/>
                </a:solidFill>
              </a:defRPr>
            </a:pPr>
            <a:r>
              <a:rPr sz="150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3" name="huntr / AVID GHSA unreviewed  测绘平台仅供暴露面 不增加来源类别">
            <a:extLst xmlns:a="http://schemas.openxmlformats.org/drawingml/2006/main">
              <a:ext uri="{FF2B5EF4-FFF2-40B4-BE49-F238E27FC236}">
                <a16:creationId xmlns:a16="http://schemas.microsoft.com/office/drawing/2014/main" id="{92ED54D0-A437-4A82-BA00-BDDD8BFC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AVID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unreviewed</a:t>
            </a:r>
          </a:p>
          <a:p xmlns:a="http://schemas.openxmlformats.org/drawingml/2006/main">
            <a:r>
              <a:rPr sz="1650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测绘平台仅供暴露面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不增加来源类别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83F2ABEF-57B5-4FE4-8CA1-2764BC0D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三级 研究资讯">
            <a:extLst xmlns:a="http://schemas.openxmlformats.org/drawingml/2006/main">
              <a:ext uri="{FF2B5EF4-FFF2-40B4-BE49-F238E27FC236}">
                <a16:creationId xmlns:a16="http://schemas.microsoft.com/office/drawing/2014/main" id="{C9F7D060-E5FA-4E45-B67C-0579A816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三级 研究资讯</a:t>
            </a:r>
          </a:p>
        </p:txBody>
      </p:sp>
      <p:sp>
        <p:nvSpPr>
          <p:cNvPr id="16" name="0.4">
            <a:extLst xmlns:a="http://schemas.openxmlformats.org/drawingml/2006/main">
              <a:ext uri="{FF2B5EF4-FFF2-40B4-BE49-F238E27FC236}">
                <a16:creationId xmlns:a16="http://schemas.microsoft.com/office/drawing/2014/main" id="{271099F0-0D89-4F7B-80F5-B7DB2737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4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A67A20"/>
                </a:solidFill>
              </a:defRPr>
            </a:pPr>
            <a:r>
              <a:rPr sz="4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17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620908F8-41DD-42B4-9D24-ADCA54E9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A67A20"/>
                </a:solidFill>
              </a:defRPr>
            </a:pPr>
            <a:r>
              <a:rPr sz="150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8" name="arXiv 安全博客 RSS  仅三级支撑：unconfirmed 不进入高危告警">
            <a:extLst xmlns:a="http://schemas.openxmlformats.org/drawingml/2006/main">
              <a:ext uri="{FF2B5EF4-FFF2-40B4-BE49-F238E27FC236}">
                <a16:creationId xmlns:a16="http://schemas.microsoft.com/office/drawing/2014/main" id="{50F033E9-3AC4-4C86-80FA-5CF1E014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arXiv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安全博客 RSS</a:t>
            </a:r>
          </a:p>
          <a:p xmlns:a="http://schemas.openxmlformats.org/drawingml/2006/main">
            <a:r>
              <a:rPr sz="1650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仅三级支撑：unconfirmed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不进入高危告警</a:t>
            </a:r>
          </a:p>
        </p:txBody>
      </p:sp>
      <p:sp>
        <p:nvSpPr>
          <p:cNvPr id="19" name="平台审核只可下调可信度；CNNVD 主力，CNVD 加分项">
            <a:extLst xmlns:a="http://schemas.openxmlformats.org/drawingml/2006/main">
              <a:ext uri="{FF2B5EF4-FFF2-40B4-BE49-F238E27FC236}">
                <a16:creationId xmlns:a16="http://schemas.microsoft.com/office/drawing/2014/main" id="{99664B7D-3E1E-40A7-86C9-1A4642B8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平台审核只可下调可信度；CNNVD 主力，CNVD 加分项</a:t>
            </a:r>
          </a:p>
        </p:txBody>
      </p:sp>
    </p:spTree>
    <p:extLst>
      <p:ext uri="{BB962C8B-B14F-4D97-AF65-F5344CB8AC3E}">
        <p14:creationId xmlns:p14="http://schemas.microsoft.com/office/powerpoint/2010/main" val="1798279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-10">
            <a:extLst xmlns:a="http://schemas.openxmlformats.org/drawingml/2006/main">
              <a:ext uri="{FF2B5EF4-FFF2-40B4-BE49-F238E27FC236}">
                <a16:creationId xmlns:a16="http://schemas.microsoft.com/office/drawing/2014/main" id="{26D59116-9414-4BE6-8181-3E624608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F-10</a:t>
            </a:r>
          </a:p>
        </p:txBody>
      </p:sp>
      <p:sp>
        <p:nvSpPr>
          <p:cNvPr id="2" name="各来源采集节奏与目标时延">
            <a:extLst xmlns:a="http://schemas.openxmlformats.org/drawingml/2006/main">
              <a:ext uri="{FF2B5EF4-FFF2-40B4-BE49-F238E27FC236}">
                <a16:creationId xmlns:a16="http://schemas.microsoft.com/office/drawing/2014/main" id="{76293434-C4F7-4722-B597-BA3458E0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各来源采集节奏与目标时延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D26B6AA2-8110-4DC9-BEE9-ACDBC8EF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轮询频率">
            <a:extLst xmlns:a="http://schemas.openxmlformats.org/drawingml/2006/main">
              <a:ext uri="{FF2B5EF4-FFF2-40B4-BE49-F238E27FC236}">
                <a16:creationId xmlns:a16="http://schemas.microsoft.com/office/drawing/2014/main" id="{3F51B736-B2ED-4E66-A3DA-81506B43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52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轮询频率</a:t>
            </a:r>
          </a:p>
        </p:txBody>
      </p:sp>
      <p:sp>
        <p:nvSpPr>
          <p:cNvPr id="5" name="来源与触发方式">
            <a:extLst xmlns:a="http://schemas.openxmlformats.org/drawingml/2006/main">
              <a:ext uri="{FF2B5EF4-FFF2-40B4-BE49-F238E27FC236}">
                <a16:creationId xmlns:a16="http://schemas.microsoft.com/office/drawing/2014/main" id="{D2D7F971-FA89-4B16-A6F2-9A68A698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525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来源与触发方式</a:t>
            </a:r>
          </a:p>
        </p:txBody>
      </p:sp>
      <p:sp>
        <p:nvSpPr>
          <p:cNvPr id="6" name="发现时延目标（待测）">
            <a:extLst xmlns:a="http://schemas.openxmlformats.org/drawingml/2006/main">
              <a:ext uri="{FF2B5EF4-FFF2-40B4-BE49-F238E27FC236}">
                <a16:creationId xmlns:a16="http://schemas.microsoft.com/office/drawing/2014/main" id="{39DE8B12-D037-4B3F-927E-7C4ED0F9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1525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发现时延目标（待测）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581DA67B-DD28-42FB-9E32-C1464A54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事件">
            <a:extLst xmlns:a="http://schemas.openxmlformats.org/drawingml/2006/main">
              <a:ext uri="{FF2B5EF4-FFF2-40B4-BE49-F238E27FC236}">
                <a16:creationId xmlns:a16="http://schemas.microsoft.com/office/drawing/2014/main" id="{AD610C34-4627-4922-A9B3-463EAA32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</a:t>
            </a:r>
          </a:p>
        </p:txBody>
      </p:sp>
      <p:sp>
        <p:nvSpPr>
          <p:cNvPr id="9" name="自有仓库 / DEMO">
            <a:extLst xmlns:a="http://schemas.openxmlformats.org/drawingml/2006/main">
              <a:ext uri="{FF2B5EF4-FFF2-40B4-BE49-F238E27FC236}">
                <a16:creationId xmlns:a16="http://schemas.microsoft.com/office/drawing/2014/main" id="{107898F7-429E-4DC0-847A-53D660C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02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自有仓库 / DEMO</a:t>
            </a:r>
          </a:p>
        </p:txBody>
      </p:sp>
      <p:sp>
        <p:nvSpPr>
          <p:cNvPr id="10" name="≤1 min">
            <a:extLst xmlns:a="http://schemas.openxmlformats.org/drawingml/2006/main">
              <a:ext uri="{FF2B5EF4-FFF2-40B4-BE49-F238E27FC236}">
                <a16:creationId xmlns:a16="http://schemas.microsoft.com/office/drawing/2014/main" id="{7728E193-94AA-49CA-88E8-DDD41184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 min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C7088C0C-5412-41E1-952C-56AA2F18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5 min">
            <a:extLst xmlns:a="http://schemas.openxmlformats.org/drawingml/2006/main">
              <a:ext uri="{FF2B5EF4-FFF2-40B4-BE49-F238E27FC236}">
                <a16:creationId xmlns:a16="http://schemas.microsoft.com/office/drawing/2014/main" id="{BC3E2F4C-15E4-432E-BB30-78AF2D95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min</a:t>
            </a:r>
          </a:p>
        </p:txBody>
      </p:sp>
      <p:sp>
        <p:nvSpPr>
          <p:cNvPr id="13" name="P0 厂商公告">
            <a:extLst xmlns:a="http://schemas.openxmlformats.org/drawingml/2006/main">
              <a:ext uri="{FF2B5EF4-FFF2-40B4-BE49-F238E27FC236}">
                <a16:creationId xmlns:a16="http://schemas.microsoft.com/office/drawing/2014/main" id="{079D269B-CB00-4494-A204-E26F04E5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479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P0 厂商公告</a:t>
            </a:r>
          </a:p>
        </p:txBody>
      </p:sp>
      <p:sp>
        <p:nvSpPr>
          <p:cNvPr id="14" name="≤10 min">
            <a:extLst xmlns:a="http://schemas.openxmlformats.org/drawingml/2006/main">
              <a:ext uri="{FF2B5EF4-FFF2-40B4-BE49-F238E27FC236}">
                <a16:creationId xmlns:a16="http://schemas.microsoft.com/office/drawing/2014/main" id="{FD4B3040-54DD-48CD-9625-B4AB1D2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≤10 min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32DEC66B-0249-4995-991E-9B46EB69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10 min">
            <a:extLst xmlns:a="http://schemas.openxmlformats.org/drawingml/2006/main">
              <a:ext uri="{FF2B5EF4-FFF2-40B4-BE49-F238E27FC236}">
                <a16:creationId xmlns:a16="http://schemas.microsoft.com/office/drawing/2014/main" id="{CC28D3C3-FD23-4674-8BFE-B18F395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861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17" name="GHSA / NVD / RSS">
            <a:extLst xmlns:a="http://schemas.openxmlformats.org/drawingml/2006/main">
              <a:ext uri="{FF2B5EF4-FFF2-40B4-BE49-F238E27FC236}">
                <a16:creationId xmlns:a16="http://schemas.microsoft.com/office/drawing/2014/main" id="{345195FF-6603-4883-A81B-01AB37C6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956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/ NVD / RSS</a:t>
            </a:r>
          </a:p>
        </p:txBody>
      </p:sp>
      <p:sp>
        <p:nvSpPr>
          <p:cNvPr id="18" name="≤15 / 30 / 30 min">
            <a:extLst xmlns:a="http://schemas.openxmlformats.org/drawingml/2006/main">
              <a:ext uri="{FF2B5EF4-FFF2-40B4-BE49-F238E27FC236}">
                <a16:creationId xmlns:a16="http://schemas.microsoft.com/office/drawing/2014/main" id="{45BA9ACA-564F-43AA-83C3-32E8FC0C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≤15 / 30 / 30 min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CD1184A6-4CC5-4CC5-870F-4C50400E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957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15 min">
            <a:extLst xmlns:a="http://schemas.openxmlformats.org/drawingml/2006/main">
              <a:ext uri="{FF2B5EF4-FFF2-40B4-BE49-F238E27FC236}">
                <a16:creationId xmlns:a16="http://schemas.microsoft.com/office/drawing/2014/main" id="{6AF0E11F-9407-4503-9545-C8256662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min</a:t>
            </a:r>
          </a:p>
        </p:txBody>
      </p:sp>
      <p:sp>
        <p:nvSpPr>
          <p:cNvPr id="21" name="OSV">
            <a:extLst xmlns:a="http://schemas.openxmlformats.org/drawingml/2006/main">
              <a:ext uri="{FF2B5EF4-FFF2-40B4-BE49-F238E27FC236}">
                <a16:creationId xmlns:a16="http://schemas.microsoft.com/office/drawing/2014/main" id="{BDF510FC-CB97-4A99-87CD-BAEAFD53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433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</a:t>
            </a:r>
          </a:p>
        </p:txBody>
      </p:sp>
      <p:sp>
        <p:nvSpPr>
          <p:cNvPr id="22" name="≤30 min">
            <a:extLst xmlns:a="http://schemas.openxmlformats.org/drawingml/2006/main">
              <a:ext uri="{FF2B5EF4-FFF2-40B4-BE49-F238E27FC236}">
                <a16:creationId xmlns:a16="http://schemas.microsoft.com/office/drawing/2014/main" id="{9F4162CF-F5C8-4E5C-ACD1-17BED14D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≤30 min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DCAB0E4E-18EC-40C2-AAEC-2915C325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1 h">
            <a:extLst xmlns:a="http://schemas.openxmlformats.org/drawingml/2006/main">
              <a:ext uri="{FF2B5EF4-FFF2-40B4-BE49-F238E27FC236}">
                <a16:creationId xmlns:a16="http://schemas.microsoft.com/office/drawing/2014/main" id="{A88CAA06-3528-4317-B12C-0EF179C7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h</a:t>
            </a:r>
          </a:p>
        </p:txBody>
      </p:sp>
      <p:sp>
        <p:nvSpPr>
          <p:cNvPr id="25" name="huntr / KEV">
            <a:extLst xmlns:a="http://schemas.openxmlformats.org/drawingml/2006/main">
              <a:ext uri="{FF2B5EF4-FFF2-40B4-BE49-F238E27FC236}">
                <a16:creationId xmlns:a16="http://schemas.microsoft.com/office/drawing/2014/main" id="{CB1D20F0-F7A0-4891-85E1-61F10C0F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910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KEV</a:t>
            </a:r>
          </a:p>
        </p:txBody>
      </p:sp>
      <p:sp>
        <p:nvSpPr>
          <p:cNvPr id="26" name="≤2 h">
            <a:extLst xmlns:a="http://schemas.openxmlformats.org/drawingml/2006/main">
              <a:ext uri="{FF2B5EF4-FFF2-40B4-BE49-F238E27FC236}">
                <a16:creationId xmlns:a16="http://schemas.microsoft.com/office/drawing/2014/main" id="{A4A2D0E4-680A-48F5-A7C9-51BC1D2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910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 h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F02F0C30-AFB9-4DB2-B1F9-A3967D95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6 h">
            <a:extLst xmlns:a="http://schemas.openxmlformats.org/drawingml/2006/main">
              <a:ext uri="{FF2B5EF4-FFF2-40B4-BE49-F238E27FC236}">
                <a16:creationId xmlns:a16="http://schemas.microsoft.com/office/drawing/2014/main" id="{4E133DE7-FF09-40C8-BA03-CCB0B247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6 h</a:t>
            </a:r>
          </a:p>
        </p:txBody>
      </p:sp>
      <p:sp>
        <p:nvSpPr>
          <p:cNvPr id="29" name="AVID">
            <a:extLst xmlns:a="http://schemas.openxmlformats.org/drawingml/2006/main">
              <a:ext uri="{FF2B5EF4-FFF2-40B4-BE49-F238E27FC236}">
                <a16:creationId xmlns:a16="http://schemas.microsoft.com/office/drawing/2014/main" id="{0F8F4D7C-418B-4AF1-95D4-229547DA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387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AVID</a:t>
            </a:r>
          </a:p>
        </p:txBody>
      </p:sp>
      <p:sp>
        <p:nvSpPr>
          <p:cNvPr id="30" name="≤6 h">
            <a:extLst xmlns:a="http://schemas.openxmlformats.org/drawingml/2006/main">
              <a:ext uri="{FF2B5EF4-FFF2-40B4-BE49-F238E27FC236}">
                <a16:creationId xmlns:a16="http://schemas.microsoft.com/office/drawing/2014/main" id="{BE3A2D84-E9BD-407C-B92E-436B42B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387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≤6 h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4A37BCB2-5E60-4C5E-98B7-FC39CC0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88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1 d">
            <a:extLst xmlns:a="http://schemas.openxmlformats.org/drawingml/2006/main">
              <a:ext uri="{FF2B5EF4-FFF2-40B4-BE49-F238E27FC236}">
                <a16:creationId xmlns:a16="http://schemas.microsoft.com/office/drawing/2014/main" id="{1F4AFD23-28FA-4E90-8309-1D877B69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d</a:t>
            </a:r>
          </a:p>
        </p:txBody>
      </p:sp>
      <p:sp>
        <p:nvSpPr>
          <p:cNvPr id="33" name="EPSS / arXiv / CNNVD">
            <a:extLst xmlns:a="http://schemas.openxmlformats.org/drawingml/2006/main">
              <a:ext uri="{FF2B5EF4-FFF2-40B4-BE49-F238E27FC236}">
                <a16:creationId xmlns:a16="http://schemas.microsoft.com/office/drawing/2014/main" id="{73F3E57C-5260-490C-8D41-90C5BF9E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864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EPSS / arXiv / CNNVD</a:t>
            </a:r>
          </a:p>
        </p:txBody>
      </p:sp>
      <p:sp>
        <p:nvSpPr>
          <p:cNvPr id="34" name="≤24 h">
            <a:extLst xmlns:a="http://schemas.openxmlformats.org/drawingml/2006/main">
              <a:ext uri="{FF2B5EF4-FFF2-40B4-BE49-F238E27FC236}">
                <a16:creationId xmlns:a16="http://schemas.microsoft.com/office/drawing/2014/main" id="{C4050AF5-CAAE-4F34-98F1-F78F84DE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864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≤24 h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53DD20D5-00AB-4ED2-9F6E-8B940FD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1 周">
            <a:extLst xmlns:a="http://schemas.openxmlformats.org/drawingml/2006/main">
              <a:ext uri="{FF2B5EF4-FFF2-40B4-BE49-F238E27FC236}">
                <a16:creationId xmlns:a16="http://schemas.microsoft.com/office/drawing/2014/main" id="{D5F1CC0E-CF2A-4D5E-A7AB-0FF8733B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周</a:t>
            </a:r>
          </a:p>
        </p:txBody>
      </p:sp>
      <p:sp>
        <p:nvSpPr>
          <p:cNvPr id="37" name="标准法规 / CNVD">
            <a:extLst xmlns:a="http://schemas.openxmlformats.org/drawingml/2006/main">
              <a:ext uri="{FF2B5EF4-FFF2-40B4-BE49-F238E27FC236}">
                <a16:creationId xmlns:a16="http://schemas.microsoft.com/office/drawing/2014/main" id="{84064128-DD42-4826-AA8C-5523BC36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341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标准法规 / CNVD</a:t>
            </a:r>
          </a:p>
        </p:txBody>
      </p:sp>
      <p:sp>
        <p:nvSpPr>
          <p:cNvPr id="38" name="版本监测 / 人工">
            <a:extLst xmlns:a="http://schemas.openxmlformats.org/drawingml/2006/main">
              <a:ext uri="{FF2B5EF4-FFF2-40B4-BE49-F238E27FC236}">
                <a16:creationId xmlns:a16="http://schemas.microsoft.com/office/drawing/2014/main" id="{0903533F-8438-4C22-8FF1-158BEEA4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3341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57D8E"/>
                </a:solidFill>
              </a:defRPr>
            </a:pPr>
            <a:r>
              <a:rPr sz="180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版本监测 / 人工</a:t>
            </a:r>
          </a:p>
        </p:txBody>
      </p:sp>
      <p:sp>
        <p:nvSpPr>
          <p:cNvPr id="39" name="6 h 口径：NVD、GHSA、OSV、厂商公告、huntr 首次发现；其余单列">
            <a:extLst xmlns:a="http://schemas.openxmlformats.org/drawingml/2006/main">
              <a:ext uri="{FF2B5EF4-FFF2-40B4-BE49-F238E27FC236}">
                <a16:creationId xmlns:a16="http://schemas.microsoft.com/office/drawing/2014/main" id="{751FADD8-8B78-402D-9680-6E3C9A2D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6 h 口径：NVD、GHSA、OSV、厂商公告、huntr 首次发现；其余单列</a:t>
            </a:r>
          </a:p>
        </p:txBody>
      </p:sp>
    </p:spTree>
    <p:extLst>
      <p:ext uri="{BB962C8B-B14F-4D97-AF65-F5344CB8AC3E}">
        <p14:creationId xmlns:p14="http://schemas.microsoft.com/office/powerpoint/2010/main" val="11057405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5533A-563C-4800-B83E-F88CCFD218E1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8572500" y="603932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14AEAA-4235-43EB-9B63-445553499F17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715953" y="603932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776ED-65C1-4D68-8F62-E6E7ED276DD2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5715000" y="579167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BE082-CCB5-4490-A622-6F533A72C5D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5715000" y="41819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BC748-BD04-4BA1-B100-DBF5C2E3E0C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5715000" y="25436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0" name="F-11">
            <a:extLst xmlns:a="http://schemas.openxmlformats.org/drawingml/2006/main">
              <a:ext uri="{FF2B5EF4-FFF2-40B4-BE49-F238E27FC236}">
                <a16:creationId xmlns:a16="http://schemas.microsoft.com/office/drawing/2014/main" id="{DD4B29FF-D9A2-46E6-BF31-6EF4077B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F-11</a:t>
            </a:r>
          </a:p>
        </p:txBody>
      </p:sp>
      <p:sp>
        <p:nvSpPr>
          <p:cNvPr id="2" name="去重与合并的三层处理">
            <a:extLst xmlns:a="http://schemas.openxmlformats.org/drawingml/2006/main">
              <a:ext uri="{FF2B5EF4-FFF2-40B4-BE49-F238E27FC236}">
                <a16:creationId xmlns:a16="http://schemas.microsoft.com/office/drawing/2014/main" id="{99355273-840B-44F4-8E9F-040DDF63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去重与合并的三层处理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837D9D6-B549-4FF2-BD49-57EFB43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AC014C05-FEB1-40F3-A117-7EC31C46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52550"/>
            <a:ext cx="8763000" cy="1162050"/>
          </a:xfrm>
          <a:custGeom xmlns:a="http://schemas.openxmlformats.org/drawingml/2006/main">
            <a:pathLst>
              <a:path w="8763000" h="1162050">
                <a:moveTo>
                  <a:pt x="0" y="0"/>
                </a:moveTo>
                <a:lnTo>
                  <a:pt x="8763000" y="0"/>
                </a:lnTo>
                <a:lnTo>
                  <a:pt x="84201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5" name="同源幂等">
            <a:extLst xmlns:a="http://schemas.openxmlformats.org/drawingml/2006/main">
              <a:ext uri="{FF2B5EF4-FFF2-40B4-BE49-F238E27FC236}">
                <a16:creationId xmlns:a16="http://schemas.microsoft.com/office/drawing/2014/main" id="{3E3D1FB8-4535-4774-AC54-07ADA99C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85900"/>
            <a:ext cx="790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同源幂等</a:t>
            </a:r>
          </a:p>
        </p:txBody>
      </p:sp>
      <p:sp>
        <p:nvSpPr>
          <p:cNvPr id="6" name="(source, external_id)">
            <a:extLst xmlns:a="http://schemas.openxmlformats.org/drawingml/2006/main">
              <a:ext uri="{FF2B5EF4-FFF2-40B4-BE49-F238E27FC236}">
                <a16:creationId xmlns:a16="http://schemas.microsoft.com/office/drawing/2014/main" id="{9ECD640E-C1D6-40F5-871D-EA2D7C20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(source, external_id)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1BD0E58A-DB50-4057-9A0F-70F551C0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E00C5A2C-D1B1-4165-945F-89D8A37B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24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2133DD94-79ED-49D5-84ED-8D13EE0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7524750" cy="1162050"/>
          </a:xfrm>
          <a:custGeom xmlns:a="http://schemas.openxmlformats.org/drawingml/2006/main">
            <a:pathLst>
              <a:path w="7524750" h="1162050">
                <a:moveTo>
                  <a:pt x="0" y="0"/>
                </a:moveTo>
                <a:lnTo>
                  <a:pt x="7524750" y="0"/>
                </a:lnTo>
                <a:lnTo>
                  <a:pt x="718185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1" name="跨源别名并查集">
            <a:extLst xmlns:a="http://schemas.openxmlformats.org/drawingml/2006/main">
              <a:ext uri="{FF2B5EF4-FFF2-40B4-BE49-F238E27FC236}">
                <a16:creationId xmlns:a16="http://schemas.microsoft.com/office/drawing/2014/main" id="{54001300-2808-4AFB-A0C7-790092C9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跨源别名并查集</a:t>
            </a:r>
          </a:p>
        </p:txBody>
      </p:sp>
      <p:sp>
        <p:nvSpPr>
          <p:cNvPr id="12" name="CVE &gt; GHSA &gt; OSV &gt; huntr &gt; SW">
            <a:extLst xmlns:a="http://schemas.openxmlformats.org/drawingml/2006/main">
              <a:ext uri="{FF2B5EF4-FFF2-40B4-BE49-F238E27FC236}">
                <a16:creationId xmlns:a16="http://schemas.microsoft.com/office/drawing/2014/main" id="{AC6CCAE2-FA82-4125-8098-83242EA8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099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CVE &gt; GHSA &gt; OSV &gt; huntr &gt; SW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CBA30C36-CE13-4215-9D4F-F8868EC5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E9B3AFC1-C69E-49EB-845F-365C1BA6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B01FCA6-3EB8-4406-BDE9-6A4DA2C3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6286500" cy="1162050"/>
          </a:xfrm>
          <a:custGeom xmlns:a="http://schemas.openxmlformats.org/drawingml/2006/main">
            <a:pathLst>
              <a:path w="6286500" h="1162050">
                <a:moveTo>
                  <a:pt x="0" y="0"/>
                </a:moveTo>
                <a:lnTo>
                  <a:pt x="6286500" y="0"/>
                </a:lnTo>
                <a:lnTo>
                  <a:pt x="59436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7" name="无编号相似候选">
            <a:extLst xmlns:a="http://schemas.openxmlformats.org/drawingml/2006/main">
              <a:ext uri="{FF2B5EF4-FFF2-40B4-BE49-F238E27FC236}">
                <a16:creationId xmlns:a16="http://schemas.microsoft.com/office/drawing/2014/main" id="{1C8196EB-6634-4A26-86F0-7211D01D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547D45"/>
                </a:solidFill>
              </a:defRPr>
            </a:pPr>
            <a:r>
              <a:rPr sz="21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无编号相似候选</a:t>
            </a:r>
          </a:p>
        </p:txBody>
      </p:sp>
      <p:sp>
        <p:nvSpPr>
          <p:cNvPr id="18" name="purl + SimHash ≥0.9 + 日期 ±3 天">
            <a:extLst xmlns:a="http://schemas.openxmlformats.org/drawingml/2006/main">
              <a:ext uri="{FF2B5EF4-FFF2-40B4-BE49-F238E27FC236}">
                <a16:creationId xmlns:a16="http://schemas.microsoft.com/office/drawing/2014/main" id="{2DCA39DD-7DA3-4F7A-991E-E2A247E0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purl + SimHash ≥0.9 + 日期 ±3 天</a:t>
            </a:r>
          </a:p>
        </p:txBody>
      </p:sp>
      <p:sp>
        <p:nvSpPr>
          <p:cNvPr id="19" name="双 CVE 不合并 保留 DUPLICATE_OF 候选">
            <a:extLst xmlns:a="http://schemas.openxmlformats.org/drawingml/2006/main">
              <a:ext uri="{FF2B5EF4-FFF2-40B4-BE49-F238E27FC236}">
                <a16:creationId xmlns:a16="http://schemas.microsoft.com/office/drawing/2014/main" id="{44BA6D2E-0D68-449E-AD77-10C3730A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4476750" cy="752475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 不合并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保留 DUPLICATE_OF 候选</a:t>
            </a:r>
          </a:p>
        </p:txBody>
      </p:sp>
      <p:sp>
        <p:nvSpPr>
          <p:cNvPr id="20" name="Critic 复核 候选不自动合并">
            <a:extLst xmlns:a="http://schemas.openxmlformats.org/drawingml/2006/main">
              <a:ext uri="{FF2B5EF4-FFF2-40B4-BE49-F238E27FC236}">
                <a16:creationId xmlns:a16="http://schemas.microsoft.com/office/drawing/2014/main" id="{28CC36E6-E04E-4237-B49F-F328565E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286500"/>
            <a:ext cx="4476750" cy="752475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复核</a:t>
            </a:r>
          </a:p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候选不自动合并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ABAB0171-1B64-49B6-8BE4-7DF76042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AAB17A14-F197-472A-881D-9D7C5F60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A8741341-C329-427B-9B2D-1B818A8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66A5FC1B-0BCB-497B-A33C-0B8F81CD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B3486EB8-A8B4-4F20-961B-6320E6F5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0FC1067D-AA46-4C12-B853-A3CA7BFD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47995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49879-1BA5-463E-B174-3013B6DB837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5715000" y="17054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5" name="F-12">
            <a:extLst xmlns:a="http://schemas.openxmlformats.org/drawingml/2006/main">
              <a:ext uri="{FF2B5EF4-FFF2-40B4-BE49-F238E27FC236}">
                <a16:creationId xmlns:a16="http://schemas.microsoft.com/office/drawing/2014/main" id="{9D1C2AB2-2DBD-4014-9153-16C590AB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F-12</a:t>
            </a:r>
          </a:p>
        </p:txBody>
      </p:sp>
      <p:sp>
        <p:nvSpPr>
          <p:cNvPr id="2" name="九维富化画像">
            <a:extLst xmlns:a="http://schemas.openxmlformats.org/drawingml/2006/main">
              <a:ext uri="{FF2B5EF4-FFF2-40B4-BE49-F238E27FC236}">
                <a16:creationId xmlns:a16="http://schemas.microsoft.com/office/drawing/2014/main" id="{7F8051C0-16C7-41CA-AF0A-758274DF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九维富化画像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C9618ED5-FB81-42DE-9C40-B011C0EE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漏洞实体">
            <a:extLst xmlns:a="http://schemas.openxmlformats.org/drawingml/2006/main">
              <a:ext uri="{FF2B5EF4-FFF2-40B4-BE49-F238E27FC236}">
                <a16:creationId xmlns:a16="http://schemas.microsoft.com/office/drawing/2014/main" id="{C282DB52-2026-4B63-9356-4546BAD5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09675"/>
            <a:ext cx="304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漏洞实体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45716422-E2D6-416C-A611-4B769C2F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1CC76062-9105-456D-94C0-ABCEF879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E68D6A47-10C7-4326-88FA-5D9E9FCB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9" name="CVSS">
            <a:extLst xmlns:a="http://schemas.openxmlformats.org/drawingml/2006/main">
              <a:ext uri="{FF2B5EF4-FFF2-40B4-BE49-F238E27FC236}">
                <a16:creationId xmlns:a16="http://schemas.microsoft.com/office/drawing/2014/main" id="{C5ED86E3-AFA4-45F4-8E57-DE758DC9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CVSS</a:t>
            </a:r>
          </a:p>
        </p:txBody>
      </p:sp>
      <p:sp>
        <p:nvSpPr>
          <p:cNvPr id="10" name="NVD / GHSA 保留分歧">
            <a:extLst xmlns:a="http://schemas.openxmlformats.org/drawingml/2006/main">
              <a:ext uri="{FF2B5EF4-FFF2-40B4-BE49-F238E27FC236}">
                <a16:creationId xmlns:a16="http://schemas.microsoft.com/office/drawing/2014/main" id="{2B3C128A-0C1D-4827-95AE-CF4BBCB2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保留分歧</a:t>
            </a:r>
          </a:p>
        </p:txBody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DE8D4782-47F6-407A-BE83-AA64CA3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417F355E-E97E-476C-9197-5E757393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3" name="EPSS">
            <a:extLst xmlns:a="http://schemas.openxmlformats.org/drawingml/2006/main">
              <a:ext uri="{FF2B5EF4-FFF2-40B4-BE49-F238E27FC236}">
                <a16:creationId xmlns:a16="http://schemas.microsoft.com/office/drawing/2014/main" id="{841C9363-8234-4389-985E-0549B9B6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EPSS</a:t>
            </a:r>
          </a:p>
        </p:txBody>
      </p:sp>
      <p:sp>
        <p:nvSpPr>
          <p:cNvPr id="14" name="FIRST 每日更新">
            <a:extLst xmlns:a="http://schemas.openxmlformats.org/drawingml/2006/main">
              <a:ext uri="{FF2B5EF4-FFF2-40B4-BE49-F238E27FC236}">
                <a16:creationId xmlns:a16="http://schemas.microsoft.com/office/drawing/2014/main" id="{B421D883-DF36-4CBD-957E-8D1ADF33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FIRST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每日更新</a:t>
            </a:r>
          </a:p>
        </p:txBody>
      </p:sp>
      <p:sp>
        <p:nvSpPr>
          <p:cNvPr id="15" name="2">
            <a:extLst xmlns:a="http://schemas.openxmlformats.org/drawingml/2006/main">
              <a:ext uri="{FF2B5EF4-FFF2-40B4-BE49-F238E27FC236}">
                <a16:creationId xmlns:a16="http://schemas.microsoft.com/office/drawing/2014/main" id="{39189724-AF79-4575-A3D8-E36F592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B4B83B3A-6EBE-4B88-A98F-7C9C1F79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7" name="KEV">
            <a:extLst xmlns:a="http://schemas.openxmlformats.org/drawingml/2006/main">
              <a:ext uri="{FF2B5EF4-FFF2-40B4-BE49-F238E27FC236}">
                <a16:creationId xmlns:a16="http://schemas.microsoft.com/office/drawing/2014/main" id="{23C16F16-E9B9-42A1-A1B1-01615A16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KEV</a:t>
            </a:r>
          </a:p>
        </p:txBody>
      </p:sp>
      <p:sp>
        <p:nvSpPr>
          <p:cNvPr id="18" name="仅 KEV 置位">
            <a:extLst xmlns:a="http://schemas.openxmlformats.org/drawingml/2006/main">
              <a:ext uri="{FF2B5EF4-FFF2-40B4-BE49-F238E27FC236}">
                <a16:creationId xmlns:a16="http://schemas.microsoft.com/office/drawing/2014/main" id="{0E8C1D42-8F49-44FD-BC18-48FD7A5F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 KEV 置位</a:t>
            </a:r>
          </a:p>
        </p:txBody>
      </p:sp>
      <p:sp>
        <p:nvSpPr>
          <p:cNvPr id="19" name="3">
            <a:extLst xmlns:a="http://schemas.openxmlformats.org/drawingml/2006/main">
              <a:ext uri="{FF2B5EF4-FFF2-40B4-BE49-F238E27FC236}">
                <a16:creationId xmlns:a16="http://schemas.microsoft.com/office/drawing/2014/main" id="{8F0D696F-A513-4CFA-BB6B-21A4714C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97D95778-B637-4A89-AFA7-74F4112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CWE">
            <a:extLst xmlns:a="http://schemas.openxmlformats.org/drawingml/2006/main">
              <a:ext uri="{FF2B5EF4-FFF2-40B4-BE49-F238E27FC236}">
                <a16:creationId xmlns:a16="http://schemas.microsoft.com/office/drawing/2014/main" id="{E705A1EC-97D7-472B-9990-0F6D9A61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22" name="来源字段与规则">
            <a:extLst xmlns:a="http://schemas.openxmlformats.org/drawingml/2006/main">
              <a:ext uri="{FF2B5EF4-FFF2-40B4-BE49-F238E27FC236}">
                <a16:creationId xmlns:a16="http://schemas.microsoft.com/office/drawing/2014/main" id="{28278BBC-5A1E-4A2D-A75A-06F18AD7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来源字段与规则</a:t>
            </a:r>
          </a:p>
        </p:txBody>
      </p:sp>
      <p:sp>
        <p:nvSpPr>
          <p:cNvPr id="23" name="4">
            <a:extLst xmlns:a="http://schemas.openxmlformats.org/drawingml/2006/main">
              <a:ext uri="{FF2B5EF4-FFF2-40B4-BE49-F238E27FC236}">
                <a16:creationId xmlns:a16="http://schemas.microsoft.com/office/drawing/2014/main" id="{37C2DADD-78D2-4A33-9F5A-4375671E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306340E4-F4C6-4901-A68D-0202725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671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5" name="ATLAS">
            <a:extLst xmlns:a="http://schemas.openxmlformats.org/drawingml/2006/main">
              <a:ext uri="{FF2B5EF4-FFF2-40B4-BE49-F238E27FC236}">
                <a16:creationId xmlns:a16="http://schemas.microsoft.com/office/drawing/2014/main" id="{4CDEDC98-065E-4EEF-BC1D-BEA203DF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6" name="规则召回 + LLM">
            <a:extLst xmlns:a="http://schemas.openxmlformats.org/drawingml/2006/main">
              <a:ext uri="{FF2B5EF4-FFF2-40B4-BE49-F238E27FC236}">
                <a16:creationId xmlns:a16="http://schemas.microsoft.com/office/drawing/2014/main" id="{1A77B060-F3DC-441A-A32B-81CC51F8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规则召回 + LLM</a:t>
            </a:r>
          </a:p>
        </p:txBody>
      </p:sp>
      <p:sp>
        <p:nvSpPr>
          <p:cNvPr id="27" name="5">
            <a:extLst xmlns:a="http://schemas.openxmlformats.org/drawingml/2006/main">
              <a:ext uri="{FF2B5EF4-FFF2-40B4-BE49-F238E27FC236}">
                <a16:creationId xmlns:a16="http://schemas.microsoft.com/office/drawing/2014/main" id="{C72F44E4-5BEA-4B3A-9E54-4F5FFC2F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5F8E538D-F7EA-4384-8CD0-4DA3AFD4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9" name="受影响与修复版本">
            <a:extLst xmlns:a="http://schemas.openxmlformats.org/drawingml/2006/main">
              <a:ext uri="{FF2B5EF4-FFF2-40B4-BE49-F238E27FC236}">
                <a16:creationId xmlns:a16="http://schemas.microsoft.com/office/drawing/2014/main" id="{357175F0-FDF0-4355-B522-22B6F428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受影响与修复版本</a:t>
            </a:r>
          </a:p>
        </p:txBody>
      </p:sp>
      <p:sp>
        <p:nvSpPr>
          <p:cNvPr id="30" name="OSV 区间语义">
            <a:extLst xmlns:a="http://schemas.openxmlformats.org/drawingml/2006/main">
              <a:ext uri="{FF2B5EF4-FFF2-40B4-BE49-F238E27FC236}">
                <a16:creationId xmlns:a16="http://schemas.microsoft.com/office/drawing/2014/main" id="{EE05A8E5-5B69-46BA-919F-07D3CF79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区间语义</a:t>
            </a:r>
          </a:p>
        </p:txBody>
      </p:sp>
      <p:sp>
        <p:nvSpPr>
          <p:cNvPr id="31" name="6">
            <a:extLst xmlns:a="http://schemas.openxmlformats.org/drawingml/2006/main">
              <a:ext uri="{FF2B5EF4-FFF2-40B4-BE49-F238E27FC236}">
                <a16:creationId xmlns:a16="http://schemas.microsoft.com/office/drawing/2014/main" id="{8F90298E-8E13-4780-ABF8-42211913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971935B5-CFCD-4758-A1E0-711457E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3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E3FA0401-1810-4FB3-9C5C-D00CA9E6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34" name="嵌入 + 组件共现">
            <a:extLst xmlns:a="http://schemas.openxmlformats.org/drawingml/2006/main">
              <a:ext uri="{FF2B5EF4-FFF2-40B4-BE49-F238E27FC236}">
                <a16:creationId xmlns:a16="http://schemas.microsoft.com/office/drawing/2014/main" id="{8A334245-FA05-4C49-BD06-F4B0C40B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嵌入 + 组件共现</a:t>
            </a:r>
          </a:p>
        </p:txBody>
      </p:sp>
      <p:sp>
        <p:nvSpPr>
          <p:cNvPr id="35" name="7">
            <a:extLst xmlns:a="http://schemas.openxmlformats.org/drawingml/2006/main">
              <a:ext uri="{FF2B5EF4-FFF2-40B4-BE49-F238E27FC236}">
                <a16:creationId xmlns:a16="http://schemas.microsoft.com/office/drawing/2014/main" id="{37514692-4D69-47D5-AB90-8B85E096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050C9475-3907-4DFF-BAB7-DF9FCE6B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483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7" name="PoC 存在性">
            <a:extLst xmlns:a="http://schemas.openxmlformats.org/drawingml/2006/main">
              <a:ext uri="{FF2B5EF4-FFF2-40B4-BE49-F238E27FC236}">
                <a16:creationId xmlns:a16="http://schemas.microsoft.com/office/drawing/2014/main" id="{9E2D416D-FD2A-4A56-A8C3-46D4CDA8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PoC 存在性</a:t>
            </a:r>
          </a:p>
        </p:txBody>
      </p:sp>
      <p:sp>
        <p:nvSpPr>
          <p:cNvPr id="38" name="仅链接与标题">
            <a:extLst xmlns:a="http://schemas.openxmlformats.org/drawingml/2006/main">
              <a:ext uri="{FF2B5EF4-FFF2-40B4-BE49-F238E27FC236}">
                <a16:creationId xmlns:a16="http://schemas.microsoft.com/office/drawing/2014/main" id="{599771D5-74B4-41AB-8E6E-09660E0D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仅链接与标题</a:t>
            </a:r>
          </a:p>
        </p:txBody>
      </p:sp>
      <p:sp>
        <p:nvSpPr>
          <p:cNvPr id="39" name="8">
            <a:extLst xmlns:a="http://schemas.openxmlformats.org/drawingml/2006/main">
              <a:ext uri="{FF2B5EF4-FFF2-40B4-BE49-F238E27FC236}">
                <a16:creationId xmlns:a16="http://schemas.microsoft.com/office/drawing/2014/main" id="{C7D81C5C-6CDC-4D0A-97A4-16BF50F9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E12F5F78-4D08-474D-AC4F-9F848B3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1" name="公网暴露面">
            <a:extLst xmlns:a="http://schemas.openxmlformats.org/drawingml/2006/main">
              <a:ext uri="{FF2B5EF4-FFF2-40B4-BE49-F238E27FC236}">
                <a16:creationId xmlns:a16="http://schemas.microsoft.com/office/drawing/2014/main" id="{F8D4DA12-C5C3-4B96-8E67-8F5F6A88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公网暴露面</a:t>
            </a:r>
          </a:p>
        </p:txBody>
      </p:sp>
      <p:sp>
        <p:nvSpPr>
          <p:cNvPr id="42" name="仅聚合计数">
            <a:extLst xmlns:a="http://schemas.openxmlformats.org/drawingml/2006/main">
              <a:ext uri="{FF2B5EF4-FFF2-40B4-BE49-F238E27FC236}">
                <a16:creationId xmlns:a16="http://schemas.microsoft.com/office/drawing/2014/main" id="{1873875A-CB98-4D68-8F1F-4FC6B8FD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仅聚合计数</a:t>
            </a:r>
          </a:p>
        </p:txBody>
      </p:sp>
      <p:sp>
        <p:nvSpPr>
          <p:cNvPr id="43" name="9">
            <a:extLst xmlns:a="http://schemas.openxmlformats.org/drawingml/2006/main">
              <a:ext uri="{FF2B5EF4-FFF2-40B4-BE49-F238E27FC236}">
                <a16:creationId xmlns:a16="http://schemas.microsoft.com/office/drawing/2014/main" id="{A2563466-E16C-4C7B-BC46-DBAC6FCB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4" name="蓝色：规则与确定性信息；绿色：弱关联须 Critic 校验；黄色：合规边界">
            <a:extLst xmlns:a="http://schemas.openxmlformats.org/drawingml/2006/main">
              <a:ext uri="{FF2B5EF4-FFF2-40B4-BE49-F238E27FC236}">
                <a16:creationId xmlns:a16="http://schemas.microsoft.com/office/drawing/2014/main" id="{5739E646-1A75-4D5B-ABF5-AB7617DC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蓝色：规则与确定性信息；绿色：弱关联须 Critic 校验；黄色：合规边界</a:t>
            </a:r>
          </a:p>
        </p:txBody>
      </p:sp>
    </p:spTree>
    <p:extLst>
      <p:ext uri="{BB962C8B-B14F-4D97-AF65-F5344CB8AC3E}">
        <p14:creationId xmlns:p14="http://schemas.microsoft.com/office/powerpoint/2010/main" val="18734544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A8118-DBE2-4919-A894-8683234C019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3762375" y="49153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9F2C3-91FA-4B3C-A291-697826F2E8D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3762375" y="3210402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27" name="F-13">
            <a:extLst xmlns:a="http://schemas.openxmlformats.org/drawingml/2006/main">
              <a:ext uri="{FF2B5EF4-FFF2-40B4-BE49-F238E27FC236}">
                <a16:creationId xmlns:a16="http://schemas.microsoft.com/office/drawing/2014/main" id="{67632CBB-4DC0-4B2D-8E20-9B674E3D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F-13</a:t>
            </a:r>
          </a:p>
        </p:txBody>
      </p:sp>
      <p:sp>
        <p:nvSpPr>
          <p:cNvPr id="2" name="暴露面计数的语法校准">
            <a:extLst xmlns:a="http://schemas.openxmlformats.org/drawingml/2006/main">
              <a:ext uri="{FF2B5EF4-FFF2-40B4-BE49-F238E27FC236}">
                <a16:creationId xmlns:a16="http://schemas.microsoft.com/office/drawing/2014/main" id="{3B35FD64-86B9-429D-B981-6767D532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暴露面计数的语法校准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BB07B82B-340B-46D4-8F34-3BA1B9B1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ake 暴露面口径收窄">
            <a:extLst xmlns:a="http://schemas.openxmlformats.org/drawingml/2006/main">
              <a:ext uri="{FF2B5EF4-FFF2-40B4-BE49-F238E27FC236}">
                <a16:creationId xmlns:a16="http://schemas.microsoft.com/office/drawing/2014/main" id="{B44C47FF-3D07-4CF5-AEE5-71A24391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525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1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7DC3"/>
                </a:solidFill>
              </a:defRPr>
            </a:pPr>
            <a:r>
              <a:rPr sz="21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Quake 暴露面口径收窄</a:t>
            </a:r>
          </a:p>
        </p:txBody>
      </p:sp>
      <p:sp>
        <p:nvSpPr>
          <p:cNvPr id="5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521A7B3A-C0D9-40C5-A3DD-A491A81C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6286500" cy="1266825"/>
          </a:xfrm>
          <a:custGeom xmlns:a="http://schemas.openxmlformats.org/drawingml/2006/main">
            <a:pathLst>
              <a:path w="6286500" h="1266825">
                <a:moveTo>
                  <a:pt x="0" y="0"/>
                </a:moveTo>
                <a:lnTo>
                  <a:pt x="6286500" y="0"/>
                </a:lnTo>
                <a:lnTo>
                  <a:pt x="58578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6" name="823 690">
            <a:extLst xmlns:a="http://schemas.openxmlformats.org/drawingml/2006/main">
              <a:ext uri="{FF2B5EF4-FFF2-40B4-BE49-F238E27FC236}">
                <a16:creationId xmlns:a16="http://schemas.microsoft.com/office/drawing/2014/main" id="{52BDABC4-83C9-4852-AEAD-DD7787E4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907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4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657D8E"/>
                </a:solidFill>
              </a:defRPr>
            </a:pPr>
            <a:r>
              <a:rPr sz="34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823 690</a:t>
            </a:r>
          </a:p>
        </p:txBody>
      </p:sp>
      <p:sp>
        <p:nvSpPr>
          <p:cNvPr id="7" name="宽口径，仅作上限参考">
            <a:extLst xmlns:a="http://schemas.openxmlformats.org/drawingml/2006/main">
              <a:ext uri="{FF2B5EF4-FFF2-40B4-BE49-F238E27FC236}">
                <a16:creationId xmlns:a16="http://schemas.microsoft.com/office/drawing/2014/main" id="{8817A0F2-CB87-47DC-97F8-48C19351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宽口径，仅作上限参考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934E03AB-70BC-4146-800C-F8E5252D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09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D66E2973-B788-4745-BB7D-79745AE3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33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9CFD5D56-0957-4913-8EB3-5EA83AA0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00450"/>
            <a:ext cx="5334000" cy="1266825"/>
          </a:xfrm>
          <a:custGeom xmlns:a="http://schemas.openxmlformats.org/drawingml/2006/main">
            <a:pathLst>
              <a:path w="5334000" h="1266825">
                <a:moveTo>
                  <a:pt x="0" y="0"/>
                </a:moveTo>
                <a:lnTo>
                  <a:pt x="5334000" y="0"/>
                </a:lnTo>
                <a:lnTo>
                  <a:pt x="4905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2" name="172 411">
            <a:extLst xmlns:a="http://schemas.openxmlformats.org/drawingml/2006/main">
              <a:ext uri="{FF2B5EF4-FFF2-40B4-BE49-F238E27FC236}">
                <a16:creationId xmlns:a16="http://schemas.microsoft.com/office/drawing/2014/main" id="{BD895A05-361B-4A2E-A863-EB31B8C3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957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4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277DC3"/>
                </a:solidFill>
              </a:defRPr>
            </a:pPr>
            <a:r>
              <a:rPr sz="34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172 411</a:t>
            </a:r>
          </a:p>
        </p:txBody>
      </p:sp>
      <p:sp>
        <p:nvSpPr>
          <p:cNvPr id="13" name="收窄全球：端口 + 响应特征">
            <a:extLst xmlns:a="http://schemas.openxmlformats.org/drawingml/2006/main">
              <a:ext uri="{FF2B5EF4-FFF2-40B4-BE49-F238E27FC236}">
                <a16:creationId xmlns:a16="http://schemas.microsoft.com/office/drawing/2014/main" id="{54827B12-613D-4C9D-B6E7-62148D8A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收窄全球：端口 + 响应特征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8B1C9E5E-A274-4635-9D99-C523738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1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6767D726-71D7-4337-AF31-DFB9F434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C1CA5B8-15CF-4456-9589-6CBC0B2D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05425"/>
            <a:ext cx="4191000" cy="1266825"/>
          </a:xfrm>
          <a:custGeom xmlns:a="http://schemas.openxmlformats.org/drawingml/2006/main">
            <a:pathLst>
              <a:path w="4191000" h="1266825">
                <a:moveTo>
                  <a:pt x="0" y="0"/>
                </a:moveTo>
                <a:lnTo>
                  <a:pt x="4191000" y="0"/>
                </a:lnTo>
                <a:lnTo>
                  <a:pt x="3762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8" name="51 612">
            <a:extLst xmlns:a="http://schemas.openxmlformats.org/drawingml/2006/main">
              <a:ext uri="{FF2B5EF4-FFF2-40B4-BE49-F238E27FC236}">
                <a16:creationId xmlns:a16="http://schemas.microsoft.com/office/drawing/2014/main" id="{1BFD68A9-473A-40D7-8D09-F9AF8F9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006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4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547D45"/>
                </a:solidFill>
              </a:defRPr>
            </a:pPr>
            <a:r>
              <a:rPr sz="34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51 612</a:t>
            </a:r>
          </a:p>
        </p:txBody>
      </p:sp>
      <p:sp>
        <p:nvSpPr>
          <p:cNvPr id="19" name="国内：按平台国家字段">
            <a:extLst xmlns:a="http://schemas.openxmlformats.org/drawingml/2006/main">
              <a:ext uri="{FF2B5EF4-FFF2-40B4-BE49-F238E27FC236}">
                <a16:creationId xmlns:a16="http://schemas.microsoft.com/office/drawing/2014/main" id="{19F91925-D4C2-4862-A067-71F471A9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38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国内：按平台国家字段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D4391F2E-50E8-4EEF-9A57-E8991291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95475"/>
            <a:ext cx="3286125" cy="46767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元数据抽样验证">
            <a:extLst xmlns:a="http://schemas.openxmlformats.org/drawingml/2006/main">
              <a:ext uri="{FF2B5EF4-FFF2-40B4-BE49-F238E27FC236}">
                <a16:creationId xmlns:a16="http://schemas.microsoft.com/office/drawing/2014/main" id="{956BD5BE-09F6-4313-8DEE-38F25684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99072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元数据抽样验证</a:t>
            </a:r>
          </a:p>
        </p:txBody>
      </p:sp>
      <p:sp>
        <p:nvSpPr>
          <p:cNvPr id="22" name="44 / 50">
            <a:extLst xmlns:a="http://schemas.openxmlformats.org/drawingml/2006/main">
              <a:ext uri="{FF2B5EF4-FFF2-40B4-BE49-F238E27FC236}">
                <a16:creationId xmlns:a16="http://schemas.microsoft.com/office/drawing/2014/main" id="{4598AEC9-AC43-41E1-8BA6-60E1299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05100"/>
            <a:ext cx="2924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6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A67A20"/>
                </a:solidFill>
              </a:defRPr>
            </a:pPr>
            <a:r>
              <a:rPr sz="36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44 / 50</a:t>
            </a:r>
          </a:p>
        </p:txBody>
      </p:sp>
      <p:sp>
        <p:nvSpPr>
          <p:cNvPr id="23" name="精确率 88% ≥80% verified">
            <a:extLst xmlns:a="http://schemas.openxmlformats.org/drawingml/2006/main">
              <a:ext uri="{FF2B5EF4-FFF2-40B4-BE49-F238E27FC236}">
                <a16:creationId xmlns:a16="http://schemas.microsoft.com/office/drawing/2014/main" id="{D92723AC-F9D4-4944-954E-D87F039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05225"/>
            <a:ext cx="2924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精确率 88% ≥80%</a:t>
            </a:r>
          </a:p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24" name="抽样时间 19:55 当时总数 172 401">
            <a:extLst xmlns:a="http://schemas.openxmlformats.org/drawingml/2006/main">
              <a:ext uri="{FF2B5EF4-FFF2-40B4-BE49-F238E27FC236}">
                <a16:creationId xmlns:a16="http://schemas.microsoft.com/office/drawing/2014/main" id="{088A7375-2585-429C-9D78-81F1A0AB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972050"/>
            <a:ext cx="29813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抽样时间 19:55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当时总数 172 401</a:t>
            </a:r>
          </a:p>
        </p:txBody>
      </p:sp>
      <p:sp>
        <p:nvSpPr>
          <p:cNvPr id="25" name="计数时间 15:57">
            <a:extLst xmlns:a="http://schemas.openxmlformats.org/drawingml/2006/main">
              <a:ext uri="{FF2B5EF4-FFF2-40B4-BE49-F238E27FC236}">
                <a16:creationId xmlns:a16="http://schemas.microsoft.com/office/drawing/2014/main" id="{B5736720-3358-4FC8-8096-2EFDB4D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24650"/>
            <a:ext cx="552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57D8E"/>
                </a:solidFill>
              </a:defRPr>
            </a:pPr>
            <a:r>
              <a:rPr sz="150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计数时间 15:57</a:t>
            </a:r>
          </a:p>
        </p:txBody>
      </p:sp>
      <p:sp>
        <p:nvSpPr>
          <p:cNvPr id="26" name="2026-10-15，仅计数；Talos / Shodan 文献为 1139，覆盖口径不同，不直接比较">
            <a:extLst xmlns:a="http://schemas.openxmlformats.org/drawingml/2006/main">
              <a:ext uri="{FF2B5EF4-FFF2-40B4-BE49-F238E27FC236}">
                <a16:creationId xmlns:a16="http://schemas.microsoft.com/office/drawing/2014/main" id="{C35BB04E-DBEB-49DD-BE89-9E751E4F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2026-10-15，仅计数；Talos / Shodan 文献为 1139，覆盖口径不同，不直接比较</a:t>
            </a:r>
          </a:p>
        </p:txBody>
      </p:sp>
    </p:spTree>
    <p:extLst>
      <p:ext uri="{BB962C8B-B14F-4D97-AF65-F5344CB8AC3E}">
        <p14:creationId xmlns:p14="http://schemas.microsoft.com/office/powerpoint/2010/main" val="1896329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1CA222-41A9-4CC8-84B1-92B26CCF6892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7763828" y="5925027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456221D-F6B8-4F9F-817B-B4B9FEABD849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 flipH="1">
            <a:off x="7762875" y="4143852"/>
            <a:ext cx="953" cy="1781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3BC408-5901-4606-A3E8-953E9583B738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7363778" y="414385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CB85BF-E0B4-4F9E-94C5-9731B4CC2B42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H="1">
            <a:off x="3286125" y="5925027"/>
            <a:ext cx="381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62B4EB-73D0-4CCA-AB93-1D75FDFB0538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3667125" y="4143852"/>
            <a:ext cx="953" cy="1781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6830AB-9E76-42B6-B738-4346B2B316EE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3667125" y="4143852"/>
            <a:ext cx="4010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C53F23-54E1-462A-B4B1-004FC200D5CC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7763828" y="382000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FF8DD5-8004-43A2-9110-9C3C8E5DCF26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H="1">
            <a:off x="7762875" y="3810477"/>
            <a:ext cx="953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B1F0BF-2924-422F-A424-3881CFF4673A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363778" y="3810477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DFF096-2D3B-4900-ACE0-EBEED70EE9D3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3286125" y="3820002"/>
            <a:ext cx="381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6466A1-5FAF-4935-B33E-7F24C4C8824E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3667125" y="3810477"/>
            <a:ext cx="953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82BBC5-1C60-4178-9CB0-2B8D368348EB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3667125" y="3810477"/>
            <a:ext cx="4010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2B2C8-748C-47AC-9DB7-15BC78E21557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763828" y="197215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AE5E2-3A5D-4574-A686-020157F9EA07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 flipV="1">
            <a:off x="7762875" y="1972152"/>
            <a:ext cx="953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EEC1C-9DD4-4DF9-A11A-BF8A6C7E4F3F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363778" y="34771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FF95F-74BF-4E9B-818B-A9A34E24F0E2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668078" y="34771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FCA3B-24DA-4C58-8CDC-46180879A955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3667125" y="1972152"/>
            <a:ext cx="953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687A7-AEC9-4CAC-969C-F63F028DD56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87078" y="197215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9" name="F-14">
            <a:extLst xmlns:a="http://schemas.openxmlformats.org/drawingml/2006/main">
              <a:ext uri="{FF2B5EF4-FFF2-40B4-BE49-F238E27FC236}">
                <a16:creationId xmlns:a16="http://schemas.microsoft.com/office/drawing/2014/main" id="{B881046B-732C-4585-8CA8-88BB17E3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F-14</a:t>
            </a:r>
          </a:p>
        </p:txBody>
      </p:sp>
      <p:sp>
        <p:nvSpPr>
          <p:cNvPr id="2" name="六类自动关联">
            <a:extLst xmlns:a="http://schemas.openxmlformats.org/drawingml/2006/main">
              <a:ext uri="{FF2B5EF4-FFF2-40B4-BE49-F238E27FC236}">
                <a16:creationId xmlns:a16="http://schemas.microsoft.com/office/drawing/2014/main" id="{DDC8BD22-CFFA-409D-A776-161060F1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六类自动关联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86D197BB-2A41-4C50-88B1-8062C85F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CD02DD7E-710F-4891-B696-5256F90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48025"/>
            <a:ext cx="329565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E185D718-7ABF-4F73-8551-1D8698C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432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6" name="漏洞事实">
            <a:extLst xmlns:a="http://schemas.openxmlformats.org/drawingml/2006/main">
              <a:ext uri="{FF2B5EF4-FFF2-40B4-BE49-F238E27FC236}">
                <a16:creationId xmlns:a16="http://schemas.microsoft.com/office/drawing/2014/main" id="{B2F47F26-1DB4-43CC-B6F8-44F94AA7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71900"/>
            <a:ext cx="306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27C19FE4-B58D-414B-B307-907C5852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017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Advisory">
            <a:extLst xmlns:a="http://schemas.openxmlformats.org/drawingml/2006/main">
              <a:ext uri="{FF2B5EF4-FFF2-40B4-BE49-F238E27FC236}">
                <a16:creationId xmlns:a16="http://schemas.microsoft.com/office/drawing/2014/main" id="{E47114A4-051F-40A9-B8FA-05115747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9" name="公告">
            <a:extLst xmlns:a="http://schemas.openxmlformats.org/drawingml/2006/main">
              <a:ext uri="{FF2B5EF4-FFF2-40B4-BE49-F238E27FC236}">
                <a16:creationId xmlns:a16="http://schemas.microsoft.com/office/drawing/2014/main" id="{C08215E9-3C9C-4EE2-933A-BEACA7B4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8BD5C23E-70B7-43E3-8178-115038FF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E9218552-17EB-418F-A001-EFE177D5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5FB49B69-9BBA-4F48-B406-A262B630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BB818610-C56E-4345-BC85-4F3AA2D8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2E6DE034-FB6E-4A13-A95B-35BC91F2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8014CDE5-C2D9-4D20-83BE-E8CD5A16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DESCRIBES">
            <a:extLst xmlns:a="http://schemas.openxmlformats.org/drawingml/2006/main">
              <a:ext uri="{FF2B5EF4-FFF2-40B4-BE49-F238E27FC236}">
                <a16:creationId xmlns:a16="http://schemas.microsoft.com/office/drawing/2014/main" id="{DE34EA54-356E-440F-AC52-75D9D45A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81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DESCRIBES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FB966C9F-CD62-4A9F-9D7F-63ACC8C3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0017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Component">
            <a:extLst xmlns:a="http://schemas.openxmlformats.org/drawingml/2006/main">
              <a:ext uri="{FF2B5EF4-FFF2-40B4-BE49-F238E27FC236}">
                <a16:creationId xmlns:a16="http://schemas.microsoft.com/office/drawing/2014/main" id="{E9263F52-2841-4E85-BD90-64EFD1E3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954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22" name="组件">
            <a:extLst xmlns:a="http://schemas.openxmlformats.org/drawingml/2006/main">
              <a:ext uri="{FF2B5EF4-FFF2-40B4-BE49-F238E27FC236}">
                <a16:creationId xmlns:a16="http://schemas.microsoft.com/office/drawing/2014/main" id="{7B7CE5A8-2747-4496-9EB0-3954C332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240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11C0737F-1871-44A5-AFFD-54465C4C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B84A7AF1-2934-4456-9F06-919F233D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0A3688D5-EC06-4D54-8F0A-3B430598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E00B0EB8-D755-4612-98F2-224F9792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E524C885-AFC8-496D-8A56-68F41AD3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0E81A02E-256F-445B-87E9-E303AB8F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FFECTS">
            <a:extLst xmlns:a="http://schemas.openxmlformats.org/drawingml/2006/main">
              <a:ext uri="{FF2B5EF4-FFF2-40B4-BE49-F238E27FC236}">
                <a16:creationId xmlns:a16="http://schemas.microsoft.com/office/drawing/2014/main" id="{400E5721-1590-45C7-BBB8-64E353A1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81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62678902-F301-4C3B-BBA9-8F14B901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4" name="CWE">
            <a:extLst xmlns:a="http://schemas.openxmlformats.org/drawingml/2006/main">
              <a:ext uri="{FF2B5EF4-FFF2-40B4-BE49-F238E27FC236}">
                <a16:creationId xmlns:a16="http://schemas.microsoft.com/office/drawing/2014/main" id="{447BE40E-4CB7-4D22-9080-7DE498E0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35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2BE7AE43-2400-4052-9875-321B7536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719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32F63685-F839-449E-A20B-579C2250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A1066B90-AFFE-49A3-8EBE-47E33A6D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2B4570C1-099B-4158-9AAD-0166B83A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2C4F504B-0799-492B-B682-0D6D9F7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D2B876F6-39D5-4C45-BCFF-53DC0EA5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9E43A757-1516-437B-90C2-DDB3AC2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HAS_CWE">
            <a:extLst xmlns:a="http://schemas.openxmlformats.org/drawingml/2006/main">
              <a:ext uri="{FF2B5EF4-FFF2-40B4-BE49-F238E27FC236}">
                <a16:creationId xmlns:a16="http://schemas.microsoft.com/office/drawing/2014/main" id="{34D3CD1C-A5FE-457B-8A96-E6AF2190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HAS_CWE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902C0CC4-FCD6-467B-94B9-673D390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4802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7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A5C0600B-75A3-4238-8128-A469177F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432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48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AEDF25F8-03F2-4105-8D9D-94B66FEA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719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44CA96B2-979F-4CFB-A718-409763A2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881FE10E-792C-4EF8-BD16-4048F51A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DE69B21E-F105-4F8C-8A62-0CFA4CC9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EFDEA712-7784-43EC-8781-99E4807A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F6B584C0-D5B3-44AD-8118-AA7C4E7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ACCC5B2C-6AB3-48B8-B5FD-FD8B72A9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MAPS_TO">
            <a:extLst xmlns:a="http://schemas.openxmlformats.org/drawingml/2006/main">
              <a:ext uri="{FF2B5EF4-FFF2-40B4-BE49-F238E27FC236}">
                <a16:creationId xmlns:a16="http://schemas.microsoft.com/office/drawing/2014/main" id="{3B6AB3D7-E870-40CF-A19E-F3FAD948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29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</p:txBody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9900DAF1-487C-464E-ACD4-7F74F198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0" name="PocRef">
            <a:extLst xmlns:a="http://schemas.openxmlformats.org/drawingml/2006/main">
              <a:ext uri="{FF2B5EF4-FFF2-40B4-BE49-F238E27FC236}">
                <a16:creationId xmlns:a16="http://schemas.microsoft.com/office/drawing/2014/main" id="{697710C2-61FE-4917-BD2B-AC3FFF7B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61" name="公开引用">
            <a:extLst xmlns:a="http://schemas.openxmlformats.org/drawingml/2006/main">
              <a:ext uri="{FF2B5EF4-FFF2-40B4-BE49-F238E27FC236}">
                <a16:creationId xmlns:a16="http://schemas.microsoft.com/office/drawing/2014/main" id="{8BDBFC30-1214-4940-9BCB-851A408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769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公开引用</a:t>
            </a:r>
          </a:p>
        </p:txBody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0150E6ED-0ED8-400F-9847-13626B95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C41970FB-7F36-4AED-A0F0-53AC58EE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D2D523AC-575E-4B96-AC00-0DB3356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2BC74834-02D1-4711-A9C4-B9F8D3C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4E0BFE8E-6158-455D-AE1E-DADA537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34569C53-E4F4-488E-9470-CA8BC2A2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HAS_POC_REF">
            <a:extLst xmlns:a="http://schemas.openxmlformats.org/drawingml/2006/main">
              <a:ext uri="{FF2B5EF4-FFF2-40B4-BE49-F238E27FC236}">
                <a16:creationId xmlns:a16="http://schemas.microsoft.com/office/drawing/2014/main" id="{C3200650-621E-4D0F-9A9C-EA451C2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534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6B0A0B70-B160-4E76-876A-41B20A52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53050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3" name="Paper / Article">
            <a:extLst xmlns:a="http://schemas.openxmlformats.org/drawingml/2006/main">
              <a:ext uri="{FF2B5EF4-FFF2-40B4-BE49-F238E27FC236}">
                <a16:creationId xmlns:a16="http://schemas.microsoft.com/office/drawing/2014/main" id="{D8871051-88B1-49BC-BF7B-A8189E45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48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 / Article</a:t>
            </a:r>
          </a:p>
        </p:txBody>
      </p:sp>
      <p:sp>
        <p:nvSpPr>
          <p:cNvPr id="74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8A617AAC-2AB8-4627-B40A-31C1A21C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769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75" name="boundary">
            <a:extLst xmlns:a="http://schemas.openxmlformats.org/drawingml/2006/main">
              <a:ext uri="{FF2B5EF4-FFF2-40B4-BE49-F238E27FC236}">
                <a16:creationId xmlns:a16="http://schemas.microsoft.com/office/drawing/2014/main" id="{A8A25C6E-0281-4AA6-9095-5A31EFBC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0FA06722-091D-43B2-9C06-353B43E4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5D116E9E-8C82-4B92-A1DE-97042439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975198DB-A2AB-48B1-A25A-3E2666BB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8D711A45-BDEA-4D07-9B22-30B0B13F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5716D506-E329-48D7-9F05-61F0E7FA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36214A11-92C6-43EE-8FAA-7BFC0E0D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534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DISCUSSED_IN</a:t>
            </a:r>
          </a:p>
        </p:txBody>
      </p:sp>
      <p:sp>
        <p:nvSpPr>
          <p:cNvPr id="85" name="规则理由：aliases 含 CVE">
            <a:extLst xmlns:a="http://schemas.openxmlformats.org/drawingml/2006/main">
              <a:ext uri="{FF2B5EF4-FFF2-40B4-BE49-F238E27FC236}">
                <a16:creationId xmlns:a16="http://schemas.microsoft.com/office/drawing/2014/main" id="{E230A05B-0C4A-4B08-8874-D761D72D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954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77DC3"/>
                </a:solidFill>
              </a:defRPr>
            </a:pPr>
            <a:r>
              <a:rPr sz="15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规则理由：aliases 含 CVE</a:t>
            </a:r>
          </a:p>
        </p:txBody>
      </p:sp>
      <p:sp>
        <p:nvSpPr>
          <p:cNvPr id="86" name="弱关联：摘要相似 + 组件共现">
            <a:extLst xmlns:a="http://schemas.openxmlformats.org/drawingml/2006/main">
              <a:ext uri="{FF2B5EF4-FFF2-40B4-BE49-F238E27FC236}">
                <a16:creationId xmlns:a16="http://schemas.microsoft.com/office/drawing/2014/main" id="{223E2745-03D1-4B96-97EC-064FABEA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3971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47D45"/>
                </a:solidFill>
              </a:defRPr>
            </a:pPr>
            <a:r>
              <a:rPr sz="15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弱关联：摘要相似 + 组件共现</a:t>
            </a:r>
          </a:p>
        </p:txBody>
      </p:sp>
      <p:sp>
        <p:nvSpPr>
          <p:cNvPr id="87" name="处置关联：修复 + 缓解模板 版本求解：清单 × 影响区间">
            <a:extLst xmlns:a="http://schemas.openxmlformats.org/drawingml/2006/main">
              <a:ext uri="{FF2B5EF4-FFF2-40B4-BE49-F238E27FC236}">
                <a16:creationId xmlns:a16="http://schemas.microsoft.com/office/drawing/2014/main" id="{2595CECF-5654-4F6F-9418-3E8CC0EF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476875"/>
            <a:ext cx="4257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处置关联：修复 + 缓解模板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版本求解：清单 × 影响区间</a:t>
            </a:r>
          </a:p>
        </p:txBody>
      </p:sp>
      <p:sp>
        <p:nvSpPr>
          <p:cNvPr id="88" name="实线表示确定性关联；虚线表示须经 Critic 校验的弱关联">
            <a:extLst xmlns:a="http://schemas.openxmlformats.org/drawingml/2006/main">
              <a:ext uri="{FF2B5EF4-FFF2-40B4-BE49-F238E27FC236}">
                <a16:creationId xmlns:a16="http://schemas.microsoft.com/office/drawing/2014/main" id="{8861B6E3-B642-4ABB-8EB9-8B5865FC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实线表示确定性关联；虚线表示须经 Critic 校验的弱关联</a:t>
            </a:r>
          </a:p>
        </p:txBody>
      </p:sp>
    </p:spTree>
    <p:extLst>
      <p:ext uri="{BB962C8B-B14F-4D97-AF65-F5344CB8AC3E}">
        <p14:creationId xmlns:p14="http://schemas.microsoft.com/office/powerpoint/2010/main" val="14407525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37C9F8-7511-49ED-8BD5-4E0FF4D04B82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84772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A5078D-4556-4171-91AD-9225AEBE1048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8477250" y="5839302"/>
            <a:ext cx="5343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2AE627-1E7B-4CAC-986B-D2A76749FFF3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29527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21E9B4-946A-4711-8F6C-1E794AB42FA4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2952750" y="5839302"/>
            <a:ext cx="60588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3D1C0B-681C-45B7-AE06-D9918250311E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9010650" y="53630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B274F9-90AE-4048-A096-197B39D1DD28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2419350" y="4515327"/>
            <a:ext cx="953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895E6-8326-4554-8AE0-3E813CB0DE3E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2419350" y="4515327"/>
            <a:ext cx="32966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18B9D-4660-4B8B-A486-35E87D2E4F12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5715000" y="4324827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0047B-F46B-4016-A3E3-26D19EFE44D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3105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DC0F5-712F-4E57-AC7A-400D1A852D3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78460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F5FF3-7FEC-427B-8EAE-B54DA4DBA71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5715000" y="1705452"/>
            <a:ext cx="953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7" name="F-15">
            <a:extLst xmlns:a="http://schemas.openxmlformats.org/drawingml/2006/main">
              <a:ext uri="{FF2B5EF4-FFF2-40B4-BE49-F238E27FC236}">
                <a16:creationId xmlns:a16="http://schemas.microsoft.com/office/drawing/2014/main" id="{ECC90B98-921A-485B-A661-EB1F144A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F-15</a:t>
            </a:r>
          </a:p>
        </p:txBody>
      </p:sp>
      <p:sp>
        <p:nvSpPr>
          <p:cNvPr id="2" name="多源冲突的逐字段裁决">
            <a:extLst xmlns:a="http://schemas.openxmlformats.org/drawingml/2006/main">
              <a:ext uri="{FF2B5EF4-FFF2-40B4-BE49-F238E27FC236}">
                <a16:creationId xmlns:a16="http://schemas.microsoft.com/office/drawing/2014/main" id="{AAFA0B0A-4A0D-40AD-B69D-32D832E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多源冲突的逐字段裁决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3172DEF8-03CC-4D82-9158-48E13CA3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字段候选">
            <a:extLst xmlns:a="http://schemas.openxmlformats.org/drawingml/2006/main">
              <a:ext uri="{FF2B5EF4-FFF2-40B4-BE49-F238E27FC236}">
                <a16:creationId xmlns:a16="http://schemas.microsoft.com/office/drawing/2014/main" id="{1A2B26BF-CE4C-4266-90FE-FCB78C44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09675"/>
            <a:ext cx="2857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字段候选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FEAEEB12-CEEB-42D0-A745-83CCAC71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F33450E6-A3B1-47B0-87E4-1731FB0E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62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77089CA6-2635-4EC0-B8C5-A4A7007B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10477500" cy="1647825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9" name="优先处理特例">
            <a:extLst xmlns:a="http://schemas.openxmlformats.org/drawingml/2006/main">
              <a:ext uri="{FF2B5EF4-FFF2-40B4-BE49-F238E27FC236}">
                <a16:creationId xmlns:a16="http://schemas.microsoft.com/office/drawing/2014/main" id="{9C169D76-D192-4A27-B14B-F90A261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优先处理特例</a:t>
            </a:r>
          </a:p>
        </p:txBody>
      </p:sp>
      <p:sp>
        <p:nvSpPr>
          <p:cNvPr id="10" name="KEV 专属">
            <a:extLst xmlns:a="http://schemas.openxmlformats.org/drawingml/2006/main">
              <a:ext uri="{FF2B5EF4-FFF2-40B4-BE49-F238E27FC236}">
                <a16:creationId xmlns:a16="http://schemas.microsoft.com/office/drawing/2014/main" id="{9AC2130D-627A-4A34-884E-51AE40C7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KEV 专属</a:t>
            </a:r>
          </a:p>
        </p:txBody>
      </p:sp>
      <p:sp>
        <p:nvSpPr>
          <p:cNvPr id="11" name="一级撤回">
            <a:extLst xmlns:a="http://schemas.openxmlformats.org/drawingml/2006/main">
              <a:ext uri="{FF2B5EF4-FFF2-40B4-BE49-F238E27FC236}">
                <a16:creationId xmlns:a16="http://schemas.microsoft.com/office/drawing/2014/main" id="{14C78CC6-9F01-46B9-B7DA-59C003E5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一级撤回</a:t>
            </a:r>
          </a:p>
        </p:txBody>
      </p:sp>
      <p:sp>
        <p:nvSpPr>
          <p:cNvPr id="12" name="区间互斥">
            <a:extLst xmlns:a="http://schemas.openxmlformats.org/drawingml/2006/main">
              <a:ext uri="{FF2B5EF4-FFF2-40B4-BE49-F238E27FC236}">
                <a16:creationId xmlns:a16="http://schemas.microsoft.com/office/drawing/2014/main" id="{902BCB26-75B3-4EDE-9953-81A5DDF7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区间互斥</a:t>
            </a:r>
          </a:p>
        </p:txBody>
      </p:sp>
      <p:sp>
        <p:nvSpPr>
          <p:cNvPr id="13" name="双 CVE">
            <a:extLst xmlns:a="http://schemas.openxmlformats.org/drawingml/2006/main">
              <a:ext uri="{FF2B5EF4-FFF2-40B4-BE49-F238E27FC236}">
                <a16:creationId xmlns:a16="http://schemas.microsoft.com/office/drawing/2014/main" id="{5ECF5AB7-7B2F-4CB6-9EC4-BAEF349B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</a:t>
            </a:r>
          </a:p>
        </p:txBody>
      </p:sp>
      <p:sp>
        <p:nvSpPr>
          <p:cNvPr id="14" name="并集、撤回、保留候选">
            <a:extLst xmlns:a="http://schemas.openxmlformats.org/drawingml/2006/main">
              <a:ext uri="{FF2B5EF4-FFF2-40B4-BE49-F238E27FC236}">
                <a16:creationId xmlns:a16="http://schemas.microsoft.com/office/drawing/2014/main" id="{8FECB743-4179-4527-8007-43A13F3F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24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67A20"/>
                </a:solidFill>
              </a:defRPr>
            </a:pPr>
            <a:r>
              <a:rPr sz="180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并集、撤回、保留候选</a:t>
            </a:r>
          </a:p>
        </p:txBody>
      </p:sp>
      <p:sp>
        <p:nvSpPr>
          <p:cNvPr id="15" name="可信度等级">
            <a:extLst xmlns:a="http://schemas.openxmlformats.org/drawingml/2006/main">
              <a:ext uri="{FF2B5EF4-FFF2-40B4-BE49-F238E27FC236}">
                <a16:creationId xmlns:a16="http://schemas.microsoft.com/office/drawing/2014/main" id="{A7056E6E-EF9B-494B-977A-368EADE5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76775"/>
            <a:ext cx="283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可信度等级</a:t>
            </a:r>
          </a:p>
        </p:txBody>
      </p:sp>
      <p:sp>
        <p:nvSpPr>
          <p:cNvPr id="16" name="置信度">
            <a:extLst xmlns:a="http://schemas.openxmlformats.org/drawingml/2006/main">
              <a:ext uri="{FF2B5EF4-FFF2-40B4-BE49-F238E27FC236}">
                <a16:creationId xmlns:a16="http://schemas.microsoft.com/office/drawing/2014/main" id="{CF134125-0403-40E9-91C1-F63D5740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4676775"/>
            <a:ext cx="283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17" name="更新时间">
            <a:extLst xmlns:a="http://schemas.openxmlformats.org/drawingml/2006/main">
              <a:ext uri="{FF2B5EF4-FFF2-40B4-BE49-F238E27FC236}">
                <a16:creationId xmlns:a16="http://schemas.microsoft.com/office/drawing/2014/main" id="{C7B43DD4-BB42-474B-8295-85161EF0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4676775"/>
            <a:ext cx="283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更新时间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2F550DFD-7B9C-4126-A129-7877DD72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98F5EECC-B786-4DD7-A676-1CBFC59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4E4C4412-BFDB-45B5-9F86-E877D3CC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FAC437AF-880C-4397-B8D8-73D03784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A16D44FB-9452-4BA6-97F6-2854F837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3FB6596E-D204-4487-9C50-8C6197F1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76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主值 + provenance">
            <a:extLst xmlns:a="http://schemas.openxmlformats.org/drawingml/2006/main">
              <a:ext uri="{FF2B5EF4-FFF2-40B4-BE49-F238E27FC236}">
                <a16:creationId xmlns:a16="http://schemas.microsoft.com/office/drawing/2014/main" id="{A83E91B9-B95B-4E09-8672-D300F0E7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44767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主值 + provenance</a:t>
            </a:r>
          </a:p>
        </p:txBody>
      </p:sp>
      <p:sp>
        <p:nvSpPr>
          <p:cNvPr id="30" name="落选值保留在 conflicts[]">
            <a:extLst xmlns:a="http://schemas.openxmlformats.org/drawingml/2006/main">
              <a:ext uri="{FF2B5EF4-FFF2-40B4-BE49-F238E27FC236}">
                <a16:creationId xmlns:a16="http://schemas.microsoft.com/office/drawing/2014/main" id="{E3AE89A9-2E34-4162-8B88-197DCE14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315075"/>
            <a:ext cx="44767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落选值保留在 conflicts[]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730B51C7-F907-4169-818F-5EB5F5A8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62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76ACF874-C10C-4A9A-8F08-2B051E81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12C78945-66BF-4AB0-A9F7-21B73B7D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DF89307F-4755-4119-B47A-66C6E800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C4018F1B-B019-42DA-A5FF-F5C10428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1FBCB119-88F4-44FE-95C3-321155AC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1BD4A581-20B3-49F6-8C7B-854DC4A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0B6359D9-3E65-472F-A983-FB8A4833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3AD5E98C-70B8-417A-AC98-BE51AB0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11D44846-5ABB-4162-A81A-A4C8C14F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CVSS 10.0 与 9.8 均保留；主值选择不抹去分歧">
            <a:extLst xmlns:a="http://schemas.openxmlformats.org/drawingml/2006/main">
              <a:ext uri="{FF2B5EF4-FFF2-40B4-BE49-F238E27FC236}">
                <a16:creationId xmlns:a16="http://schemas.microsoft.com/office/drawing/2014/main" id="{DF27F22E-C7ED-4FB3-A7FF-A1933206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CVSS 10.0 与 9.8 均保留；主值选择不抹去分歧</a:t>
            </a:r>
          </a:p>
        </p:txBody>
      </p:sp>
    </p:spTree>
    <p:extLst>
      <p:ext uri="{BB962C8B-B14F-4D97-AF65-F5344CB8AC3E}">
        <p14:creationId xmlns:p14="http://schemas.microsoft.com/office/powerpoint/2010/main" val="2008661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871A36-B00B-48F8-88D1-609BA4B64650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H="1">
            <a:off x="938212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127C66-5480-4E4D-AF6C-A8B681E677EF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5715953" y="515350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C1E4DF-8D47-4A60-ACE6-ED14900B51CA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C4A682-07ED-46CA-803A-7D52745CF97E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>
            <a:off x="5715000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083D1E-C413-42A1-91BD-1175B80E1B22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5715000" y="515350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48A993-6B5B-4ED6-9CE8-B932DA972672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BC887-1D5D-4D6B-AB90-30F90EA3CE21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204787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F27E59-046F-4726-83C2-A4A79EFC0B34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2047875" y="515350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54922-238E-433D-B7BC-B1E11783EF95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CD27F-59C9-4EF4-A6BF-BE115FE1A79F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5715000" y="3000852"/>
            <a:ext cx="2667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33054-F2F6-45F7-9ECE-619904CADACA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8382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6454D-FABD-40BC-A810-6A999C3C77F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5715000" y="30008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1F319-30E2-438F-8C0F-1A54BF9D8CE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48953" y="3000852"/>
            <a:ext cx="2666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5157E-2D34-45C2-B062-95FDA9B1A12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3048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60" name="F-16">
            <a:extLst xmlns:a="http://schemas.openxmlformats.org/drawingml/2006/main">
              <a:ext uri="{FF2B5EF4-FFF2-40B4-BE49-F238E27FC236}">
                <a16:creationId xmlns:a16="http://schemas.microsoft.com/office/drawing/2014/main" id="{0AAB32A1-E916-4436-B943-B3B5E476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F-16</a:t>
            </a:r>
          </a:p>
        </p:txBody>
      </p:sp>
      <p:sp>
        <p:nvSpPr>
          <p:cNvPr id="2" name="版本自查流程">
            <a:extLst xmlns:a="http://schemas.openxmlformats.org/drawingml/2006/main">
              <a:ext uri="{FF2B5EF4-FFF2-40B4-BE49-F238E27FC236}">
                <a16:creationId xmlns:a16="http://schemas.microsoft.com/office/drawing/2014/main" id="{FB7D0720-F2AF-47D1-AB78-428EFCF1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版本自查流程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0D6AE3F0-1E61-4F7C-9C6E-3E5E934B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185C4DB5-8435-4650-8F70-B538B16A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71600"/>
            <a:ext cx="4191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依赖文件 / 清单">
            <a:extLst xmlns:a="http://schemas.openxmlformats.org/drawingml/2006/main">
              <a:ext uri="{FF2B5EF4-FFF2-40B4-BE49-F238E27FC236}">
                <a16:creationId xmlns:a16="http://schemas.microsoft.com/office/drawing/2014/main" id="{25BD5EDB-7BE9-4B85-834C-E816A3D0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依赖文件 / 清单</a:t>
            </a:r>
          </a:p>
        </p:txBody>
      </p:sp>
      <p:sp>
        <p:nvSpPr>
          <p:cNvPr id="6" name="组件与版本">
            <a:extLst xmlns:a="http://schemas.openxmlformats.org/drawingml/2006/main">
              <a:ext uri="{FF2B5EF4-FFF2-40B4-BE49-F238E27FC236}">
                <a16:creationId xmlns:a16="http://schemas.microsoft.com/office/drawing/2014/main" id="{486B6A44-9FBD-4461-99F8-A5F0A312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组件与版本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9421EFD1-32B5-4036-9326-8EAA8EB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71600"/>
            <a:ext cx="4191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purl 与生态">
            <a:extLst xmlns:a="http://schemas.openxmlformats.org/drawingml/2006/main">
              <a:ext uri="{FF2B5EF4-FFF2-40B4-BE49-F238E27FC236}">
                <a16:creationId xmlns:a16="http://schemas.microsoft.com/office/drawing/2014/main" id="{A7FBDA3F-4E93-4739-AF4C-0A15C734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purl 与生态</a:t>
            </a:r>
          </a:p>
        </p:txBody>
      </p:sp>
      <p:sp>
        <p:nvSpPr>
          <p:cNvPr id="9" name="规范化输入">
            <a:extLst xmlns:a="http://schemas.openxmlformats.org/drawingml/2006/main">
              <a:ext uri="{FF2B5EF4-FFF2-40B4-BE49-F238E27FC236}">
                <a16:creationId xmlns:a16="http://schemas.microsoft.com/office/drawing/2014/main" id="{1E911960-FAEB-4DA1-9BF3-AF9DB1D3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规范化输入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E88A8D21-794E-488E-9F10-068CCE0A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685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OSV 区间求解">
            <a:extLst xmlns:a="http://schemas.openxmlformats.org/drawingml/2006/main">
              <a:ext uri="{FF2B5EF4-FFF2-40B4-BE49-F238E27FC236}">
                <a16:creationId xmlns:a16="http://schemas.microsoft.com/office/drawing/2014/main" id="{C1AE924C-13DB-4AEE-B1CF-CD3D270B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71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OSV 区间求解</a:t>
            </a:r>
          </a:p>
        </p:txBody>
      </p:sp>
      <p:sp>
        <p:nvSpPr>
          <p:cNvPr id="12" name="introduced / fixed / last_affected / limit">
            <a:extLst xmlns:a="http://schemas.openxmlformats.org/drawingml/2006/main">
              <a:ext uri="{FF2B5EF4-FFF2-40B4-BE49-F238E27FC236}">
                <a16:creationId xmlns:a16="http://schemas.microsoft.com/office/drawing/2014/main" id="{7E515D52-55EB-46E6-91EA-EDE999D1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6629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introduced / fixed / last_affected / limit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A949FD50-0DC1-4BFF-8895-A6FD3F35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52C57F85-F2B4-43A6-8131-8C70CB24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8B93A0BF-26C9-4C73-B6E7-0829BEC2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2361601-C226-4810-9EE7-66285B8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E273E2FF-9E3B-4631-BB3C-683BA18F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C43FFAB6-AF28-4042-A2D3-5FA8AA23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19BD9E36-12B8-4451-8241-58CBD48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FC2A0818-EF47-4756-BD71-495BB0DE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ECE76E41-A532-4ED0-95A7-DC11A36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89958DB7-6CDF-4791-A65D-F4DF6A6E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受影响">
            <a:extLst xmlns:a="http://schemas.openxmlformats.org/drawingml/2006/main">
              <a:ext uri="{FF2B5EF4-FFF2-40B4-BE49-F238E27FC236}">
                <a16:creationId xmlns:a16="http://schemas.microsoft.com/office/drawing/2014/main" id="{BA62B551-8722-47C9-95AD-6D0E52D4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0070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受影响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7CF28B61-FB41-44DA-B1FA-77099365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5CE02C44-BF11-4A83-B8F5-C4F46A7B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C67B713C-DAB0-4DEA-8C7C-8060CB6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E1F4D6C6-1DF6-484C-9CAF-B7805CA0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986C7CF3-3AB5-4079-882B-3930E784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F5975374-0ADF-4EC2-BF2B-809603E1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未发现已知影响">
            <a:extLst xmlns:a="http://schemas.openxmlformats.org/drawingml/2006/main">
              <a:ext uri="{FF2B5EF4-FFF2-40B4-BE49-F238E27FC236}">
                <a16:creationId xmlns:a16="http://schemas.microsoft.com/office/drawing/2014/main" id="{7AA03C43-79B6-4961-A211-7E239C49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0070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未发现已知影响</a:t>
            </a:r>
          </a:p>
        </p:txBody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07970015-3481-4A44-AB30-EDAA2598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E01DF44D-DCE4-438B-BEEE-3D2B3DB3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5984BD8C-7475-4718-A7EE-890672B9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0CDEA2ED-398D-44C0-A02A-0E777AC1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0E0989FA-E7EE-4566-B431-4F21D59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2FE6FB0C-ECC8-4BC7-97CC-D2A3BAB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组件未收录">
            <a:extLst xmlns:a="http://schemas.openxmlformats.org/drawingml/2006/main">
              <a:ext uri="{FF2B5EF4-FFF2-40B4-BE49-F238E27FC236}">
                <a16:creationId xmlns:a16="http://schemas.microsoft.com/office/drawing/2014/main" id="{2D9956A3-08A1-44B2-9D18-5A839821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0070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组件未收录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276791A1-3013-4A4A-B0AC-F7969A51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7642843A-0273-4454-87F5-CC36F1D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EF9CB8F6-6C7B-4A72-8644-8A13DF2F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876C041E-0FBB-458F-B2EF-A4FB1A31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A1941E4D-052F-4A2F-A18E-D4CDA0F1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B1A18922-4973-45EB-BA64-194FECD5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共享入口：Web / check_stack / shaowang check">
            <a:extLst xmlns:a="http://schemas.openxmlformats.org/drawingml/2006/main">
              <a:ext uri="{FF2B5EF4-FFF2-40B4-BE49-F238E27FC236}">
                <a16:creationId xmlns:a16="http://schemas.microsoft.com/office/drawing/2014/main" id="{AD167EEC-1900-4E9A-923C-298CD782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57975"/>
            <a:ext cx="1000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77DC3"/>
                </a:solidFill>
              </a:defRPr>
            </a:pPr>
            <a:r>
              <a:rPr sz="19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共享入口：Web / check_stack / shaowang check</a:t>
            </a:r>
          </a:p>
        </p:txBody>
      </p:sp>
      <p:sp>
        <p:nvSpPr>
          <p:cNvPr id="59" name="区间有分歧时提示；高危退出码 1 可接 CI；未知不等于安全">
            <a:extLst xmlns:a="http://schemas.openxmlformats.org/drawingml/2006/main">
              <a:ext uri="{FF2B5EF4-FFF2-40B4-BE49-F238E27FC236}">
                <a16:creationId xmlns:a16="http://schemas.microsoft.com/office/drawing/2014/main" id="{5E44784E-9950-45A6-8107-391768A6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区间有分歧时提示；高危退出码 1 可接 CI；未知不等于安全</a:t>
            </a:r>
          </a:p>
        </p:txBody>
      </p:sp>
    </p:spTree>
    <p:extLst>
      <p:ext uri="{BB962C8B-B14F-4D97-AF65-F5344CB8AC3E}">
        <p14:creationId xmlns:p14="http://schemas.microsoft.com/office/powerpoint/2010/main" val="8703621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23A604-9074-45EF-92CC-CC9B054D939E}"/>
              </a:ext>
            </a:extLst>
          </p:cNvPr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H="1" flipV="1">
            <a:off x="1476375" y="4343877"/>
            <a:ext cx="953" cy="2181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D07B82D-9EA8-494D-A071-3D84A160CDA7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1">
            <a:off x="1476375" y="6525102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4581A1-450B-42AE-829B-8972F9AC5F3B}"/>
              </a:ext>
            </a:extLst>
          </p:cNvPr>
          <p:cNvCxnSpPr>
            <a:stCxn xmlns:a="http://schemas.openxmlformats.org/drawingml/2006/main" id="77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>
            <a:off x="6353175" y="6524625"/>
            <a:ext cx="1533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6DF560-BF85-4306-83D5-9D32761E989A}"/>
              </a:ext>
            </a:extLst>
          </p:cNvPr>
          <p:cNvCxnSpPr>
            <a:stCxn xmlns:a="http://schemas.openxmlformats.org/drawingml/2006/main" id="73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 flipH="1">
            <a:off x="9444038" y="4343400"/>
            <a:ext cx="509588" cy="1847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590652-C69A-4159-A2D6-2B41C4FACD1D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8324850" y="374808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A4DCA3-94CB-4ED9-ABBD-3979DA927AA8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500B7D-D301-4A28-8C6C-9EF905865BCF}"/>
              </a:ext>
            </a:extLst>
          </p:cNvPr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 flipH="1" flipV="1">
            <a:off x="621982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AFE19E-D468-417F-BDAA-1A0FCD18CFC4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5811203" y="559165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655F18-0175-40FB-AEFD-61D399F89291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FA68A1-B580-4FE3-8EFA-B7DD6666ADC7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H="1">
            <a:off x="621982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63D50F-26FA-4002-AC7A-09E8693232AC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5811203" y="3753327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3C0EF7-8DFF-44B9-A334-3F36DA7052C5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3293E3-F17E-4ADD-A654-AB66B14B9482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>
            <a:off x="621982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A6CFBB-DAAC-4EE5-846C-3512BEEC3ACA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5811203" y="191500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382720-2A44-4E2B-BAD7-061616B94CAB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887028" y="559165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861EC2-56DA-4B85-A055-B6854730CEFA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288607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216D04-9B90-4273-AA36-6187F77B198B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689FCF-83FA-40C5-81CB-E74127DE09DF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87028" y="3753327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4C3D14-AF92-4142-919E-775BC6E6C14C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288607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BABBF-D27D-433F-B164-36896BA1DD44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70684-F846-44EA-A37C-0BA230E91F6C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887028" y="19150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A610F-EBE5-4B63-9B9E-57A13D38E088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 flipV="1">
            <a:off x="288607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D41EA-A2A2-4EFB-BD3C-06410808A26D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9" name="F-17">
            <a:extLst xmlns:a="http://schemas.openxmlformats.org/drawingml/2006/main">
              <a:ext uri="{FF2B5EF4-FFF2-40B4-BE49-F238E27FC236}">
                <a16:creationId xmlns:a16="http://schemas.microsoft.com/office/drawing/2014/main" id="{6842AD13-BEE6-463A-A962-DBDF07D1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F-17</a:t>
            </a:r>
          </a:p>
        </p:txBody>
      </p:sp>
      <p:sp>
        <p:nvSpPr>
          <p:cNvPr id="2" name="三路混合检索与 GraphRAG 问答流程">
            <a:extLst xmlns:a="http://schemas.openxmlformats.org/drawingml/2006/main">
              <a:ext uri="{FF2B5EF4-FFF2-40B4-BE49-F238E27FC236}">
                <a16:creationId xmlns:a16="http://schemas.microsoft.com/office/drawing/2014/main" id="{156B7DFD-510A-4EB2-80F1-19AA9288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三路混合检索与 GraphRAG 问答流程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B5B512CA-28A9-44ED-80A0-70AD631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43CC6A25-D4C1-4862-9395-C754255B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52775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问题与规划器">
            <a:extLst xmlns:a="http://schemas.openxmlformats.org/drawingml/2006/main">
              <a:ext uri="{FF2B5EF4-FFF2-40B4-BE49-F238E27FC236}">
                <a16:creationId xmlns:a16="http://schemas.microsoft.com/office/drawing/2014/main" id="{1D7209ED-E708-407D-8590-B1DD2DB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问题与规划器</a:t>
            </a:r>
          </a:p>
        </p:txBody>
      </p:sp>
      <p:sp>
        <p:nvSpPr>
          <p:cNvPr id="6" name="检索计划">
            <a:extLst xmlns:a="http://schemas.openxmlformats.org/drawingml/2006/main">
              <a:ext uri="{FF2B5EF4-FFF2-40B4-BE49-F238E27FC236}">
                <a16:creationId xmlns:a16="http://schemas.microsoft.com/office/drawing/2014/main" id="{F23BAAD5-5E1D-4485-8040-7FB7769D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检索计划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FEA3FECE-B8F2-4AFE-A1A2-29E7957A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00175"/>
            <a:ext cx="2524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BM25">
            <a:extLst xmlns:a="http://schemas.openxmlformats.org/drawingml/2006/main">
              <a:ext uri="{FF2B5EF4-FFF2-40B4-BE49-F238E27FC236}">
                <a16:creationId xmlns:a16="http://schemas.microsoft.com/office/drawing/2014/main" id="{C8EF828E-D639-46EF-A7FC-7CA937F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BM25</a:t>
            </a:r>
          </a:p>
        </p:txBody>
      </p:sp>
      <p:sp>
        <p:nvSpPr>
          <p:cNvPr id="9" name="关键词召回">
            <a:extLst xmlns:a="http://schemas.openxmlformats.org/drawingml/2006/main">
              <a:ext uri="{FF2B5EF4-FFF2-40B4-BE49-F238E27FC236}">
                <a16:creationId xmlns:a16="http://schemas.microsoft.com/office/drawing/2014/main" id="{B20294EB-FDF5-4AAC-A679-F016B19D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2405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关键词召回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C3779D06-0719-407A-9BB9-73D9F8D9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38500"/>
            <a:ext cx="2524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向量 top-50">
            <a:extLst xmlns:a="http://schemas.openxmlformats.org/drawingml/2006/main">
              <a:ext uri="{FF2B5EF4-FFF2-40B4-BE49-F238E27FC236}">
                <a16:creationId xmlns:a16="http://schemas.microsoft.com/office/drawing/2014/main" id="{F051325E-DD91-40A3-BFD2-96CDBACA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向量 top-50</a:t>
            </a:r>
          </a:p>
        </p:txBody>
      </p:sp>
      <p:sp>
        <p:nvSpPr>
          <p:cNvPr id="12" name="语义召回">
            <a:extLst xmlns:a="http://schemas.openxmlformats.org/drawingml/2006/main">
              <a:ext uri="{FF2B5EF4-FFF2-40B4-BE49-F238E27FC236}">
                <a16:creationId xmlns:a16="http://schemas.microsoft.com/office/drawing/2014/main" id="{393467B7-8995-4DD1-9DFC-0945D5E9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623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语义召回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81B00269-9638-4A48-A804-11BF41A8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76825"/>
            <a:ext cx="2524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图扩展 1–2 跳">
            <a:extLst xmlns:a="http://schemas.openxmlformats.org/drawingml/2006/main">
              <a:ext uri="{FF2B5EF4-FFF2-40B4-BE49-F238E27FC236}">
                <a16:creationId xmlns:a16="http://schemas.microsoft.com/office/drawing/2014/main" id="{0BCE89FF-5F32-4561-A4ED-1F4A5C91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720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图扩展 1–2 跳</a:t>
            </a:r>
          </a:p>
        </p:txBody>
      </p:sp>
      <p:sp>
        <p:nvSpPr>
          <p:cNvPr id="15" name="关系召回">
            <a:extLst xmlns:a="http://schemas.openxmlformats.org/drawingml/2006/main">
              <a:ext uri="{FF2B5EF4-FFF2-40B4-BE49-F238E27FC236}">
                <a16:creationId xmlns:a16="http://schemas.microsoft.com/office/drawing/2014/main" id="{4C077472-8BD3-488F-AC58-914909DE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60070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关系召回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88946B05-0178-4CD7-B843-74F1AE78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6382E2E-281D-4151-A419-436325ED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8126E84B-0E5B-4C5A-8F9B-4B1E5006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E43F86CD-F5B0-4151-B149-930FA99A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21D7527B-9A75-4006-9DBD-3777A28E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D04319EE-FBA7-4A17-BE8F-2C8D09D6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24F14150-767E-435D-98D1-6A03140E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05E4BA47-FEFE-4B01-A0F2-EF626F2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B0B65E42-9993-4758-8FF2-3BB54AE6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BACF1AA5-A255-4313-BED6-5C6FFE10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1CFEB50D-5393-4FB8-A3C9-CE2C7A0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55391959-F8FA-484F-8147-855FDE17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5AE17579-46A6-4CFC-8E46-D7AFF130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CEAA4664-F6D1-4BCC-96C6-EC0C8E98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A8A7DF5C-6307-4292-8FFF-949584C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B1A7C1FE-5BEF-48C0-ABE2-4BE891F1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092ABB4B-53A0-4CA1-864D-2E2438A8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13F3FE34-CE18-495C-8E6A-CDD90EA2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ED210C7C-6B09-43AA-B3F5-6825E2F5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52775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4" name="RRF">
            <a:extLst xmlns:a="http://schemas.openxmlformats.org/drawingml/2006/main">
              <a:ext uri="{FF2B5EF4-FFF2-40B4-BE49-F238E27FC236}">
                <a16:creationId xmlns:a16="http://schemas.microsoft.com/office/drawing/2014/main" id="{7461FFC4-EB6E-473E-B5EF-E0135335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480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RRF</a:t>
            </a:r>
          </a:p>
        </p:txBody>
      </p:sp>
      <p:sp>
        <p:nvSpPr>
          <p:cNvPr id="45" name="k=60">
            <a:extLst xmlns:a="http://schemas.openxmlformats.org/drawingml/2006/main">
              <a:ext uri="{FF2B5EF4-FFF2-40B4-BE49-F238E27FC236}">
                <a16:creationId xmlns:a16="http://schemas.microsoft.com/office/drawing/2014/main" id="{043F8CC0-996A-4B46-9095-C6987D30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76650"/>
            <a:ext cx="1438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k=60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9A56BE0C-676B-4695-8DAB-96983D73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C78EC329-E91E-4490-BA4F-101CAFF5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7C877DB5-0601-4A23-AB25-6564F085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FE198CA8-3AFC-415C-B1AF-B3B2413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15215F65-BF11-4455-8705-4BB3823A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4CBEC88A-43EA-4B7C-878B-E5CC434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9AF96440-E77C-449F-B9A2-060E09EB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F2E94B65-9E24-4B93-8DE0-88B48E69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2FCD5C4B-480E-4111-B714-0A6ACB12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D7605F1E-CE47-4A61-B379-F515F0B1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FA99DF77-9846-4C32-8191-85F127C6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7DF282A0-6892-408C-A2F9-4DE9E57A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D0ED0DF9-5E18-46B9-BB6F-8EC72F02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AAC6FC72-D9D0-4ABE-9CBF-67C092D5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boundary">
            <a:extLst xmlns:a="http://schemas.openxmlformats.org/drawingml/2006/main">
              <a:ext uri="{FF2B5EF4-FFF2-40B4-BE49-F238E27FC236}">
                <a16:creationId xmlns:a16="http://schemas.microsoft.com/office/drawing/2014/main" id="{75CCCA72-6455-43B4-8FD3-5E0B9FC2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D697E307-8552-41D0-BFCA-02799EE8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boundary">
            <a:extLst xmlns:a="http://schemas.openxmlformats.org/drawingml/2006/main">
              <a:ext uri="{FF2B5EF4-FFF2-40B4-BE49-F238E27FC236}">
                <a16:creationId xmlns:a16="http://schemas.microsoft.com/office/drawing/2014/main" id="{19A92B9B-66FA-44B3-B5EA-B53798E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boundary">
            <a:extLst xmlns:a="http://schemas.openxmlformats.org/drawingml/2006/main">
              <a:ext uri="{FF2B5EF4-FFF2-40B4-BE49-F238E27FC236}">
                <a16:creationId xmlns:a16="http://schemas.microsoft.com/office/drawing/2014/main" id="{F5082206-952A-4F22-92BB-F15B8F65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DF0B4CEC-EC00-48A7-8C03-732138A3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52775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4" name="前 50 重排">
            <a:extLst xmlns:a="http://schemas.openxmlformats.org/drawingml/2006/main">
              <a:ext uri="{FF2B5EF4-FFF2-40B4-BE49-F238E27FC236}">
                <a16:creationId xmlns:a16="http://schemas.microsoft.com/office/drawing/2014/main" id="{FC84B7C0-2FB6-4FD6-BADB-F46D804B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前 50 重排</a:t>
            </a:r>
          </a:p>
        </p:txBody>
      </p:sp>
      <p:sp>
        <p:nvSpPr>
          <p:cNvPr id="75" name="8–12 证据块">
            <a:extLst xmlns:a="http://schemas.openxmlformats.org/drawingml/2006/main">
              <a:ext uri="{FF2B5EF4-FFF2-40B4-BE49-F238E27FC236}">
                <a16:creationId xmlns:a16="http://schemas.microsoft.com/office/drawing/2014/main" id="{EB33D992-85F9-4BEC-9C83-2A512668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8–12 证据块</a:t>
            </a:r>
          </a:p>
        </p:txBody>
      </p:sp>
      <p:sp>
        <p:nvSpPr>
          <p:cNvPr id="77" name="生成并逐句引用">
            <a:extLst xmlns:a="http://schemas.openxmlformats.org/drawingml/2006/main">
              <a:ext uri="{FF2B5EF4-FFF2-40B4-BE49-F238E27FC236}">
                <a16:creationId xmlns:a16="http://schemas.microsoft.com/office/drawing/2014/main" id="{3A1AC587-71B8-47DC-8B83-92862EF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91250"/>
            <a:ext cx="31146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生成并逐句引用</a:t>
            </a:r>
          </a:p>
        </p:txBody>
      </p:sp>
      <p:sp>
        <p:nvSpPr>
          <p:cNvPr id="79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3A237592-C96F-41A9-ACFD-FC58B5E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191250"/>
            <a:ext cx="2495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BD0F61D1-5C32-47E5-A380-D8DDADB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EF2809F1-BB91-41D9-9FD8-FCB08E7A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boundary">
            <a:extLst xmlns:a="http://schemas.openxmlformats.org/drawingml/2006/main">
              <a:ext uri="{FF2B5EF4-FFF2-40B4-BE49-F238E27FC236}">
                <a16:creationId xmlns:a16="http://schemas.microsoft.com/office/drawing/2014/main" id="{B89074B5-B08E-41C6-8567-6A742018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boundary">
            <a:extLst xmlns:a="http://schemas.openxmlformats.org/drawingml/2006/main">
              <a:ext uri="{FF2B5EF4-FFF2-40B4-BE49-F238E27FC236}">
                <a16:creationId xmlns:a16="http://schemas.microsoft.com/office/drawing/2014/main" id="{7544E29E-4B4F-4694-9CB6-899D84CC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43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fail 重新规划">
            <a:extLst xmlns:a="http://schemas.openxmlformats.org/drawingml/2006/main">
              <a:ext uri="{FF2B5EF4-FFF2-40B4-BE49-F238E27FC236}">
                <a16:creationId xmlns:a16="http://schemas.microsoft.com/office/drawing/2014/main" id="{78D98023-9BFB-40AA-BE3F-9F0CC94C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38800"/>
            <a:ext cx="2314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AB554B"/>
                </a:solidFill>
              </a:defRPr>
            </a:pPr>
            <a:r>
              <a:rPr sz="157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 重新规划</a:t>
            </a:r>
          </a:p>
        </p:txBody>
      </p:sp>
      <p:sp>
        <p:nvSpPr>
          <p:cNvPr id="88" name="三路排名融合，不混加原始分数；校验通过后返回答案">
            <a:extLst xmlns:a="http://schemas.openxmlformats.org/drawingml/2006/main">
              <a:ext uri="{FF2B5EF4-FFF2-40B4-BE49-F238E27FC236}">
                <a16:creationId xmlns:a16="http://schemas.microsoft.com/office/drawing/2014/main" id="{0AF2409A-A6E5-4163-8033-89C89B78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三路排名融合，不混加原始分数；校验通过后返回答案</a:t>
            </a:r>
          </a:p>
        </p:txBody>
      </p:sp>
    </p:spTree>
    <p:extLst>
      <p:ext uri="{BB962C8B-B14F-4D97-AF65-F5344CB8AC3E}">
        <p14:creationId xmlns:p14="http://schemas.microsoft.com/office/powerpoint/2010/main" val="15318629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F6631-FC3F-4E0B-8565-5DB25DC67D57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1543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7DBA7-BDEE-42A3-A3DE-DCDA2C1ABE1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4492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4D0CF-EA1B-4497-9D7B-C59F9EF05E0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441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1" name="F-18">
            <a:extLst xmlns:a="http://schemas.openxmlformats.org/drawingml/2006/main">
              <a:ext uri="{FF2B5EF4-FFF2-40B4-BE49-F238E27FC236}">
                <a16:creationId xmlns:a16="http://schemas.microsoft.com/office/drawing/2014/main" id="{8D700659-7CD1-42ED-82E9-60D43A6A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F-18</a:t>
            </a:r>
          </a:p>
        </p:txBody>
      </p:sp>
      <p:sp>
        <p:nvSpPr>
          <p:cNvPr id="2" name="多跳问答的推理链示例">
            <a:extLst xmlns:a="http://schemas.openxmlformats.org/drawingml/2006/main">
              <a:ext uri="{FF2B5EF4-FFF2-40B4-BE49-F238E27FC236}">
                <a16:creationId xmlns:a16="http://schemas.microsoft.com/office/drawing/2014/main" id="{FE19E7B3-1A81-4E2D-B166-3412607D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多跳问答的推理链示例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55D9FB64-AF84-4054-9DE8-3F53CEC1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近 90 天影响 vLLM 且有公开 PoC 链接的漏洞及其 ATLAS 技术">
            <a:extLst xmlns:a="http://schemas.openxmlformats.org/drawingml/2006/main">
              <a:ext uri="{FF2B5EF4-FFF2-40B4-BE49-F238E27FC236}">
                <a16:creationId xmlns:a16="http://schemas.microsoft.com/office/drawing/2014/main" id="{B27688DA-3F7A-43EF-B076-F6EBB679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1047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 90 天影响 vLLM 且有公开 PoC 链接的漏洞及其 ATLAS 技术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14DEB384-C6D8-4DE8-9CF9-9C9D6172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影响哪些漏洞">
            <a:extLst xmlns:a="http://schemas.openxmlformats.org/drawingml/2006/main">
              <a:ext uri="{FF2B5EF4-FFF2-40B4-BE49-F238E27FC236}">
                <a16:creationId xmlns:a16="http://schemas.microsoft.com/office/drawing/2014/main" id="{1681C6CA-B36B-43D6-A1AA-2FBBD8B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影响哪些漏洞</a:t>
            </a:r>
          </a:p>
        </p:txBody>
      </p:sp>
      <p:sp>
        <p:nvSpPr>
          <p:cNvPr id="7" name="AFFECTS vllm">
            <a:extLst xmlns:a="http://schemas.openxmlformats.org/drawingml/2006/main">
              <a:ext uri="{FF2B5EF4-FFF2-40B4-BE49-F238E27FC236}">
                <a16:creationId xmlns:a16="http://schemas.microsoft.com/office/drawing/2014/main" id="{458179C8-6D89-43EA-AF45-ED8C510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8" name="图检索 / 命中 n">
            <a:extLst xmlns:a="http://schemas.openxmlformats.org/drawingml/2006/main">
              <a:ext uri="{FF2B5EF4-FFF2-40B4-BE49-F238E27FC236}">
                <a16:creationId xmlns:a16="http://schemas.microsoft.com/office/drawing/2014/main" id="{6924EF27-CE01-4F03-ADBA-D83F9A8B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图检索 / 命中 n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7D4BBB8B-71F8-41D0-817F-288B7E56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42F89299-4277-4057-A722-CF26D61E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2">
            <a:extLst xmlns:a="http://schemas.openxmlformats.org/drawingml/2006/main">
              <a:ext uri="{FF2B5EF4-FFF2-40B4-BE49-F238E27FC236}">
                <a16:creationId xmlns:a16="http://schemas.microsoft.com/office/drawing/2014/main" id="{A3BC956B-BB41-4D54-B56D-75E441F1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是否有公开引用">
            <a:extLst xmlns:a="http://schemas.openxmlformats.org/drawingml/2006/main">
              <a:ext uri="{FF2B5EF4-FFF2-40B4-BE49-F238E27FC236}">
                <a16:creationId xmlns:a16="http://schemas.microsoft.com/office/drawing/2014/main" id="{ABF79D5D-E5AF-4833-BA3C-9F2A2436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是否有公开引用</a:t>
            </a:r>
          </a:p>
        </p:txBody>
      </p:sp>
      <p:sp>
        <p:nvSpPr>
          <p:cNvPr id="14" name="HAS_POC_REF">
            <a:extLst xmlns:a="http://schemas.openxmlformats.org/drawingml/2006/main">
              <a:ext uri="{FF2B5EF4-FFF2-40B4-BE49-F238E27FC236}">
                <a16:creationId xmlns:a16="http://schemas.microsoft.com/office/drawing/2014/main" id="{154B9FE8-BC52-45EA-A857-98227998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15" name="图过滤 / 命中 n">
            <a:extLst xmlns:a="http://schemas.openxmlformats.org/drawingml/2006/main">
              <a:ext uri="{FF2B5EF4-FFF2-40B4-BE49-F238E27FC236}">
                <a16:creationId xmlns:a16="http://schemas.microsoft.com/office/drawing/2014/main" id="{FC4C6999-2BF0-4475-9EE4-3E22C55A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图过滤 / 命中 n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86655ACE-55D6-42CC-9411-A49E3941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6CA00E9C-17EE-4DD2-8E8A-E873D5DE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3">
            <a:extLst xmlns:a="http://schemas.openxmlformats.org/drawingml/2006/main">
              <a:ext uri="{FF2B5EF4-FFF2-40B4-BE49-F238E27FC236}">
                <a16:creationId xmlns:a16="http://schemas.microsoft.com/office/drawing/2014/main" id="{5B6C4AC1-A0C6-4CC2-B5A2-3AB30EB2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是否在时间内">
            <a:extLst xmlns:a="http://schemas.openxmlformats.org/drawingml/2006/main">
              <a:ext uri="{FF2B5EF4-FFF2-40B4-BE49-F238E27FC236}">
                <a16:creationId xmlns:a16="http://schemas.microsoft.com/office/drawing/2014/main" id="{AFE70997-8F8B-4161-87BD-5E19513A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是否在时间内</a:t>
            </a:r>
          </a:p>
        </p:txBody>
      </p:sp>
      <p:sp>
        <p:nvSpPr>
          <p:cNvPr id="21" name="近 90 天">
            <a:extLst xmlns:a="http://schemas.openxmlformats.org/drawingml/2006/main">
              <a:ext uri="{FF2B5EF4-FFF2-40B4-BE49-F238E27FC236}">
                <a16:creationId xmlns:a16="http://schemas.microsoft.com/office/drawing/2014/main" id="{6367DCB3-0695-4104-9C7A-79ADECAB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近 90 天</a:t>
            </a:r>
          </a:p>
        </p:txBody>
      </p:sp>
      <p:sp>
        <p:nvSpPr>
          <p:cNvPr id="22" name="时间过滤 / 命中 n">
            <a:extLst xmlns:a="http://schemas.openxmlformats.org/drawingml/2006/main">
              <a:ext uri="{FF2B5EF4-FFF2-40B4-BE49-F238E27FC236}">
                <a16:creationId xmlns:a16="http://schemas.microsoft.com/office/drawing/2014/main" id="{38496702-A4FD-4130-B18B-12495807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时间过滤 / 命中 n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36190F49-CDFC-46E7-9D92-B5F3FA7B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3CCFDF7E-8A8C-40AD-B0A8-25251B05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0739E457-4690-42AE-A217-7209272E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对应什么技术">
            <a:extLst xmlns:a="http://schemas.openxmlformats.org/drawingml/2006/main">
              <a:ext uri="{FF2B5EF4-FFF2-40B4-BE49-F238E27FC236}">
                <a16:creationId xmlns:a16="http://schemas.microsoft.com/office/drawing/2014/main" id="{76E0827C-06CD-48D9-A9D2-96C417A4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对应什么技术</a:t>
            </a:r>
          </a:p>
        </p:txBody>
      </p:sp>
      <p:sp>
        <p:nvSpPr>
          <p:cNvPr id="28" name="MAPS_TO ATLAS">
            <a:extLst xmlns:a="http://schemas.openxmlformats.org/drawingml/2006/main">
              <a:ext uri="{FF2B5EF4-FFF2-40B4-BE49-F238E27FC236}">
                <a16:creationId xmlns:a16="http://schemas.microsoft.com/office/drawing/2014/main" id="{D2988CFA-A27B-41A6-AE6E-F45C09DB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9" name="图扩展 / 命中 n">
            <a:extLst xmlns:a="http://schemas.openxmlformats.org/drawingml/2006/main">
              <a:ext uri="{FF2B5EF4-FFF2-40B4-BE49-F238E27FC236}">
                <a16:creationId xmlns:a16="http://schemas.microsoft.com/office/drawing/2014/main" id="{F2A8C82D-3548-4FB8-94D7-14E10CEA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图扩展 / 命中 n</a:t>
            </a:r>
          </a:p>
        </p:txBody>
      </p:sp>
      <p:sp>
        <p:nvSpPr>
          <p:cNvPr id="30" name="reasoning_steps 保存子问题、检索方式、查询语句与命中数；n 是示意占位，非实测">
            <a:extLst xmlns:a="http://schemas.openxmlformats.org/drawingml/2006/main">
              <a:ext uri="{FF2B5EF4-FFF2-40B4-BE49-F238E27FC236}">
                <a16:creationId xmlns:a16="http://schemas.microsoft.com/office/drawing/2014/main" id="{7810D37C-AB82-486E-B378-65A48BF7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reasoning_steps 保存子问题、检索方式、查询语句与命中数；n 是示意占位，非实测</a:t>
            </a:r>
          </a:p>
        </p:txBody>
      </p:sp>
    </p:spTree>
    <p:extLst>
      <p:ext uri="{BB962C8B-B14F-4D97-AF65-F5344CB8AC3E}">
        <p14:creationId xmlns:p14="http://schemas.microsoft.com/office/powerpoint/2010/main" val="14900921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8267D6-C692-446F-8C0B-33C06C581B06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459028" y="2515077"/>
            <a:ext cx="5514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C78BD2-EE12-4374-9D64-66E23075D261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 flipV="1">
            <a:off x="7458075" y="2515077"/>
            <a:ext cx="953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DEBFA-178F-4973-8036-F911A0F89555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144703" y="3972402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3BB40-790E-4269-8950-5083F046FA6A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944303" y="3972402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4B124-C627-4DA7-90EA-04D24D7557B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 flipV="1">
            <a:off x="3943350" y="3972402"/>
            <a:ext cx="953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E621D-897B-48DF-BE56-F38872F52BE1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363278" y="5601177"/>
            <a:ext cx="5800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37" name="F-19">
            <a:extLst xmlns:a="http://schemas.openxmlformats.org/drawingml/2006/main">
              <a:ext uri="{FF2B5EF4-FFF2-40B4-BE49-F238E27FC236}">
                <a16:creationId xmlns:a16="http://schemas.microsoft.com/office/drawing/2014/main" id="{3F985AE1-B0B6-4BBD-A45A-DA534DF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F-19</a:t>
            </a:r>
          </a:p>
        </p:txBody>
      </p:sp>
      <p:sp>
        <p:nvSpPr>
          <p:cNvPr id="2" name="MCP 与插件生态全景">
            <a:extLst xmlns:a="http://schemas.openxmlformats.org/drawingml/2006/main">
              <a:ext uri="{FF2B5EF4-FFF2-40B4-BE49-F238E27FC236}">
                <a16:creationId xmlns:a16="http://schemas.microsoft.com/office/drawing/2014/main" id="{24111C0B-9DCC-4263-96B8-78C9AB41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 与插件生态全景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10E91363-0494-4760-AFA2-2624AA4E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737E5DDF-E7D3-43FC-9976-1023DB38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数据面扩展">
            <a:extLst xmlns:a="http://schemas.openxmlformats.org/drawingml/2006/main">
              <a:ext uri="{FF2B5EF4-FFF2-40B4-BE49-F238E27FC236}">
                <a16:creationId xmlns:a16="http://schemas.microsoft.com/office/drawing/2014/main" id="{0443A0D7-8D9F-4028-81D3-0E3C765D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数据面扩展</a:t>
            </a:r>
          </a:p>
        </p:txBody>
      </p:sp>
      <p:sp>
        <p:nvSpPr>
          <p:cNvPr id="6" name="Source Connector">
            <a:extLst xmlns:a="http://schemas.openxmlformats.org/drawingml/2006/main">
              <a:ext uri="{FF2B5EF4-FFF2-40B4-BE49-F238E27FC236}">
                <a16:creationId xmlns:a16="http://schemas.microsoft.com/office/drawing/2014/main" id="{AACC834A-5D33-4CFE-A521-B117C602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Source Connector</a:t>
            </a:r>
          </a:p>
        </p:txBody>
      </p:sp>
      <p:sp>
        <p:nvSpPr>
          <p:cNvPr id="7" name="Enricher">
            <a:extLst xmlns:a="http://schemas.openxmlformats.org/drawingml/2006/main">
              <a:ext uri="{FF2B5EF4-FFF2-40B4-BE49-F238E27FC236}">
                <a16:creationId xmlns:a16="http://schemas.microsoft.com/office/drawing/2014/main" id="{D0ACBEEA-E07F-47D1-94BE-FF22BBF0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8" name="Tool / Skill">
            <a:extLst xmlns:a="http://schemas.openxmlformats.org/drawingml/2006/main">
              <a:ext uri="{FF2B5EF4-FFF2-40B4-BE49-F238E27FC236}">
                <a16:creationId xmlns:a16="http://schemas.microsoft.com/office/drawing/2014/main" id="{39A42885-EF11-435E-AFD4-AE9CE952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Tool / Skill</a:t>
            </a:r>
          </a:p>
        </p:txBody>
      </p:sp>
      <p:sp>
        <p:nvSpPr>
          <p:cNvPr id="9" name="shaowang-sdk 签名索引">
            <a:extLst xmlns:a="http://schemas.openxmlformats.org/drawingml/2006/main">
              <a:ext uri="{FF2B5EF4-FFF2-40B4-BE49-F238E27FC236}">
                <a16:creationId xmlns:a16="http://schemas.microsoft.com/office/drawing/2014/main" id="{49221B45-1E1E-49B9-93B5-19A3F115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26765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shaowang-sdk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签名索引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EA958A2D-D774-434A-B219-957CB6FD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857500" cy="13239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intel-core">
            <a:extLst xmlns:a="http://schemas.openxmlformats.org/drawingml/2006/main">
              <a:ext uri="{FF2B5EF4-FFF2-40B4-BE49-F238E27FC236}">
                <a16:creationId xmlns:a16="http://schemas.microsoft.com/office/drawing/2014/main" id="{F0024325-108E-4DA5-BE60-92427597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4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47D45"/>
                </a:solidFill>
              </a:defRPr>
            </a:pPr>
            <a:r>
              <a:rPr sz="24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12" name="统一服务层">
            <a:extLst xmlns:a="http://schemas.openxmlformats.org/drawingml/2006/main">
              <a:ext uri="{FF2B5EF4-FFF2-40B4-BE49-F238E27FC236}">
                <a16:creationId xmlns:a16="http://schemas.microsoft.com/office/drawing/2014/main" id="{C89797DC-8036-4DF1-9F0B-DC884F1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统一服务层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5DEE9164-F4BC-42F1-88E4-A09A2C6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智能体接入">
            <a:extLst xmlns:a="http://schemas.openxmlformats.org/drawingml/2006/main">
              <a:ext uri="{FF2B5EF4-FFF2-40B4-BE49-F238E27FC236}">
                <a16:creationId xmlns:a16="http://schemas.microsoft.com/office/drawing/2014/main" id="{E5F63219-632E-4D67-80A6-60F99F25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智能体接入</a:t>
            </a:r>
          </a:p>
        </p:txBody>
      </p:sp>
      <p:sp>
        <p:nvSpPr>
          <p:cNvPr id="15" name="MCP / OpenAPI / CLI">
            <a:extLst xmlns:a="http://schemas.openxmlformats.org/drawingml/2006/main">
              <a:ext uri="{FF2B5EF4-FFF2-40B4-BE49-F238E27FC236}">
                <a16:creationId xmlns:a16="http://schemas.microsoft.com/office/drawing/2014/main" id="{D44CD0F1-4183-4EAB-9B3C-100D0876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27908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 / OpenAPI / CLI</a:t>
            </a:r>
          </a:p>
        </p:txBody>
      </p:sp>
      <p:sp>
        <p:nvSpPr>
          <p:cNvPr id="16" name="Agent Plugins 包">
            <a:extLst xmlns:a="http://schemas.openxmlformats.org/drawingml/2006/main">
              <a:ext uri="{FF2B5EF4-FFF2-40B4-BE49-F238E27FC236}">
                <a16:creationId xmlns:a16="http://schemas.microsoft.com/office/drawing/2014/main" id="{C13795C2-FF67-4A0E-A4E7-F558E157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2790825" cy="7239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Agent Plugins 包</a:t>
            </a:r>
          </a:p>
        </p:txBody>
      </p:sp>
      <p:sp>
        <p:nvSpPr>
          <p:cNvPr id="17" name="Claude Code / Codex Cursor / Gemini CLI Kimi 等：待核实">
            <a:extLst xmlns:a="http://schemas.openxmlformats.org/drawingml/2006/main">
              <a:ext uri="{FF2B5EF4-FFF2-40B4-BE49-F238E27FC236}">
                <a16:creationId xmlns:a16="http://schemas.microsoft.com/office/drawing/2014/main" id="{AD2178FD-81E3-41B9-8F94-7F6F6B2C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657725"/>
            <a:ext cx="2762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Claude Code / Codex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Cursor / Gemini CLI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Kimi 等：待核实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4A946D4E-66E1-4545-A8B9-47F360C4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3AF5509A-202D-4E6E-8EF2-B3ECB0E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93D3DA5B-91D3-4A71-961A-5AD802D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A17866DC-837A-4125-8AC3-52C9C2FF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2AF303FE-4DD2-4B95-B00F-35BFF073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7E3007F8-1B0E-4841-86BA-2A4A3959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AE6DF4AF-D0EB-42B5-A1D9-3C352A3B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BBA5C664-9243-4E6A-A3B0-F6D1F93C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2199F516-A620-43A6-924B-5D4127F7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AA4C04D9-0183-400A-85F0-8F3B2491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00B2DE0A-6092-4C73-96E7-EF63BC5D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E3994F27-721D-4EB4-B501-74C503B5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统一鉴权、限流、审计与长任务句柄">
            <a:extLst xmlns:a="http://schemas.openxmlformats.org/drawingml/2006/main">
              <a:ext uri="{FF2B5EF4-FFF2-40B4-BE49-F238E27FC236}">
                <a16:creationId xmlns:a16="http://schemas.microsoft.com/office/drawing/2014/main" id="{8BACDBE9-61FB-4211-8403-92F04F87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统一鉴权、限流、审计与长任务句柄</a:t>
            </a:r>
          </a:p>
        </p:txBody>
      </p:sp>
    </p:spTree>
    <p:extLst>
      <p:ext uri="{BB962C8B-B14F-4D97-AF65-F5344CB8AC3E}">
        <p14:creationId xmlns:p14="http://schemas.microsoft.com/office/powerpoint/2010/main" val="4029594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CCF9F3-BC6B-4703-A4DC-37C6008F9C74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10763250" y="6763227"/>
            <a:ext cx="305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010294-AD16-40A2-AD98-65495A52FF9A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11068050" y="4401027"/>
            <a:ext cx="953" cy="23622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BD7007-1406-4C75-9B79-1C3D824B6F16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0764203" y="4401027"/>
            <a:ext cx="3038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1C72C-0E58-49E4-90E7-B1BAE826D6D1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 flipV="1">
            <a:off x="5715000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B40A9-7108-491F-A9EE-325D992750F1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5715000" y="5610702"/>
            <a:ext cx="37633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7D01AD-A1A3-4611-8672-BB9F21FBA6EF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9477375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07225D-AA6C-40D6-8C8A-B8C1C73C344E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1952625" y="3286602"/>
            <a:ext cx="953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CBB4A-F88E-4CC6-8E00-D772FB3B8790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1952625" y="3286602"/>
            <a:ext cx="75257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90C45-0920-4307-B0E2-3BEF350732A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9477375" y="2229327"/>
            <a:ext cx="953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4B6CA-DF5D-49DF-8825-6FAA19403D1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00875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D701A-3700-460E-97E8-EE1C509DFFA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38500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454C1-B330-4FE9-9EF7-1F5842E55D7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000875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3E5C2-2AAA-43DE-917D-212962F5021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8" name="F-20">
            <a:extLst xmlns:a="http://schemas.openxmlformats.org/drawingml/2006/main">
              <a:ext uri="{FF2B5EF4-FFF2-40B4-BE49-F238E27FC236}">
                <a16:creationId xmlns:a16="http://schemas.microsoft.com/office/drawing/2014/main" id="{C81E8B9B-4233-41CD-804B-8F9DE0EB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F-20</a:t>
            </a:r>
          </a:p>
        </p:txBody>
      </p:sp>
      <p:sp>
        <p:nvSpPr>
          <p:cNvPr id="2" name="插件生命周期">
            <a:extLst xmlns:a="http://schemas.openxmlformats.org/drawingml/2006/main">
              <a:ext uri="{FF2B5EF4-FFF2-40B4-BE49-F238E27FC236}">
                <a16:creationId xmlns:a16="http://schemas.microsoft.com/office/drawing/2014/main" id="{17B9A0BD-1928-4C2F-B582-D48B1361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插件生命周期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39FA1CDE-9904-466B-A19A-3927C1F7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overed">
            <a:extLst xmlns:a="http://schemas.openxmlformats.org/drawingml/2006/main">
              <a:ext uri="{FF2B5EF4-FFF2-40B4-BE49-F238E27FC236}">
                <a16:creationId xmlns:a16="http://schemas.microsoft.com/office/drawing/2014/main" id="{632B6745-EA37-4176-A7A1-26B8173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Discovered</a:t>
            </a:r>
          </a:p>
        </p:txBody>
      </p:sp>
      <p:sp>
        <p:nvSpPr>
          <p:cNvPr id="5" name="Validated">
            <a:extLst xmlns:a="http://schemas.openxmlformats.org/drawingml/2006/main">
              <a:ext uri="{FF2B5EF4-FFF2-40B4-BE49-F238E27FC236}">
                <a16:creationId xmlns:a16="http://schemas.microsoft.com/office/drawing/2014/main" id="{05BB35EC-05F4-45B4-AF73-8D036DA6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668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sp>
        <p:nvSpPr>
          <p:cNvPr id="6" name="Installed">
            <a:extLst xmlns:a="http://schemas.openxmlformats.org/drawingml/2006/main">
              <a:ext uri="{FF2B5EF4-FFF2-40B4-BE49-F238E27FC236}">
                <a16:creationId xmlns:a16="http://schemas.microsoft.com/office/drawing/2014/main" id="{29B40F12-B301-4FEF-B29D-2733F43C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Installed</a:t>
            </a:r>
          </a:p>
        </p:txBody>
      </p:sp>
      <p:sp>
        <p:nvSpPr>
          <p:cNvPr id="9" name="清单 / Schema / 签名">
            <a:extLst xmlns:a="http://schemas.openxmlformats.org/drawingml/2006/main">
              <a:ext uri="{FF2B5EF4-FFF2-40B4-BE49-F238E27FC236}">
                <a16:creationId xmlns:a16="http://schemas.microsoft.com/office/drawing/2014/main" id="{7C7CDEFB-7AA2-44E8-936D-C7825FE1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清单 / Schema / 签名</a:t>
            </a:r>
          </a:p>
        </p:txBody>
      </p:sp>
      <p:sp>
        <p:nvSpPr>
          <p:cNvPr id="10" name="管理员审批权限">
            <a:extLst xmlns:a="http://schemas.openxmlformats.org/drawingml/2006/main">
              <a:ext uri="{FF2B5EF4-FFF2-40B4-BE49-F238E27FC236}">
                <a16:creationId xmlns:a16="http://schemas.microsoft.com/office/drawing/2014/main" id="{0F8DD717-B669-4386-8C15-B67D3072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管理员审批权限</a:t>
            </a:r>
          </a:p>
        </p:txBody>
      </p:sp>
      <p:sp>
        <p:nvSpPr>
          <p:cNvPr id="11" name="Loaded">
            <a:extLst xmlns:a="http://schemas.openxmlformats.org/drawingml/2006/main">
              <a:ext uri="{FF2B5EF4-FFF2-40B4-BE49-F238E27FC236}">
                <a16:creationId xmlns:a16="http://schemas.microsoft.com/office/drawing/2014/main" id="{5D8153F8-B2C5-4466-9C1A-07E5C636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Loaded</a:t>
            </a:r>
          </a:p>
        </p:txBody>
      </p:sp>
      <p:sp>
        <p:nvSpPr>
          <p:cNvPr id="12" name="Running">
            <a:extLst xmlns:a="http://schemas.openxmlformats.org/drawingml/2006/main">
              <a:ext uri="{FF2B5EF4-FFF2-40B4-BE49-F238E27FC236}">
                <a16:creationId xmlns:a16="http://schemas.microsoft.com/office/drawing/2014/main" id="{BE812628-0392-4C3A-964D-8038C12D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95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47D45"/>
                </a:solidFill>
              </a:defRPr>
            </a:pPr>
            <a:r>
              <a:rPr sz="21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13" name="Degraded">
            <a:extLst xmlns:a="http://schemas.openxmlformats.org/drawingml/2006/main">
              <a:ext uri="{FF2B5EF4-FFF2-40B4-BE49-F238E27FC236}">
                <a16:creationId xmlns:a16="http://schemas.microsoft.com/office/drawing/2014/main" id="{C42D418E-6A9F-4CBA-A54D-E241BD9B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Degraded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30AAF61A-D962-4C64-8659-E67A9F6B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F9F80743-6B38-420F-83CE-2887747E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A6EE5537-6147-4A96-A5EF-23079DE0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074C972B-A201-4416-A6E2-4075AEBF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8D097A28-E478-4637-8F80-E69BA29A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61424A25-9B7C-4838-BDDB-E8787776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连续失败 ≥3 或 Schema 违规率 &gt;5%">
            <a:extLst xmlns:a="http://schemas.openxmlformats.org/drawingml/2006/main">
              <a:ext uri="{FF2B5EF4-FFF2-40B4-BE49-F238E27FC236}">
                <a16:creationId xmlns:a16="http://schemas.microsoft.com/office/drawing/2014/main" id="{6C6A67A9-7EE2-48BD-83B3-20E3F104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575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67A20"/>
                </a:solidFill>
              </a:defRPr>
            </a:pPr>
            <a:r>
              <a:rPr sz="16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连续失败 ≥3 或 Schema 违规率 &gt;5%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186F7595-62EF-47F1-8D0E-BC071C5B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1B3F2306-9236-48EB-8D76-0A4F9E30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BC2711BB-A486-4428-8CBB-2463FFFC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29AB8651-B98D-4980-8CCB-C669A223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ACE49399-1942-46A2-817E-6F0C0C1B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207E8E33-11AD-441F-AEF9-30018B93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healthcheck 恢复">
            <a:extLst xmlns:a="http://schemas.openxmlformats.org/drawingml/2006/main">
              <a:ext uri="{FF2B5EF4-FFF2-40B4-BE49-F238E27FC236}">
                <a16:creationId xmlns:a16="http://schemas.microsoft.com/office/drawing/2014/main" id="{12F6C6BF-898C-47CC-892C-136CF28B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245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7D45"/>
                </a:solidFill>
              </a:defRPr>
            </a:pPr>
            <a:r>
              <a:rPr sz="165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healthcheck 恢复</a:t>
            </a:r>
          </a:p>
        </p:txBody>
      </p:sp>
      <p:sp>
        <p:nvSpPr>
          <p:cNvPr id="36" name="Disabled">
            <a:extLst xmlns:a="http://schemas.openxmlformats.org/drawingml/2006/main">
              <a:ext uri="{FF2B5EF4-FFF2-40B4-BE49-F238E27FC236}">
                <a16:creationId xmlns:a16="http://schemas.microsoft.com/office/drawing/2014/main" id="{B99CF466-BA51-43F8-8DEC-497D55E0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57950"/>
            <a:ext cx="2571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Disabled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758CA367-3508-445D-BCA0-D2EFFE2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636041C0-2C4E-4B6E-AA47-41FB80E9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44988290-8FED-4271-88C0-52955065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B50E46BA-6140-47AC-859C-D89D4C8B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B70303CC-0B3E-4BD5-81DE-A4753CE8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FEDF798B-23C7-436C-80B5-B986DAA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24 h 未恢复 或 Critic 违规">
            <a:extLst xmlns:a="http://schemas.openxmlformats.org/drawingml/2006/main">
              <a:ext uri="{FF2B5EF4-FFF2-40B4-BE49-F238E27FC236}">
                <a16:creationId xmlns:a16="http://schemas.microsoft.com/office/drawing/2014/main" id="{F1A8C4BB-4AFA-4B8D-8D76-F24328EA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912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AB554B"/>
                </a:solidFill>
              </a:defRPr>
            </a:pPr>
            <a:r>
              <a:rPr sz="150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24 h 未恢复</a:t>
            </a:r>
          </a:p>
          <a:p xmlns:a="http://schemas.openxmlformats.org/drawingml/2006/main">
            <a:pPr algn="ctr">
              <a:defRPr sz="1500" b="0">
                <a:solidFill>
                  <a:srgbClr val="AB554B"/>
                </a:solidFill>
              </a:defRPr>
            </a:pPr>
            <a:r>
              <a:rPr sz="150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或 Critic 违规</a:t>
            </a:r>
          </a:p>
        </p:txBody>
      </p:sp>
      <p:sp>
        <p:nvSpPr>
          <p:cNvPr id="47" name="升级 MINOR 热升级 / MAJOR 重审">
            <a:extLst xmlns:a="http://schemas.openxmlformats.org/drawingml/2006/main">
              <a:ext uri="{FF2B5EF4-FFF2-40B4-BE49-F238E27FC236}">
                <a16:creationId xmlns:a16="http://schemas.microsoft.com/office/drawing/2014/main" id="{B6B44AA5-FA0D-4F07-9CAF-F065A496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4762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MINOR 热升级 / MAJOR 重审</a:t>
            </a:r>
          </a:p>
        </p:txBody>
      </p:sp>
    </p:spTree>
    <p:extLst>
      <p:ext uri="{BB962C8B-B14F-4D97-AF65-F5344CB8AC3E}">
        <p14:creationId xmlns:p14="http://schemas.microsoft.com/office/powerpoint/2010/main" val="6017686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-21">
            <a:extLst xmlns:a="http://schemas.openxmlformats.org/drawingml/2006/main">
              <a:ext uri="{FF2B5EF4-FFF2-40B4-BE49-F238E27FC236}">
                <a16:creationId xmlns:a16="http://schemas.microsoft.com/office/drawing/2014/main" id="{7BE0B4CC-3DCC-4E3D-94D5-76D9C56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F-21</a:t>
            </a:r>
          </a:p>
        </p:txBody>
      </p:sp>
      <p:sp>
        <p:nvSpPr>
          <p:cNvPr id="2" name="公开 Schema 与 OSV / STIX 2.1 / CSAF 2.0 的对应">
            <a:extLst xmlns:a="http://schemas.openxmlformats.org/drawingml/2006/main">
              <a:ext uri="{FF2B5EF4-FFF2-40B4-BE49-F238E27FC236}">
                <a16:creationId xmlns:a16="http://schemas.microsoft.com/office/drawing/2014/main" id="{03540253-A97A-4A6C-AB3B-6D939E03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 Schema 与 OSV / STIX 2.1 / CSAF 2.0 的对应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EF88239E-5A42-49F8-9748-1A2B98C3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8 类公开 Schema">
            <a:extLst xmlns:a="http://schemas.openxmlformats.org/drawingml/2006/main">
              <a:ext uri="{FF2B5EF4-FFF2-40B4-BE49-F238E27FC236}">
                <a16:creationId xmlns:a16="http://schemas.microsoft.com/office/drawing/2014/main" id="{46AC40F5-CF7C-43B2-8763-EEA1121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8 类公开 Schema</a:t>
            </a:r>
          </a:p>
        </p:txBody>
      </p:sp>
      <p:sp>
        <p:nvSpPr>
          <p:cNvPr id="5" name="common">
            <a:extLst xmlns:a="http://schemas.openxmlformats.org/drawingml/2006/main">
              <a:ext uri="{FF2B5EF4-FFF2-40B4-BE49-F238E27FC236}">
                <a16:creationId xmlns:a16="http://schemas.microsoft.com/office/drawing/2014/main" id="{2F7AC181-646E-4C70-BD2F-B28D1217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6" name="normalized-intel">
            <a:extLst xmlns:a="http://schemas.openxmlformats.org/drawingml/2006/main">
              <a:ext uri="{FF2B5EF4-FFF2-40B4-BE49-F238E27FC236}">
                <a16:creationId xmlns:a16="http://schemas.microsoft.com/office/drawing/2014/main" id="{DEFD0437-154B-4145-9E72-30C11E08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normalized-intel</a:t>
            </a:r>
          </a:p>
        </p:txBody>
      </p:sp>
      <p:sp>
        <p:nvSpPr>
          <p:cNvPr id="7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10EBBFC0-DBCD-42D3-B15F-6303E03B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8" name="advisory">
            <a:extLst xmlns:a="http://schemas.openxmlformats.org/drawingml/2006/main">
              <a:ext uri="{FF2B5EF4-FFF2-40B4-BE49-F238E27FC236}">
                <a16:creationId xmlns:a16="http://schemas.microsoft.com/office/drawing/2014/main" id="{000601F9-EAEE-4A8D-B90C-38F3E17A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9" name="component">
            <a:extLst xmlns:a="http://schemas.openxmlformats.org/drawingml/2006/main">
              <a:ext uri="{FF2B5EF4-FFF2-40B4-BE49-F238E27FC236}">
                <a16:creationId xmlns:a16="http://schemas.microsoft.com/office/drawing/2014/main" id="{4C82A333-221F-4891-AA20-D0E659CA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0" name="enrichment">
            <a:extLst xmlns:a="http://schemas.openxmlformats.org/drawingml/2006/main">
              <a:ext uri="{FF2B5EF4-FFF2-40B4-BE49-F238E27FC236}">
                <a16:creationId xmlns:a16="http://schemas.microsoft.com/office/drawing/2014/main" id="{18EED6D4-A207-461E-AEC6-6F029FF2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enrichment</a:t>
            </a:r>
          </a:p>
        </p:txBody>
      </p:sp>
      <p:sp>
        <p:nvSpPr>
          <p:cNvPr id="11" name="relation">
            <a:extLst xmlns:a="http://schemas.openxmlformats.org/drawingml/2006/main">
              <a:ext uri="{FF2B5EF4-FFF2-40B4-BE49-F238E27FC236}">
                <a16:creationId xmlns:a16="http://schemas.microsoft.com/office/drawing/2014/main" id="{078FED65-A1CA-4073-A390-1457069C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relation</a:t>
            </a:r>
          </a:p>
        </p:txBody>
      </p:sp>
      <p:sp>
        <p:nvSpPr>
          <p:cNvPr id="12" name="qa-answer">
            <a:extLst xmlns:a="http://schemas.openxmlformats.org/drawingml/2006/main">
              <a:ext uri="{FF2B5EF4-FFF2-40B4-BE49-F238E27FC236}">
                <a16:creationId xmlns:a16="http://schemas.microsoft.com/office/drawing/2014/main" id="{D73FC2B4-B86B-4679-8B51-59BCC73B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qa-answer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23604-D33C-48D6-A15A-4B182F315DCA}"/>
              </a:ext>
            </a:extLst>
          </p:cNvPr>
          <p:cNvGraphicFramePr/>
          <p:nvPr/>
        </p:nvGraphicFramePr>
        <p:xfrm>
          <a:off xmlns:a="http://schemas.openxmlformats.org/drawingml/2006/main" x="476250" y="3333750"/>
          <a:ext xmlns:a="http://schemas.openxmlformats.org/drawingml/2006/main" cx="10477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476500"/>
                <a:gridCol w="3143250"/>
                <a:gridCol w="2524125"/>
              </a:tblGrid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STIX 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CSAF 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 / 别名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/ aliases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cve / ids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ranges.events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+ relation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product_status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处置建议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 引用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course-of-action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remediations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attack-pattern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关系与置信度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relationship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PoC 引用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 链接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按映射表保留语义；没有原生字段的内容使用扩展，不能宣称天然无损">
            <a:extLst xmlns:a="http://schemas.openxmlformats.org/drawingml/2006/main">
              <a:ext uri="{FF2B5EF4-FFF2-40B4-BE49-F238E27FC236}">
                <a16:creationId xmlns:a16="http://schemas.microsoft.com/office/drawing/2014/main" id="{4A9EF300-446E-406C-8AA5-D5E5801A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按映射表保留语义；没有原生字段的内容使用扩展，不能宣称天然无损</a:t>
            </a:r>
          </a:p>
        </p:txBody>
      </p:sp>
    </p:spTree>
    <p:extLst>
      <p:ext uri="{BB962C8B-B14F-4D97-AF65-F5344CB8AC3E}">
        <p14:creationId xmlns:p14="http://schemas.microsoft.com/office/powerpoint/2010/main" val="18754689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-22">
            <a:extLst xmlns:a="http://schemas.openxmlformats.org/drawingml/2006/main">
              <a:ext uri="{FF2B5EF4-FFF2-40B4-BE49-F238E27FC236}">
                <a16:creationId xmlns:a16="http://schemas.microsoft.com/office/drawing/2014/main" id="{BAE1792F-18CE-4808-8459-BF201F58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F-22</a:t>
            </a:r>
          </a:p>
        </p:txBody>
      </p:sp>
      <p:sp>
        <p:nvSpPr>
          <p:cNvPr id="2" name="技术栈分层">
            <a:extLst xmlns:a="http://schemas.openxmlformats.org/drawingml/2006/main">
              <a:ext uri="{FF2B5EF4-FFF2-40B4-BE49-F238E27FC236}">
                <a16:creationId xmlns:a16="http://schemas.microsoft.com/office/drawing/2014/main" id="{D4A6C7B1-2935-4B11-AA14-C27E71F6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技术栈分层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0AF9538F-627C-4999-8508-E05B9E47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AD738-CE3A-4B93-813A-8538E3F5313A}"/>
              </a:ext>
            </a:extLst>
          </p:cNvPr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0477500" cy="582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3333750"/>
              </a:tblGrid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/ httpx（建议）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requests / Scrapy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消息调度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Redis Streams / NATS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LangGraph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AutoGen / CrewAI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/ DeepSeek（建议）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主存储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 + pgvector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Milvus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图谱与检索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Neo4j / OpenSearch + IK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 / Meilisearch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嵌入与重排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 / bge-reranker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商用嵌入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后端与 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 / 官方 Python SDK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Litestar / FastMCP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 / ECharts / Cytoscape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/ AntV G6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/ Prometheus / Grafana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OpenTelemetry 后端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 compose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Kubernetes / Helm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</a:tbl>
          </a:graphicData>
        </a:graphic>
      </p:graphicFrame>
      <p:sp>
        <p:nvSpPr>
          <p:cNvPr id="5" name="右列为备选；建议项与规划项不等于已经部署">
            <a:extLst xmlns:a="http://schemas.openxmlformats.org/drawingml/2006/main">
              <a:ext uri="{FF2B5EF4-FFF2-40B4-BE49-F238E27FC236}">
                <a16:creationId xmlns:a16="http://schemas.microsoft.com/office/drawing/2014/main" id="{8414A9ED-BD50-40DA-B632-DD721C6B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右列为备选；建议项与规划项不等于已经部署</a:t>
            </a:r>
          </a:p>
        </p:txBody>
      </p:sp>
    </p:spTree>
    <p:extLst>
      <p:ext uri="{BB962C8B-B14F-4D97-AF65-F5344CB8AC3E}">
        <p14:creationId xmlns:p14="http://schemas.microsoft.com/office/powerpoint/2010/main" val="8266984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F-23">
            <a:extLst xmlns:a="http://schemas.openxmlformats.org/drawingml/2006/main">
              <a:ext uri="{FF2B5EF4-FFF2-40B4-BE49-F238E27FC236}">
                <a16:creationId xmlns:a16="http://schemas.microsoft.com/office/drawing/2014/main" id="{7DC9E599-E8F1-4DB0-A33B-95F30806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F-23</a:t>
            </a:r>
          </a:p>
        </p:txBody>
      </p:sp>
      <p:sp>
        <p:nvSpPr>
          <p:cNvPr id="2" name="docker compose 单机部署结构">
            <a:extLst xmlns:a="http://schemas.openxmlformats.org/drawingml/2006/main">
              <a:ext uri="{FF2B5EF4-FFF2-40B4-BE49-F238E27FC236}">
                <a16:creationId xmlns:a16="http://schemas.microsoft.com/office/drawing/2014/main" id="{10F253C4-2874-40CD-8AE1-27D1E23A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docker compose 单机部署结构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3F2CF93A-F480-4FA6-8BAB-AD27F5B0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91D7D1D-ABA8-4AC5-8FAE-BA7D5E6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6FA8AD74-2765-4DD8-AC51-E3C3DEC3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621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F946260-2D95-4F23-BB5C-C2C6161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7" name="应用容器">
            <a:extLst xmlns:a="http://schemas.openxmlformats.org/drawingml/2006/main">
              <a:ext uri="{FF2B5EF4-FFF2-40B4-BE49-F238E27FC236}">
                <a16:creationId xmlns:a16="http://schemas.microsoft.com/office/drawing/2014/main" id="{AA76BB1B-B86B-49C9-9E6F-4082632B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859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应用容器</a:t>
            </a:r>
          </a:p>
        </p:txBody>
      </p:sp>
      <p:sp>
        <p:nvSpPr>
          <p:cNvPr id="8" name="api /api/v1">
            <a:extLst xmlns:a="http://schemas.openxmlformats.org/drawingml/2006/main">
              <a:ext uri="{FF2B5EF4-FFF2-40B4-BE49-F238E27FC236}">
                <a16:creationId xmlns:a16="http://schemas.microsoft.com/office/drawing/2014/main" id="{A12A42A3-6825-45DD-95F8-A846E0D8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/api/v1</a:t>
            </a:r>
          </a:p>
        </p:txBody>
      </p:sp>
      <p:sp>
        <p:nvSpPr>
          <p:cNvPr id="9" name="mcp /mcp">
            <a:extLst xmlns:a="http://schemas.openxmlformats.org/drawingml/2006/main">
              <a:ext uri="{FF2B5EF4-FFF2-40B4-BE49-F238E27FC236}">
                <a16:creationId xmlns:a16="http://schemas.microsoft.com/office/drawing/2014/main" id="{2FA3D2CA-4D38-417E-A150-AE26805F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10" name="workers 9 个角色">
            <a:extLst xmlns:a="http://schemas.openxmlformats.org/drawingml/2006/main">
              <a:ext uri="{FF2B5EF4-FFF2-40B4-BE49-F238E27FC236}">
                <a16:creationId xmlns:a16="http://schemas.microsoft.com/office/drawing/2014/main" id="{B09EBE1E-9740-44D4-A51D-AC6FFA5A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workers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个角色</a:t>
            </a:r>
          </a:p>
        </p:txBody>
      </p:sp>
      <p:sp>
        <p:nvSpPr>
          <p:cNvPr id="11" name="scheduler">
            <a:extLst xmlns:a="http://schemas.openxmlformats.org/drawingml/2006/main">
              <a:ext uri="{FF2B5EF4-FFF2-40B4-BE49-F238E27FC236}">
                <a16:creationId xmlns:a16="http://schemas.microsoft.com/office/drawing/2014/main" id="{E8D4DC07-49B4-4FF5-9268-E222D220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</p:txBody>
      </p:sp>
      <p:sp>
        <p:nvSpPr>
          <p:cNvPr id="12" name="web">
            <a:extLst xmlns:a="http://schemas.openxmlformats.org/drawingml/2006/main">
              <a:ext uri="{FF2B5EF4-FFF2-40B4-BE49-F238E27FC236}">
                <a16:creationId xmlns:a16="http://schemas.microsoft.com/office/drawing/2014/main" id="{438C0C63-A663-42CE-A83C-EBE0A739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1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E597B7E1-C943-4B04-B661-D54B924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2EEF7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8BCEDCF8-19CC-47D5-9D54-BE115141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7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5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977A8054-E7B5-40DF-BE01-D6F6FBB1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6" name="数据容器">
            <a:extLst xmlns:a="http://schemas.openxmlformats.org/drawingml/2006/main">
              <a:ext uri="{FF2B5EF4-FFF2-40B4-BE49-F238E27FC236}">
                <a16:creationId xmlns:a16="http://schemas.microsoft.com/office/drawing/2014/main" id="{9A6D3E11-19DB-4E24-AA5C-59685B6E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5D8F"/>
                </a:solidFill>
              </a:defRPr>
            </a:pPr>
            <a:r>
              <a:rPr sz="20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数据容器</a:t>
            </a:r>
          </a:p>
        </p:txBody>
      </p:sp>
      <p:sp>
        <p:nvSpPr>
          <p:cNvPr id="17" name="postgres pgvector">
            <a:extLst xmlns:a="http://schemas.openxmlformats.org/drawingml/2006/main">
              <a:ext uri="{FF2B5EF4-FFF2-40B4-BE49-F238E27FC236}">
                <a16:creationId xmlns:a16="http://schemas.microsoft.com/office/drawing/2014/main" id="{0892CD43-B945-43C0-95F7-7D16018A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pgvector</a:t>
            </a:r>
          </a:p>
        </p:txBody>
      </p:sp>
      <p:sp>
        <p:nvSpPr>
          <p:cNvPr id="18" name="neo4j">
            <a:extLst xmlns:a="http://schemas.openxmlformats.org/drawingml/2006/main">
              <a:ext uri="{FF2B5EF4-FFF2-40B4-BE49-F238E27FC236}">
                <a16:creationId xmlns:a16="http://schemas.microsoft.com/office/drawing/2014/main" id="{685F3A22-2A45-4EF3-BA09-55992736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19" name="opensearch IK">
            <a:extLst xmlns:a="http://schemas.openxmlformats.org/drawingml/2006/main">
              <a:ext uri="{FF2B5EF4-FFF2-40B4-BE49-F238E27FC236}">
                <a16:creationId xmlns:a16="http://schemas.microsoft.com/office/drawing/2014/main" id="{5BE1164A-75B6-4187-A86C-E0958FAF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opensearch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IK</a:t>
            </a:r>
          </a:p>
        </p:txBody>
      </p:sp>
      <p:sp>
        <p:nvSpPr>
          <p:cNvPr id="20" name="redis / nats">
            <a:extLst xmlns:a="http://schemas.openxmlformats.org/drawingml/2006/main">
              <a:ext uri="{FF2B5EF4-FFF2-40B4-BE49-F238E27FC236}">
                <a16:creationId xmlns:a16="http://schemas.microsoft.com/office/drawing/2014/main" id="{7341A794-B95F-4A48-A5CE-E44512EC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redis / nats</a:t>
            </a:r>
          </a:p>
        </p:txBody>
      </p:sp>
      <p:sp>
        <p:nvSpPr>
          <p:cNvPr id="21" name="minio">
            <a:extLst xmlns:a="http://schemas.openxmlformats.org/drawingml/2006/main">
              <a:ext uri="{FF2B5EF4-FFF2-40B4-BE49-F238E27FC236}">
                <a16:creationId xmlns:a16="http://schemas.microsoft.com/office/drawing/2014/main" id="{5E4978B0-C8DD-4F7E-805D-0DBA6AEF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22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BDC0426-81FB-48A6-BCB4-E215BB10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ADEE2608-A613-49B6-A108-856A346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7D00BC5-47C1-498B-9024-DA531F17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BAD6A3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5" name="可观测容器">
            <a:extLst xmlns:a="http://schemas.openxmlformats.org/drawingml/2006/main">
              <a:ext uri="{FF2B5EF4-FFF2-40B4-BE49-F238E27FC236}">
                <a16:creationId xmlns:a16="http://schemas.microsoft.com/office/drawing/2014/main" id="{1874F872-8DA9-48BB-B3B2-1847CE88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可观测容器</a:t>
            </a:r>
          </a:p>
        </p:txBody>
      </p:sp>
      <p:sp>
        <p:nvSpPr>
          <p:cNvPr id="26" name="langfuse">
            <a:extLst xmlns:a="http://schemas.openxmlformats.org/drawingml/2006/main">
              <a:ext uri="{FF2B5EF4-FFF2-40B4-BE49-F238E27FC236}">
                <a16:creationId xmlns:a16="http://schemas.microsoft.com/office/drawing/2014/main" id="{7413B4BC-4BB3-4B07-94E9-CE8B99A8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67425"/>
            <a:ext cx="22574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langfuse</a:t>
            </a:r>
          </a:p>
        </p:txBody>
      </p:sp>
      <p:sp>
        <p:nvSpPr>
          <p:cNvPr id="27" name="prometheus">
            <a:extLst xmlns:a="http://schemas.openxmlformats.org/drawingml/2006/main">
              <a:ext uri="{FF2B5EF4-FFF2-40B4-BE49-F238E27FC236}">
                <a16:creationId xmlns:a16="http://schemas.microsoft.com/office/drawing/2014/main" id="{DDD66DD6-4593-420E-93C1-8C94A42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067425"/>
            <a:ext cx="22574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prometheus</a:t>
            </a:r>
          </a:p>
        </p:txBody>
      </p:sp>
      <p:sp>
        <p:nvSpPr>
          <p:cNvPr id="28" name="grafana">
            <a:extLst xmlns:a="http://schemas.openxmlformats.org/drawingml/2006/main">
              <a:ext uri="{FF2B5EF4-FFF2-40B4-BE49-F238E27FC236}">
                <a16:creationId xmlns:a16="http://schemas.microsoft.com/office/drawing/2014/main" id="{45404ABA-7F0F-4D3B-9B8A-0EB462C7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067425"/>
            <a:ext cx="22574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grafana</a:t>
            </a:r>
          </a:p>
        </p:txBody>
      </p:sp>
      <p:sp>
        <p:nvSpPr>
          <p:cNvPr id="29" name="网络与消息队列">
            <a:extLst xmlns:a="http://schemas.openxmlformats.org/drawingml/2006/main">
              <a:ext uri="{FF2B5EF4-FFF2-40B4-BE49-F238E27FC236}">
                <a16:creationId xmlns:a16="http://schemas.microsoft.com/office/drawing/2014/main" id="{2054857B-7F74-46F5-B1CD-A5BF322F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432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77DC3"/>
                </a:solidFill>
              </a:defRPr>
            </a:pPr>
            <a:r>
              <a:rPr sz="165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网络与消息队列</a:t>
            </a:r>
          </a:p>
        </p:txBody>
      </p:sp>
      <p:sp>
        <p:nvSpPr>
          <p:cNvPr id="30" name="调用追踪 / 任务与时效指标">
            <a:extLst xmlns:a="http://schemas.openxmlformats.org/drawingml/2006/main">
              <a:ext uri="{FF2B5EF4-FFF2-40B4-BE49-F238E27FC236}">
                <a16:creationId xmlns:a16="http://schemas.microsoft.com/office/drawing/2014/main" id="{4A315964-D803-4F29-AC17-5392C3F3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7D45"/>
                </a:solidFill>
              </a:defRPr>
            </a:pPr>
            <a:r>
              <a:rPr sz="165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调用追踪 / 任务与时效指标</a:t>
            </a:r>
          </a:p>
        </p:txBody>
      </p:sp>
    </p:spTree>
    <p:extLst>
      <p:ext uri="{BB962C8B-B14F-4D97-AF65-F5344CB8AC3E}">
        <p14:creationId xmlns:p14="http://schemas.microsoft.com/office/powerpoint/2010/main" val="12298693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0425823-74A8-48F9-9690-A7833AB2F07E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5715000" y="589597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CC842D9-461E-4BB4-A629-4C2A33CC4DE4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5715000" y="43243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FECAFF-A3FB-49DF-94B6-59998535D23B}"/>
              </a:ext>
            </a:extLst>
          </p:cNvPr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H="1">
            <a:off x="10325100" y="50582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2B5114-8A11-4878-9954-4F9A2206C73A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1">
            <a:off x="8963025" y="50582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DB1AF91-AC3A-400F-A23C-51F725AD4EB7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7620953" y="5058252"/>
            <a:ext cx="27041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D237486-BBC4-4CC6-B217-77D20D500324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H="1">
            <a:off x="7620000" y="4058127"/>
            <a:ext cx="953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0E58F8-56B5-4BDB-92D4-7FDD8A299804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7249478" y="4058127"/>
            <a:ext cx="3705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EC7B99-8276-409B-9D89-2D76A2CD1B92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7973378" y="395335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8B4ECD-72E5-4CA8-9FA4-556A51165F29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7972425" y="3705702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C130E2-8063-4C2E-B5DE-5E8FE711FAF9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7249478" y="3705702"/>
            <a:ext cx="7229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9E6139-CE74-4976-98B4-502631425DD6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H="1">
            <a:off x="9639300" y="2315052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2A9FA6-F9AA-4DB7-BA17-A0AA693899D4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7763828" y="1838802"/>
            <a:ext cx="5895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DF5C2B-259B-4C18-A675-7DA0DE7655D7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H="1" flipV="1">
            <a:off x="7762875" y="1838802"/>
            <a:ext cx="953" cy="1495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AE6C9B-55D3-432D-9CCE-0D48D01C4701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249478" y="333422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9427EA-CD86-470B-BD05-EC7DC691EF1E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>
            <a:off x="3105150" y="5810727"/>
            <a:ext cx="5248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99CAC6-6661-4458-87A6-4F4EF0707DBB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3629025" y="4058127"/>
            <a:ext cx="953" cy="17526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ADF4A4-837D-4CAF-B19E-41795CF92DAF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3629025" y="4058127"/>
            <a:ext cx="5534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8685B4-CB27-4FDC-8F69-2DC2D0845BAA}"/>
              </a:ext>
            </a:extLst>
          </p:cNvPr>
          <p:cNvCxnSpPr>
            <a:stCxn xmlns:a="http://schemas.openxmlformats.org/drawingml/2006/main" id="4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105150" y="3705225"/>
            <a:ext cx="10763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F00E6-D485-4EB6-BEA1-8E6478C202E1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629978" y="3334227"/>
            <a:ext cx="5514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EF5467-C034-4502-8D6E-E055C7BCA9CE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>
            <a:off x="3629025" y="1838802"/>
            <a:ext cx="953" cy="1495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187479-219D-41F3-A16F-352502A5DA58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106103" y="1838802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93" name="F-24">
            <a:extLst xmlns:a="http://schemas.openxmlformats.org/drawingml/2006/main">
              <a:ext uri="{FF2B5EF4-FFF2-40B4-BE49-F238E27FC236}">
                <a16:creationId xmlns:a16="http://schemas.microsoft.com/office/drawing/2014/main" id="{C7EF6C98-E17A-4778-8F6C-B3E0E2D3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F-24</a:t>
            </a:r>
          </a:p>
        </p:txBody>
      </p:sp>
      <p:sp>
        <p:nvSpPr>
          <p:cNvPr id="2" name="知识图谱数据模型">
            <a:extLst xmlns:a="http://schemas.openxmlformats.org/drawingml/2006/main">
              <a:ext uri="{FF2B5EF4-FFF2-40B4-BE49-F238E27FC236}">
                <a16:creationId xmlns:a16="http://schemas.microsoft.com/office/drawing/2014/main" id="{D061192D-5743-4AC0-8190-A5A64B35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知识图谱数据模型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E16DD6B6-AB15-42D0-8565-8C7D28B4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F152AB8B-8594-4728-BE05-46CC962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86100"/>
            <a:ext cx="30670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537DED2C-7E22-43B2-9308-9ED402CF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81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6" name="漏洞事实实体">
            <a:extLst xmlns:a="http://schemas.openxmlformats.org/drawingml/2006/main">
              <a:ext uri="{FF2B5EF4-FFF2-40B4-BE49-F238E27FC236}">
                <a16:creationId xmlns:a16="http://schemas.microsoft.com/office/drawing/2014/main" id="{88AC0E52-9CCF-48A3-848F-E597F638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09975"/>
            <a:ext cx="283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漏洞事实实体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B7B81055-A5C2-4EDE-9B09-4D080646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Advisory">
            <a:extLst xmlns:a="http://schemas.openxmlformats.org/drawingml/2006/main">
              <a:ext uri="{FF2B5EF4-FFF2-40B4-BE49-F238E27FC236}">
                <a16:creationId xmlns:a16="http://schemas.microsoft.com/office/drawing/2014/main" id="{7214A751-072A-40D2-8364-CDE9B51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9" name="公告">
            <a:extLst xmlns:a="http://schemas.openxmlformats.org/drawingml/2006/main">
              <a:ext uri="{FF2B5EF4-FFF2-40B4-BE49-F238E27FC236}">
                <a16:creationId xmlns:a16="http://schemas.microsoft.com/office/drawing/2014/main" id="{CA3E27B0-E319-4E12-BB40-BFFEBB36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F9A5286D-A4D9-4C7D-8913-7EF66842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CWE">
            <a:extLst xmlns:a="http://schemas.openxmlformats.org/drawingml/2006/main">
              <a:ext uri="{FF2B5EF4-FFF2-40B4-BE49-F238E27FC236}">
                <a16:creationId xmlns:a16="http://schemas.microsoft.com/office/drawing/2014/main" id="{E9E8DB99-FFC7-496B-B240-CAFAF154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62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12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B8CCF865-9243-4EBA-90E4-57CD4154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BF5E76C8-6E5E-418C-8647-6BCAB4AD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PocRef">
            <a:extLst xmlns:a="http://schemas.openxmlformats.org/drawingml/2006/main">
              <a:ext uri="{FF2B5EF4-FFF2-40B4-BE49-F238E27FC236}">
                <a16:creationId xmlns:a16="http://schemas.microsoft.com/office/drawing/2014/main" id="{83ACFC84-95E6-4E14-ACCA-03B5F29E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15" name="公开 PoC 引用">
            <a:extLst xmlns:a="http://schemas.openxmlformats.org/drawingml/2006/main">
              <a:ext uri="{FF2B5EF4-FFF2-40B4-BE49-F238E27FC236}">
                <a16:creationId xmlns:a16="http://schemas.microsoft.com/office/drawing/2014/main" id="{889696E7-8587-4261-AD51-74B8400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 PoC 引用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04CBA28F-B4B3-46B1-9801-317B9889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6207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7" name="Component">
            <a:extLst xmlns:a="http://schemas.openxmlformats.org/drawingml/2006/main">
              <a:ext uri="{FF2B5EF4-FFF2-40B4-BE49-F238E27FC236}">
                <a16:creationId xmlns:a16="http://schemas.microsoft.com/office/drawing/2014/main" id="{0BB38ADE-E30B-4569-BC3D-FA8D0F6E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57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8" name="受影响组件">
            <a:extLst xmlns:a="http://schemas.openxmlformats.org/drawingml/2006/main">
              <a:ext uri="{FF2B5EF4-FFF2-40B4-BE49-F238E27FC236}">
                <a16:creationId xmlns:a16="http://schemas.microsoft.com/office/drawing/2014/main" id="{F50ED28D-7C7C-4420-85FB-FE85DA13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859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受影响组件</a:t>
            </a:r>
          </a:p>
        </p:txBody>
      </p:sp>
      <p:sp>
        <p:nvSpPr>
          <p:cNvPr id="19" name="Version  区间 / fixed">
            <a:extLst xmlns:a="http://schemas.openxmlformats.org/drawingml/2006/main">
              <a:ext uri="{FF2B5EF4-FFF2-40B4-BE49-F238E27FC236}">
                <a16:creationId xmlns:a16="http://schemas.microsoft.com/office/drawing/2014/main" id="{F79D97B9-06EE-491B-8B54-82DA3B52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2571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Version  区间 / fixed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64647BC7-D041-4741-963F-65115A43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7662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FA3210AE-D4E6-413E-9FA6-451C76AE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71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22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19A367E5-EC8A-448C-B6A0-0641FA49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0050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E152014-1D96-4E73-8CB5-4B785E85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48300"/>
            <a:ext cx="1219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</a:t>
            </a:r>
          </a:p>
        </p:txBody>
      </p:sp>
      <p:sp>
        <p:nvSpPr>
          <p:cNvPr id="24" name="Article">
            <a:extLst xmlns:a="http://schemas.openxmlformats.org/drawingml/2006/main">
              <a:ext uri="{FF2B5EF4-FFF2-40B4-BE49-F238E27FC236}">
                <a16:creationId xmlns:a16="http://schemas.microsoft.com/office/drawing/2014/main" id="{B74F3A6B-66AC-44B3-83E8-9261210F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48300"/>
            <a:ext cx="12096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Article</a:t>
            </a:r>
          </a:p>
        </p:txBody>
      </p:sp>
      <p:sp>
        <p:nvSpPr>
          <p:cNvPr id="25" name="RiskCategory">
            <a:extLst xmlns:a="http://schemas.openxmlformats.org/drawingml/2006/main">
              <a:ext uri="{FF2B5EF4-FFF2-40B4-BE49-F238E27FC236}">
                <a16:creationId xmlns:a16="http://schemas.microsoft.com/office/drawing/2014/main" id="{D76E948B-CDC9-4CEE-9490-B24187E3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14950"/>
            <a:ext cx="30289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RiskCategory</a:t>
            </a:r>
          </a:p>
        </p:txBody>
      </p:sp>
      <p:sp>
        <p:nvSpPr>
          <p:cNvPr id="26" name="Regulation">
            <a:extLst xmlns:a="http://schemas.openxmlformats.org/drawingml/2006/main">
              <a:ext uri="{FF2B5EF4-FFF2-40B4-BE49-F238E27FC236}">
                <a16:creationId xmlns:a16="http://schemas.microsoft.com/office/drawing/2014/main" id="{F49CAA04-CAE4-42E5-A8CE-DA7A798E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619875"/>
            <a:ext cx="30289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Regulation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D281D9B5-5683-4925-9452-EB43EBD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659E79FD-3ADA-4E20-8F45-70FF74CF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CD3017D7-4E22-4970-A5D2-540A4D31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60425791-5F88-4D48-9858-878F3E41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A413BDB6-7C64-4376-8C06-2CFA3FC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E9C2B005-C9D3-4CB8-B630-6F71F4A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DESCRIBES">
            <a:extLst xmlns:a="http://schemas.openxmlformats.org/drawingml/2006/main">
              <a:ext uri="{FF2B5EF4-FFF2-40B4-BE49-F238E27FC236}">
                <a16:creationId xmlns:a16="http://schemas.microsoft.com/office/drawing/2014/main" id="{964D902F-8625-419E-86CF-0DB93775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05075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DESCRIBES</a:t>
            </a:r>
          </a:p>
        </p:txBody>
      </p:sp>
      <p:sp>
        <p:nvSpPr>
          <p:cNvPr id="38" name="HAS_CWE">
            <a:extLst xmlns:a="http://schemas.openxmlformats.org/drawingml/2006/main">
              <a:ext uri="{FF2B5EF4-FFF2-40B4-BE49-F238E27FC236}">
                <a16:creationId xmlns:a16="http://schemas.microsoft.com/office/drawing/2014/main" id="{32C97DCA-F8F7-4072-A744-B9429C8A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194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1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277DC3"/>
                </a:solidFill>
              </a:defRPr>
            </a:pPr>
            <a:r>
              <a:rPr sz="11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HAS_CWE</a:t>
            </a:r>
          </a:p>
        </p:txBody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1140A18B-6CCC-444C-897E-D74A11B8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B447AE38-65E7-463A-B05B-38B43E3C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AB9CF203-AD46-4E55-B04A-E9671B21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673DE490-818F-4012-9E7B-1EAF6E35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81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E579C1EA-7F5C-4634-8AEF-B80D03C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81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6923F5B3-C251-4311-BC68-91569438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81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HAS_POC_REF">
            <a:extLst xmlns:a="http://schemas.openxmlformats.org/drawingml/2006/main">
              <a:ext uri="{FF2B5EF4-FFF2-40B4-BE49-F238E27FC236}">
                <a16:creationId xmlns:a16="http://schemas.microsoft.com/office/drawing/2014/main" id="{83A409E5-70F7-4BA1-BB24-523A2CFB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2C906E64-38DA-404D-A4BF-F1F0D9A8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9C2F0755-62CE-42EE-818C-905C0B0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664BD026-4CFF-40E9-8999-E13E251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1B533124-C166-49B7-B44D-B9210DB5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F3D70D3B-56CD-46C2-960B-E2FF3977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A281C866-B2C4-427A-B035-B75C3B0F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AFFECTS">
            <a:extLst xmlns:a="http://schemas.openxmlformats.org/drawingml/2006/main">
              <a:ext uri="{FF2B5EF4-FFF2-40B4-BE49-F238E27FC236}">
                <a16:creationId xmlns:a16="http://schemas.microsoft.com/office/drawing/2014/main" id="{851FED1F-EF43-42BD-88B9-6A46C060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1228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77DC3"/>
                </a:solidFill>
              </a:defRPr>
            </a:pPr>
            <a:r>
              <a:rPr sz="135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</p:txBody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B0F5861B-9285-45DD-8A5B-DE50CB2F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14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44A5DB90-DDE7-46DA-8726-60427E34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6D2D27B4-25CD-491F-8A8E-D6BC69BE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E1978641-2F87-46F7-AFFC-DE05500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044F7989-D804-48E1-82A9-FF89B081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0CA1025B-7260-4D10-B36B-40120E5E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938008BF-495B-4295-BC6B-04E85BA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A02DD0D1-9B36-4617-A9F7-4A19E185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MAPS_TO">
            <a:extLst xmlns:a="http://schemas.openxmlformats.org/drawingml/2006/main">
              <a:ext uri="{FF2B5EF4-FFF2-40B4-BE49-F238E27FC236}">
                <a16:creationId xmlns:a16="http://schemas.microsoft.com/office/drawing/2014/main" id="{DADFF3D4-60A9-45A3-B9C5-074CDBAD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00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B1B1257F-6DC7-45A4-8711-7E5788C0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19A56348-C946-456A-B73E-0281DD5D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boundary">
            <a:extLst xmlns:a="http://schemas.openxmlformats.org/drawingml/2006/main">
              <a:ext uri="{FF2B5EF4-FFF2-40B4-BE49-F238E27FC236}">
                <a16:creationId xmlns:a16="http://schemas.microsoft.com/office/drawing/2014/main" id="{2172B7CD-AF7F-4FFA-94BB-537141C1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0C8C56FD-26B1-445C-9817-F24E503E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13A5AE62-C41F-47F5-A763-3A09DEB6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DB8DCA63-45CB-475A-A780-F839979F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1DC71474-41B4-4268-99FB-6A0DE003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15BE6507-8A15-43EA-8F87-D636529E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44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boundary">
            <a:extLst xmlns:a="http://schemas.openxmlformats.org/drawingml/2006/main">
              <a:ext uri="{FF2B5EF4-FFF2-40B4-BE49-F238E27FC236}">
                <a16:creationId xmlns:a16="http://schemas.microsoft.com/office/drawing/2014/main" id="{B8D76B8A-3BEE-4ABA-AF3A-CB9318E0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boundary">
            <a:extLst xmlns:a="http://schemas.openxmlformats.org/drawingml/2006/main">
              <a:ext uri="{FF2B5EF4-FFF2-40B4-BE49-F238E27FC236}">
                <a16:creationId xmlns:a16="http://schemas.microsoft.com/office/drawing/2014/main" id="{1BE2CF07-4D6C-40E0-8074-EFC7CCF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44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361A328F-EDA5-47D8-B6D6-CCB2795C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00600"/>
            <a:ext cx="2333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DISCUSSED_IN</a:t>
            </a:r>
          </a:p>
        </p:txBody>
      </p:sp>
      <p:sp>
        <p:nvSpPr>
          <p:cNvPr id="89" name="IN_CATEGORY">
            <a:extLst xmlns:a="http://schemas.openxmlformats.org/drawingml/2006/main">
              <a:ext uri="{FF2B5EF4-FFF2-40B4-BE49-F238E27FC236}">
                <a16:creationId xmlns:a16="http://schemas.microsoft.com/office/drawing/2014/main" id="{ECA50331-D5F4-4184-B276-43D2F08A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9625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A67A20"/>
                </a:solidFill>
              </a:defRPr>
            </a:pPr>
            <a:r>
              <a:rPr sz="13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IN_CATEGORY</a:t>
            </a:r>
          </a:p>
        </p:txBody>
      </p:sp>
      <p:sp>
        <p:nvSpPr>
          <p:cNvPr id="91" name="GOVERNED_BY">
            <a:extLst xmlns:a="http://schemas.openxmlformats.org/drawingml/2006/main">
              <a:ext uri="{FF2B5EF4-FFF2-40B4-BE49-F238E27FC236}">
                <a16:creationId xmlns:a16="http://schemas.microsoft.com/office/drawing/2014/main" id="{72E16431-6836-4C1C-84E6-2C9CBCED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0"/>
            <a:ext cx="2286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A67A20"/>
                </a:solidFill>
              </a:defRPr>
            </a:pPr>
            <a:r>
              <a:rPr sz="13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GOVERNED_BY</a:t>
            </a:r>
          </a:p>
        </p:txBody>
      </p:sp>
      <p:sp>
        <p:nvSpPr>
          <p:cNvPr id="92" name="边属性：reason / confidence / method / created_by_agent">
            <a:extLst xmlns:a="http://schemas.openxmlformats.org/drawingml/2006/main">
              <a:ext uri="{FF2B5EF4-FFF2-40B4-BE49-F238E27FC236}">
                <a16:creationId xmlns:a16="http://schemas.microsoft.com/office/drawing/2014/main" id="{8C432C84-D24E-40CE-B689-978C275D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边属性：reason / confidence / method / created_by_agent</a:t>
            </a:r>
          </a:p>
        </p:txBody>
      </p:sp>
    </p:spTree>
    <p:extLst>
      <p:ext uri="{BB962C8B-B14F-4D97-AF65-F5344CB8AC3E}">
        <p14:creationId xmlns:p14="http://schemas.microsoft.com/office/powerpoint/2010/main" val="10120743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7EABB9-1709-46F7-82E5-DE11DCC2974B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5715000" y="5944077"/>
            <a:ext cx="2858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3E029A-3E98-44E1-A0F4-85D416CF3136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8572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C76199-0009-485E-98CB-81E144EAD7DE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5715000" y="5944077"/>
            <a:ext cx="953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E60DCD-1A94-4C5D-B5B7-754C6F3B380F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858453" y="594407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98B7E-0BF0-4070-A6FA-FB292715D145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2857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BE4AC-3603-4575-9FF0-4BB9012B3606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8572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DD112-20F5-4E28-AE07-6EB6B12E7115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239953" y="3096102"/>
            <a:ext cx="1332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55A36-BBD1-417C-BCA7-49E1DD5C213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2857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3BC89-586E-406A-842F-81CF7E5243C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857500" y="3096102"/>
            <a:ext cx="1334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8D3EE-1ECA-4384-9841-5AB203A8F588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18192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solid"/>
            <a:tailEnd type="triangle" w="sm" len="sm"/>
          </a:ln>
        </p:spPr>
      </p:cxnSp>
      <p:sp>
        <p:nvSpPr>
          <p:cNvPr id="42" name="F-25">
            <a:extLst xmlns:a="http://schemas.openxmlformats.org/drawingml/2006/main">
              <a:ext uri="{FF2B5EF4-FFF2-40B4-BE49-F238E27FC236}">
                <a16:creationId xmlns:a16="http://schemas.microsoft.com/office/drawing/2014/main" id="{F8442FF9-E567-4431-B732-CE56048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F-25</a:t>
            </a:r>
          </a:p>
        </p:txBody>
      </p:sp>
      <p:sp>
        <p:nvSpPr>
          <p:cNvPr id="2" name="失败重试、死信重放与熔断降级">
            <a:extLst xmlns:a="http://schemas.openxmlformats.org/drawingml/2006/main">
              <a:ext uri="{FF2B5EF4-FFF2-40B4-BE49-F238E27FC236}">
                <a16:creationId xmlns:a16="http://schemas.microsoft.com/office/drawing/2014/main" id="{F512CE41-9DF6-4DF5-96EC-8AAEF30C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失败重试、死信重放与熔断降级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CA49BDE1-6EB6-45BB-AB11-F4EC31C5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请求失败">
            <a:extLst xmlns:a="http://schemas.openxmlformats.org/drawingml/2006/main">
              <a:ext uri="{FF2B5EF4-FFF2-40B4-BE49-F238E27FC236}">
                <a16:creationId xmlns:a16="http://schemas.microsoft.com/office/drawing/2014/main" id="{3ADAC659-DDF7-4FF2-AE72-218180D4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81100"/>
            <a:ext cx="30480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请求失败</a:t>
            </a:r>
          </a:p>
        </p:txBody>
      </p:sp>
      <p:sp>
        <p:nvSpPr>
          <p:cNvPr id="5" name="错误类型">
            <a:extLst xmlns:a="http://schemas.openxmlformats.org/drawingml/2006/main">
              <a:ext uri="{FF2B5EF4-FFF2-40B4-BE49-F238E27FC236}">
                <a16:creationId xmlns:a16="http://schemas.microsoft.com/office/drawing/2014/main" id="{F5D82035-D2CB-4F0A-BA57-4A414C8B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3048000" cy="1238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错误类型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7C55539A-6C8B-44FB-8FA5-EFE2AF24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44767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9E152E22-FB3E-45D3-B773-F2498A9B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9" name="退避重试 ≤6 次">
            <a:extLst xmlns:a="http://schemas.openxmlformats.org/drawingml/2006/main">
              <a:ext uri="{FF2B5EF4-FFF2-40B4-BE49-F238E27FC236}">
                <a16:creationId xmlns:a16="http://schemas.microsoft.com/office/drawing/2014/main" id="{677E9905-2888-4A57-AFF1-E1BA254A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退避重试 ≤6 次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FDACE75B-DB49-4B67-8052-82B47F54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71975"/>
            <a:ext cx="44767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9BAE2257-B2AD-4163-B720-9CD0654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12" name="直接死信并告警">
            <a:extLst xmlns:a="http://schemas.openxmlformats.org/drawingml/2006/main">
              <a:ext uri="{FF2B5EF4-FFF2-40B4-BE49-F238E27FC236}">
                <a16:creationId xmlns:a16="http://schemas.microsoft.com/office/drawing/2014/main" id="{16B84CF1-EC2D-476A-9E3A-7F92C427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直接死信并告警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F9469A0D-40A1-4BD5-BF2E-761938B1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0FBADB75-59E6-47DA-9055-8FE74C0B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D2A50510-9A00-48F7-9937-59A40F42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0783E19-A977-43B6-898D-B9C0FF49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421CD18A-CD11-4A3F-BD84-2FB6DB26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AA91B594-C965-424A-9E16-C60DBEA4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4E235749-F349-4D41-B3AF-B7E918CE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C2E248CD-7097-46BB-A3EA-356FB8C7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DLQ / 每 15 min 重放">
            <a:extLst xmlns:a="http://schemas.openxmlformats.org/drawingml/2006/main">
              <a:ext uri="{FF2B5EF4-FFF2-40B4-BE49-F238E27FC236}">
                <a16:creationId xmlns:a16="http://schemas.microsoft.com/office/drawing/2014/main" id="{5814A79E-7A6B-4A33-8B9F-B9F29A2D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43650"/>
            <a:ext cx="4667250" cy="6096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DLQ / 每 15 min 重放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4EFC16D5-A49A-4826-8451-527AECD3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7958BE69-7B68-415A-942D-20984023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9202855C-AF2E-46BE-BCD2-98B406A0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1821F7DD-5D20-4234-AA4F-CE0FD068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4CED2439-4717-41C1-B906-ED794FF6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3C8A4970-737F-4B8E-A2D9-A401E295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EEA89EA3-91F2-42CE-8E9B-E8C78284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DD641450-7B0C-415C-86BB-6BC77DB9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06237438-E29C-4E5B-9830-6691C29E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B4CEBA0F-8F28-45DD-B562-325FAEED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etry-After 优先；否则 1 s 起 ×2，上限 5 min，±20% 抖动；连续 3 周期失败后降级">
            <a:extLst xmlns:a="http://schemas.openxmlformats.org/drawingml/2006/main">
              <a:ext uri="{FF2B5EF4-FFF2-40B4-BE49-F238E27FC236}">
                <a16:creationId xmlns:a16="http://schemas.microsoft.com/office/drawing/2014/main" id="{78DE7BBB-79FA-44DF-920A-55D8675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Retry-After 优先；否则 1 s 起 ×2，上限 5 min，±20% 抖动；连续 3 周期失败后降级</a:t>
            </a:r>
          </a:p>
        </p:txBody>
      </p:sp>
    </p:spTree>
    <p:extLst>
      <p:ext uri="{BB962C8B-B14F-4D97-AF65-F5344CB8AC3E}">
        <p14:creationId xmlns:p14="http://schemas.microsoft.com/office/powerpoint/2010/main" val="19227901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95217-9777-4C82-A080-2AB5A0D56CC6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097078" y="3886677"/>
            <a:ext cx="3514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B554B"/>
            </a:solidFill>
            <a:prstDash val="dash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12449-AB63-4894-AA35-202E91AD157C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3810000" y="3886677"/>
            <a:ext cx="5248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sp>
        <p:nvSpPr>
          <p:cNvPr id="32" name="F-26">
            <a:extLst xmlns:a="http://schemas.openxmlformats.org/drawingml/2006/main">
              <a:ext uri="{FF2B5EF4-FFF2-40B4-BE49-F238E27FC236}">
                <a16:creationId xmlns:a16="http://schemas.microsoft.com/office/drawing/2014/main" id="{9D2CFA7D-2825-4782-8B95-7BD341FC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F-26</a:t>
            </a:r>
          </a:p>
        </p:txBody>
      </p:sp>
      <p:sp>
        <p:nvSpPr>
          <p:cNvPr id="2" name="对外合规边界">
            <a:extLst xmlns:a="http://schemas.openxmlformats.org/drawingml/2006/main">
              <a:ext uri="{FF2B5EF4-FFF2-40B4-BE49-F238E27FC236}">
                <a16:creationId xmlns:a16="http://schemas.microsoft.com/office/drawing/2014/main" id="{4AE77E31-6E5F-4789-9A91-C8D196C6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对外合规边界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A42A58DE-FC37-4FBC-B229-DFA08EE8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72E643D2-AD90-4B0C-A474-49CC3C4C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允许提供">
            <a:extLst xmlns:a="http://schemas.openxmlformats.org/drawingml/2006/main">
              <a:ext uri="{FF2B5EF4-FFF2-40B4-BE49-F238E27FC236}">
                <a16:creationId xmlns:a16="http://schemas.microsoft.com/office/drawing/2014/main" id="{7E491B8D-EEFC-486A-B20F-36A0E508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允许提供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B1CD0781-DC06-43E4-A609-E50EBB54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" name="禁止提供">
            <a:extLst xmlns:a="http://schemas.openxmlformats.org/drawingml/2006/main">
              <a:ext uri="{FF2B5EF4-FFF2-40B4-BE49-F238E27FC236}">
                <a16:creationId xmlns:a16="http://schemas.microsoft.com/office/drawing/2014/main" id="{403C07A4-2208-44CA-9029-C1F15EB3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B554B"/>
                </a:solidFill>
              </a:defRPr>
            </a:pPr>
            <a:r>
              <a:rPr sz="18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禁止提供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E5FCDB48-0AF4-4DD5-8596-1978F1A1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聚合计数与分布">
            <a:extLst xmlns:a="http://schemas.openxmlformats.org/drawingml/2006/main">
              <a:ext uri="{FF2B5EF4-FFF2-40B4-BE49-F238E27FC236}">
                <a16:creationId xmlns:a16="http://schemas.microsoft.com/office/drawing/2014/main" id="{647F67D6-BB7A-44FF-9A32-1AC20C37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聚合计数与分布</a:t>
            </a:r>
          </a:p>
        </p:txBody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71046F33-5265-4A9C-993A-E23BF8CA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PoC 链接与标题">
            <a:extLst xmlns:a="http://schemas.openxmlformats.org/drawingml/2006/main">
              <a:ext uri="{FF2B5EF4-FFF2-40B4-BE49-F238E27FC236}">
                <a16:creationId xmlns:a16="http://schemas.microsoft.com/office/drawing/2014/main" id="{46AA154E-01C9-469D-9CE1-61D4F3AD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PoC 链接与标题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08DFD163-1B1C-49B7-BAA6-F13E41F0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修复版本与缓解">
            <a:extLst xmlns:a="http://schemas.openxmlformats.org/drawingml/2006/main">
              <a:ext uri="{FF2B5EF4-FFF2-40B4-BE49-F238E27FC236}">
                <a16:creationId xmlns:a16="http://schemas.microsoft.com/office/drawing/2014/main" id="{0175C22F-0D48-4B97-9F34-A3E0D8D5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修复版本与缓解</a:t>
            </a:r>
          </a:p>
        </p:txBody>
      </p:sp>
      <p:sp>
        <p:nvSpPr>
          <p:cNvPr id="14" name="×">
            <a:extLst xmlns:a="http://schemas.openxmlformats.org/drawingml/2006/main">
              <a:ext uri="{FF2B5EF4-FFF2-40B4-BE49-F238E27FC236}">
                <a16:creationId xmlns:a16="http://schemas.microsoft.com/office/drawing/2014/main" id="{DF506F65-8E21-4CF2-904E-40226938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IP / 主机明细">
            <a:extLst xmlns:a="http://schemas.openxmlformats.org/drawingml/2006/main">
              <a:ext uri="{FF2B5EF4-FFF2-40B4-BE49-F238E27FC236}">
                <a16:creationId xmlns:a16="http://schemas.microsoft.com/office/drawing/2014/main" id="{EB1673D8-F667-43A9-9118-E28F435E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241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IP / 主机明细</a:t>
            </a:r>
          </a:p>
        </p:txBody>
      </p:sp>
      <p:sp>
        <p:nvSpPr>
          <p:cNvPr id="16" name="×">
            <a:extLst xmlns:a="http://schemas.openxmlformats.org/drawingml/2006/main">
              <a:ext uri="{FF2B5EF4-FFF2-40B4-BE49-F238E27FC236}">
                <a16:creationId xmlns:a16="http://schemas.microsoft.com/office/drawing/2014/main" id="{087C3BB9-BC8E-4F57-9DF8-16F19ACC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7" name="利用代码">
            <a:extLst xmlns:a="http://schemas.openxmlformats.org/drawingml/2006/main">
              <a:ext uri="{FF2B5EF4-FFF2-40B4-BE49-F238E27FC236}">
                <a16:creationId xmlns:a16="http://schemas.microsoft.com/office/drawing/2014/main" id="{A9A26876-813E-45C2-BE46-980C3705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0045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利用代码</a:t>
            </a:r>
          </a:p>
        </p:txBody>
      </p:sp>
      <p:sp>
        <p:nvSpPr>
          <p:cNvPr id="18" name="×">
            <a:extLst xmlns:a="http://schemas.openxmlformats.org/drawingml/2006/main">
              <a:ext uri="{FF2B5EF4-FFF2-40B4-BE49-F238E27FC236}">
                <a16:creationId xmlns:a16="http://schemas.microsoft.com/office/drawing/2014/main" id="{649BDEBC-446D-46D3-B633-EDA090CD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执行能力 / 主动扫描">
            <a:extLst xmlns:a="http://schemas.openxmlformats.org/drawingml/2006/main">
              <a:ext uri="{FF2B5EF4-FFF2-40B4-BE49-F238E27FC236}">
                <a16:creationId xmlns:a16="http://schemas.microsoft.com/office/drawing/2014/main" id="{6513CEDA-6321-40F6-A335-5702D130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768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执行能力 / 主动扫描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8068367E-399E-4087-AAD5-E4F7B2C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86075"/>
            <a:ext cx="2762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只读服务层">
            <a:extLst xmlns:a="http://schemas.openxmlformats.org/drawingml/2006/main">
              <a:ext uri="{FF2B5EF4-FFF2-40B4-BE49-F238E27FC236}">
                <a16:creationId xmlns:a16="http://schemas.microsoft.com/office/drawing/2014/main" id="{18320D29-A786-4FD7-8E1F-2BC94A20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813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只读服务层</a:t>
            </a:r>
          </a:p>
        </p:txBody>
      </p:sp>
      <p:sp>
        <p:nvSpPr>
          <p:cNvPr id="22" name="Critic 输出过滤">
            <a:extLst xmlns:a="http://schemas.openxmlformats.org/drawingml/2006/main">
              <a:ext uri="{FF2B5EF4-FFF2-40B4-BE49-F238E27FC236}">
                <a16:creationId xmlns:a16="http://schemas.microsoft.com/office/drawing/2014/main" id="{FE817FC3-5CD8-4934-B1BD-B6A9761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9950"/>
            <a:ext cx="2533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输出过滤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6F65094D-39EE-4E17-990D-34C5F6C0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7542CB8C-A31D-4400-9EE9-9BB96EE4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6D6D1CCA-EA67-4C7C-BCF2-BB9CD72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A7E39B01-789F-4622-A583-D95B2AE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2EA59CF5-8FA6-4203-8079-1AA7E3A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195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多层边界执行">
            <a:extLst xmlns:a="http://schemas.openxmlformats.org/drawingml/2006/main">
              <a:ext uri="{FF2B5EF4-FFF2-40B4-BE49-F238E27FC236}">
                <a16:creationId xmlns:a16="http://schemas.microsoft.com/office/drawing/2014/main" id="{252FFEE9-05FA-4120-A483-4523A3B5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578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多层边界执行</a:t>
            </a:r>
          </a:p>
        </p:txBody>
      </p:sp>
      <p:sp>
        <p:nvSpPr>
          <p:cNvPr id="31" name="合规限制在采集、存储、服务与校验多个边界执行">
            <a:extLst xmlns:a="http://schemas.openxmlformats.org/drawingml/2006/main">
              <a:ext uri="{FF2B5EF4-FFF2-40B4-BE49-F238E27FC236}">
                <a16:creationId xmlns:a16="http://schemas.microsoft.com/office/drawing/2014/main" id="{D3831512-1FBC-4AF3-AA4B-BA4C5235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合规限制在采集、存储、服务与校验多个边界执行</a:t>
            </a:r>
          </a:p>
        </p:txBody>
      </p:sp>
    </p:spTree>
    <p:extLst>
      <p:ext uri="{BB962C8B-B14F-4D97-AF65-F5344CB8AC3E}">
        <p14:creationId xmlns:p14="http://schemas.microsoft.com/office/powerpoint/2010/main" val="14459610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CA06A-7C87-45C2-AE55-53BA5549164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382078" y="2572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sp>
        <p:nvSpPr>
          <p:cNvPr id="26" name="F-27">
            <a:extLst xmlns:a="http://schemas.openxmlformats.org/drawingml/2006/main">
              <a:ext uri="{FF2B5EF4-FFF2-40B4-BE49-F238E27FC236}">
                <a16:creationId xmlns:a16="http://schemas.microsoft.com/office/drawing/2014/main" id="{A9413C7D-3D26-4A16-9280-8DDD0F10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F-27</a:t>
            </a:r>
          </a:p>
        </p:txBody>
      </p:sp>
      <p:sp>
        <p:nvSpPr>
          <p:cNvPr id="2" name="时效统计的时间戳定义">
            <a:extLst xmlns:a="http://schemas.openxmlformats.org/drawingml/2006/main">
              <a:ext uri="{FF2B5EF4-FFF2-40B4-BE49-F238E27FC236}">
                <a16:creationId xmlns:a16="http://schemas.microsoft.com/office/drawing/2014/main" id="{F250E4FD-904C-47F6-A773-66FF6615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时效统计的时间戳定义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C20F2AF8-98E0-4699-8007-6DE61AE2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F00D2630-DA15-4E09-AF18-59E6AF7E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E159C460-F631-4A66-9B71-B9670FD3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03E86661-3825-489E-AF9B-508CDED2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6E8CEBC5-6CEA-4E67-B1F8-88C9B4D0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9" name="source_published_at">
            <a:extLst xmlns:a="http://schemas.openxmlformats.org/drawingml/2006/main">
              <a:ext uri="{FF2B5EF4-FFF2-40B4-BE49-F238E27FC236}">
                <a16:creationId xmlns:a16="http://schemas.microsoft.com/office/drawing/2014/main" id="{BA9EB5ED-1A7B-4D28-98FE-C3F192B9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source_published_at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0637F78A-9C54-41A6-9379-EB808DDB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020DDEB3-CB38-4797-8204-19B6E656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12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A90B6CCB-D308-4D88-A550-4E6E8758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50FC28E5-7388-46FF-A9A0-0ACDE38A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C7E1B291-E607-4B8A-932D-E8C56890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15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D1E3A0D9-DB45-47E5-9C1D-9A589F1F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CE987E3F-DC4C-4478-99F3-870D077D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E847481C-084D-4FF4-9FC6-17395558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18" name="enriched_at">
            <a:extLst xmlns:a="http://schemas.openxmlformats.org/drawingml/2006/main">
              <a:ext uri="{FF2B5EF4-FFF2-40B4-BE49-F238E27FC236}">
                <a16:creationId xmlns:a16="http://schemas.microsoft.com/office/drawing/2014/main" id="{A8C1D39C-65AA-471E-9783-6987EA32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9A6C472C-A160-4375-BCA9-ECF73A5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可查询">
            <a:extLst xmlns:a="http://schemas.openxmlformats.org/drawingml/2006/main">
              <a:ext uri="{FF2B5EF4-FFF2-40B4-BE49-F238E27FC236}">
                <a16:creationId xmlns:a16="http://schemas.microsoft.com/office/drawing/2014/main" id="{8500FBE7-74AE-47B6-A938-E15DFA49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21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9654C423-FFE6-4C33-A6E7-6F7BBE65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22" name="采集时延 首见 − 发布">
            <a:extLst xmlns:a="http://schemas.openxmlformats.org/drawingml/2006/main">
              <a:ext uri="{FF2B5EF4-FFF2-40B4-BE49-F238E27FC236}">
                <a16:creationId xmlns:a16="http://schemas.microsoft.com/office/drawing/2014/main" id="{7B75C5B7-2DE9-4738-8BF7-86F3609F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289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首见 − 发布</a:t>
            </a:r>
          </a:p>
        </p:txBody>
      </p:sp>
      <p:sp>
        <p:nvSpPr>
          <p:cNvPr id="23" name="处理时延 可查询 − 首见">
            <a:extLst xmlns:a="http://schemas.openxmlformats.org/drawingml/2006/main">
              <a:ext uri="{FF2B5EF4-FFF2-40B4-BE49-F238E27FC236}">
                <a16:creationId xmlns:a16="http://schemas.microsoft.com/office/drawing/2014/main" id="{2C6E15C1-D708-4612-928A-7B69D2EC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33850"/>
            <a:ext cx="7096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可查询 − 首见</a:t>
            </a:r>
          </a:p>
        </p:txBody>
      </p:sp>
      <p:sp>
        <p:nvSpPr>
          <p:cNvPr id="24" name="端到端 = 可查询 − 发布 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6EB391D9-4128-46AF-81E9-128E76AF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096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 = 可查询 − 发布</a:t>
            </a:r>
          </a:p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h（待测）</a:t>
            </a:r>
          </a:p>
        </p:txBody>
      </p:sp>
      <p:sp>
        <p:nvSpPr>
          <p:cNvPr id="25" name="仅漏洞类首次发现；日更源单列；DEMO 不计；日期精度不足按当日零点计，保守高估">
            <a:extLst xmlns:a="http://schemas.openxmlformats.org/drawingml/2006/main">
              <a:ext uri="{FF2B5EF4-FFF2-40B4-BE49-F238E27FC236}">
                <a16:creationId xmlns:a16="http://schemas.microsoft.com/office/drawing/2014/main" id="{89D9FFFB-3F70-4860-90EA-3EFEC7E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仅漏洞类首次发现；日更源单列；DEMO 不计；日期精度不足按当日零点计，保守高估</a:t>
            </a:r>
          </a:p>
        </p:txBody>
      </p:sp>
    </p:spTree>
    <p:extLst>
      <p:ext uri="{BB962C8B-B14F-4D97-AF65-F5344CB8AC3E}">
        <p14:creationId xmlns:p14="http://schemas.microsoft.com/office/powerpoint/2010/main" val="441246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F-29">
            <a:extLst xmlns:a="http://schemas.openxmlformats.org/drawingml/2006/main">
              <a:ext uri="{FF2B5EF4-FFF2-40B4-BE49-F238E27FC236}">
                <a16:creationId xmlns:a16="http://schemas.microsoft.com/office/drawing/2014/main" id="{BA69E6A6-6CD6-4F1A-A5EF-43885CCC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F-29</a:t>
            </a:r>
          </a:p>
        </p:txBody>
      </p:sp>
      <p:sp>
        <p:nvSpPr>
          <p:cNvPr id="2" name="七项创新点总览">
            <a:extLst xmlns:a="http://schemas.openxmlformats.org/drawingml/2006/main">
              <a:ext uri="{FF2B5EF4-FFF2-40B4-BE49-F238E27FC236}">
                <a16:creationId xmlns:a16="http://schemas.microsoft.com/office/drawing/2014/main" id="{B7D4E657-AF20-4F21-BCAC-E5CD76F8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七项创新点总览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B4C3D941-33F5-4779-BD56-FCFCA30E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创新方向">
            <a:extLst xmlns:a="http://schemas.openxmlformats.org/drawingml/2006/main">
              <a:ext uri="{FF2B5EF4-FFF2-40B4-BE49-F238E27FC236}">
                <a16:creationId xmlns:a16="http://schemas.microsoft.com/office/drawing/2014/main" id="{11E44192-444C-49E5-9D60-CC550DAA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1144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创新方向</a:t>
            </a:r>
          </a:p>
        </p:txBody>
      </p:sp>
      <p:sp>
        <p:nvSpPr>
          <p:cNvPr id="5" name="关键机制">
            <a:extLst xmlns:a="http://schemas.openxmlformats.org/drawingml/2006/main">
              <a:ext uri="{FF2B5EF4-FFF2-40B4-BE49-F238E27FC236}">
                <a16:creationId xmlns:a16="http://schemas.microsoft.com/office/drawing/2014/main" id="{232BD6AF-DD2C-47B1-9FAF-755DCA4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144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6" name="验证维度">
            <a:extLst xmlns:a="http://schemas.openxmlformats.org/drawingml/2006/main">
              <a:ext uri="{FF2B5EF4-FFF2-40B4-BE49-F238E27FC236}">
                <a16:creationId xmlns:a16="http://schemas.microsoft.com/office/drawing/2014/main" id="{AE1A3E98-B267-4EB4-BE8F-2A8014ED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1144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验证维度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464F3D22-EFF0-48EE-9B1B-FC5A7CFA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0602DABA-C356-49F3-824E-6A641832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面向 AI 基础设施的垂直多源融合">
            <a:extLst xmlns:a="http://schemas.openxmlformats.org/drawingml/2006/main">
              <a:ext uri="{FF2B5EF4-FFF2-40B4-BE49-F238E27FC236}">
                <a16:creationId xmlns:a16="http://schemas.microsoft.com/office/drawing/2014/main" id="{E8BE8D4F-4A92-4CA8-8898-94066206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面向 AI 基础设施的垂直多源融合</a:t>
            </a:r>
          </a:p>
        </p:txBody>
      </p:sp>
      <p:sp>
        <p:nvSpPr>
          <p:cNvPr id="10" name="P0 5 min / 无 CVE 入库">
            <a:extLst xmlns:a="http://schemas.openxmlformats.org/drawingml/2006/main">
              <a:ext uri="{FF2B5EF4-FFF2-40B4-BE49-F238E27FC236}">
                <a16:creationId xmlns:a16="http://schemas.microsoft.com/office/drawing/2014/main" id="{806D92E1-5E98-4B42-A8E9-6B64C662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P0 5 min / 无 CVE 入库</a:t>
            </a:r>
          </a:p>
        </p:txBody>
      </p:sp>
      <p:sp>
        <p:nvSpPr>
          <p:cNvPr id="11" name="监测 / 时效">
            <a:extLst xmlns:a="http://schemas.openxmlformats.org/drawingml/2006/main">
              <a:ext uri="{FF2B5EF4-FFF2-40B4-BE49-F238E27FC236}">
                <a16:creationId xmlns:a16="http://schemas.microsoft.com/office/drawing/2014/main" id="{54DF917B-9AD7-415D-A89B-476DCEF9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0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监测 / 时效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EC8A8E67-2973-4F58-900C-D3856EFC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2">
            <a:extLst xmlns:a="http://schemas.openxmlformats.org/drawingml/2006/main">
              <a:ext uri="{FF2B5EF4-FFF2-40B4-BE49-F238E27FC236}">
                <a16:creationId xmlns:a16="http://schemas.microsoft.com/office/drawing/2014/main" id="{D4114189-353E-45A0-ACF4-CB48555F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可解释的自动关联推理引擎">
            <a:extLst xmlns:a="http://schemas.openxmlformats.org/drawingml/2006/main">
              <a:ext uri="{FF2B5EF4-FFF2-40B4-BE49-F238E27FC236}">
                <a16:creationId xmlns:a16="http://schemas.microsoft.com/office/drawing/2014/main" id="{64403F6B-69B6-4EC7-9269-1652EB96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6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可解释的自动关联推理引擎</a:t>
            </a:r>
          </a:p>
        </p:txBody>
      </p:sp>
      <p:sp>
        <p:nvSpPr>
          <p:cNvPr id="15" name="边带理由 / Critic 门槛">
            <a:extLst xmlns:a="http://schemas.openxmlformats.org/drawingml/2006/main">
              <a:ext uri="{FF2B5EF4-FFF2-40B4-BE49-F238E27FC236}">
                <a16:creationId xmlns:a16="http://schemas.microsoft.com/office/drawing/2014/main" id="{13724200-1EEB-4602-A83B-3BE4F2C2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7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边带理由 / Critic 门槛</a:t>
            </a:r>
          </a:p>
        </p:txBody>
      </p:sp>
      <p:sp>
        <p:nvSpPr>
          <p:cNvPr id="16" name="富化 / 准确">
            <a:extLst xmlns:a="http://schemas.openxmlformats.org/drawingml/2006/main">
              <a:ext uri="{FF2B5EF4-FFF2-40B4-BE49-F238E27FC236}">
                <a16:creationId xmlns:a16="http://schemas.microsoft.com/office/drawing/2014/main" id="{34C83CE6-EF9E-46A4-8448-61691778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7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准确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316179C-BCB3-46E9-BF3A-92FCA648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6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3">
            <a:extLst xmlns:a="http://schemas.openxmlformats.org/drawingml/2006/main">
              <a:ext uri="{FF2B5EF4-FFF2-40B4-BE49-F238E27FC236}">
                <a16:creationId xmlns:a16="http://schemas.microsoft.com/office/drawing/2014/main" id="{D21BDC4D-0C9C-4F08-93B6-284ABB54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从依赖文件出发的影响自查">
            <a:extLst xmlns:a="http://schemas.openxmlformats.org/drawingml/2006/main">
              <a:ext uri="{FF2B5EF4-FFF2-40B4-BE49-F238E27FC236}">
                <a16:creationId xmlns:a16="http://schemas.microsoft.com/office/drawing/2014/main" id="{F3C8152B-9BFA-49DC-8267-FA1674D2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从依赖文件出发的影响自查</a:t>
            </a:r>
          </a:p>
        </p:txBody>
      </p:sp>
      <p:sp>
        <p:nvSpPr>
          <p:cNvPr id="20" name="OSV 求解 / 三种结果">
            <a:extLst xmlns:a="http://schemas.openxmlformats.org/drawingml/2006/main">
              <a:ext uri="{FF2B5EF4-FFF2-40B4-BE49-F238E27FC236}">
                <a16:creationId xmlns:a16="http://schemas.microsoft.com/office/drawing/2014/main" id="{45F6B498-0E3A-4FF9-9B20-552BB3BD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33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OSV 求解 / 三种结果</a:t>
            </a:r>
          </a:p>
        </p:txBody>
      </p:sp>
      <p:sp>
        <p:nvSpPr>
          <p:cNvPr id="21" name="富化 / Agent">
            <a:extLst xmlns:a="http://schemas.openxmlformats.org/drawingml/2006/main">
              <a:ext uri="{FF2B5EF4-FFF2-40B4-BE49-F238E27FC236}">
                <a16:creationId xmlns:a16="http://schemas.microsoft.com/office/drawing/2014/main" id="{603C43D2-BFF4-47FD-BD87-0033A915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33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Agent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EE10D8BF-E8D9-4B1D-BA21-6C2BD5B9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48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4">
            <a:extLst xmlns:a="http://schemas.openxmlformats.org/drawingml/2006/main">
              <a:ext uri="{FF2B5EF4-FFF2-40B4-BE49-F238E27FC236}">
                <a16:creationId xmlns:a16="http://schemas.microsoft.com/office/drawing/2014/main" id="{173358FF-2509-4F6E-89D2-A05287DB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可解释 GraphRAG 问答">
            <a:extLst xmlns:a="http://schemas.openxmlformats.org/drawingml/2006/main">
              <a:ext uri="{FF2B5EF4-FFF2-40B4-BE49-F238E27FC236}">
                <a16:creationId xmlns:a16="http://schemas.microsoft.com/office/drawing/2014/main" id="{08C6C2B3-574A-4403-B5DE-9A9833B3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6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 GraphRAG 问答</a:t>
            </a:r>
          </a:p>
        </p:txBody>
      </p:sp>
      <p:sp>
        <p:nvSpPr>
          <p:cNvPr id="25" name="三路检索 / 逐句引用">
            <a:extLst xmlns:a="http://schemas.openxmlformats.org/drawingml/2006/main">
              <a:ext uri="{FF2B5EF4-FFF2-40B4-BE49-F238E27FC236}">
                <a16:creationId xmlns:a16="http://schemas.microsoft.com/office/drawing/2014/main" id="{B5CF615C-DB56-4CDA-9C2E-416FCD77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三路检索 / 逐句引用</a:t>
            </a:r>
          </a:p>
        </p:txBody>
      </p:sp>
      <p:sp>
        <p:nvSpPr>
          <p:cNvPr id="26" name="问答 / 准确">
            <a:extLst xmlns:a="http://schemas.openxmlformats.org/drawingml/2006/main">
              <a:ext uri="{FF2B5EF4-FFF2-40B4-BE49-F238E27FC236}">
                <a16:creationId xmlns:a16="http://schemas.microsoft.com/office/drawing/2014/main" id="{67FC9786-2426-4B92-9F04-951C5C9D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95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问答 / 准确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2DE68DE7-0930-46F5-A4F8-626BB0BA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5">
            <a:extLst xmlns:a="http://schemas.openxmlformats.org/drawingml/2006/main">
              <a:ext uri="{FF2B5EF4-FFF2-40B4-BE49-F238E27FC236}">
                <a16:creationId xmlns:a16="http://schemas.microsoft.com/office/drawing/2014/main" id="{7BBFE3E0-7F88-4A89-B2C7-3297B11E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内部多智能体编排与外部 MCP 开放">
            <a:extLst xmlns:a="http://schemas.openxmlformats.org/drawingml/2006/main">
              <a:ext uri="{FF2B5EF4-FFF2-40B4-BE49-F238E27FC236}">
                <a16:creationId xmlns:a16="http://schemas.microsoft.com/office/drawing/2014/main" id="{DF74E700-D520-4524-98F8-7BE639F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内部多智能体编排与外部 MCP 开放</a:t>
            </a:r>
          </a:p>
        </p:txBody>
      </p:sp>
      <p:sp>
        <p:nvSpPr>
          <p:cNvPr id="30" name="9 角色 / 统一服务层">
            <a:extLst xmlns:a="http://schemas.openxmlformats.org/drawingml/2006/main">
              <a:ext uri="{FF2B5EF4-FFF2-40B4-BE49-F238E27FC236}">
                <a16:creationId xmlns:a16="http://schemas.microsoft.com/office/drawing/2014/main" id="{C3FB5FCD-3C54-46DE-BBF2-CACA93F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57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角色 / 统一服务层</a:t>
            </a:r>
          </a:p>
        </p:txBody>
      </p:sp>
      <p:sp>
        <p:nvSpPr>
          <p:cNvPr id="31" name="Agent">
            <a:extLst xmlns:a="http://schemas.openxmlformats.org/drawingml/2006/main">
              <a:ext uri="{FF2B5EF4-FFF2-40B4-BE49-F238E27FC236}">
                <a16:creationId xmlns:a16="http://schemas.microsoft.com/office/drawing/2014/main" id="{3DCD6956-3CF5-4543-A65C-C0125E34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57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B2827D0C-B1C4-462D-9D3E-8A411FFC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6">
            <a:extLst xmlns:a="http://schemas.openxmlformats.org/drawingml/2006/main">
              <a:ext uri="{FF2B5EF4-FFF2-40B4-BE49-F238E27FC236}">
                <a16:creationId xmlns:a16="http://schemas.microsoft.com/office/drawing/2014/main" id="{BC337800-5F06-4CA9-907C-9482A1F3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时效可观测与故障自愈">
            <a:extLst xmlns:a="http://schemas.openxmlformats.org/drawingml/2006/main">
              <a:ext uri="{FF2B5EF4-FFF2-40B4-BE49-F238E27FC236}">
                <a16:creationId xmlns:a16="http://schemas.microsoft.com/office/drawing/2014/main" id="{0285065B-F21F-4BA0-8DB5-434432B1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时效可观测与故障自愈</a:t>
            </a:r>
          </a:p>
        </p:txBody>
      </p:sp>
      <p:sp>
        <p:nvSpPr>
          <p:cNvPr id="35" name="五段时间戳 / 故障恢复">
            <a:extLst xmlns:a="http://schemas.openxmlformats.org/drawingml/2006/main">
              <a:ext uri="{FF2B5EF4-FFF2-40B4-BE49-F238E27FC236}">
                <a16:creationId xmlns:a16="http://schemas.microsoft.com/office/drawing/2014/main" id="{329280C3-DF7D-44FD-B29A-69AE6BF9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1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五段时间戳 / 故障恢复</a:t>
            </a:r>
          </a:p>
        </p:txBody>
      </p:sp>
      <p:sp>
        <p:nvSpPr>
          <p:cNvPr id="36" name="时效 / 自动化">
            <a:extLst xmlns:a="http://schemas.openxmlformats.org/drawingml/2006/main">
              <a:ext uri="{FF2B5EF4-FFF2-40B4-BE49-F238E27FC236}">
                <a16:creationId xmlns:a16="http://schemas.microsoft.com/office/drawing/2014/main" id="{E13201B8-2FE9-47A6-914E-8FC5C2A8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61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时效 / 自动化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9BF23533-E5B2-4EA4-AC45-9DB7271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7">
            <a:extLst xmlns:a="http://schemas.openxmlformats.org/drawingml/2006/main">
              <a:ext uri="{FF2B5EF4-FFF2-40B4-BE49-F238E27FC236}">
                <a16:creationId xmlns:a16="http://schemas.microsoft.com/office/drawing/2014/main" id="{0F6921CF-1147-4288-A1E9-110D8C54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开放的插件生态">
            <a:extLst xmlns:a="http://schemas.openxmlformats.org/drawingml/2006/main">
              <a:ext uri="{FF2B5EF4-FFF2-40B4-BE49-F238E27FC236}">
                <a16:creationId xmlns:a16="http://schemas.microsoft.com/office/drawing/2014/main" id="{1638566E-9DA4-4401-8F0E-FD487404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7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开放的插件生态</a:t>
            </a:r>
          </a:p>
        </p:txBody>
      </p:sp>
      <p:sp>
        <p:nvSpPr>
          <p:cNvPr id="40" name="8 Schema / 三类扩展点">
            <a:extLst xmlns:a="http://schemas.openxmlformats.org/drawingml/2006/main">
              <a:ext uri="{FF2B5EF4-FFF2-40B4-BE49-F238E27FC236}">
                <a16:creationId xmlns:a16="http://schemas.microsoft.com/office/drawing/2014/main" id="{EC1D463D-7EC1-40A8-9D5C-36B15C39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38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 Schema / 三类扩展点</a:t>
            </a:r>
          </a:p>
        </p:txBody>
      </p:sp>
      <p:sp>
        <p:nvSpPr>
          <p:cNvPr id="41" name="Agent / 文档">
            <a:extLst xmlns:a="http://schemas.openxmlformats.org/drawingml/2006/main">
              <a:ext uri="{FF2B5EF4-FFF2-40B4-BE49-F238E27FC236}">
                <a16:creationId xmlns:a16="http://schemas.microsoft.com/office/drawing/2014/main" id="{D353C5AB-3CFE-42A9-B515-697BA4BA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38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 / 文档</a:t>
            </a:r>
          </a:p>
        </p:txBody>
      </p:sp>
      <p:sp>
        <p:nvSpPr>
          <p:cNvPr id="42" name="七项创新均需第四章评测验证；当前未测结果保持占位">
            <a:extLst xmlns:a="http://schemas.openxmlformats.org/drawingml/2006/main">
              <a:ext uri="{FF2B5EF4-FFF2-40B4-BE49-F238E27FC236}">
                <a16:creationId xmlns:a16="http://schemas.microsoft.com/office/drawing/2014/main" id="{93FE7D7C-50AD-4EB8-B89B-0857160E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七项创新均需第四章评测验证；当前未测结果保持占位</a:t>
            </a:r>
          </a:p>
        </p:txBody>
      </p:sp>
    </p:spTree>
    <p:extLst>
      <p:ext uri="{BB962C8B-B14F-4D97-AF65-F5344CB8AC3E}">
        <p14:creationId xmlns:p14="http://schemas.microsoft.com/office/powerpoint/2010/main" val="14621519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AB83CD-5AB3-41AE-BFD6-784FFFCDA649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H="1">
            <a:off x="102489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2ED5E9-77A7-4B34-A321-10B447F8DC94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H="1">
            <a:off x="102489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35368A-D751-4EC6-AE59-7451AE0F2F65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83629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628B9D-27BD-4B57-86FC-B65F2C8D79DC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83629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363DE4-A0FC-45D1-9A9D-FC2F7FA91C13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64770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F40A2B-66E6-4B61-AC51-0B5BDAF224BC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64770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5857E1-EE17-40FA-942D-A750DA9C3E9B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45910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4F5AF-65D1-49F9-B587-A514ABEB3611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45910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D5551-8214-424B-A2A2-A389A0872F8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27051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98939-4574-44FA-AB5B-FDEB7472634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27051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sp>
        <p:nvSpPr>
          <p:cNvPr id="64" name="F-30">
            <a:extLst xmlns:a="http://schemas.openxmlformats.org/drawingml/2006/main">
              <a:ext uri="{FF2B5EF4-FFF2-40B4-BE49-F238E27FC236}">
                <a16:creationId xmlns:a16="http://schemas.microsoft.com/office/drawing/2014/main" id="{E87D610A-AFDE-4BC6-9DFC-0E26B438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F-30</a:t>
            </a:r>
          </a:p>
        </p:txBody>
      </p:sp>
      <p:sp>
        <p:nvSpPr>
          <p:cNvPr id="2" name="评测体系总览">
            <a:extLst xmlns:a="http://schemas.openxmlformats.org/drawingml/2006/main">
              <a:ext uri="{FF2B5EF4-FFF2-40B4-BE49-F238E27FC236}">
                <a16:creationId xmlns:a16="http://schemas.microsoft.com/office/drawing/2014/main" id="{AB5E95CA-6933-4D34-89C7-69DD2FF6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评测体系总览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BF3ACCD5-E83D-42F1-A23A-AEDDB1CF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输入">
            <a:extLst xmlns:a="http://schemas.openxmlformats.org/drawingml/2006/main">
              <a:ext uri="{FF2B5EF4-FFF2-40B4-BE49-F238E27FC236}">
                <a16:creationId xmlns:a16="http://schemas.microsoft.com/office/drawing/2014/main" id="{11981E8A-8C5A-4D8B-9879-A3C5C031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6765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对照 / 方法">
            <a:extLst xmlns:a="http://schemas.openxmlformats.org/drawingml/2006/main">
              <a:ext uri="{FF2B5EF4-FFF2-40B4-BE49-F238E27FC236}">
                <a16:creationId xmlns:a16="http://schemas.microsoft.com/office/drawing/2014/main" id="{FBD7615D-60D3-4874-B792-9F78B5F3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7433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对照 / 方法</a:t>
            </a:r>
          </a:p>
        </p:txBody>
      </p:sp>
      <p:sp>
        <p:nvSpPr>
          <p:cNvPr id="6" name="观测指标">
            <a:extLst xmlns:a="http://schemas.openxmlformats.org/drawingml/2006/main">
              <a:ext uri="{FF2B5EF4-FFF2-40B4-BE49-F238E27FC236}">
                <a16:creationId xmlns:a16="http://schemas.microsoft.com/office/drawing/2014/main" id="{107DC6ED-5AF0-4BB3-8F8C-AA06BD9F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8101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观测指标</a:t>
            </a:r>
          </a:p>
        </p:txBody>
      </p:sp>
      <p:sp>
        <p:nvSpPr>
          <p:cNvPr id="7" name="验收目标">
            <a:extLst xmlns:a="http://schemas.openxmlformats.org/drawingml/2006/main">
              <a:ext uri="{FF2B5EF4-FFF2-40B4-BE49-F238E27FC236}">
                <a16:creationId xmlns:a16="http://schemas.microsoft.com/office/drawing/2014/main" id="{DD6FE40E-05D9-4F4A-9E5B-EE02476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769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验收目标</a:t>
            </a:r>
          </a:p>
        </p:txBody>
      </p:sp>
      <p:sp>
        <p:nvSpPr>
          <p:cNvPr id="8" name="时效">
            <a:extLst xmlns:a="http://schemas.openxmlformats.org/drawingml/2006/main">
              <a:ext uri="{FF2B5EF4-FFF2-40B4-BE49-F238E27FC236}">
                <a16:creationId xmlns:a16="http://schemas.microsoft.com/office/drawing/2014/main" id="{4A4587FF-5DC8-4032-B83D-E8768729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时效</a:t>
            </a:r>
          </a:p>
        </p:txBody>
      </p:sp>
      <p:sp>
        <p:nvSpPr>
          <p:cNvPr id="9" name="五段时间戳">
            <a:extLst xmlns:a="http://schemas.openxmlformats.org/drawingml/2006/main">
              <a:ext uri="{FF2B5EF4-FFF2-40B4-BE49-F238E27FC236}">
                <a16:creationId xmlns:a16="http://schemas.microsoft.com/office/drawing/2014/main" id="{29FE681B-7FF2-43BE-8542-FC06EA3E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五段时间戳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2FD9A2CF-B54D-47AA-AD0A-D7D70A97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29DF5CAA-5686-4FC4-A77A-2C05FC7B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按源分项">
            <a:extLst xmlns:a="http://schemas.openxmlformats.org/drawingml/2006/main">
              <a:ext uri="{FF2B5EF4-FFF2-40B4-BE49-F238E27FC236}">
                <a16:creationId xmlns:a16="http://schemas.microsoft.com/office/drawing/2014/main" id="{E9FC73C1-930D-4973-8499-52205858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按源分项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7A3BC5B8-593A-46E9-93FF-7048C10E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6B0E37C6-0D76-440D-B185-6F0ECC2B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50 / P95">
            <a:extLst xmlns:a="http://schemas.openxmlformats.org/drawingml/2006/main">
              <a:ext uri="{FF2B5EF4-FFF2-40B4-BE49-F238E27FC236}">
                <a16:creationId xmlns:a16="http://schemas.microsoft.com/office/drawing/2014/main" id="{479EA20D-64CB-4692-A430-542D32D0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P50 / P95</a:t>
            </a:r>
          </a:p>
        </p:txBody>
      </p:sp>
      <p:sp>
        <p:nvSpPr>
          <p:cNvPr id="18" name="目标值 ≤6 h （待测）">
            <a:extLst xmlns:a="http://schemas.openxmlformats.org/drawingml/2006/main">
              <a:ext uri="{FF2B5EF4-FFF2-40B4-BE49-F238E27FC236}">
                <a16:creationId xmlns:a16="http://schemas.microsoft.com/office/drawing/2014/main" id="{AC9030B5-3F23-4D01-9CEE-5D3B0CB0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19" name="富化">
            <a:extLst xmlns:a="http://schemas.openxmlformats.org/drawingml/2006/main">
              <a:ext uri="{FF2B5EF4-FFF2-40B4-BE49-F238E27FC236}">
                <a16:creationId xmlns:a16="http://schemas.microsoft.com/office/drawing/2014/main" id="{EFD0F47C-0CDB-4D0F-A00D-8525142C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20" name="200 条金标">
            <a:extLst xmlns:a="http://schemas.openxmlformats.org/drawingml/2006/main">
              <a:ext uri="{FF2B5EF4-FFF2-40B4-BE49-F238E27FC236}">
                <a16:creationId xmlns:a16="http://schemas.microsoft.com/office/drawing/2014/main" id="{7D1B143B-871B-4F4E-A05E-735E715A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200 条金标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F9F60752-8EE7-49F3-BC1A-3A4EE966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0F31B65A-9C30-4CCB-938C-554C56EE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Critic 前后">
            <a:extLst xmlns:a="http://schemas.openxmlformats.org/drawingml/2006/main">
              <a:ext uri="{FF2B5EF4-FFF2-40B4-BE49-F238E27FC236}">
                <a16:creationId xmlns:a16="http://schemas.microsoft.com/office/drawing/2014/main" id="{FF36B47F-B54F-4362-BE39-924024A7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 前后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37DDA064-B378-43FD-A601-DCBEAAD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DA51E681-A4BD-47B7-86C5-B6A13DA0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准确率 / κ">
            <a:extLst xmlns:a="http://schemas.openxmlformats.org/drawingml/2006/main">
              <a:ext uri="{FF2B5EF4-FFF2-40B4-BE49-F238E27FC236}">
                <a16:creationId xmlns:a16="http://schemas.microsoft.com/office/drawing/2014/main" id="{4AF21B0E-16AD-4FC0-A3B1-70B4F96B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准确率 / κ</a:t>
            </a:r>
          </a:p>
        </p:txBody>
      </p:sp>
      <p:sp>
        <p:nvSpPr>
          <p:cNvPr id="29" name="目标值 ≥95% （待测）">
            <a:extLst xmlns:a="http://schemas.openxmlformats.org/drawingml/2006/main">
              <a:ext uri="{FF2B5EF4-FFF2-40B4-BE49-F238E27FC236}">
                <a16:creationId xmlns:a16="http://schemas.microsoft.com/office/drawing/2014/main" id="{87F876F2-C75E-4FBC-9E53-218415C6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≥95%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30" name="问答">
            <a:extLst xmlns:a="http://schemas.openxmlformats.org/drawingml/2006/main">
              <a:ext uri="{FF2B5EF4-FFF2-40B4-BE49-F238E27FC236}">
                <a16:creationId xmlns:a16="http://schemas.microsoft.com/office/drawing/2014/main" id="{1925E7AF-2FEC-4AB6-86F3-91A3DB0D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31" name="约 100 题">
            <a:extLst xmlns:a="http://schemas.openxmlformats.org/drawingml/2006/main">
              <a:ext uri="{FF2B5EF4-FFF2-40B4-BE49-F238E27FC236}">
                <a16:creationId xmlns:a16="http://schemas.microsoft.com/office/drawing/2014/main" id="{6B0B4D1E-87CA-4B56-A943-708DBA1E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约 100 题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02FD762D-65AF-4045-90C7-56D88052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B61D62FF-27B5-4CC1-9E8B-76E0176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三组对照">
            <a:extLst xmlns:a="http://schemas.openxmlformats.org/drawingml/2006/main">
              <a:ext uri="{FF2B5EF4-FFF2-40B4-BE49-F238E27FC236}">
                <a16:creationId xmlns:a16="http://schemas.microsoft.com/office/drawing/2014/main" id="{98208D25-82B8-4656-A9A5-998E528B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三组对照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ABBFFE3C-46FD-41EF-8378-64AD6890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1649998A-D665-4998-B636-6B6ED3A6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答案 / 引用">
            <a:extLst xmlns:a="http://schemas.openxmlformats.org/drawingml/2006/main">
              <a:ext uri="{FF2B5EF4-FFF2-40B4-BE49-F238E27FC236}">
                <a16:creationId xmlns:a16="http://schemas.microsoft.com/office/drawing/2014/main" id="{C6CBDD60-75BB-4505-8736-B14B3F71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答案 / 引用</a:t>
            </a:r>
          </a:p>
        </p:txBody>
      </p:sp>
      <p:sp>
        <p:nvSpPr>
          <p:cNvPr id="40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5F411707-F7C1-42AD-8271-58F609B1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41" name="自愈">
            <a:extLst xmlns:a="http://schemas.openxmlformats.org/drawingml/2006/main">
              <a:ext uri="{FF2B5EF4-FFF2-40B4-BE49-F238E27FC236}">
                <a16:creationId xmlns:a16="http://schemas.microsoft.com/office/drawing/2014/main" id="{92467961-00A7-4177-8C3E-E0D47015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自愈</a:t>
            </a:r>
          </a:p>
        </p:txBody>
      </p:sp>
      <p:sp>
        <p:nvSpPr>
          <p:cNvPr id="42" name="6 个场景">
            <a:extLst xmlns:a="http://schemas.openxmlformats.org/drawingml/2006/main">
              <a:ext uri="{FF2B5EF4-FFF2-40B4-BE49-F238E27FC236}">
                <a16:creationId xmlns:a16="http://schemas.microsoft.com/office/drawing/2014/main" id="{75E00BA1-EC44-44D2-AD39-163831F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6 个场景</a:t>
            </a:r>
          </a:p>
        </p:txBody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DB53F57B-BCC5-4898-AB5C-A9F60C1F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42AB688F-9EE2-4C1B-AC49-CEFB0B86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故障注入">
            <a:extLst xmlns:a="http://schemas.openxmlformats.org/drawingml/2006/main">
              <a:ext uri="{FF2B5EF4-FFF2-40B4-BE49-F238E27FC236}">
                <a16:creationId xmlns:a16="http://schemas.microsoft.com/office/drawing/2014/main" id="{D988298A-3FBA-45DC-A748-7F5C903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故障注入</a:t>
            </a:r>
          </a:p>
        </p:txBody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475C0CC5-BB5E-4634-A001-E3D6BC6E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EBE95DE1-E4DC-44B6-B061-F336E2F7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成功率 / 恢复">
            <a:extLst xmlns:a="http://schemas.openxmlformats.org/drawingml/2006/main">
              <a:ext uri="{FF2B5EF4-FFF2-40B4-BE49-F238E27FC236}">
                <a16:creationId xmlns:a16="http://schemas.microsoft.com/office/drawing/2014/main" id="{737F6453-C9FF-4EFE-B4BA-302C9C53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成功率 / 恢复</a:t>
            </a:r>
          </a:p>
        </p:txBody>
      </p:sp>
      <p:sp>
        <p:nvSpPr>
          <p:cNvPr id="51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C2025CA8-41B0-4C27-BCE9-931E02B5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52" name="兼容">
            <a:extLst xmlns:a="http://schemas.openxmlformats.org/drawingml/2006/main">
              <a:ext uri="{FF2B5EF4-FFF2-40B4-BE49-F238E27FC236}">
                <a16:creationId xmlns:a16="http://schemas.microsoft.com/office/drawing/2014/main" id="{4895CE45-A4F6-4DD7-BC65-5B210DC7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兼容</a:t>
            </a:r>
          </a:p>
        </p:txBody>
      </p:sp>
      <p:sp>
        <p:nvSpPr>
          <p:cNvPr id="53" name="4 类客户端">
            <a:extLst xmlns:a="http://schemas.openxmlformats.org/drawingml/2006/main">
              <a:ext uri="{FF2B5EF4-FFF2-40B4-BE49-F238E27FC236}">
                <a16:creationId xmlns:a16="http://schemas.microsoft.com/office/drawing/2014/main" id="{43A75BA0-8F5A-4E81-AA93-FE7F66B2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4 类客户端</a:t>
            </a:r>
          </a:p>
        </p:txBody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15363C67-00E7-4550-8E0E-AFFDFC62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5602A20D-6FF6-4892-B212-CE177C3B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远程 / stdio">
            <a:extLst xmlns:a="http://schemas.openxmlformats.org/drawingml/2006/main">
              <a:ext uri="{FF2B5EF4-FFF2-40B4-BE49-F238E27FC236}">
                <a16:creationId xmlns:a16="http://schemas.microsoft.com/office/drawing/2014/main" id="{989288D5-E778-48D6-8334-A2470F3E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远程 / stdio</a:t>
            </a:r>
          </a:p>
        </p:txBody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1D626DFD-4253-4DA3-BCA9-F1E27C8C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07FED99B-5939-4AC7-B41F-993DFB3E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加载 / 续取">
            <a:extLst xmlns:a="http://schemas.openxmlformats.org/drawingml/2006/main">
              <a:ext uri="{FF2B5EF4-FFF2-40B4-BE49-F238E27FC236}">
                <a16:creationId xmlns:a16="http://schemas.microsoft.com/office/drawing/2014/main" id="{D8F51871-3AC3-4013-B356-6C81858C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加载 / 续取</a:t>
            </a:r>
          </a:p>
        </p:txBody>
      </p:sp>
      <p:sp>
        <p:nvSpPr>
          <p:cNvPr id="62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F6F96719-0DCB-4E7A-BC3D-A0AD6935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63" name="同模型同提示；保存原始结果；未执行不计为通过">
            <a:extLst xmlns:a="http://schemas.openxmlformats.org/drawingml/2006/main">
              <a:ext uri="{FF2B5EF4-FFF2-40B4-BE49-F238E27FC236}">
                <a16:creationId xmlns:a16="http://schemas.microsoft.com/office/drawing/2014/main" id="{397C2067-EE72-4068-9ADF-7A7F80FB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同模型同提示；保存原始结果；未执行不计为通过</a:t>
            </a:r>
          </a:p>
        </p:txBody>
      </p:sp>
    </p:spTree>
    <p:extLst>
      <p:ext uri="{BB962C8B-B14F-4D97-AF65-F5344CB8AC3E}">
        <p14:creationId xmlns:p14="http://schemas.microsoft.com/office/powerpoint/2010/main" val="1540762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2026-10-16T04:42:21.0210000Z</dcterms:created>
  <dcterms:modified xsi:type="dcterms:W3CDTF">2026-10-16T04:42:21.0210000Z</dcterms:modified>
</coreProperties>
</file>