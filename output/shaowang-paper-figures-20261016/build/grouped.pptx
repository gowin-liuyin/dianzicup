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1430000" cy="8001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F-01 哨望总体架构</a:t>
            </a:r>
          </a:p>
          <a:p>
            <a:r>
              <a:t>报告位置：概述（缩略版）+ 2.1</a:t>
            </a:r>
          </a:p>
          <a:p>
            <a:r>
              <a:t>技术内容沿用 ShaoWang-技术报告.docx 与原图源，依据 design-dossier.md D3.1。设计参数不代表已测或已部署。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F-02 监测—富化—问答闭环</a:t>
            </a:r>
          </a:p>
          <a:p>
            <a:r>
              <a:t>报告位置：1.3</a:t>
            </a:r>
          </a:p>
          <a:p>
            <a:r>
              <a:t>技术内容沿用 ShaoWang-技术报告.docx 与原图源，依据 design-dossier.md D1.1、D3.2。设计参数不代表已测或已部署。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F-03 端到端数据流与阶段时间戳</a:t>
            </a:r>
          </a:p>
          <a:p>
            <a:r>
              <a:t>报告位置：2.2.1</a:t>
            </a:r>
          </a:p>
          <a:p>
            <a:r>
              <a:t>技术内容沿用 ShaoWang-技术报告.docx 与原图源，依据 design-dossier.md D3.2、D2.8。设计参数不代表已测或已部署。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F-04 一条新公告从发布到可问答的时序</a:t>
            </a:r>
          </a:p>
          <a:p>
            <a:r>
              <a:t>报告位置：2.2.2</a:t>
            </a:r>
          </a:p>
          <a:p>
            <a:r>
              <a:t>技术内容沿用 ShaoWang-技术报告.docx 与原图源，依据 design-dossier.md D3.2、D5.3。设计参数不代表已测或已部署。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F-05 查询请求的处理路径</a:t>
            </a:r>
          </a:p>
          <a:p>
            <a:r>
              <a:t>报告位置：2.2.3</a:t>
            </a:r>
          </a:p>
          <a:p>
            <a:r>
              <a:t>技术内容沿用 ShaoWang-技术报告.docx 与原图源，依据 design-dossier.md D3.3、D3.4。设计参数不代表已测或已部署。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F-06 九个智能体的协作关系</a:t>
            </a:r>
          </a:p>
          <a:p>
            <a:r>
              <a:t>报告位置：2.3.1</a:t>
            </a:r>
          </a:p>
          <a:p>
            <a:r>
              <a:t>技术内容沿用 ShaoWang-技术报告.docx 与原图源，依据 design-dossier.md D4.1、D4.2。设计参数不代表已测或已部署。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F-07 任务状态机</a:t>
            </a:r>
          </a:p>
          <a:p>
            <a:r>
              <a:t>报告位置：2.3.2</a:t>
            </a:r>
          </a:p>
          <a:p>
            <a:r>
              <a:t>技术内容沿用 ShaoWang-技术报告.docx 与原图源，依据 design-dossier.md D4.3。设计参数不代表已测或已部署。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F-08 Critic 校验闭环</a:t>
            </a:r>
          </a:p>
          <a:p>
            <a:r>
              <a:t>报告位置：2.3.3</a:t>
            </a:r>
          </a:p>
          <a:p>
            <a:r>
              <a:t>技术内容沿用 ShaoWang-技术报告.docx 与原图源，依据 design-dossier.md D4.4。设计参数不代表已测或已部署。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F-09 九类数据源与三级可信度</a:t>
            </a:r>
          </a:p>
          <a:p>
            <a:r>
              <a:t>报告位置：2.4.1</a:t>
            </a:r>
          </a:p>
          <a:p>
            <a:r>
              <a:t>技术内容沿用 ShaoWang-技术报告.docx 与原图源，依据 design-dossier.md D5.1。设计参数不代表已测或已部署。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F-10 各来源采集节奏与目标时延</a:t>
            </a:r>
          </a:p>
          <a:p>
            <a:r>
              <a:t>报告位置：2.4.2</a:t>
            </a:r>
          </a:p>
          <a:p>
            <a:r>
              <a:t>技术内容沿用 ShaoWang-技术报告.docx 与原图源，依据 design-dossier.md D5.2。设计参数不代表已测或已部署。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F-11 去重与合并的三层处理</a:t>
            </a:r>
          </a:p>
          <a:p>
            <a:r>
              <a:t>报告位置：2.4.3</a:t>
            </a:r>
          </a:p>
          <a:p>
            <a:r>
              <a:t>技术内容沿用 ShaoWang-技术报告.docx 与原图源，依据 design-dossier.md D5.4。设计参数不代表已测或已部署。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F-12 九维富化画像</a:t>
            </a:r>
          </a:p>
          <a:p>
            <a:r>
              <a:t>报告位置：2.5.1</a:t>
            </a:r>
          </a:p>
          <a:p>
            <a:r>
              <a:t>技术内容沿用 ShaoWang-技术报告.docx 与原图源，依据 design-dossier.md D6.1。设计参数不代表已测或已部署。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F-13 暴露面计数的语法校准</a:t>
            </a:r>
          </a:p>
          <a:p>
            <a:r>
              <a:t>报告位置：2.5.1 或 4.6.2</a:t>
            </a:r>
          </a:p>
          <a:p>
            <a:r>
              <a:t>技术内容沿用 ShaoWang-技术报告.docx 与原图源，依据 design-dossier.md D18.2。设计参数不代表已测或已部署。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F-14 六类自动关联</a:t>
            </a:r>
          </a:p>
          <a:p>
            <a:r>
              <a:t>报告位置：2.5.2</a:t>
            </a:r>
          </a:p>
          <a:p>
            <a:r>
              <a:t>技术内容沿用 ShaoWang-技术报告.docx 与原图源，依据 design-dossier.md D6.3。设计参数不代表已测或已部署。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F-15 多源冲突的逐字段裁决</a:t>
            </a:r>
          </a:p>
          <a:p>
            <a:r>
              <a:t>报告位置：2.5.3</a:t>
            </a:r>
          </a:p>
          <a:p>
            <a:r>
              <a:t>技术内容沿用 ShaoWang-技术报告.docx 与原图源，依据 design-dossier.md D6.4。设计参数不代表已测或已部署。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F-16 版本自查流程</a:t>
            </a:r>
          </a:p>
          <a:p>
            <a:r>
              <a:t>报告位置：2.5.4</a:t>
            </a:r>
          </a:p>
          <a:p>
            <a:r>
              <a:t>技术内容沿用 ShaoWang-技术报告.docx 与原图源，依据 design-dossier.md D6.5。设计参数不代表已测或已部署。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F-17 三路混合检索与 GraphRAG 问答流程</a:t>
            </a:r>
          </a:p>
          <a:p>
            <a:r>
              <a:t>报告位置：2.6.1</a:t>
            </a:r>
          </a:p>
          <a:p>
            <a:r>
              <a:t>技术内容沿用 ShaoWang-技术报告.docx 与原图源，依据 design-dossier.md D7.1–D7.3。设计参数不代表已测或已部署。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F-18 多跳问答的推理链示例</a:t>
            </a:r>
          </a:p>
          <a:p>
            <a:r>
              <a:t>报告位置：2.6.2</a:t>
            </a:r>
          </a:p>
          <a:p>
            <a:r>
              <a:t>技术内容沿用 ShaoWang-技术报告.docx 与原图源，依据 design-dossier.md D7.2。设计参数不代表已测或已部署。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F-19 MCP 与插件生态全景</a:t>
            </a:r>
          </a:p>
          <a:p>
            <a:r>
              <a:t>报告位置：2.7.1 / 2.7.3</a:t>
            </a:r>
          </a:p>
          <a:p>
            <a:r>
              <a:t>技术内容沿用 ShaoWang-技术报告.docx 与原图源，依据 design-dossier.md D8、D9.3。设计参数不代表已测或已部署。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F-20 插件生命周期</a:t>
            </a:r>
          </a:p>
          <a:p>
            <a:r>
              <a:t>报告位置：2.7.3</a:t>
            </a:r>
          </a:p>
          <a:p>
            <a:r>
              <a:t>技术内容沿用 ShaoWang-技术报告.docx 与原图源，依据 design-dossier.md D9.6。设计参数不代表已测或已部署。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F-21 公开 Schema 与 OSV / STIX 2.1 / CSAF 2.0 的对应</a:t>
            </a:r>
          </a:p>
          <a:p>
            <a:r>
              <a:t>报告位置：2.7.3</a:t>
            </a:r>
          </a:p>
          <a:p>
            <a:r>
              <a:t>技术内容沿用 ShaoWang-技术报告.docx 与原图源，依据 design-dossier.md D9.1、D9.2。设计参数不代表已测或已部署。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F-22 技术栈分层</a:t>
            </a:r>
          </a:p>
          <a:p>
            <a:r>
              <a:t>报告位置：2.8</a:t>
            </a:r>
          </a:p>
          <a:p>
            <a:r>
              <a:t>技术内容沿用 ShaoWang-技术报告.docx 与原图源，依据 design-dossier.md D10。设计参数不代表已测或已部署。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F-23 docker compose 单机部署结构</a:t>
            </a:r>
          </a:p>
          <a:p>
            <a:r>
              <a:t>报告位置：3.1.1</a:t>
            </a:r>
          </a:p>
          <a:p>
            <a:r>
              <a:t>技术内容沿用 ShaoWang-技术报告.docx 与原图源，依据 design-dossier.md D3.5。设计参数不代表已测或已部署。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F-24 知识图谱数据模型</a:t>
            </a:r>
          </a:p>
          <a:p>
            <a:r>
              <a:t>报告位置：3.1.2</a:t>
            </a:r>
          </a:p>
          <a:p>
            <a:r>
              <a:t>技术内容沿用 ShaoWang-技术报告.docx 与原图源，依据 design-dossier.md D11.2、D2.7。设计参数不代表已测或已部署。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F-25 失败重试、死信重放与熔断降级</a:t>
            </a:r>
          </a:p>
          <a:p>
            <a:r>
              <a:t>报告位置：3.1.3</a:t>
            </a:r>
          </a:p>
          <a:p>
            <a:r>
              <a:t>技术内容沿用 ShaoWang-技术报告.docx 与原图源，依据 design-dossier.md D12.1、D12.2。设计参数不代表已测或已部署。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F-26 对外合规边界</a:t>
            </a:r>
          </a:p>
          <a:p>
            <a:r>
              <a:t>报告位置：3.1.5</a:t>
            </a:r>
          </a:p>
          <a:p>
            <a:r>
              <a:t>技术内容沿用 ShaoWang-技术报告.docx 与原图源，依据 design-dossier.md D13。设计参数不代表已测或已部署。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F-27 时效统计的时间戳定义</a:t>
            </a:r>
          </a:p>
          <a:p>
            <a:r>
              <a:t>报告位置：4.2.1</a:t>
            </a:r>
          </a:p>
          <a:p>
            <a:r>
              <a:t>技术内容沿用 ShaoWang-技术报告.docx 与原图源，依据 design-dossier.md D2.8、D16.3。设计参数不代表已测或已部署。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F-29 七项创新点总览</a:t>
            </a:r>
          </a:p>
          <a:p>
            <a:r>
              <a:t>报告位置：第五章开头</a:t>
            </a:r>
          </a:p>
          <a:p>
            <a:r>
              <a:t>技术内容沿用 ShaoWang-技术报告.docx 与原图源，依据 design-dossier.md D17。设计参数不代表已测或已部署。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F-30 评测体系总览</a:t>
            </a:r>
          </a:p>
          <a:p>
            <a:r>
              <a:t>报告位置：4.1</a:t>
            </a:r>
          </a:p>
          <a:p>
            <a:r>
              <a:t>技术内容沿用 ShaoWang-技术报告.docx 与原图源，依据 design-dossier.md D16。设计参数不代表已测或已部署。</a:t>
            </a:r>
          </a:p>
          <a:p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6B7E6C8-7507-478C-A7A5-7AFF6909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022600"/>
            <a:ext cx="9144000" cy="11557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540500C-634A-4172-BE08-00EACDB92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0" y="4400550"/>
            <a:ext cx="8001000" cy="889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A3A94B-D679-4D88-85C4-C34FC5CD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333750"/>
            <a:ext cx="9144000" cy="1333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E61A95D-FF5D-4DB4-B31C-99C4F8B03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622300"/>
            <a:ext cx="10144125" cy="977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634AB44-E874-4AED-B386-480240C1D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938" y="2222500"/>
            <a:ext cx="10144125" cy="497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D00F8FF-ECCF-4C0B-87F1-1A010CE5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622300"/>
            <a:ext cx="10144125" cy="977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E336312-38CE-4448-B13A-16B571C2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938" y="2222500"/>
            <a:ext cx="4714875" cy="497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5312DFD-413E-4461-A42C-2377E3C938D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72188" y="2222500"/>
            <a:ext cx="4714875" cy="497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1DF06D-C2AD-43D3-9F6C-05D0FAA7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622300"/>
            <a:ext cx="10144125" cy="977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8DDF5D8-88F0-4300-A2AA-A1BA5AC41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938" y="2222500"/>
            <a:ext cx="4714875" cy="497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F-01 - whole figure">
            <a:extLst>
              <a:ext uri="{FF2B5EF4-FFF2-40B4-BE49-F238E27FC236}">
                <a16:creationId xmlns:a16="http://schemas.microsoft.com/office/drawing/2014/main" id="{C1CEB1C3-18DA-1B03-61AE-2BBE5873A5D1}"/>
              </a:ext>
            </a:extLst>
          </p:cNvPr>
          <p:cNvGrpSpPr/>
          <p:nvPr/>
        </p:nvGrpSpPr>
        <p:grpSpPr>
          <a:xfrm>
            <a:off x="295275" y="1257300"/>
            <a:ext cx="10706100" cy="6705600"/>
            <a:chOff x="295275" y="1257300"/>
            <a:chExt cx="10706100" cy="6705600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9746CD20-0F68-4B7C-BFAD-B3DDE0B4946D}"/>
                </a:ext>
              </a:extLst>
            </p:cNvPr>
            <p:cNvCxnSpPr>
              <a:stCxn id="38" idx="3"/>
              <a:endCxn id="39" idx="1"/>
            </p:cNvCxnSpPr>
            <p:nvPr/>
          </p:nvCxnSpPr>
          <p:spPr>
            <a:xfrm flipH="1" flipV="1">
              <a:off x="295275" y="1648302"/>
              <a:ext cx="953" cy="5019675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E9ADD675-82EB-4CEB-A0FD-DBF072AF76A5}"/>
                </a:ext>
              </a:extLst>
            </p:cNvPr>
            <p:cNvCxnSpPr>
              <a:stCxn id="35" idx="3"/>
              <a:endCxn id="36" idx="1"/>
            </p:cNvCxnSpPr>
            <p:nvPr/>
          </p:nvCxnSpPr>
          <p:spPr>
            <a:xfrm flipH="1">
              <a:off x="8772525" y="1457802"/>
              <a:ext cx="953" cy="528637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</a:ln>
          </p:spPr>
        </p:cxnSp>
        <p:sp>
          <p:nvSpPr>
            <p:cNvPr id="42" name="layer surface">
              <a:extLst>
                <a:ext uri="{FF2B5EF4-FFF2-40B4-BE49-F238E27FC236}">
                  <a16:creationId xmlns:a16="http://schemas.microsoft.com/office/drawing/2014/main" id="{A741FC08-698E-462F-B2D7-FB5D62E45F95}"/>
                </a:ext>
              </a:extLst>
            </p:cNvPr>
            <p:cNvSpPr>
              <a:spLocks/>
            </p:cNvSpPr>
            <p:nvPr/>
          </p:nvSpPr>
          <p:spPr>
            <a:xfrm>
              <a:off x="571500" y="1257300"/>
              <a:ext cx="7905750" cy="171450"/>
            </a:xfrm>
            <a:custGeom>
              <a:avLst/>
              <a:gdLst/>
              <a:ahLst/>
              <a:cxnLst/>
              <a:rect l="0" t="0" r="0" b="0"/>
              <a:pathLst>
                <a:path w="7905750" h="171450">
                  <a:moveTo>
                    <a:pt x="0" y="0"/>
                  </a:moveTo>
                  <a:lnTo>
                    <a:pt x="7715250" y="0"/>
                  </a:lnTo>
                  <a:lnTo>
                    <a:pt x="7905750" y="171450"/>
                  </a:lnTo>
                  <a:lnTo>
                    <a:pt x="190500" y="171450"/>
                  </a:lnTo>
                  <a:close/>
                </a:path>
              </a:pathLst>
            </a:custGeom>
            <a:solidFill>
              <a:srgbClr val="D6EAF9"/>
            </a:solidFill>
            <a:ln w="9525">
              <a:solidFill>
                <a:srgbClr val="A6C4DB"/>
              </a:solidFill>
            </a:ln>
          </p:spPr>
        </p:sp>
        <p:sp>
          <p:nvSpPr>
            <p:cNvPr id="2" name="boundary">
              <a:extLst>
                <a:ext uri="{FF2B5EF4-FFF2-40B4-BE49-F238E27FC236}">
                  <a16:creationId xmlns:a16="http://schemas.microsoft.com/office/drawing/2014/main" id="{54680BF3-2EFE-4F81-A608-2616CA4ECD61}"/>
                </a:ext>
              </a:extLst>
            </p:cNvPr>
            <p:cNvSpPr>
              <a:spLocks/>
            </p:cNvSpPr>
            <p:nvPr/>
          </p:nvSpPr>
          <p:spPr>
            <a:xfrm>
              <a:off x="762000" y="1428750"/>
              <a:ext cx="7715250" cy="657225"/>
            </a:xfrm>
            <a:prstGeom prst="rect">
              <a:avLst/>
            </a:prstGeom>
            <a:solidFill>
              <a:srgbClr val="E0EFF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3" name="layer surface">
              <a:extLst>
                <a:ext uri="{FF2B5EF4-FFF2-40B4-BE49-F238E27FC236}">
                  <a16:creationId xmlns:a16="http://schemas.microsoft.com/office/drawing/2014/main" id="{8DC7AFAF-49E3-423C-B906-38B033D15E20}"/>
                </a:ext>
              </a:extLst>
            </p:cNvPr>
            <p:cNvSpPr>
              <a:spLocks/>
            </p:cNvSpPr>
            <p:nvPr/>
          </p:nvSpPr>
          <p:spPr>
            <a:xfrm>
              <a:off x="571500" y="1257300"/>
              <a:ext cx="190500" cy="828675"/>
            </a:xfrm>
            <a:custGeom>
              <a:avLst/>
              <a:gdLst/>
              <a:ahLst/>
              <a:cxnLst/>
              <a:rect l="0" t="0" r="0" b="0"/>
              <a:pathLst>
                <a:path w="190500" h="828675">
                  <a:moveTo>
                    <a:pt x="0" y="0"/>
                  </a:moveTo>
                  <a:lnTo>
                    <a:pt x="190500" y="171450"/>
                  </a:lnTo>
                  <a:lnTo>
                    <a:pt x="190500" y="82867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92C5EC"/>
            </a:solidFill>
            <a:ln w="9525">
              <a:solidFill>
                <a:srgbClr val="A6C4DB"/>
              </a:solidFill>
            </a:ln>
          </p:spPr>
        </p:sp>
        <p:sp>
          <p:nvSpPr>
            <p:cNvPr id="4" name="接入层">
              <a:extLst>
                <a:ext uri="{FF2B5EF4-FFF2-40B4-BE49-F238E27FC236}">
                  <a16:creationId xmlns:a16="http://schemas.microsoft.com/office/drawing/2014/main" id="{D2891CD8-1C02-41D7-9126-7E7F01F71912}"/>
                </a:ext>
              </a:extLst>
            </p:cNvPr>
            <p:cNvSpPr>
              <a:spLocks/>
            </p:cNvSpPr>
            <p:nvPr/>
          </p:nvSpPr>
          <p:spPr>
            <a:xfrm>
              <a:off x="885825" y="1543050"/>
              <a:ext cx="17526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45D8F"/>
                  </a:solidFill>
                </a:defRPr>
              </a:defPPr>
            </a:lstStyle>
            <a:p>
              <a:pPr algn="l">
                <a:defRPr sz="1800" b="1">
                  <a:solidFill>
                    <a:srgbClr val="245D8F"/>
                  </a:solidFill>
                </a:defRPr>
              </a:pPr>
              <a:r>
                <a:rPr sz="180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接入层</a:t>
              </a:r>
            </a:p>
          </p:txBody>
        </p:sp>
        <p:sp>
          <p:nvSpPr>
            <p:cNvPr id="5" name="Web / MCP 7 工具 / OpenAPI CLI / Agent Plugins">
              <a:extLst>
                <a:ext uri="{FF2B5EF4-FFF2-40B4-BE49-F238E27FC236}">
                  <a16:creationId xmlns:a16="http://schemas.microsoft.com/office/drawing/2014/main" id="{1DBF02A5-31C0-4C55-954B-7B764FF72A77}"/>
                </a:ext>
              </a:extLst>
            </p:cNvPr>
            <p:cNvSpPr>
              <a:spLocks/>
            </p:cNvSpPr>
            <p:nvPr/>
          </p:nvSpPr>
          <p:spPr>
            <a:xfrm>
              <a:off x="2762250" y="1466850"/>
              <a:ext cx="55626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Web / MCP 7 工具 / OpenAPI</a:t>
              </a:r>
            </a:p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CLI / Agent Plugins</a:t>
              </a:r>
            </a:p>
          </p:txBody>
        </p:sp>
        <p:sp>
          <p:nvSpPr>
            <p:cNvPr id="6" name="layer surface">
              <a:extLst>
                <a:ext uri="{FF2B5EF4-FFF2-40B4-BE49-F238E27FC236}">
                  <a16:creationId xmlns:a16="http://schemas.microsoft.com/office/drawing/2014/main" id="{F182FD59-8E73-4CED-96AE-E7889904EBB9}"/>
                </a:ext>
              </a:extLst>
            </p:cNvPr>
            <p:cNvSpPr>
              <a:spLocks/>
            </p:cNvSpPr>
            <p:nvPr/>
          </p:nvSpPr>
          <p:spPr>
            <a:xfrm>
              <a:off x="571500" y="2200275"/>
              <a:ext cx="7905750" cy="171450"/>
            </a:xfrm>
            <a:custGeom>
              <a:avLst/>
              <a:gdLst/>
              <a:ahLst/>
              <a:cxnLst/>
              <a:rect l="0" t="0" r="0" b="0"/>
              <a:pathLst>
                <a:path w="7905750" h="171450">
                  <a:moveTo>
                    <a:pt x="0" y="0"/>
                  </a:moveTo>
                  <a:lnTo>
                    <a:pt x="7715250" y="0"/>
                  </a:lnTo>
                  <a:lnTo>
                    <a:pt x="7905750" y="171450"/>
                  </a:lnTo>
                  <a:lnTo>
                    <a:pt x="190500" y="171450"/>
                  </a:lnTo>
                  <a:close/>
                </a:path>
              </a:pathLst>
            </a:custGeom>
            <a:solidFill>
              <a:srgbClr val="EAF4FC"/>
            </a:solidFill>
            <a:ln w="9525">
              <a:solidFill>
                <a:srgbClr val="A6C4DB"/>
              </a:solidFill>
            </a:ln>
          </p:spPr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4BEB08A5-BA76-42BF-BEC4-E5049833191E}"/>
                </a:ext>
              </a:extLst>
            </p:cNvPr>
            <p:cNvSpPr>
              <a:spLocks/>
            </p:cNvSpPr>
            <p:nvPr/>
          </p:nvSpPr>
          <p:spPr>
            <a:xfrm>
              <a:off x="762000" y="2371725"/>
              <a:ext cx="7715250" cy="657225"/>
            </a:xfrm>
            <a:prstGeom prst="rect">
              <a:avLst/>
            </a:prstGeom>
            <a:solidFill>
              <a:srgbClr val="ECF5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8" name="layer surface">
              <a:extLst>
                <a:ext uri="{FF2B5EF4-FFF2-40B4-BE49-F238E27FC236}">
                  <a16:creationId xmlns:a16="http://schemas.microsoft.com/office/drawing/2014/main" id="{B360E796-100B-4A5F-BC5D-29F2CED8F636}"/>
                </a:ext>
              </a:extLst>
            </p:cNvPr>
            <p:cNvSpPr>
              <a:spLocks/>
            </p:cNvSpPr>
            <p:nvPr/>
          </p:nvSpPr>
          <p:spPr>
            <a:xfrm>
              <a:off x="571500" y="2200275"/>
              <a:ext cx="190500" cy="828675"/>
            </a:xfrm>
            <a:custGeom>
              <a:avLst/>
              <a:gdLst/>
              <a:ahLst/>
              <a:cxnLst/>
              <a:rect l="0" t="0" r="0" b="0"/>
              <a:pathLst>
                <a:path w="190500" h="828675">
                  <a:moveTo>
                    <a:pt x="0" y="0"/>
                  </a:moveTo>
                  <a:lnTo>
                    <a:pt x="190500" y="171450"/>
                  </a:lnTo>
                  <a:lnTo>
                    <a:pt x="190500" y="82867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92C5EC"/>
            </a:solidFill>
            <a:ln w="9525">
              <a:solidFill>
                <a:srgbClr val="A6C4DB"/>
              </a:solidFill>
            </a:ln>
          </p:spPr>
        </p:sp>
        <p:sp>
          <p:nvSpPr>
            <p:cNvPr id="9" name="服务层">
              <a:extLst>
                <a:ext uri="{FF2B5EF4-FFF2-40B4-BE49-F238E27FC236}">
                  <a16:creationId xmlns:a16="http://schemas.microsoft.com/office/drawing/2014/main" id="{41D4EA43-0F21-4747-A7EC-AAF5374F08EB}"/>
                </a:ext>
              </a:extLst>
            </p:cNvPr>
            <p:cNvSpPr>
              <a:spLocks/>
            </p:cNvSpPr>
            <p:nvPr/>
          </p:nvSpPr>
          <p:spPr>
            <a:xfrm>
              <a:off x="885825" y="2486025"/>
              <a:ext cx="17526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45D8F"/>
                  </a:solidFill>
                </a:defRPr>
              </a:defPPr>
            </a:lstStyle>
            <a:p>
              <a:pPr algn="l">
                <a:defRPr sz="1800" b="1">
                  <a:solidFill>
                    <a:srgbClr val="245D8F"/>
                  </a:solidFill>
                </a:defRPr>
              </a:pPr>
              <a:r>
                <a:rPr sz="180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服务层</a:t>
              </a:r>
            </a:p>
          </p:txBody>
        </p:sp>
        <p:sp>
          <p:nvSpPr>
            <p:cNvPr id="10" name="intel-core    GraphRAG    鉴权与结果裁剪">
              <a:extLst>
                <a:ext uri="{FF2B5EF4-FFF2-40B4-BE49-F238E27FC236}">
                  <a16:creationId xmlns:a16="http://schemas.microsoft.com/office/drawing/2014/main" id="{168A7C08-678B-4E4C-9D7F-AF820F881AEF}"/>
                </a:ext>
              </a:extLst>
            </p:cNvPr>
            <p:cNvSpPr>
              <a:spLocks/>
            </p:cNvSpPr>
            <p:nvPr/>
          </p:nvSpPr>
          <p:spPr>
            <a:xfrm>
              <a:off x="2762250" y="2409825"/>
              <a:ext cx="55626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intel-core    GraphRAG    鉴权与结果裁剪</a:t>
              </a:r>
            </a:p>
          </p:txBody>
        </p:sp>
        <p:sp>
          <p:nvSpPr>
            <p:cNvPr id="11" name="layer surface">
              <a:extLst>
                <a:ext uri="{FF2B5EF4-FFF2-40B4-BE49-F238E27FC236}">
                  <a16:creationId xmlns:a16="http://schemas.microsoft.com/office/drawing/2014/main" id="{170168FF-FD79-42F5-8C31-17C4507BE757}"/>
                </a:ext>
              </a:extLst>
            </p:cNvPr>
            <p:cNvSpPr>
              <a:spLocks/>
            </p:cNvSpPr>
            <p:nvPr/>
          </p:nvSpPr>
          <p:spPr>
            <a:xfrm>
              <a:off x="571500" y="3143250"/>
              <a:ext cx="7905750" cy="171450"/>
            </a:xfrm>
            <a:custGeom>
              <a:avLst/>
              <a:gdLst/>
              <a:ahLst/>
              <a:cxnLst/>
              <a:rect l="0" t="0" r="0" b="0"/>
              <a:pathLst>
                <a:path w="7905750" h="171450">
                  <a:moveTo>
                    <a:pt x="0" y="0"/>
                  </a:moveTo>
                  <a:lnTo>
                    <a:pt x="7715250" y="0"/>
                  </a:lnTo>
                  <a:lnTo>
                    <a:pt x="7905750" y="171450"/>
                  </a:lnTo>
                  <a:lnTo>
                    <a:pt x="190500" y="171450"/>
                  </a:lnTo>
                  <a:close/>
                </a:path>
              </a:pathLst>
            </a:custGeom>
            <a:solidFill>
              <a:srgbClr val="D6EAF9"/>
            </a:solidFill>
            <a:ln w="9525">
              <a:solidFill>
                <a:srgbClr val="A6C4DB"/>
              </a:solidFill>
            </a:ln>
          </p:spPr>
        </p:sp>
        <p:sp>
          <p:nvSpPr>
            <p:cNvPr id="12" name="boundary">
              <a:extLst>
                <a:ext uri="{FF2B5EF4-FFF2-40B4-BE49-F238E27FC236}">
                  <a16:creationId xmlns:a16="http://schemas.microsoft.com/office/drawing/2014/main" id="{AA1D8480-EAA0-4DFE-9B8D-8705B9E37334}"/>
                </a:ext>
              </a:extLst>
            </p:cNvPr>
            <p:cNvSpPr>
              <a:spLocks/>
            </p:cNvSpPr>
            <p:nvPr/>
          </p:nvSpPr>
          <p:spPr>
            <a:xfrm>
              <a:off x="762000" y="3314700"/>
              <a:ext cx="7715250" cy="657225"/>
            </a:xfrm>
            <a:prstGeom prst="rect">
              <a:avLst/>
            </a:prstGeom>
            <a:solidFill>
              <a:srgbClr val="E0EFF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3" name="layer surface">
              <a:extLst>
                <a:ext uri="{FF2B5EF4-FFF2-40B4-BE49-F238E27FC236}">
                  <a16:creationId xmlns:a16="http://schemas.microsoft.com/office/drawing/2014/main" id="{3F4D5EEE-EFB5-4A82-A714-364384B410AA}"/>
                </a:ext>
              </a:extLst>
            </p:cNvPr>
            <p:cNvSpPr>
              <a:spLocks/>
            </p:cNvSpPr>
            <p:nvPr/>
          </p:nvSpPr>
          <p:spPr>
            <a:xfrm>
              <a:off x="571500" y="3143250"/>
              <a:ext cx="190500" cy="828675"/>
            </a:xfrm>
            <a:custGeom>
              <a:avLst/>
              <a:gdLst/>
              <a:ahLst/>
              <a:cxnLst/>
              <a:rect l="0" t="0" r="0" b="0"/>
              <a:pathLst>
                <a:path w="190500" h="828675">
                  <a:moveTo>
                    <a:pt x="0" y="0"/>
                  </a:moveTo>
                  <a:lnTo>
                    <a:pt x="190500" y="171450"/>
                  </a:lnTo>
                  <a:lnTo>
                    <a:pt x="190500" y="82867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92C5EC"/>
            </a:solidFill>
            <a:ln w="9525">
              <a:solidFill>
                <a:srgbClr val="A6C4DB"/>
              </a:solidFill>
            </a:ln>
          </p:spPr>
        </p:sp>
        <p:sp>
          <p:nvSpPr>
            <p:cNvPr id="14" name="智能体编排层">
              <a:extLst>
                <a:ext uri="{FF2B5EF4-FFF2-40B4-BE49-F238E27FC236}">
                  <a16:creationId xmlns:a16="http://schemas.microsoft.com/office/drawing/2014/main" id="{4082FF12-F2ED-4489-876A-92E0C5A2F11A}"/>
                </a:ext>
              </a:extLst>
            </p:cNvPr>
            <p:cNvSpPr>
              <a:spLocks/>
            </p:cNvSpPr>
            <p:nvPr/>
          </p:nvSpPr>
          <p:spPr>
            <a:xfrm>
              <a:off x="885825" y="3429000"/>
              <a:ext cx="17526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45D8F"/>
                  </a:solidFill>
                </a:defRPr>
              </a:defPPr>
            </a:lstStyle>
            <a:p>
              <a:pPr algn="l">
                <a:defRPr sz="1800" b="1">
                  <a:solidFill>
                    <a:srgbClr val="245D8F"/>
                  </a:solidFill>
                </a:defRPr>
              </a:pPr>
              <a:r>
                <a:rPr sz="180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智能体编排层</a:t>
              </a:r>
            </a:p>
          </p:txBody>
        </p:sp>
        <p:sp>
          <p:nvSpPr>
            <p:cNvPr id="15" name="Orchestrator + 8 个角色    LangGraph">
              <a:extLst>
                <a:ext uri="{FF2B5EF4-FFF2-40B4-BE49-F238E27FC236}">
                  <a16:creationId xmlns:a16="http://schemas.microsoft.com/office/drawing/2014/main" id="{F30E221F-AF6F-4A68-AC66-8F71CA0A3B9C}"/>
                </a:ext>
              </a:extLst>
            </p:cNvPr>
            <p:cNvSpPr>
              <a:spLocks/>
            </p:cNvSpPr>
            <p:nvPr/>
          </p:nvSpPr>
          <p:spPr>
            <a:xfrm>
              <a:off x="2762250" y="3352800"/>
              <a:ext cx="55626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Orchestrator + 8 个角色    LangGraph</a:t>
              </a:r>
            </a:p>
          </p:txBody>
        </p:sp>
        <p:sp>
          <p:nvSpPr>
            <p:cNvPr id="16" name="layer surface">
              <a:extLst>
                <a:ext uri="{FF2B5EF4-FFF2-40B4-BE49-F238E27FC236}">
                  <a16:creationId xmlns:a16="http://schemas.microsoft.com/office/drawing/2014/main" id="{7C432C97-1754-42C7-A24E-E7C76777D9E2}"/>
                </a:ext>
              </a:extLst>
            </p:cNvPr>
            <p:cNvSpPr>
              <a:spLocks/>
            </p:cNvSpPr>
            <p:nvPr/>
          </p:nvSpPr>
          <p:spPr>
            <a:xfrm>
              <a:off x="571500" y="4086225"/>
              <a:ext cx="7905750" cy="171450"/>
            </a:xfrm>
            <a:custGeom>
              <a:avLst/>
              <a:gdLst/>
              <a:ahLst/>
              <a:cxnLst/>
              <a:rect l="0" t="0" r="0" b="0"/>
              <a:pathLst>
                <a:path w="7905750" h="171450">
                  <a:moveTo>
                    <a:pt x="0" y="0"/>
                  </a:moveTo>
                  <a:lnTo>
                    <a:pt x="7715250" y="0"/>
                  </a:lnTo>
                  <a:lnTo>
                    <a:pt x="7905750" y="171450"/>
                  </a:lnTo>
                  <a:lnTo>
                    <a:pt x="190500" y="171450"/>
                  </a:lnTo>
                  <a:close/>
                </a:path>
              </a:pathLst>
            </a:custGeom>
            <a:solidFill>
              <a:srgbClr val="EAF4FC"/>
            </a:solidFill>
            <a:ln w="9525">
              <a:solidFill>
                <a:srgbClr val="A6C4DB"/>
              </a:solidFill>
            </a:ln>
          </p:spPr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21E04B75-62E5-4FAD-811A-56F29699E44D}"/>
                </a:ext>
              </a:extLst>
            </p:cNvPr>
            <p:cNvSpPr>
              <a:spLocks/>
            </p:cNvSpPr>
            <p:nvPr/>
          </p:nvSpPr>
          <p:spPr>
            <a:xfrm>
              <a:off x="762000" y="4257675"/>
              <a:ext cx="7715250" cy="657225"/>
            </a:xfrm>
            <a:prstGeom prst="rect">
              <a:avLst/>
            </a:prstGeom>
            <a:solidFill>
              <a:srgbClr val="D8EBCF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8" name="layer surface">
              <a:extLst>
                <a:ext uri="{FF2B5EF4-FFF2-40B4-BE49-F238E27FC236}">
                  <a16:creationId xmlns:a16="http://schemas.microsoft.com/office/drawing/2014/main" id="{BE5E254E-BC61-4AC6-ACF1-8A6443580ACE}"/>
                </a:ext>
              </a:extLst>
            </p:cNvPr>
            <p:cNvSpPr>
              <a:spLocks/>
            </p:cNvSpPr>
            <p:nvPr/>
          </p:nvSpPr>
          <p:spPr>
            <a:xfrm>
              <a:off x="571500" y="4086225"/>
              <a:ext cx="190500" cy="828675"/>
            </a:xfrm>
            <a:custGeom>
              <a:avLst/>
              <a:gdLst/>
              <a:ahLst/>
              <a:cxnLst/>
              <a:rect l="0" t="0" r="0" b="0"/>
              <a:pathLst>
                <a:path w="190500" h="828675">
                  <a:moveTo>
                    <a:pt x="0" y="0"/>
                  </a:moveTo>
                  <a:lnTo>
                    <a:pt x="190500" y="171450"/>
                  </a:lnTo>
                  <a:lnTo>
                    <a:pt x="190500" y="82867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92C5EC"/>
            </a:solidFill>
            <a:ln w="9525">
              <a:solidFill>
                <a:srgbClr val="A6C4DB"/>
              </a:solidFill>
            </a:ln>
          </p:spPr>
        </p:sp>
        <p:sp>
          <p:nvSpPr>
            <p:cNvPr id="19" name="知识层">
              <a:extLst>
                <a:ext uri="{FF2B5EF4-FFF2-40B4-BE49-F238E27FC236}">
                  <a16:creationId xmlns:a16="http://schemas.microsoft.com/office/drawing/2014/main" id="{1FF7B8D7-DE59-43D0-AA76-3187FCA961C3}"/>
                </a:ext>
              </a:extLst>
            </p:cNvPr>
            <p:cNvSpPr>
              <a:spLocks/>
            </p:cNvSpPr>
            <p:nvPr/>
          </p:nvSpPr>
          <p:spPr>
            <a:xfrm>
              <a:off x="885825" y="4371975"/>
              <a:ext cx="17526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45D8F"/>
                  </a:solidFill>
                </a:defRPr>
              </a:defPPr>
            </a:lstStyle>
            <a:p>
              <a:pPr algn="l">
                <a:defRPr sz="1800" b="1">
                  <a:solidFill>
                    <a:srgbClr val="245D8F"/>
                  </a:solidFill>
                </a:defRPr>
              </a:pPr>
              <a:r>
                <a:rPr sz="180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知识层</a:t>
              </a:r>
            </a:p>
          </p:txBody>
        </p:sp>
        <p:sp>
          <p:nvSpPr>
            <p:cNvPr id="20" name="PostgreSQL + pgvector    Neo4j    OpenSearch MinIO    Redis Streams 或 NATS JetStream">
              <a:extLst>
                <a:ext uri="{FF2B5EF4-FFF2-40B4-BE49-F238E27FC236}">
                  <a16:creationId xmlns:a16="http://schemas.microsoft.com/office/drawing/2014/main" id="{3154F97E-6136-45D9-A1A4-17B88DB5CB0B}"/>
                </a:ext>
              </a:extLst>
            </p:cNvPr>
            <p:cNvSpPr>
              <a:spLocks/>
            </p:cNvSpPr>
            <p:nvPr/>
          </p:nvSpPr>
          <p:spPr>
            <a:xfrm>
              <a:off x="2762250" y="4295775"/>
              <a:ext cx="55626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PostgreSQL + pgvector    Neo4j    OpenSearch</a:t>
              </a:r>
            </a:p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MinIO    Redis Streams 或 NATS JetStream</a:t>
              </a:r>
            </a:p>
          </p:txBody>
        </p:sp>
        <p:sp>
          <p:nvSpPr>
            <p:cNvPr id="21" name="layer surface">
              <a:extLst>
                <a:ext uri="{FF2B5EF4-FFF2-40B4-BE49-F238E27FC236}">
                  <a16:creationId xmlns:a16="http://schemas.microsoft.com/office/drawing/2014/main" id="{FDCAF821-02DA-4B78-A336-A8BE016E6D6D}"/>
                </a:ext>
              </a:extLst>
            </p:cNvPr>
            <p:cNvSpPr>
              <a:spLocks/>
            </p:cNvSpPr>
            <p:nvPr/>
          </p:nvSpPr>
          <p:spPr>
            <a:xfrm>
              <a:off x="571500" y="5029200"/>
              <a:ext cx="7905750" cy="171450"/>
            </a:xfrm>
            <a:custGeom>
              <a:avLst/>
              <a:gdLst/>
              <a:ahLst/>
              <a:cxnLst/>
              <a:rect l="0" t="0" r="0" b="0"/>
              <a:pathLst>
                <a:path w="7905750" h="171450">
                  <a:moveTo>
                    <a:pt x="0" y="0"/>
                  </a:moveTo>
                  <a:lnTo>
                    <a:pt x="7715250" y="0"/>
                  </a:lnTo>
                  <a:lnTo>
                    <a:pt x="7905750" y="171450"/>
                  </a:lnTo>
                  <a:lnTo>
                    <a:pt x="190500" y="171450"/>
                  </a:lnTo>
                  <a:close/>
                </a:path>
              </a:pathLst>
            </a:custGeom>
            <a:solidFill>
              <a:srgbClr val="D6EAF9"/>
            </a:solidFill>
            <a:ln w="9525">
              <a:solidFill>
                <a:srgbClr val="A6C4DB"/>
              </a:solidFill>
            </a:ln>
          </p:spPr>
        </p:sp>
        <p:sp>
          <p:nvSpPr>
            <p:cNvPr id="22" name="boundary">
              <a:extLst>
                <a:ext uri="{FF2B5EF4-FFF2-40B4-BE49-F238E27FC236}">
                  <a16:creationId xmlns:a16="http://schemas.microsoft.com/office/drawing/2014/main" id="{C75EEF06-7FF2-4589-A8D4-77B42552A56E}"/>
                </a:ext>
              </a:extLst>
            </p:cNvPr>
            <p:cNvSpPr>
              <a:spLocks/>
            </p:cNvSpPr>
            <p:nvPr/>
          </p:nvSpPr>
          <p:spPr>
            <a:xfrm>
              <a:off x="762000" y="5200650"/>
              <a:ext cx="7715250" cy="657225"/>
            </a:xfrm>
            <a:prstGeom prst="rect">
              <a:avLst/>
            </a:prstGeom>
            <a:solidFill>
              <a:srgbClr val="E0EFF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3" name="layer surface">
              <a:extLst>
                <a:ext uri="{FF2B5EF4-FFF2-40B4-BE49-F238E27FC236}">
                  <a16:creationId xmlns:a16="http://schemas.microsoft.com/office/drawing/2014/main" id="{6FC62075-AFF1-47D5-9677-91FE014EF7A5}"/>
                </a:ext>
              </a:extLst>
            </p:cNvPr>
            <p:cNvSpPr>
              <a:spLocks/>
            </p:cNvSpPr>
            <p:nvPr/>
          </p:nvSpPr>
          <p:spPr>
            <a:xfrm>
              <a:off x="571500" y="5029200"/>
              <a:ext cx="190500" cy="828675"/>
            </a:xfrm>
            <a:custGeom>
              <a:avLst/>
              <a:gdLst/>
              <a:ahLst/>
              <a:cxnLst/>
              <a:rect l="0" t="0" r="0" b="0"/>
              <a:pathLst>
                <a:path w="190500" h="828675">
                  <a:moveTo>
                    <a:pt x="0" y="0"/>
                  </a:moveTo>
                  <a:lnTo>
                    <a:pt x="190500" y="171450"/>
                  </a:lnTo>
                  <a:lnTo>
                    <a:pt x="190500" y="82867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92C5EC"/>
            </a:solidFill>
            <a:ln w="9525">
              <a:solidFill>
                <a:srgbClr val="A6C4DB"/>
              </a:solidFill>
            </a:ln>
          </p:spPr>
        </p:sp>
        <p:sp>
          <p:nvSpPr>
            <p:cNvPr id="24" name="采集层">
              <a:extLst>
                <a:ext uri="{FF2B5EF4-FFF2-40B4-BE49-F238E27FC236}">
                  <a16:creationId xmlns:a16="http://schemas.microsoft.com/office/drawing/2014/main" id="{41F13174-27A6-451A-823A-C44CE93C153D}"/>
                </a:ext>
              </a:extLst>
            </p:cNvPr>
            <p:cNvSpPr>
              <a:spLocks/>
            </p:cNvSpPr>
            <p:nvPr/>
          </p:nvSpPr>
          <p:spPr>
            <a:xfrm>
              <a:off x="885825" y="5314950"/>
              <a:ext cx="17526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45D8F"/>
                  </a:solidFill>
                </a:defRPr>
              </a:defPPr>
            </a:lstStyle>
            <a:p>
              <a:pPr algn="l">
                <a:defRPr sz="1800" b="1">
                  <a:solidFill>
                    <a:srgbClr val="245D8F"/>
                  </a:solidFill>
                </a:defRPr>
              </a:pPr>
              <a:r>
                <a:rPr sz="180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采集层</a:t>
              </a:r>
            </a:p>
          </p:txBody>
        </p:sp>
        <p:sp>
          <p:nvSpPr>
            <p:cNvPr id="25" name="Connector × N    自有仓库 webhook">
              <a:extLst>
                <a:ext uri="{FF2B5EF4-FFF2-40B4-BE49-F238E27FC236}">
                  <a16:creationId xmlns:a16="http://schemas.microsoft.com/office/drawing/2014/main" id="{0CCB844C-A4B2-4C5F-B8B9-20B6635A515B}"/>
                </a:ext>
              </a:extLst>
            </p:cNvPr>
            <p:cNvSpPr>
              <a:spLocks/>
            </p:cNvSpPr>
            <p:nvPr/>
          </p:nvSpPr>
          <p:spPr>
            <a:xfrm>
              <a:off x="2762250" y="5238750"/>
              <a:ext cx="55626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Connector × N    自有仓库 webhook</a:t>
              </a:r>
            </a:p>
          </p:txBody>
        </p:sp>
        <p:sp>
          <p:nvSpPr>
            <p:cNvPr id="26" name="layer surface">
              <a:extLst>
                <a:ext uri="{FF2B5EF4-FFF2-40B4-BE49-F238E27FC236}">
                  <a16:creationId xmlns:a16="http://schemas.microsoft.com/office/drawing/2014/main" id="{3CB13995-091F-4FF4-A7F4-9FEBA018F780}"/>
                </a:ext>
              </a:extLst>
            </p:cNvPr>
            <p:cNvSpPr>
              <a:spLocks/>
            </p:cNvSpPr>
            <p:nvPr/>
          </p:nvSpPr>
          <p:spPr>
            <a:xfrm>
              <a:off x="571500" y="5972175"/>
              <a:ext cx="7905750" cy="171450"/>
            </a:xfrm>
            <a:custGeom>
              <a:avLst/>
              <a:gdLst/>
              <a:ahLst/>
              <a:cxnLst/>
              <a:rect l="0" t="0" r="0" b="0"/>
              <a:pathLst>
                <a:path w="7905750" h="171450">
                  <a:moveTo>
                    <a:pt x="0" y="0"/>
                  </a:moveTo>
                  <a:lnTo>
                    <a:pt x="7715250" y="0"/>
                  </a:lnTo>
                  <a:lnTo>
                    <a:pt x="7905750" y="171450"/>
                  </a:lnTo>
                  <a:lnTo>
                    <a:pt x="190500" y="171450"/>
                  </a:lnTo>
                  <a:close/>
                </a:path>
              </a:pathLst>
            </a:custGeom>
            <a:solidFill>
              <a:srgbClr val="EAF4FC"/>
            </a:solidFill>
            <a:ln w="9525">
              <a:solidFill>
                <a:srgbClr val="A6C4DB"/>
              </a:solidFill>
            </a:ln>
          </p:spPr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622AE6E5-E806-481F-B9B5-EC15C3F7636F}"/>
                </a:ext>
              </a:extLst>
            </p:cNvPr>
            <p:cNvSpPr>
              <a:spLocks/>
            </p:cNvSpPr>
            <p:nvPr/>
          </p:nvSpPr>
          <p:spPr>
            <a:xfrm>
              <a:off x="762000" y="6143625"/>
              <a:ext cx="7715250" cy="657225"/>
            </a:xfrm>
            <a:prstGeom prst="rect">
              <a:avLst/>
            </a:prstGeom>
            <a:solidFill>
              <a:srgbClr val="ECF5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8" name="layer surface">
              <a:extLst>
                <a:ext uri="{FF2B5EF4-FFF2-40B4-BE49-F238E27FC236}">
                  <a16:creationId xmlns:a16="http://schemas.microsoft.com/office/drawing/2014/main" id="{E4F65D23-08B1-463C-837E-208E6612CAA6}"/>
                </a:ext>
              </a:extLst>
            </p:cNvPr>
            <p:cNvSpPr>
              <a:spLocks/>
            </p:cNvSpPr>
            <p:nvPr/>
          </p:nvSpPr>
          <p:spPr>
            <a:xfrm>
              <a:off x="571500" y="5972175"/>
              <a:ext cx="190500" cy="828675"/>
            </a:xfrm>
            <a:custGeom>
              <a:avLst/>
              <a:gdLst/>
              <a:ahLst/>
              <a:cxnLst/>
              <a:rect l="0" t="0" r="0" b="0"/>
              <a:pathLst>
                <a:path w="190500" h="828675">
                  <a:moveTo>
                    <a:pt x="0" y="0"/>
                  </a:moveTo>
                  <a:lnTo>
                    <a:pt x="190500" y="171450"/>
                  </a:lnTo>
                  <a:lnTo>
                    <a:pt x="190500" y="82867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92C5EC"/>
            </a:solidFill>
            <a:ln w="9525">
              <a:solidFill>
                <a:srgbClr val="A6C4DB"/>
              </a:solidFill>
            </a:ln>
          </p:spPr>
        </p:sp>
        <p:sp>
          <p:nvSpPr>
            <p:cNvPr id="29" name="数据源层">
              <a:extLst>
                <a:ext uri="{FF2B5EF4-FFF2-40B4-BE49-F238E27FC236}">
                  <a16:creationId xmlns:a16="http://schemas.microsoft.com/office/drawing/2014/main" id="{584ACB85-509F-454B-9F9A-17D864AD15A4}"/>
                </a:ext>
              </a:extLst>
            </p:cNvPr>
            <p:cNvSpPr>
              <a:spLocks/>
            </p:cNvSpPr>
            <p:nvPr/>
          </p:nvSpPr>
          <p:spPr>
            <a:xfrm>
              <a:off x="885825" y="6257925"/>
              <a:ext cx="17526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45D8F"/>
                  </a:solidFill>
                </a:defRPr>
              </a:defPPr>
            </a:lstStyle>
            <a:p>
              <a:pPr algn="l">
                <a:defRPr sz="1800" b="1">
                  <a:solidFill>
                    <a:srgbClr val="245D8F"/>
                  </a:solidFill>
                </a:defRPr>
              </a:pPr>
              <a:r>
                <a:rPr sz="180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数据源层</a:t>
              </a:r>
            </a:p>
          </p:txBody>
        </p:sp>
        <p:sp>
          <p:nvSpPr>
            <p:cNvPr id="30" name="9 类来源    三级可信度    分级轮询">
              <a:extLst>
                <a:ext uri="{FF2B5EF4-FFF2-40B4-BE49-F238E27FC236}">
                  <a16:creationId xmlns:a16="http://schemas.microsoft.com/office/drawing/2014/main" id="{41A67165-97F6-4C6E-9FCB-2CE8BFA2049E}"/>
                </a:ext>
              </a:extLst>
            </p:cNvPr>
            <p:cNvSpPr>
              <a:spLocks/>
            </p:cNvSpPr>
            <p:nvPr/>
          </p:nvSpPr>
          <p:spPr>
            <a:xfrm>
              <a:off x="2762250" y="6181725"/>
              <a:ext cx="55626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9 类来源    三级可信度    分级轮询</a:t>
              </a:r>
            </a:p>
          </p:txBody>
        </p:sp>
        <p:sp>
          <p:nvSpPr>
            <p:cNvPr id="31" name="时效可观测">
              <a:extLst>
                <a:ext uri="{FF2B5EF4-FFF2-40B4-BE49-F238E27FC236}">
                  <a16:creationId xmlns:a16="http://schemas.microsoft.com/office/drawing/2014/main" id="{DC4741C8-BA73-4607-88A8-12A649F83BD2}"/>
                </a:ext>
              </a:extLst>
            </p:cNvPr>
            <p:cNvSpPr>
              <a:spLocks/>
            </p:cNvSpPr>
            <p:nvPr/>
          </p:nvSpPr>
          <p:spPr>
            <a:xfrm>
              <a:off x="9105900" y="1428750"/>
              <a:ext cx="1714500" cy="990600"/>
            </a:xfrm>
            <a:prstGeom prst="roundRect">
              <a:avLst>
                <a:gd name="adj" fmla="val 384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33E54"/>
                  </a:solidFill>
                </a:defRPr>
              </a:pPr>
              <a:r>
                <a:rPr sz="187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时效可观测</a:t>
              </a:r>
            </a:p>
          </p:txBody>
        </p:sp>
        <p:sp>
          <p:nvSpPr>
            <p:cNvPr id="32" name="可信与裁决">
              <a:extLst>
                <a:ext uri="{FF2B5EF4-FFF2-40B4-BE49-F238E27FC236}">
                  <a16:creationId xmlns:a16="http://schemas.microsoft.com/office/drawing/2014/main" id="{CB7E9C89-D705-4623-86A1-18607D5E64F3}"/>
                </a:ext>
              </a:extLst>
            </p:cNvPr>
            <p:cNvSpPr>
              <a:spLocks/>
            </p:cNvSpPr>
            <p:nvPr/>
          </p:nvSpPr>
          <p:spPr>
            <a:xfrm>
              <a:off x="9105900" y="2790825"/>
              <a:ext cx="1714500" cy="990600"/>
            </a:xfrm>
            <a:prstGeom prst="roundRect">
              <a:avLst>
                <a:gd name="adj" fmla="val 384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33E54"/>
                  </a:solidFill>
                </a:defRPr>
              </a:pPr>
              <a:r>
                <a:rPr sz="187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可信与裁决</a:t>
              </a:r>
            </a:p>
          </p:txBody>
        </p:sp>
        <p:sp>
          <p:nvSpPr>
            <p:cNvPr id="33" name="合规边界">
              <a:extLst>
                <a:ext uri="{FF2B5EF4-FFF2-40B4-BE49-F238E27FC236}">
                  <a16:creationId xmlns:a16="http://schemas.microsoft.com/office/drawing/2014/main" id="{0EF3A6AC-759D-4AD4-BEBB-0B7E4B3452CA}"/>
                </a:ext>
              </a:extLst>
            </p:cNvPr>
            <p:cNvSpPr>
              <a:spLocks/>
            </p:cNvSpPr>
            <p:nvPr/>
          </p:nvSpPr>
          <p:spPr>
            <a:xfrm>
              <a:off x="9105900" y="4152900"/>
              <a:ext cx="1714500" cy="990600"/>
            </a:xfrm>
            <a:prstGeom prst="roundRect">
              <a:avLst>
                <a:gd name="adj" fmla="val 3846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33E54"/>
                  </a:solidFill>
                </a:defRPr>
              </a:pPr>
              <a:r>
                <a:rPr sz="187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合规边界</a:t>
              </a:r>
            </a:p>
          </p:txBody>
        </p:sp>
        <p:sp>
          <p:nvSpPr>
            <p:cNvPr id="34" name="开放生态">
              <a:extLst>
                <a:ext uri="{FF2B5EF4-FFF2-40B4-BE49-F238E27FC236}">
                  <a16:creationId xmlns:a16="http://schemas.microsoft.com/office/drawing/2014/main" id="{5A6AAF34-4EC0-4FE6-826C-64A85D104F34}"/>
                </a:ext>
              </a:extLst>
            </p:cNvPr>
            <p:cNvSpPr>
              <a:spLocks/>
            </p:cNvSpPr>
            <p:nvPr/>
          </p:nvSpPr>
          <p:spPr>
            <a:xfrm>
              <a:off x="9105900" y="5514975"/>
              <a:ext cx="1714500" cy="990600"/>
            </a:xfrm>
            <a:prstGeom prst="roundRect">
              <a:avLst>
                <a:gd name="adj" fmla="val 384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33E54"/>
                  </a:solidFill>
                </a:defRPr>
              </a:pPr>
              <a:r>
                <a:rPr sz="187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开放生态</a:t>
              </a:r>
            </a:p>
          </p:txBody>
        </p:sp>
        <p:sp>
          <p:nvSpPr>
            <p:cNvPr id="35" name="boundary">
              <a:extLst>
                <a:ext uri="{FF2B5EF4-FFF2-40B4-BE49-F238E27FC236}">
                  <a16:creationId xmlns:a16="http://schemas.microsoft.com/office/drawing/2014/main" id="{B7F882C2-1A90-43D1-A3CF-9CEEE21ED59D}"/>
                </a:ext>
              </a:extLst>
            </p:cNvPr>
            <p:cNvSpPr>
              <a:spLocks/>
            </p:cNvSpPr>
            <p:nvPr/>
          </p:nvSpPr>
          <p:spPr>
            <a:xfrm>
              <a:off x="8772525" y="14573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6" name="boundary">
              <a:extLst>
                <a:ext uri="{FF2B5EF4-FFF2-40B4-BE49-F238E27FC236}">
                  <a16:creationId xmlns:a16="http://schemas.microsoft.com/office/drawing/2014/main" id="{DD47DF7B-F767-4DEC-AA5A-51196C7E24A3}"/>
                </a:ext>
              </a:extLst>
            </p:cNvPr>
            <p:cNvSpPr>
              <a:spLocks/>
            </p:cNvSpPr>
            <p:nvPr/>
          </p:nvSpPr>
          <p:spPr>
            <a:xfrm>
              <a:off x="8772525" y="67437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boundary">
              <a:extLst>
                <a:ext uri="{FF2B5EF4-FFF2-40B4-BE49-F238E27FC236}">
                  <a16:creationId xmlns:a16="http://schemas.microsoft.com/office/drawing/2014/main" id="{9E602BBB-EB30-4D52-B872-83B327DA3A26}"/>
                </a:ext>
              </a:extLst>
            </p:cNvPr>
            <p:cNvSpPr>
              <a:spLocks/>
            </p:cNvSpPr>
            <p:nvPr/>
          </p:nvSpPr>
          <p:spPr>
            <a:xfrm>
              <a:off x="295275" y="6667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9" name="boundary">
              <a:extLst>
                <a:ext uri="{FF2B5EF4-FFF2-40B4-BE49-F238E27FC236}">
                  <a16:creationId xmlns:a16="http://schemas.microsoft.com/office/drawing/2014/main" id="{AD9E0914-8FDD-40E2-9496-5E7590B0C94D}"/>
                </a:ext>
              </a:extLst>
            </p:cNvPr>
            <p:cNvSpPr>
              <a:spLocks/>
            </p:cNvSpPr>
            <p:nvPr/>
          </p:nvSpPr>
          <p:spPr>
            <a:xfrm>
              <a:off x="295275" y="16478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1" name="PostgreSQL 是事实源；outbox 同步图库与全文索引">
              <a:extLst>
                <a:ext uri="{FF2B5EF4-FFF2-40B4-BE49-F238E27FC236}">
                  <a16:creationId xmlns:a16="http://schemas.microsoft.com/office/drawing/2014/main" id="{FDE54AA7-FE5A-4A46-9C41-9C9F28736BD4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PostgreSQL 是事实源；outbox 同步图库与全文索引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31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F-02 - whole figure">
            <a:extLst>
              <a:ext uri="{FF2B5EF4-FFF2-40B4-BE49-F238E27FC236}">
                <a16:creationId xmlns:a16="http://schemas.microsoft.com/office/drawing/2014/main" id="{810720B3-E1A0-C2EE-CDAF-F3759095F130}"/>
              </a:ext>
            </a:extLst>
          </p:cNvPr>
          <p:cNvGrpSpPr/>
          <p:nvPr/>
        </p:nvGrpSpPr>
        <p:grpSpPr>
          <a:xfrm>
            <a:off x="428625" y="1190625"/>
            <a:ext cx="10572750" cy="6772275"/>
            <a:chOff x="428625" y="1190625"/>
            <a:chExt cx="10572750" cy="6772275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C433FB8-DAC5-4942-B8FF-8591EF48E188}"/>
                </a:ext>
              </a:extLst>
            </p:cNvPr>
            <p:cNvCxnSpPr>
              <a:stCxn id="10" idx="3"/>
              <a:endCxn id="7" idx="0"/>
            </p:cNvCxnSpPr>
            <p:nvPr/>
          </p:nvCxnSpPr>
          <p:spPr>
            <a:xfrm>
              <a:off x="5715000" y="4610100"/>
              <a:ext cx="0" cy="923925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09F2A4C3-CAB4-4C75-B1FF-A766C3E165D1}"/>
                </a:ext>
              </a:extLst>
            </p:cNvPr>
            <p:cNvCxnSpPr>
              <a:stCxn id="10" idx="4"/>
              <a:endCxn id="4" idx="1"/>
            </p:cNvCxnSpPr>
            <p:nvPr/>
          </p:nvCxnSpPr>
          <p:spPr>
            <a:xfrm flipV="1">
              <a:off x="7381875" y="2714625"/>
              <a:ext cx="714375" cy="1133475"/>
            </a:xfrm>
            <a:prstGeom prst="straightConnector1">
              <a:avLst/>
            </a:prstGeom>
            <a:ln w="22860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7C39189-B8BA-4008-9215-23D41C0BEA79}"/>
                </a:ext>
              </a:extLst>
            </p:cNvPr>
            <p:cNvCxnSpPr>
              <a:stCxn id="36" idx="3"/>
              <a:endCxn id="10" idx="2"/>
            </p:cNvCxnSpPr>
            <p:nvPr/>
          </p:nvCxnSpPr>
          <p:spPr>
            <a:xfrm>
              <a:off x="3333750" y="2714625"/>
              <a:ext cx="714375" cy="1133475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D1560A61-331C-43E4-BC6D-5EBC5CB4CB73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 flipH="1" flipV="1">
              <a:off x="2047875" y="3429477"/>
              <a:ext cx="953" cy="281940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041CEF44-2F78-4018-8851-A4543C0AA5FF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 flipH="1">
              <a:off x="2047875" y="6248877"/>
              <a:ext cx="23822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C7332DBD-327D-4974-8122-8FB13A558E81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 flipH="1">
              <a:off x="7000875" y="6248877"/>
              <a:ext cx="2382203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51E42E3-826E-427A-8E61-73652819495A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 flipH="1">
              <a:off x="9382125" y="3429477"/>
              <a:ext cx="953" cy="281940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8B445F50-95C0-491B-BE19-E18565F67B96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3334703" y="2286477"/>
              <a:ext cx="476154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36" name="boundary">
              <a:extLst>
                <a:ext uri="{FF2B5EF4-FFF2-40B4-BE49-F238E27FC236}">
                  <a16:creationId xmlns:a16="http://schemas.microsoft.com/office/drawing/2014/main" id="{E1063764-EE31-4CCD-B9DB-8DE71ABD4CAA}"/>
                </a:ext>
              </a:extLst>
            </p:cNvPr>
            <p:cNvSpPr>
              <a:spLocks/>
            </p:cNvSpPr>
            <p:nvPr/>
          </p:nvSpPr>
          <p:spPr>
            <a:xfrm>
              <a:off x="762000" y="2000250"/>
              <a:ext cx="2571750" cy="1428750"/>
            </a:xfrm>
            <a:prstGeom prst="roundRect">
              <a:avLst>
                <a:gd name="adj" fmla="val 2667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" name="监测">
              <a:extLst>
                <a:ext uri="{FF2B5EF4-FFF2-40B4-BE49-F238E27FC236}">
                  <a16:creationId xmlns:a16="http://schemas.microsoft.com/office/drawing/2014/main" id="{F6897AE9-65DF-42BB-851D-FD3CE98B5064}"/>
                </a:ext>
              </a:extLst>
            </p:cNvPr>
            <p:cNvSpPr>
              <a:spLocks/>
            </p:cNvSpPr>
            <p:nvPr/>
          </p:nvSpPr>
          <p:spPr>
            <a:xfrm>
              <a:off x="857250" y="2095500"/>
              <a:ext cx="2381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监测</a:t>
              </a:r>
            </a:p>
          </p:txBody>
        </p:sp>
        <p:sp>
          <p:nvSpPr>
            <p:cNvPr id="3" name="9 类来源 持续发现与归一">
              <a:extLst>
                <a:ext uri="{FF2B5EF4-FFF2-40B4-BE49-F238E27FC236}">
                  <a16:creationId xmlns:a16="http://schemas.microsoft.com/office/drawing/2014/main" id="{3D5D1D6F-46DF-4FBE-9BD4-020334C2BBAE}"/>
                </a:ext>
              </a:extLst>
            </p:cNvPr>
            <p:cNvSpPr>
              <a:spLocks/>
            </p:cNvSpPr>
            <p:nvPr/>
          </p:nvSpPr>
          <p:spPr>
            <a:xfrm>
              <a:off x="876300" y="2524125"/>
              <a:ext cx="2343150" cy="809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9 类来源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持续发现与归一</a:t>
              </a:r>
            </a:p>
          </p:txBody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45FFC935-3B78-43D3-B404-67293ED3ACD6}"/>
                </a:ext>
              </a:extLst>
            </p:cNvPr>
            <p:cNvSpPr>
              <a:spLocks/>
            </p:cNvSpPr>
            <p:nvPr/>
          </p:nvSpPr>
          <p:spPr>
            <a:xfrm>
              <a:off x="8096250" y="2000250"/>
              <a:ext cx="2571750" cy="1428750"/>
            </a:xfrm>
            <a:prstGeom prst="roundRect">
              <a:avLst>
                <a:gd name="adj" fmla="val 2667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5" name="富化">
              <a:extLst>
                <a:ext uri="{FF2B5EF4-FFF2-40B4-BE49-F238E27FC236}">
                  <a16:creationId xmlns:a16="http://schemas.microsoft.com/office/drawing/2014/main" id="{74018A57-FA91-4BC6-BCB0-26AF4BF78692}"/>
                </a:ext>
              </a:extLst>
            </p:cNvPr>
            <p:cNvSpPr>
              <a:spLocks/>
            </p:cNvSpPr>
            <p:nvPr/>
          </p:nvSpPr>
          <p:spPr>
            <a:xfrm>
              <a:off x="8191500" y="2095500"/>
              <a:ext cx="2381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富化</a:t>
              </a:r>
            </a:p>
          </p:txBody>
        </p:sp>
        <p:sp>
          <p:nvSpPr>
            <p:cNvPr id="6" name="9 个维度 实体、关系与证据">
              <a:extLst>
                <a:ext uri="{FF2B5EF4-FFF2-40B4-BE49-F238E27FC236}">
                  <a16:creationId xmlns:a16="http://schemas.microsoft.com/office/drawing/2014/main" id="{0C1EFD6A-A8AB-4C3A-A62B-4DF898670681}"/>
                </a:ext>
              </a:extLst>
            </p:cNvPr>
            <p:cNvSpPr>
              <a:spLocks/>
            </p:cNvSpPr>
            <p:nvPr/>
          </p:nvSpPr>
          <p:spPr>
            <a:xfrm>
              <a:off x="8210550" y="2524125"/>
              <a:ext cx="2343150" cy="809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9 个维度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实体、关系与证据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A6E783B9-37D6-4E80-B8F0-6AE87F3960F1}"/>
                </a:ext>
              </a:extLst>
            </p:cNvPr>
            <p:cNvSpPr>
              <a:spLocks/>
            </p:cNvSpPr>
            <p:nvPr/>
          </p:nvSpPr>
          <p:spPr>
            <a:xfrm>
              <a:off x="4429125" y="5534025"/>
              <a:ext cx="2571750" cy="1428750"/>
            </a:xfrm>
            <a:prstGeom prst="roundRect">
              <a:avLst>
                <a:gd name="adj" fmla="val 2667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8" name="问答">
              <a:extLst>
                <a:ext uri="{FF2B5EF4-FFF2-40B4-BE49-F238E27FC236}">
                  <a16:creationId xmlns:a16="http://schemas.microsoft.com/office/drawing/2014/main" id="{6391CBB7-B47F-41BA-9807-D3A6A9F31881}"/>
                </a:ext>
              </a:extLst>
            </p:cNvPr>
            <p:cNvSpPr>
              <a:spLocks/>
            </p:cNvSpPr>
            <p:nvPr/>
          </p:nvSpPr>
          <p:spPr>
            <a:xfrm>
              <a:off x="4524375" y="5629275"/>
              <a:ext cx="2381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问答</a:t>
              </a:r>
            </a:p>
          </p:txBody>
        </p:sp>
        <p:sp>
          <p:nvSpPr>
            <p:cNvPr id="9" name="逐句引用 回答与版本自查">
              <a:extLst>
                <a:ext uri="{FF2B5EF4-FFF2-40B4-BE49-F238E27FC236}">
                  <a16:creationId xmlns:a16="http://schemas.microsoft.com/office/drawing/2014/main" id="{97537567-B677-4054-86A4-AB060500C4A6}"/>
                </a:ext>
              </a:extLst>
            </p:cNvPr>
            <p:cNvSpPr>
              <a:spLocks/>
            </p:cNvSpPr>
            <p:nvPr/>
          </p:nvSpPr>
          <p:spPr>
            <a:xfrm>
              <a:off x="4543425" y="6057900"/>
              <a:ext cx="2343150" cy="809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逐句引用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回答与版本自查</a:t>
              </a:r>
            </a:p>
          </p:txBody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BD9E6BC6-33D6-4595-81B0-04808EBBBF95}"/>
                </a:ext>
              </a:extLst>
            </p:cNvPr>
            <p:cNvSpPr>
              <a:spLocks/>
            </p:cNvSpPr>
            <p:nvPr/>
          </p:nvSpPr>
          <p:spPr>
            <a:xfrm>
              <a:off x="4048125" y="3086100"/>
              <a:ext cx="3333750" cy="1524000"/>
            </a:xfrm>
            <a:prstGeom prst="can">
              <a:avLst/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1" name="知识图谱与事实库">
              <a:extLst>
                <a:ext uri="{FF2B5EF4-FFF2-40B4-BE49-F238E27FC236}">
                  <a16:creationId xmlns:a16="http://schemas.microsoft.com/office/drawing/2014/main" id="{D697FC79-752A-4FDA-807C-8A7BC2167CCD}"/>
                </a:ext>
              </a:extLst>
            </p:cNvPr>
            <p:cNvSpPr>
              <a:spLocks/>
            </p:cNvSpPr>
            <p:nvPr/>
          </p:nvSpPr>
          <p:spPr>
            <a:xfrm>
              <a:off x="4143375" y="3371850"/>
              <a:ext cx="3143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知识图谱与事实库</a:t>
              </a:r>
            </a:p>
          </p:txBody>
        </p:sp>
        <p:sp>
          <p:nvSpPr>
            <p:cNvPr id="12" name="事实版本与可追溯证据">
              <a:extLst>
                <a:ext uri="{FF2B5EF4-FFF2-40B4-BE49-F238E27FC236}">
                  <a16:creationId xmlns:a16="http://schemas.microsoft.com/office/drawing/2014/main" id="{65CAAF43-441D-4F4B-9FDB-435CA30C5A01}"/>
                </a:ext>
              </a:extLst>
            </p:cNvPr>
            <p:cNvSpPr>
              <a:spLocks/>
            </p:cNvSpPr>
            <p:nvPr/>
          </p:nvSpPr>
          <p:spPr>
            <a:xfrm>
              <a:off x="4162425" y="3800475"/>
              <a:ext cx="31051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事实版本与可追溯证据</a:t>
              </a:r>
            </a:p>
          </p:txBody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4CBF5DD9-6CAE-4815-8AC2-68E876FDEC6E}"/>
                </a:ext>
              </a:extLst>
            </p:cNvPr>
            <p:cNvSpPr>
              <a:spLocks/>
            </p:cNvSpPr>
            <p:nvPr/>
          </p:nvSpPr>
          <p:spPr>
            <a:xfrm>
              <a:off x="3333750" y="2286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AF4B77D7-360A-4594-91F3-D15006643313}"/>
                </a:ext>
              </a:extLst>
            </p:cNvPr>
            <p:cNvSpPr>
              <a:spLocks/>
            </p:cNvSpPr>
            <p:nvPr/>
          </p:nvSpPr>
          <p:spPr>
            <a:xfrm>
              <a:off x="8096250" y="2286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归并后的事件">
              <a:extLst>
                <a:ext uri="{FF2B5EF4-FFF2-40B4-BE49-F238E27FC236}">
                  <a16:creationId xmlns:a16="http://schemas.microsoft.com/office/drawing/2014/main" id="{E2067BC6-0D6C-4179-8F94-A8C08BE32081}"/>
                </a:ext>
              </a:extLst>
            </p:cNvPr>
            <p:cNvSpPr>
              <a:spLocks/>
            </p:cNvSpPr>
            <p:nvPr/>
          </p:nvSpPr>
          <p:spPr>
            <a:xfrm>
              <a:off x="4095750" y="1819275"/>
              <a:ext cx="323850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归并后的事件</a:t>
              </a:r>
            </a:p>
          </p:txBody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55A68D63-39AC-4CE4-98B6-F0F9469F30BF}"/>
                </a:ext>
              </a:extLst>
            </p:cNvPr>
            <p:cNvSpPr>
              <a:spLocks/>
            </p:cNvSpPr>
            <p:nvPr/>
          </p:nvSpPr>
          <p:spPr>
            <a:xfrm>
              <a:off x="9382125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8" name="boundary">
              <a:extLst>
                <a:ext uri="{FF2B5EF4-FFF2-40B4-BE49-F238E27FC236}">
                  <a16:creationId xmlns:a16="http://schemas.microsoft.com/office/drawing/2014/main" id="{B29984CF-92D2-40ED-97F8-68D9475D68F3}"/>
                </a:ext>
              </a:extLst>
            </p:cNvPr>
            <p:cNvSpPr>
              <a:spLocks/>
            </p:cNvSpPr>
            <p:nvPr/>
          </p:nvSpPr>
          <p:spPr>
            <a:xfrm>
              <a:off x="9382125" y="62484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B70277A4-7A43-4092-BA34-3E430C6999B3}"/>
                </a:ext>
              </a:extLst>
            </p:cNvPr>
            <p:cNvSpPr>
              <a:spLocks/>
            </p:cNvSpPr>
            <p:nvPr/>
          </p:nvSpPr>
          <p:spPr>
            <a:xfrm>
              <a:off x="9382125" y="62484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035811D3-E285-40D6-A75A-3BB66E755888}"/>
                </a:ext>
              </a:extLst>
            </p:cNvPr>
            <p:cNvSpPr>
              <a:spLocks/>
            </p:cNvSpPr>
            <p:nvPr/>
          </p:nvSpPr>
          <p:spPr>
            <a:xfrm>
              <a:off x="7000875" y="62484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F9BB3AFE-8BC0-4879-BCC8-702FA0E61062}"/>
                </a:ext>
              </a:extLst>
            </p:cNvPr>
            <p:cNvSpPr>
              <a:spLocks/>
            </p:cNvSpPr>
            <p:nvPr/>
          </p:nvSpPr>
          <p:spPr>
            <a:xfrm>
              <a:off x="4429125" y="62484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6DDB9665-59C8-4452-A72B-274C134783F8}"/>
                </a:ext>
              </a:extLst>
            </p:cNvPr>
            <p:cNvSpPr>
              <a:spLocks/>
            </p:cNvSpPr>
            <p:nvPr/>
          </p:nvSpPr>
          <p:spPr>
            <a:xfrm>
              <a:off x="2047875" y="62484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81A872EF-3B60-49A5-8153-87061097EA18}"/>
                </a:ext>
              </a:extLst>
            </p:cNvPr>
            <p:cNvSpPr>
              <a:spLocks/>
            </p:cNvSpPr>
            <p:nvPr/>
          </p:nvSpPr>
          <p:spPr>
            <a:xfrm>
              <a:off x="2047875" y="62484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18CF85BB-23FE-4A50-93DB-3CA411CD670E}"/>
                </a:ext>
              </a:extLst>
            </p:cNvPr>
            <p:cNvSpPr>
              <a:spLocks/>
            </p:cNvSpPr>
            <p:nvPr/>
          </p:nvSpPr>
          <p:spPr>
            <a:xfrm>
              <a:off x="2047875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Critic 校验">
              <a:extLst>
                <a:ext uri="{FF2B5EF4-FFF2-40B4-BE49-F238E27FC236}">
                  <a16:creationId xmlns:a16="http://schemas.microsoft.com/office/drawing/2014/main" id="{32B05D82-FC3F-45E4-858B-121B83A01BFC}"/>
                </a:ext>
              </a:extLst>
            </p:cNvPr>
            <p:cNvSpPr>
              <a:spLocks/>
            </p:cNvSpPr>
            <p:nvPr/>
          </p:nvSpPr>
          <p:spPr>
            <a:xfrm>
              <a:off x="4048125" y="1190625"/>
              <a:ext cx="333375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0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2025" b="1">
                  <a:solidFill>
                    <a:srgbClr val="547D45"/>
                  </a:solidFill>
                </a:defRPr>
              </a:pPr>
              <a:r>
                <a:rPr sz="20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Critic 校验</a:t>
              </a:r>
            </a:p>
          </p:txBody>
        </p:sp>
        <p:sp>
          <p:nvSpPr>
            <p:cNvPr id="33" name="版本自查">
              <a:extLst>
                <a:ext uri="{FF2B5EF4-FFF2-40B4-BE49-F238E27FC236}">
                  <a16:creationId xmlns:a16="http://schemas.microsoft.com/office/drawing/2014/main" id="{97E4A3FE-B4A6-4A24-A1B4-B602643D6D7A}"/>
                </a:ext>
              </a:extLst>
            </p:cNvPr>
            <p:cNvSpPr>
              <a:spLocks/>
            </p:cNvSpPr>
            <p:nvPr/>
          </p:nvSpPr>
          <p:spPr>
            <a:xfrm>
              <a:off x="2209800" y="4686300"/>
              <a:ext cx="167640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45D8F"/>
                  </a:solidFill>
                </a:defRPr>
              </a:pPr>
              <a:r>
                <a:rPr sz="187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版本自查</a:t>
              </a:r>
            </a:p>
          </p:txBody>
        </p:sp>
        <p:sp>
          <p:nvSpPr>
            <p:cNvPr id="34" name="MCP 开放">
              <a:extLst>
                <a:ext uri="{FF2B5EF4-FFF2-40B4-BE49-F238E27FC236}">
                  <a16:creationId xmlns:a16="http://schemas.microsoft.com/office/drawing/2014/main" id="{51967CC6-FE38-464A-9593-8D8A68F4FE1F}"/>
                </a:ext>
              </a:extLst>
            </p:cNvPr>
            <p:cNvSpPr>
              <a:spLocks/>
            </p:cNvSpPr>
            <p:nvPr/>
          </p:nvSpPr>
          <p:spPr>
            <a:xfrm>
              <a:off x="7553325" y="4686300"/>
              <a:ext cx="167640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45D8F"/>
                  </a:solidFill>
                </a:defRPr>
              </a:pPr>
              <a:r>
                <a:rPr sz="187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MCP 开放</a:t>
              </a:r>
            </a:p>
          </p:txBody>
        </p:sp>
        <p:sp>
          <p:nvSpPr>
            <p:cNvPr id="35" name="时效可观测贯穿发现、富化、校验与服务">
              <a:extLst>
                <a:ext uri="{FF2B5EF4-FFF2-40B4-BE49-F238E27FC236}">
                  <a16:creationId xmlns:a16="http://schemas.microsoft.com/office/drawing/2014/main" id="{AF9C39B8-CBFB-4B8D-9BAD-487952AAF846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时效可观测贯穿发现、富化、校验与服务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119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F-03 - whole figure">
            <a:extLst>
              <a:ext uri="{FF2B5EF4-FFF2-40B4-BE49-F238E27FC236}">
                <a16:creationId xmlns:a16="http://schemas.microsoft.com/office/drawing/2014/main" id="{F1C088BB-CCDA-BB85-4DD9-2E2BD782A8A4}"/>
              </a:ext>
            </a:extLst>
          </p:cNvPr>
          <p:cNvGrpSpPr/>
          <p:nvPr/>
        </p:nvGrpSpPr>
        <p:grpSpPr>
          <a:xfrm>
            <a:off x="314325" y="1466850"/>
            <a:ext cx="10801350" cy="6496050"/>
            <a:chOff x="314325" y="1466850"/>
            <a:chExt cx="10801350" cy="6496050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0E77891-07FB-4EE3-B470-E0841C4D07CE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>
              <a:off x="1382078" y="4096227"/>
              <a:ext cx="8666797" cy="0"/>
            </a:xfrm>
            <a:prstGeom prst="straightConnector1">
              <a:avLst/>
            </a:prstGeom>
            <a:ln w="38100">
              <a:solidFill>
                <a:srgbClr val="277DC3"/>
              </a:solidFill>
              <a:prstDash val="solid"/>
            </a:ln>
          </p:spPr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106D829C-E904-42F7-A731-A527FB4ACE81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9166225" y="1914525"/>
              <a:ext cx="2476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1A5E1173-D734-435B-B74D-032EC57A975E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7378700" y="1914525"/>
              <a:ext cx="2476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897E228-1181-4E74-B5FD-3833CC3C2CD6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5591175" y="1914525"/>
              <a:ext cx="2476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3AE5774A-7CD4-41A2-9125-C31D3EB1276B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3803650" y="1914525"/>
              <a:ext cx="2476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243E6F62-E7FA-4695-A7FE-0E5F11088BC1}"/>
                </a:ext>
              </a:extLst>
            </p:cNvPr>
            <p:cNvCxnSpPr>
              <a:stCxn id="34" idx="3"/>
              <a:endCxn id="2" idx="1"/>
            </p:cNvCxnSpPr>
            <p:nvPr/>
          </p:nvCxnSpPr>
          <p:spPr>
            <a:xfrm>
              <a:off x="2016125" y="1914525"/>
              <a:ext cx="2476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34" name="采集">
              <a:extLst>
                <a:ext uri="{FF2B5EF4-FFF2-40B4-BE49-F238E27FC236}">
                  <a16:creationId xmlns:a16="http://schemas.microsoft.com/office/drawing/2014/main" id="{56486CF0-9D11-4A9F-89C9-AF6DEA5E1C3B}"/>
                </a:ext>
              </a:extLst>
            </p:cNvPr>
            <p:cNvSpPr>
              <a:spLocks/>
            </p:cNvSpPr>
            <p:nvPr/>
          </p:nvSpPr>
          <p:spPr>
            <a:xfrm>
              <a:off x="476250" y="1466850"/>
              <a:ext cx="1539875" cy="895350"/>
            </a:xfrm>
            <a:prstGeom prst="roundRect">
              <a:avLst>
                <a:gd name="adj" fmla="val 425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采集</a:t>
              </a:r>
            </a:p>
          </p:txBody>
        </p:sp>
        <p:sp>
          <p:nvSpPr>
            <p:cNvPr id="2" name="归一">
              <a:extLst>
                <a:ext uri="{FF2B5EF4-FFF2-40B4-BE49-F238E27FC236}">
                  <a16:creationId xmlns:a16="http://schemas.microsoft.com/office/drawing/2014/main" id="{B2F32FA9-E263-4AD4-980E-6B7C9186F6BE}"/>
                </a:ext>
              </a:extLst>
            </p:cNvPr>
            <p:cNvSpPr>
              <a:spLocks/>
            </p:cNvSpPr>
            <p:nvPr/>
          </p:nvSpPr>
          <p:spPr>
            <a:xfrm>
              <a:off x="2263775" y="1466850"/>
              <a:ext cx="1539875" cy="895350"/>
            </a:xfrm>
            <a:prstGeom prst="roundRect">
              <a:avLst>
                <a:gd name="adj" fmla="val 425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归一</a:t>
              </a:r>
            </a:p>
          </p:txBody>
        </p:sp>
        <p:sp>
          <p:nvSpPr>
            <p:cNvPr id="3" name="富化">
              <a:extLst>
                <a:ext uri="{FF2B5EF4-FFF2-40B4-BE49-F238E27FC236}">
                  <a16:creationId xmlns:a16="http://schemas.microsoft.com/office/drawing/2014/main" id="{0C6D0E27-2754-4D0A-8CF9-B03F1E2C2659}"/>
                </a:ext>
              </a:extLst>
            </p:cNvPr>
            <p:cNvSpPr>
              <a:spLocks/>
            </p:cNvSpPr>
            <p:nvPr/>
          </p:nvSpPr>
          <p:spPr>
            <a:xfrm>
              <a:off x="4051300" y="1466850"/>
              <a:ext cx="1539875" cy="895350"/>
            </a:xfrm>
            <a:prstGeom prst="roundRect">
              <a:avLst>
                <a:gd name="adj" fmla="val 425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富化</a:t>
              </a:r>
            </a:p>
          </p:txBody>
        </p:sp>
        <p:sp>
          <p:nvSpPr>
            <p:cNvPr id="4" name="校验">
              <a:extLst>
                <a:ext uri="{FF2B5EF4-FFF2-40B4-BE49-F238E27FC236}">
                  <a16:creationId xmlns:a16="http://schemas.microsoft.com/office/drawing/2014/main" id="{20A8A07C-38D7-4737-A66E-E4F4F73ACDE6}"/>
                </a:ext>
              </a:extLst>
            </p:cNvPr>
            <p:cNvSpPr>
              <a:spLocks/>
            </p:cNvSpPr>
            <p:nvPr/>
          </p:nvSpPr>
          <p:spPr>
            <a:xfrm>
              <a:off x="5838825" y="1466850"/>
              <a:ext cx="1539875" cy="895350"/>
            </a:xfrm>
            <a:prstGeom prst="roundRect">
              <a:avLst>
                <a:gd name="adj" fmla="val 425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校验</a:t>
              </a:r>
            </a:p>
          </p:txBody>
        </p:sp>
        <p:sp>
          <p:nvSpPr>
            <p:cNvPr id="5" name="存储">
              <a:extLst>
                <a:ext uri="{FF2B5EF4-FFF2-40B4-BE49-F238E27FC236}">
                  <a16:creationId xmlns:a16="http://schemas.microsoft.com/office/drawing/2014/main" id="{3BAE67F4-7DCE-4FDB-A9D7-BFF1F5770402}"/>
                </a:ext>
              </a:extLst>
            </p:cNvPr>
            <p:cNvSpPr>
              <a:spLocks/>
            </p:cNvSpPr>
            <p:nvPr/>
          </p:nvSpPr>
          <p:spPr>
            <a:xfrm>
              <a:off x="7626350" y="1466850"/>
              <a:ext cx="1539875" cy="895350"/>
            </a:xfrm>
            <a:prstGeom prst="roundRect">
              <a:avLst>
                <a:gd name="adj" fmla="val 425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存储</a:t>
              </a:r>
            </a:p>
          </p:txBody>
        </p:sp>
        <p:sp>
          <p:nvSpPr>
            <p:cNvPr id="6" name="服务">
              <a:extLst>
                <a:ext uri="{FF2B5EF4-FFF2-40B4-BE49-F238E27FC236}">
                  <a16:creationId xmlns:a16="http://schemas.microsoft.com/office/drawing/2014/main" id="{F35E5D6C-ED8B-4D82-B102-8D287090A934}"/>
                </a:ext>
              </a:extLst>
            </p:cNvPr>
            <p:cNvSpPr>
              <a:spLocks/>
            </p:cNvSpPr>
            <p:nvPr/>
          </p:nvSpPr>
          <p:spPr>
            <a:xfrm>
              <a:off x="9413875" y="1466850"/>
              <a:ext cx="1539875" cy="895350"/>
            </a:xfrm>
            <a:prstGeom prst="roundRect">
              <a:avLst>
                <a:gd name="adj" fmla="val 425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服务</a:t>
              </a:r>
            </a:p>
          </p:txBody>
        </p:sp>
        <p:sp>
          <p:nvSpPr>
            <p:cNvPr id="12" name="boundary">
              <a:extLst>
                <a:ext uri="{FF2B5EF4-FFF2-40B4-BE49-F238E27FC236}">
                  <a16:creationId xmlns:a16="http://schemas.microsoft.com/office/drawing/2014/main" id="{2F456E2B-02AB-4948-A4AF-EA2F3FD400F9}"/>
                </a:ext>
              </a:extLst>
            </p:cNvPr>
            <p:cNvSpPr>
              <a:spLocks/>
            </p:cNvSpPr>
            <p:nvPr/>
          </p:nvSpPr>
          <p:spPr>
            <a:xfrm>
              <a:off x="1381125" y="4095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91935026-7DC5-4308-8872-4E99882F4556}"/>
                </a:ext>
              </a:extLst>
            </p:cNvPr>
            <p:cNvSpPr>
              <a:spLocks/>
            </p:cNvSpPr>
            <p:nvPr/>
          </p:nvSpPr>
          <p:spPr>
            <a:xfrm>
              <a:off x="10048875" y="4095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5" name="boundary">
              <a:extLst>
                <a:ext uri="{FF2B5EF4-FFF2-40B4-BE49-F238E27FC236}">
                  <a16:creationId xmlns:a16="http://schemas.microsoft.com/office/drawing/2014/main" id="{1C2F19AD-1BE9-4FA2-8B1A-E62E8F6360F9}"/>
                </a:ext>
              </a:extLst>
            </p:cNvPr>
            <p:cNvSpPr>
              <a:spLocks/>
            </p:cNvSpPr>
            <p:nvPr/>
          </p:nvSpPr>
          <p:spPr>
            <a:xfrm>
              <a:off x="1295400" y="4010025"/>
              <a:ext cx="171450" cy="17145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16" name="来源发布">
              <a:extLst>
                <a:ext uri="{FF2B5EF4-FFF2-40B4-BE49-F238E27FC236}">
                  <a16:creationId xmlns:a16="http://schemas.microsoft.com/office/drawing/2014/main" id="{5C7853B8-68B2-400D-A7C4-0ADEF606968B}"/>
                </a:ext>
              </a:extLst>
            </p:cNvPr>
            <p:cNvSpPr>
              <a:spLocks/>
            </p:cNvSpPr>
            <p:nvPr/>
          </p:nvSpPr>
          <p:spPr>
            <a:xfrm>
              <a:off x="466725" y="3429000"/>
              <a:ext cx="182880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45D8F"/>
                  </a:solidFill>
                </a:defRPr>
              </a:pPr>
              <a:r>
                <a:rPr sz="187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来源发布</a:t>
              </a:r>
            </a:p>
          </p:txBody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5B7072B0-ACD4-467B-A8A6-78B3E0A39B52}"/>
                </a:ext>
              </a:extLst>
            </p:cNvPr>
            <p:cNvSpPr>
              <a:spLocks/>
            </p:cNvSpPr>
            <p:nvPr/>
          </p:nvSpPr>
          <p:spPr>
            <a:xfrm>
              <a:off x="3438525" y="4010025"/>
              <a:ext cx="171450" cy="17145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18" name="首次发现">
              <a:extLst>
                <a:ext uri="{FF2B5EF4-FFF2-40B4-BE49-F238E27FC236}">
                  <a16:creationId xmlns:a16="http://schemas.microsoft.com/office/drawing/2014/main" id="{39A2C648-A8F2-426D-99D5-3B6569BD0A6F}"/>
                </a:ext>
              </a:extLst>
            </p:cNvPr>
            <p:cNvSpPr>
              <a:spLocks/>
            </p:cNvSpPr>
            <p:nvPr/>
          </p:nvSpPr>
          <p:spPr>
            <a:xfrm>
              <a:off x="2609850" y="3429000"/>
              <a:ext cx="182880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45D8F"/>
                  </a:solidFill>
                </a:defRPr>
              </a:pPr>
              <a:r>
                <a:rPr sz="187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首次发现</a:t>
              </a:r>
            </a:p>
          </p:txBody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9067BB5E-6793-4750-A4F6-D821B7A4B1A0}"/>
                </a:ext>
              </a:extLst>
            </p:cNvPr>
            <p:cNvSpPr>
              <a:spLocks/>
            </p:cNvSpPr>
            <p:nvPr/>
          </p:nvSpPr>
          <p:spPr>
            <a:xfrm>
              <a:off x="5581650" y="4010025"/>
              <a:ext cx="171450" cy="17145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20" name="完成归一">
              <a:extLst>
                <a:ext uri="{FF2B5EF4-FFF2-40B4-BE49-F238E27FC236}">
                  <a16:creationId xmlns:a16="http://schemas.microsoft.com/office/drawing/2014/main" id="{8D67245F-2A46-493F-B536-895031178F44}"/>
                </a:ext>
              </a:extLst>
            </p:cNvPr>
            <p:cNvSpPr>
              <a:spLocks/>
            </p:cNvSpPr>
            <p:nvPr/>
          </p:nvSpPr>
          <p:spPr>
            <a:xfrm>
              <a:off x="4752975" y="3429000"/>
              <a:ext cx="182880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45D8F"/>
                  </a:solidFill>
                </a:defRPr>
              </a:pPr>
              <a:r>
                <a:rPr sz="187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完成归一</a:t>
              </a:r>
            </a:p>
          </p:txBody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D4CF12B9-D7BC-4080-9895-37146E4A76E0}"/>
                </a:ext>
              </a:extLst>
            </p:cNvPr>
            <p:cNvSpPr>
              <a:spLocks/>
            </p:cNvSpPr>
            <p:nvPr/>
          </p:nvSpPr>
          <p:spPr>
            <a:xfrm>
              <a:off x="7724775" y="4010025"/>
              <a:ext cx="171450" cy="17145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22" name="完成富化">
              <a:extLst>
                <a:ext uri="{FF2B5EF4-FFF2-40B4-BE49-F238E27FC236}">
                  <a16:creationId xmlns:a16="http://schemas.microsoft.com/office/drawing/2014/main" id="{26503562-47E6-4561-8917-2F6E4047D140}"/>
                </a:ext>
              </a:extLst>
            </p:cNvPr>
            <p:cNvSpPr>
              <a:spLocks/>
            </p:cNvSpPr>
            <p:nvPr/>
          </p:nvSpPr>
          <p:spPr>
            <a:xfrm>
              <a:off x="6896100" y="3429000"/>
              <a:ext cx="182880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45D8F"/>
                  </a:solidFill>
                </a:defRPr>
              </a:pPr>
              <a:r>
                <a:rPr sz="187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完成富化</a:t>
              </a:r>
            </a:p>
          </p:txBody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A4AA1B70-09F3-441C-9203-F4E0C06119CA}"/>
                </a:ext>
              </a:extLst>
            </p:cNvPr>
            <p:cNvSpPr>
              <a:spLocks/>
            </p:cNvSpPr>
            <p:nvPr/>
          </p:nvSpPr>
          <p:spPr>
            <a:xfrm>
              <a:off x="9963150" y="4010025"/>
              <a:ext cx="171450" cy="17145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24" name="可查询">
              <a:extLst>
                <a:ext uri="{FF2B5EF4-FFF2-40B4-BE49-F238E27FC236}">
                  <a16:creationId xmlns:a16="http://schemas.microsoft.com/office/drawing/2014/main" id="{137CE21C-556D-4C1F-853F-2A8178D991A5}"/>
                </a:ext>
              </a:extLst>
            </p:cNvPr>
            <p:cNvSpPr>
              <a:spLocks/>
            </p:cNvSpPr>
            <p:nvPr/>
          </p:nvSpPr>
          <p:spPr>
            <a:xfrm>
              <a:off x="9134475" y="3429000"/>
              <a:ext cx="182880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45D8F"/>
                  </a:solidFill>
                </a:defRPr>
              </a:pPr>
              <a:r>
                <a:rPr sz="187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可查询</a:t>
              </a:r>
            </a:p>
          </p:txBody>
        </p:sp>
        <p:sp>
          <p:nvSpPr>
            <p:cNvPr id="25" name="source_ published_at">
              <a:extLst>
                <a:ext uri="{FF2B5EF4-FFF2-40B4-BE49-F238E27FC236}">
                  <a16:creationId xmlns:a16="http://schemas.microsoft.com/office/drawing/2014/main" id="{A5752155-8EF9-4E7C-A7D0-55CF5DDD0069}"/>
                </a:ext>
              </a:extLst>
            </p:cNvPr>
            <p:cNvSpPr>
              <a:spLocks/>
            </p:cNvSpPr>
            <p:nvPr/>
          </p:nvSpPr>
          <p:spPr>
            <a:xfrm>
              <a:off x="314325" y="4362450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source_</a:t>
              </a:r>
            </a:p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published_at</a:t>
              </a:r>
            </a:p>
          </p:txBody>
        </p:sp>
        <p:sp>
          <p:nvSpPr>
            <p:cNvPr id="26" name="first_seen_at">
              <a:extLst>
                <a:ext uri="{FF2B5EF4-FFF2-40B4-BE49-F238E27FC236}">
                  <a16:creationId xmlns:a16="http://schemas.microsoft.com/office/drawing/2014/main" id="{74F24DB2-B96A-4148-B1F5-89A36C9D0AF4}"/>
                </a:ext>
              </a:extLst>
            </p:cNvPr>
            <p:cNvSpPr>
              <a:spLocks/>
            </p:cNvSpPr>
            <p:nvPr/>
          </p:nvSpPr>
          <p:spPr>
            <a:xfrm>
              <a:off x="2457450" y="4362450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first_seen_at</a:t>
              </a:r>
            </a:p>
          </p:txBody>
        </p:sp>
        <p:sp>
          <p:nvSpPr>
            <p:cNvPr id="27" name="normalized_at">
              <a:extLst>
                <a:ext uri="{FF2B5EF4-FFF2-40B4-BE49-F238E27FC236}">
                  <a16:creationId xmlns:a16="http://schemas.microsoft.com/office/drawing/2014/main" id="{C52435DB-FA7F-43CE-A03B-C6E7D4483D37}"/>
                </a:ext>
              </a:extLst>
            </p:cNvPr>
            <p:cNvSpPr>
              <a:spLocks/>
            </p:cNvSpPr>
            <p:nvPr/>
          </p:nvSpPr>
          <p:spPr>
            <a:xfrm>
              <a:off x="4600575" y="4362450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normalized_at</a:t>
              </a:r>
            </a:p>
          </p:txBody>
        </p:sp>
        <p:sp>
          <p:nvSpPr>
            <p:cNvPr id="28" name="enriched_at">
              <a:extLst>
                <a:ext uri="{FF2B5EF4-FFF2-40B4-BE49-F238E27FC236}">
                  <a16:creationId xmlns:a16="http://schemas.microsoft.com/office/drawing/2014/main" id="{F290BA74-7294-44F1-B479-A0A8EF0FA449}"/>
                </a:ext>
              </a:extLst>
            </p:cNvPr>
            <p:cNvSpPr>
              <a:spLocks/>
            </p:cNvSpPr>
            <p:nvPr/>
          </p:nvSpPr>
          <p:spPr>
            <a:xfrm>
              <a:off x="6743700" y="4362450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enriched_at</a:t>
              </a:r>
            </a:p>
          </p:txBody>
        </p:sp>
        <p:sp>
          <p:nvSpPr>
            <p:cNvPr id="29" name="queryable_at">
              <a:extLst>
                <a:ext uri="{FF2B5EF4-FFF2-40B4-BE49-F238E27FC236}">
                  <a16:creationId xmlns:a16="http://schemas.microsoft.com/office/drawing/2014/main" id="{91166F0E-F235-451D-8492-DE13DEA6F435}"/>
                </a:ext>
              </a:extLst>
            </p:cNvPr>
            <p:cNvSpPr>
              <a:spLocks/>
            </p:cNvSpPr>
            <p:nvPr/>
          </p:nvSpPr>
          <p:spPr>
            <a:xfrm>
              <a:off x="8982075" y="4362450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queryable_at</a:t>
              </a:r>
            </a:p>
          </p:txBody>
        </p:sp>
        <p:sp>
          <p:nvSpPr>
            <p:cNvPr id="30" name="采集时延">
              <a:extLst>
                <a:ext uri="{FF2B5EF4-FFF2-40B4-BE49-F238E27FC236}">
                  <a16:creationId xmlns:a16="http://schemas.microsoft.com/office/drawing/2014/main" id="{F459D2BF-6883-4BE1-982D-10545B5F62EC}"/>
                </a:ext>
              </a:extLst>
            </p:cNvPr>
            <p:cNvSpPr>
              <a:spLocks/>
            </p:cNvSpPr>
            <p:nvPr/>
          </p:nvSpPr>
          <p:spPr>
            <a:xfrm>
              <a:off x="666750" y="5219700"/>
              <a:ext cx="2286000" cy="628650"/>
            </a:xfrm>
            <a:prstGeom prst="roundRect">
              <a:avLst>
                <a:gd name="adj" fmla="val 6061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采集时延</a:t>
              </a:r>
            </a:p>
          </p:txBody>
        </p:sp>
        <p:sp>
          <p:nvSpPr>
            <p:cNvPr id="31" name="处理时延">
              <a:extLst>
                <a:ext uri="{FF2B5EF4-FFF2-40B4-BE49-F238E27FC236}">
                  <a16:creationId xmlns:a16="http://schemas.microsoft.com/office/drawing/2014/main" id="{18853BCC-82B5-4876-A10C-2B6DF362B9BD}"/>
                </a:ext>
              </a:extLst>
            </p:cNvPr>
            <p:cNvSpPr>
              <a:spLocks/>
            </p:cNvSpPr>
            <p:nvPr/>
          </p:nvSpPr>
          <p:spPr>
            <a:xfrm>
              <a:off x="3143250" y="5219700"/>
              <a:ext cx="7620000" cy="628650"/>
            </a:xfrm>
            <a:prstGeom prst="roundRect">
              <a:avLst>
                <a:gd name="adj" fmla="val 6061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处理时延</a:t>
              </a:r>
            </a:p>
          </p:txBody>
        </p:sp>
        <p:sp>
          <p:nvSpPr>
            <p:cNvPr id="32" name="端到端时延目标值 ≤6 h（待测）">
              <a:extLst>
                <a:ext uri="{FF2B5EF4-FFF2-40B4-BE49-F238E27FC236}">
                  <a16:creationId xmlns:a16="http://schemas.microsoft.com/office/drawing/2014/main" id="{EF01E988-4C6F-43B8-9CED-1CC3767DB92A}"/>
                </a:ext>
              </a:extLst>
            </p:cNvPr>
            <p:cNvSpPr>
              <a:spLocks/>
            </p:cNvSpPr>
            <p:nvPr/>
          </p:nvSpPr>
          <p:spPr>
            <a:xfrm>
              <a:off x="666750" y="6334125"/>
              <a:ext cx="10096500" cy="647700"/>
            </a:xfrm>
            <a:prstGeom prst="roundRect">
              <a:avLst>
                <a:gd name="adj" fmla="val 5882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2100" b="1">
                  <a:solidFill>
                    <a:srgbClr val="A67A20"/>
                  </a:solidFill>
                </a:defRPr>
              </a:pPr>
              <a:r>
                <a:rPr sz="21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端到端时延目标值 ≤6 h（待测）</a:t>
              </a:r>
            </a:p>
          </p:txBody>
        </p:sp>
        <p:sp>
          <p:nvSpPr>
            <p:cNvPr id="33" name="漏洞类首次发现纳入统计；日更源单列；DEMO 不计">
              <a:extLst>
                <a:ext uri="{FF2B5EF4-FFF2-40B4-BE49-F238E27FC236}">
                  <a16:creationId xmlns:a16="http://schemas.microsoft.com/office/drawing/2014/main" id="{5BBA86DC-AB8B-48C0-8C45-CD7E02E930CF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漏洞类首次发现纳入统计；日更源单列；DEMO 不计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3507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F-04 - whole figure">
            <a:extLst>
              <a:ext uri="{FF2B5EF4-FFF2-40B4-BE49-F238E27FC236}">
                <a16:creationId xmlns:a16="http://schemas.microsoft.com/office/drawing/2014/main" id="{9BD373A8-7E4C-B741-7DEF-73DF720C0209}"/>
              </a:ext>
            </a:extLst>
          </p:cNvPr>
          <p:cNvGrpSpPr/>
          <p:nvPr/>
        </p:nvGrpSpPr>
        <p:grpSpPr>
          <a:xfrm>
            <a:off x="133350" y="1143000"/>
            <a:ext cx="11163300" cy="6819900"/>
            <a:chOff x="133350" y="1143000"/>
            <a:chExt cx="11163300" cy="6819900"/>
          </a:xfrm>
        </p:grpSpPr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76BCB245-DE93-4610-90D0-81340D07C134}"/>
                </a:ext>
              </a:extLst>
            </p:cNvPr>
            <p:cNvCxnSpPr>
              <a:stCxn id="69" idx="3"/>
              <a:endCxn id="70" idx="1"/>
            </p:cNvCxnSpPr>
            <p:nvPr/>
          </p:nvCxnSpPr>
          <p:spPr>
            <a:xfrm>
              <a:off x="9473566" y="6153627"/>
              <a:ext cx="1251584" cy="0"/>
            </a:xfrm>
            <a:prstGeom prst="straightConnector1">
              <a:avLst/>
            </a:prstGeom>
            <a:ln w="19050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AF2817CC-B74E-430A-B361-64D07DEED87E}"/>
                </a:ext>
              </a:extLst>
            </p:cNvPr>
            <p:cNvCxnSpPr>
              <a:stCxn id="65" idx="3"/>
              <a:endCxn id="66" idx="1"/>
            </p:cNvCxnSpPr>
            <p:nvPr/>
          </p:nvCxnSpPr>
          <p:spPr>
            <a:xfrm>
              <a:off x="8221028" y="5658327"/>
              <a:ext cx="1251585" cy="0"/>
            </a:xfrm>
            <a:prstGeom prst="straightConnector1">
              <a:avLst/>
            </a:prstGeom>
            <a:ln w="19050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783F3E24-42D8-4187-BD0C-8F1CC5176518}"/>
                </a:ext>
              </a:extLst>
            </p:cNvPr>
            <p:cNvCxnSpPr>
              <a:stCxn id="61" idx="3"/>
              <a:endCxn id="62" idx="1"/>
            </p:cNvCxnSpPr>
            <p:nvPr/>
          </p:nvCxnSpPr>
          <p:spPr>
            <a:xfrm>
              <a:off x="6968491" y="5163027"/>
              <a:ext cx="1251584" cy="0"/>
            </a:xfrm>
            <a:prstGeom prst="straightConnector1">
              <a:avLst/>
            </a:prstGeom>
            <a:ln w="19050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AF6F5C28-961D-4D4A-812F-B59857CF723B}"/>
                </a:ext>
              </a:extLst>
            </p:cNvPr>
            <p:cNvCxnSpPr>
              <a:stCxn id="57" idx="3"/>
              <a:endCxn id="58" idx="1"/>
            </p:cNvCxnSpPr>
            <p:nvPr/>
          </p:nvCxnSpPr>
          <p:spPr>
            <a:xfrm>
              <a:off x="5715953" y="4667727"/>
              <a:ext cx="1251585" cy="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B85C5F61-4A0C-4CEF-B02E-1C236A243DDC}"/>
                </a:ext>
              </a:extLst>
            </p:cNvPr>
            <p:cNvCxnSpPr>
              <a:stCxn id="53" idx="3"/>
              <a:endCxn id="54" idx="1"/>
            </p:cNvCxnSpPr>
            <p:nvPr/>
          </p:nvCxnSpPr>
          <p:spPr>
            <a:xfrm>
              <a:off x="4463416" y="4172427"/>
              <a:ext cx="1251584" cy="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F2DCD174-29D7-46F3-8DC2-7199A78A77F6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>
              <a:off x="3210878" y="3677127"/>
              <a:ext cx="1251585" cy="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EC177DDB-9BAA-4D1D-8850-257E597EE0F5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705803" y="3181827"/>
              <a:ext cx="2504122" cy="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E79CD1A-F0AD-4B75-BF49-A71E9CE71E8A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 flipH="1">
              <a:off x="704850" y="2686527"/>
              <a:ext cx="2506028" cy="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4209021F-7C98-45E7-8142-05FB879C10C6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>
              <a:off x="1958341" y="2191227"/>
              <a:ext cx="1251584" cy="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F5546388-2864-40E6-8BBB-62CE5755AEB7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 flipH="1">
              <a:off x="10725150" y="1810227"/>
              <a:ext cx="953" cy="4533900"/>
            </a:xfrm>
            <a:prstGeom prst="straightConnector1">
              <a:avLst/>
            </a:prstGeom>
            <a:ln w="11430">
              <a:solidFill>
                <a:srgbClr val="A6C4DB"/>
              </a:solidFill>
              <a:prstDash val="dash"/>
            </a:ln>
          </p:spPr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6BDFA32D-A384-4521-9829-11D91B661EB3}"/>
                </a:ext>
              </a:extLst>
            </p:cNvPr>
            <p:cNvCxnSpPr>
              <a:stCxn id="30" idx="3"/>
              <a:endCxn id="31" idx="1"/>
            </p:cNvCxnSpPr>
            <p:nvPr/>
          </p:nvCxnSpPr>
          <p:spPr>
            <a:xfrm flipH="1">
              <a:off x="9472613" y="1810227"/>
              <a:ext cx="953" cy="4533900"/>
            </a:xfrm>
            <a:prstGeom prst="straightConnector1">
              <a:avLst/>
            </a:prstGeom>
            <a:ln w="11430">
              <a:solidFill>
                <a:srgbClr val="A6C4DB"/>
              </a:solidFill>
              <a:prstDash val="dash"/>
            </a:ln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DABB9C6-4F39-43FD-8BE8-79E4891A92AC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 flipH="1">
              <a:off x="8220075" y="1810227"/>
              <a:ext cx="953" cy="4533900"/>
            </a:xfrm>
            <a:prstGeom prst="straightConnector1">
              <a:avLst/>
            </a:prstGeom>
            <a:ln w="11430">
              <a:solidFill>
                <a:srgbClr val="A6C4DB"/>
              </a:solidFill>
              <a:prstDash val="dash"/>
            </a:ln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7A8046C-1D83-4C10-9088-B62D289703EA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 flipH="1">
              <a:off x="6967538" y="1810227"/>
              <a:ext cx="953" cy="4533900"/>
            </a:xfrm>
            <a:prstGeom prst="straightConnector1">
              <a:avLst/>
            </a:prstGeom>
            <a:ln w="11430">
              <a:solidFill>
                <a:srgbClr val="A6C4DB"/>
              </a:solidFill>
              <a:prstDash val="dash"/>
            </a:ln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12AC9B7B-1B1D-461D-BB70-AC8959331F08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 flipH="1">
              <a:off x="5715000" y="1810227"/>
              <a:ext cx="953" cy="4533900"/>
            </a:xfrm>
            <a:prstGeom prst="straightConnector1">
              <a:avLst/>
            </a:prstGeom>
            <a:ln w="11430">
              <a:solidFill>
                <a:srgbClr val="A6C4DB"/>
              </a:solidFill>
              <a:prstDash val="dash"/>
            </a:ln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4BBFF316-0CDF-4F70-8130-06BD788A5074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 flipH="1">
              <a:off x="4462463" y="1810227"/>
              <a:ext cx="953" cy="4533900"/>
            </a:xfrm>
            <a:prstGeom prst="straightConnector1">
              <a:avLst/>
            </a:prstGeom>
            <a:ln w="11430">
              <a:solidFill>
                <a:srgbClr val="A6C4DB"/>
              </a:solidFill>
              <a:prstDash val="dash"/>
            </a:ln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0E6D5302-1AFC-47E6-85AB-1E6D42F52349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H="1">
              <a:off x="3209925" y="1810227"/>
              <a:ext cx="953" cy="4533900"/>
            </a:xfrm>
            <a:prstGeom prst="straightConnector1">
              <a:avLst/>
            </a:prstGeom>
            <a:ln w="11430">
              <a:solidFill>
                <a:srgbClr val="A6C4DB"/>
              </a:solidFill>
              <a:prstDash val="dash"/>
            </a:ln>
          </p:spPr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DA004801-2D70-4A60-B17A-DA4F9B169390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 flipH="1">
              <a:off x="1957388" y="1810227"/>
              <a:ext cx="953" cy="4533900"/>
            </a:xfrm>
            <a:prstGeom prst="straightConnector1">
              <a:avLst/>
            </a:prstGeom>
            <a:ln w="11430">
              <a:solidFill>
                <a:srgbClr val="A6C4DB"/>
              </a:solidFill>
              <a:prstDash val="dash"/>
            </a:ln>
          </p:spPr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E670E95B-9AB2-4BB8-8A21-182D1F58DF58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 flipH="1">
              <a:off x="704850" y="1810227"/>
              <a:ext cx="953" cy="4533900"/>
            </a:xfrm>
            <a:prstGeom prst="straightConnector1">
              <a:avLst/>
            </a:prstGeom>
            <a:ln w="11430">
              <a:solidFill>
                <a:srgbClr val="A6C4DB"/>
              </a:solidFill>
              <a:prstDash val="dash"/>
            </a:ln>
          </p:spPr>
        </p:cxnSp>
        <p:sp>
          <p:nvSpPr>
            <p:cNvPr id="76" name="厂商仓库">
              <a:extLst>
                <a:ext uri="{FF2B5EF4-FFF2-40B4-BE49-F238E27FC236}">
                  <a16:creationId xmlns:a16="http://schemas.microsoft.com/office/drawing/2014/main" id="{A184F7BF-32C1-4FDA-98C5-5BD8A73ADCF7}"/>
                </a:ext>
              </a:extLst>
            </p:cNvPr>
            <p:cNvSpPr>
              <a:spLocks/>
            </p:cNvSpPr>
            <p:nvPr/>
          </p:nvSpPr>
          <p:spPr>
            <a:xfrm>
              <a:off x="133350" y="1143000"/>
              <a:ext cx="1143000" cy="590550"/>
            </a:xfrm>
            <a:prstGeom prst="roundRect">
              <a:avLst>
                <a:gd name="adj" fmla="val 6452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厂商仓库</a:t>
              </a:r>
            </a:p>
          </p:txBody>
        </p:sp>
        <p:sp>
          <p:nvSpPr>
            <p:cNvPr id="2" name="boundary">
              <a:extLst>
                <a:ext uri="{FF2B5EF4-FFF2-40B4-BE49-F238E27FC236}">
                  <a16:creationId xmlns:a16="http://schemas.microsoft.com/office/drawing/2014/main" id="{E5740A66-A89D-4C26-AEE3-29C3F11EEB0E}"/>
                </a:ext>
              </a:extLst>
            </p:cNvPr>
            <p:cNvSpPr>
              <a:spLocks/>
            </p:cNvSpPr>
            <p:nvPr/>
          </p:nvSpPr>
          <p:spPr>
            <a:xfrm>
              <a:off x="704850" y="1809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" name="boundary">
              <a:extLst>
                <a:ext uri="{FF2B5EF4-FFF2-40B4-BE49-F238E27FC236}">
                  <a16:creationId xmlns:a16="http://schemas.microsoft.com/office/drawing/2014/main" id="{FA2B35C6-0FC1-4D5A-B97B-FC22C12854BF}"/>
                </a:ext>
              </a:extLst>
            </p:cNvPr>
            <p:cNvSpPr>
              <a:spLocks/>
            </p:cNvSpPr>
            <p:nvPr/>
          </p:nvSpPr>
          <p:spPr>
            <a:xfrm>
              <a:off x="704850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" name="编排器">
              <a:extLst>
                <a:ext uri="{FF2B5EF4-FFF2-40B4-BE49-F238E27FC236}">
                  <a16:creationId xmlns:a16="http://schemas.microsoft.com/office/drawing/2014/main" id="{2D4EDF5B-C912-4228-8173-9BEFFF61A32A}"/>
                </a:ext>
              </a:extLst>
            </p:cNvPr>
            <p:cNvSpPr>
              <a:spLocks/>
            </p:cNvSpPr>
            <p:nvPr/>
          </p:nvSpPr>
          <p:spPr>
            <a:xfrm>
              <a:off x="1385888" y="1143000"/>
              <a:ext cx="1143000" cy="590550"/>
            </a:xfrm>
            <a:prstGeom prst="roundRect">
              <a:avLst>
                <a:gd name="adj" fmla="val 645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编排器</a:t>
              </a:r>
            </a:p>
          </p:txBody>
        </p:sp>
        <p:sp>
          <p:nvSpPr>
            <p:cNvPr id="6" name="boundary">
              <a:extLst>
                <a:ext uri="{FF2B5EF4-FFF2-40B4-BE49-F238E27FC236}">
                  <a16:creationId xmlns:a16="http://schemas.microsoft.com/office/drawing/2014/main" id="{424ACDE6-2B6B-4BDE-9DB7-98D9B947D308}"/>
                </a:ext>
              </a:extLst>
            </p:cNvPr>
            <p:cNvSpPr>
              <a:spLocks/>
            </p:cNvSpPr>
            <p:nvPr/>
          </p:nvSpPr>
          <p:spPr>
            <a:xfrm>
              <a:off x="1957388" y="1809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728DB9C1-07E0-4606-A6D7-D758E522F7E5}"/>
                </a:ext>
              </a:extLst>
            </p:cNvPr>
            <p:cNvSpPr>
              <a:spLocks/>
            </p:cNvSpPr>
            <p:nvPr/>
          </p:nvSpPr>
          <p:spPr>
            <a:xfrm>
              <a:off x="1957388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9" name="采集器">
              <a:extLst>
                <a:ext uri="{FF2B5EF4-FFF2-40B4-BE49-F238E27FC236}">
                  <a16:creationId xmlns:a16="http://schemas.microsoft.com/office/drawing/2014/main" id="{E7AE178E-C64F-4736-8B96-D9A932B0B82B}"/>
                </a:ext>
              </a:extLst>
            </p:cNvPr>
            <p:cNvSpPr>
              <a:spLocks/>
            </p:cNvSpPr>
            <p:nvPr/>
          </p:nvSpPr>
          <p:spPr>
            <a:xfrm>
              <a:off x="2638425" y="1143000"/>
              <a:ext cx="1143000" cy="590550"/>
            </a:xfrm>
            <a:prstGeom prst="roundRect">
              <a:avLst>
                <a:gd name="adj" fmla="val 645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采集器</a:t>
              </a:r>
            </a:p>
          </p:txBody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FA6C5450-D22E-4F68-AD76-233388B9B868}"/>
                </a:ext>
              </a:extLst>
            </p:cNvPr>
            <p:cNvSpPr>
              <a:spLocks/>
            </p:cNvSpPr>
            <p:nvPr/>
          </p:nvSpPr>
          <p:spPr>
            <a:xfrm>
              <a:off x="3209925" y="1809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2B1F2B1B-29C5-4590-9A68-AD6DE3A3F49F}"/>
                </a:ext>
              </a:extLst>
            </p:cNvPr>
            <p:cNvSpPr>
              <a:spLocks/>
            </p:cNvSpPr>
            <p:nvPr/>
          </p:nvSpPr>
          <p:spPr>
            <a:xfrm>
              <a:off x="3209925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3" name="归一器">
              <a:extLst>
                <a:ext uri="{FF2B5EF4-FFF2-40B4-BE49-F238E27FC236}">
                  <a16:creationId xmlns:a16="http://schemas.microsoft.com/office/drawing/2014/main" id="{5EB57D89-A9A5-432E-B9D7-19B21C7DD19C}"/>
                </a:ext>
              </a:extLst>
            </p:cNvPr>
            <p:cNvSpPr>
              <a:spLocks/>
            </p:cNvSpPr>
            <p:nvPr/>
          </p:nvSpPr>
          <p:spPr>
            <a:xfrm>
              <a:off x="3890963" y="1143000"/>
              <a:ext cx="1143000" cy="590550"/>
            </a:xfrm>
            <a:prstGeom prst="roundRect">
              <a:avLst>
                <a:gd name="adj" fmla="val 645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归一器</a:t>
              </a:r>
            </a:p>
          </p:txBody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1B922A70-3923-45E2-A0B3-025DEDA49EA7}"/>
                </a:ext>
              </a:extLst>
            </p:cNvPr>
            <p:cNvSpPr>
              <a:spLocks/>
            </p:cNvSpPr>
            <p:nvPr/>
          </p:nvSpPr>
          <p:spPr>
            <a:xfrm>
              <a:off x="4462463" y="1809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5" name="boundary">
              <a:extLst>
                <a:ext uri="{FF2B5EF4-FFF2-40B4-BE49-F238E27FC236}">
                  <a16:creationId xmlns:a16="http://schemas.microsoft.com/office/drawing/2014/main" id="{D5E00247-AE47-4769-9796-595A78087476}"/>
                </a:ext>
              </a:extLst>
            </p:cNvPr>
            <p:cNvSpPr>
              <a:spLocks/>
            </p:cNvSpPr>
            <p:nvPr/>
          </p:nvSpPr>
          <p:spPr>
            <a:xfrm>
              <a:off x="4462463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7" name="富化器">
              <a:extLst>
                <a:ext uri="{FF2B5EF4-FFF2-40B4-BE49-F238E27FC236}">
                  <a16:creationId xmlns:a16="http://schemas.microsoft.com/office/drawing/2014/main" id="{D836BDAE-BF05-4C8C-A4B7-BFBFDDCDAD17}"/>
                </a:ext>
              </a:extLst>
            </p:cNvPr>
            <p:cNvSpPr>
              <a:spLocks/>
            </p:cNvSpPr>
            <p:nvPr/>
          </p:nvSpPr>
          <p:spPr>
            <a:xfrm>
              <a:off x="5143500" y="1143000"/>
              <a:ext cx="1143000" cy="590550"/>
            </a:xfrm>
            <a:prstGeom prst="roundRect">
              <a:avLst>
                <a:gd name="adj" fmla="val 645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富化器</a:t>
              </a:r>
            </a:p>
          </p:txBody>
        </p:sp>
        <p:sp>
          <p:nvSpPr>
            <p:cNvPr id="18" name="boundary">
              <a:extLst>
                <a:ext uri="{FF2B5EF4-FFF2-40B4-BE49-F238E27FC236}">
                  <a16:creationId xmlns:a16="http://schemas.microsoft.com/office/drawing/2014/main" id="{79D6D257-6101-47B4-958A-7D3F1261E241}"/>
                </a:ext>
              </a:extLst>
            </p:cNvPr>
            <p:cNvSpPr>
              <a:spLocks/>
            </p:cNvSpPr>
            <p:nvPr/>
          </p:nvSpPr>
          <p:spPr>
            <a:xfrm>
              <a:off x="5715000" y="1809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52DADA12-89CD-44D0-A4B6-CE3B5BB07903}"/>
                </a:ext>
              </a:extLst>
            </p:cNvPr>
            <p:cNvSpPr>
              <a:spLocks/>
            </p:cNvSpPr>
            <p:nvPr/>
          </p:nvSpPr>
          <p:spPr>
            <a:xfrm>
              <a:off x="5715000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校验器">
              <a:extLst>
                <a:ext uri="{FF2B5EF4-FFF2-40B4-BE49-F238E27FC236}">
                  <a16:creationId xmlns:a16="http://schemas.microsoft.com/office/drawing/2014/main" id="{43CE4C2E-6089-4FD1-A5BB-554BBBAE30A4}"/>
                </a:ext>
              </a:extLst>
            </p:cNvPr>
            <p:cNvSpPr>
              <a:spLocks/>
            </p:cNvSpPr>
            <p:nvPr/>
          </p:nvSpPr>
          <p:spPr>
            <a:xfrm>
              <a:off x="6396038" y="1143000"/>
              <a:ext cx="1143000" cy="590550"/>
            </a:xfrm>
            <a:prstGeom prst="roundRect">
              <a:avLst>
                <a:gd name="adj" fmla="val 645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校验器</a:t>
              </a:r>
            </a:p>
          </p:txBody>
        </p:sp>
        <p:sp>
          <p:nvSpPr>
            <p:cNvPr id="22" name="boundary">
              <a:extLst>
                <a:ext uri="{FF2B5EF4-FFF2-40B4-BE49-F238E27FC236}">
                  <a16:creationId xmlns:a16="http://schemas.microsoft.com/office/drawing/2014/main" id="{1DFC6F85-2245-4348-97D5-077F55683532}"/>
                </a:ext>
              </a:extLst>
            </p:cNvPr>
            <p:cNvSpPr>
              <a:spLocks/>
            </p:cNvSpPr>
            <p:nvPr/>
          </p:nvSpPr>
          <p:spPr>
            <a:xfrm>
              <a:off x="6967538" y="1809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3E690172-A611-43AB-A761-D0295FBD9984}"/>
                </a:ext>
              </a:extLst>
            </p:cNvPr>
            <p:cNvSpPr>
              <a:spLocks/>
            </p:cNvSpPr>
            <p:nvPr/>
          </p:nvSpPr>
          <p:spPr>
            <a:xfrm>
              <a:off x="6967538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5" name="图写入器">
              <a:extLst>
                <a:ext uri="{FF2B5EF4-FFF2-40B4-BE49-F238E27FC236}">
                  <a16:creationId xmlns:a16="http://schemas.microsoft.com/office/drawing/2014/main" id="{63FD085E-FC69-47AB-A17E-146F8DCADF1D}"/>
                </a:ext>
              </a:extLst>
            </p:cNvPr>
            <p:cNvSpPr>
              <a:spLocks/>
            </p:cNvSpPr>
            <p:nvPr/>
          </p:nvSpPr>
          <p:spPr>
            <a:xfrm>
              <a:off x="7648575" y="1143000"/>
              <a:ext cx="1143000" cy="590550"/>
            </a:xfrm>
            <a:prstGeom prst="roundRect">
              <a:avLst>
                <a:gd name="adj" fmla="val 645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图写入器</a:t>
              </a:r>
            </a:p>
          </p:txBody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B39993A2-21A6-43EF-95A9-F62E3A20726E}"/>
                </a:ext>
              </a:extLst>
            </p:cNvPr>
            <p:cNvSpPr>
              <a:spLocks/>
            </p:cNvSpPr>
            <p:nvPr/>
          </p:nvSpPr>
          <p:spPr>
            <a:xfrm>
              <a:off x="8220075" y="1809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F60BE0A4-768E-4FDB-8425-DF8488A2A4D4}"/>
                </a:ext>
              </a:extLst>
            </p:cNvPr>
            <p:cNvSpPr>
              <a:spLocks/>
            </p:cNvSpPr>
            <p:nvPr/>
          </p:nvSpPr>
          <p:spPr>
            <a:xfrm>
              <a:off x="8220075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评估器">
              <a:extLst>
                <a:ext uri="{FF2B5EF4-FFF2-40B4-BE49-F238E27FC236}">
                  <a16:creationId xmlns:a16="http://schemas.microsoft.com/office/drawing/2014/main" id="{4B6E1262-0992-494A-8622-F14661BC7623}"/>
                </a:ext>
              </a:extLst>
            </p:cNvPr>
            <p:cNvSpPr>
              <a:spLocks/>
            </p:cNvSpPr>
            <p:nvPr/>
          </p:nvSpPr>
          <p:spPr>
            <a:xfrm>
              <a:off x="8901113" y="1143000"/>
              <a:ext cx="1143000" cy="590550"/>
            </a:xfrm>
            <a:prstGeom prst="roundRect">
              <a:avLst>
                <a:gd name="adj" fmla="val 645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评估器</a:t>
              </a:r>
            </a:p>
          </p:txBody>
        </p:sp>
        <p:sp>
          <p:nvSpPr>
            <p:cNvPr id="30" name="boundary">
              <a:extLst>
                <a:ext uri="{FF2B5EF4-FFF2-40B4-BE49-F238E27FC236}">
                  <a16:creationId xmlns:a16="http://schemas.microsoft.com/office/drawing/2014/main" id="{BD22E017-C57E-4A7F-94DE-8276024BB041}"/>
                </a:ext>
              </a:extLst>
            </p:cNvPr>
            <p:cNvSpPr>
              <a:spLocks/>
            </p:cNvSpPr>
            <p:nvPr/>
          </p:nvSpPr>
          <p:spPr>
            <a:xfrm>
              <a:off x="9472613" y="1809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1" name="boundary">
              <a:extLst>
                <a:ext uri="{FF2B5EF4-FFF2-40B4-BE49-F238E27FC236}">
                  <a16:creationId xmlns:a16="http://schemas.microsoft.com/office/drawing/2014/main" id="{4F3E0453-FDFE-45A9-B302-A2D728E3B45A}"/>
                </a:ext>
              </a:extLst>
            </p:cNvPr>
            <p:cNvSpPr>
              <a:spLocks/>
            </p:cNvSpPr>
            <p:nvPr/>
          </p:nvSpPr>
          <p:spPr>
            <a:xfrm>
              <a:off x="9472613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3" name="编码 智能体">
              <a:extLst>
                <a:ext uri="{FF2B5EF4-FFF2-40B4-BE49-F238E27FC236}">
                  <a16:creationId xmlns:a16="http://schemas.microsoft.com/office/drawing/2014/main" id="{AAAEF429-55AC-49F6-8342-BC519C0B8D07}"/>
                </a:ext>
              </a:extLst>
            </p:cNvPr>
            <p:cNvSpPr>
              <a:spLocks/>
            </p:cNvSpPr>
            <p:nvPr/>
          </p:nvSpPr>
          <p:spPr>
            <a:xfrm>
              <a:off x="10153650" y="1143000"/>
              <a:ext cx="1143000" cy="590550"/>
            </a:xfrm>
            <a:prstGeom prst="roundRect">
              <a:avLst>
                <a:gd name="adj" fmla="val 6452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编码</a:t>
              </a:r>
            </a:p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智能体</a:t>
              </a:r>
            </a:p>
          </p:txBody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70705005-D001-4ACF-845A-3CED70BF6BED}"/>
                </a:ext>
              </a:extLst>
            </p:cNvPr>
            <p:cNvSpPr>
              <a:spLocks/>
            </p:cNvSpPr>
            <p:nvPr/>
          </p:nvSpPr>
          <p:spPr>
            <a:xfrm>
              <a:off x="10725150" y="1809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boundary">
              <a:extLst>
                <a:ext uri="{FF2B5EF4-FFF2-40B4-BE49-F238E27FC236}">
                  <a16:creationId xmlns:a16="http://schemas.microsoft.com/office/drawing/2014/main" id="{D533EBCA-64B0-4DCA-B0D6-9AB9FA56895B}"/>
                </a:ext>
              </a:extLst>
            </p:cNvPr>
            <p:cNvSpPr>
              <a:spLocks/>
            </p:cNvSpPr>
            <p:nvPr/>
          </p:nvSpPr>
          <p:spPr>
            <a:xfrm>
              <a:off x="10725150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F3A7F684-6086-4B31-8A61-0C1E5AC34FAF}"/>
                </a:ext>
              </a:extLst>
            </p:cNvPr>
            <p:cNvSpPr>
              <a:spLocks/>
            </p:cNvSpPr>
            <p:nvPr/>
          </p:nvSpPr>
          <p:spPr>
            <a:xfrm>
              <a:off x="1957388" y="2190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boundary">
              <a:extLst>
                <a:ext uri="{FF2B5EF4-FFF2-40B4-BE49-F238E27FC236}">
                  <a16:creationId xmlns:a16="http://schemas.microsoft.com/office/drawing/2014/main" id="{8F6F5B7F-0F0A-4206-BCB4-B4B21E718101}"/>
                </a:ext>
              </a:extLst>
            </p:cNvPr>
            <p:cNvSpPr>
              <a:spLocks/>
            </p:cNvSpPr>
            <p:nvPr/>
          </p:nvSpPr>
          <p:spPr>
            <a:xfrm>
              <a:off x="3209925" y="2190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定时派发">
              <a:extLst>
                <a:ext uri="{FF2B5EF4-FFF2-40B4-BE49-F238E27FC236}">
                  <a16:creationId xmlns:a16="http://schemas.microsoft.com/office/drawing/2014/main" id="{A5EED14C-D256-4F60-A457-DBA46B3A4263}"/>
                </a:ext>
              </a:extLst>
            </p:cNvPr>
            <p:cNvSpPr>
              <a:spLocks/>
            </p:cNvSpPr>
            <p:nvPr/>
          </p:nvSpPr>
          <p:spPr>
            <a:xfrm>
              <a:off x="1814513" y="1866900"/>
              <a:ext cx="1538288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定时派发</a:t>
              </a:r>
            </a:p>
          </p:txBody>
        </p:sp>
        <p:sp>
          <p:nvSpPr>
            <p:cNvPr id="41" name="boundary">
              <a:extLst>
                <a:ext uri="{FF2B5EF4-FFF2-40B4-BE49-F238E27FC236}">
                  <a16:creationId xmlns:a16="http://schemas.microsoft.com/office/drawing/2014/main" id="{765A3F28-08C1-4AB2-B37C-447EA8C4ADF8}"/>
                </a:ext>
              </a:extLst>
            </p:cNvPr>
            <p:cNvSpPr>
              <a:spLocks/>
            </p:cNvSpPr>
            <p:nvPr/>
          </p:nvSpPr>
          <p:spPr>
            <a:xfrm>
              <a:off x="3209925" y="26860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2" name="boundary">
              <a:extLst>
                <a:ext uri="{FF2B5EF4-FFF2-40B4-BE49-F238E27FC236}">
                  <a16:creationId xmlns:a16="http://schemas.microsoft.com/office/drawing/2014/main" id="{90075CEE-5B25-4696-8CFE-9F7343625CCD}"/>
                </a:ext>
              </a:extLst>
            </p:cNvPr>
            <p:cNvSpPr>
              <a:spLocks/>
            </p:cNvSpPr>
            <p:nvPr/>
          </p:nvSpPr>
          <p:spPr>
            <a:xfrm>
              <a:off x="704850" y="26860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4" name="增量轮询">
              <a:extLst>
                <a:ext uri="{FF2B5EF4-FFF2-40B4-BE49-F238E27FC236}">
                  <a16:creationId xmlns:a16="http://schemas.microsoft.com/office/drawing/2014/main" id="{2B247A96-DA5E-4DD2-BD93-B2DD69C8E023}"/>
                </a:ext>
              </a:extLst>
            </p:cNvPr>
            <p:cNvSpPr>
              <a:spLocks/>
            </p:cNvSpPr>
            <p:nvPr/>
          </p:nvSpPr>
          <p:spPr>
            <a:xfrm>
              <a:off x="561975" y="2362200"/>
              <a:ext cx="2790825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增量轮询</a:t>
              </a:r>
            </a:p>
          </p:txBody>
        </p:sp>
        <p:sp>
          <p:nvSpPr>
            <p:cNvPr id="45" name="boundary">
              <a:extLst>
                <a:ext uri="{FF2B5EF4-FFF2-40B4-BE49-F238E27FC236}">
                  <a16:creationId xmlns:a16="http://schemas.microsoft.com/office/drawing/2014/main" id="{B3B9A497-9B0D-4DCB-964C-EA352CB5B56B}"/>
                </a:ext>
              </a:extLst>
            </p:cNvPr>
            <p:cNvSpPr>
              <a:spLocks/>
            </p:cNvSpPr>
            <p:nvPr/>
          </p:nvSpPr>
          <p:spPr>
            <a:xfrm>
              <a:off x="704850" y="31813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6" name="boundary">
              <a:extLst>
                <a:ext uri="{FF2B5EF4-FFF2-40B4-BE49-F238E27FC236}">
                  <a16:creationId xmlns:a16="http://schemas.microsoft.com/office/drawing/2014/main" id="{D20FD490-EAE6-47DF-AC7E-AEBC11769EC6}"/>
                </a:ext>
              </a:extLst>
            </p:cNvPr>
            <p:cNvSpPr>
              <a:spLocks/>
            </p:cNvSpPr>
            <p:nvPr/>
          </p:nvSpPr>
          <p:spPr>
            <a:xfrm>
              <a:off x="3209925" y="31813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8" name="公告内容">
              <a:extLst>
                <a:ext uri="{FF2B5EF4-FFF2-40B4-BE49-F238E27FC236}">
                  <a16:creationId xmlns:a16="http://schemas.microsoft.com/office/drawing/2014/main" id="{8BC9BC12-4FA6-45E2-88F5-E79DDED78DE8}"/>
                </a:ext>
              </a:extLst>
            </p:cNvPr>
            <p:cNvSpPr>
              <a:spLocks/>
            </p:cNvSpPr>
            <p:nvPr/>
          </p:nvSpPr>
          <p:spPr>
            <a:xfrm>
              <a:off x="561975" y="2857500"/>
              <a:ext cx="2790825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公告内容</a:t>
              </a:r>
            </a:p>
          </p:txBody>
        </p:sp>
        <p:sp>
          <p:nvSpPr>
            <p:cNvPr id="49" name="boundary">
              <a:extLst>
                <a:ext uri="{FF2B5EF4-FFF2-40B4-BE49-F238E27FC236}">
                  <a16:creationId xmlns:a16="http://schemas.microsoft.com/office/drawing/2014/main" id="{088B4B40-9D2D-43A4-A926-4219224C13AA}"/>
                </a:ext>
              </a:extLst>
            </p:cNvPr>
            <p:cNvSpPr>
              <a:spLocks/>
            </p:cNvSpPr>
            <p:nvPr/>
          </p:nvSpPr>
          <p:spPr>
            <a:xfrm>
              <a:off x="3209925" y="3676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0" name="boundary">
              <a:extLst>
                <a:ext uri="{FF2B5EF4-FFF2-40B4-BE49-F238E27FC236}">
                  <a16:creationId xmlns:a16="http://schemas.microsoft.com/office/drawing/2014/main" id="{EF8BD40B-C5F3-48D1-87B0-B525B50F4462}"/>
                </a:ext>
              </a:extLst>
            </p:cNvPr>
            <p:cNvSpPr>
              <a:spLocks/>
            </p:cNvSpPr>
            <p:nvPr/>
          </p:nvSpPr>
          <p:spPr>
            <a:xfrm>
              <a:off x="4462463" y="3676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2" name="RawEvent">
              <a:extLst>
                <a:ext uri="{FF2B5EF4-FFF2-40B4-BE49-F238E27FC236}">
                  <a16:creationId xmlns:a16="http://schemas.microsoft.com/office/drawing/2014/main" id="{0C82A4AB-3A44-4C63-9939-0ADA0871A64C}"/>
                </a:ext>
              </a:extLst>
            </p:cNvPr>
            <p:cNvSpPr>
              <a:spLocks/>
            </p:cNvSpPr>
            <p:nvPr/>
          </p:nvSpPr>
          <p:spPr>
            <a:xfrm>
              <a:off x="3067050" y="3352800"/>
              <a:ext cx="1538288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RawEvent</a:t>
              </a:r>
            </a:p>
          </p:txBody>
        </p:sp>
        <p:sp>
          <p:nvSpPr>
            <p:cNvPr id="53" name="boundary">
              <a:extLst>
                <a:ext uri="{FF2B5EF4-FFF2-40B4-BE49-F238E27FC236}">
                  <a16:creationId xmlns:a16="http://schemas.microsoft.com/office/drawing/2014/main" id="{C586A9A9-CFE8-4484-811D-DEA868EBCA90}"/>
                </a:ext>
              </a:extLst>
            </p:cNvPr>
            <p:cNvSpPr>
              <a:spLocks/>
            </p:cNvSpPr>
            <p:nvPr/>
          </p:nvSpPr>
          <p:spPr>
            <a:xfrm>
              <a:off x="4462463" y="41719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4" name="boundary">
              <a:extLst>
                <a:ext uri="{FF2B5EF4-FFF2-40B4-BE49-F238E27FC236}">
                  <a16:creationId xmlns:a16="http://schemas.microsoft.com/office/drawing/2014/main" id="{C9573D08-448C-4D7F-8D0E-E00D11130336}"/>
                </a:ext>
              </a:extLst>
            </p:cNvPr>
            <p:cNvSpPr>
              <a:spLocks/>
            </p:cNvSpPr>
            <p:nvPr/>
          </p:nvSpPr>
          <p:spPr>
            <a:xfrm>
              <a:off x="5715000" y="41719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6" name="归一结果">
              <a:extLst>
                <a:ext uri="{FF2B5EF4-FFF2-40B4-BE49-F238E27FC236}">
                  <a16:creationId xmlns:a16="http://schemas.microsoft.com/office/drawing/2014/main" id="{1C7ED266-570F-4B40-B65D-5185016040A2}"/>
                </a:ext>
              </a:extLst>
            </p:cNvPr>
            <p:cNvSpPr>
              <a:spLocks/>
            </p:cNvSpPr>
            <p:nvPr/>
          </p:nvSpPr>
          <p:spPr>
            <a:xfrm>
              <a:off x="4319588" y="3848100"/>
              <a:ext cx="1538288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归一结果</a:t>
              </a:r>
            </a:p>
          </p:txBody>
        </p:sp>
        <p:sp>
          <p:nvSpPr>
            <p:cNvPr id="57" name="boundary">
              <a:extLst>
                <a:ext uri="{FF2B5EF4-FFF2-40B4-BE49-F238E27FC236}">
                  <a16:creationId xmlns:a16="http://schemas.microsoft.com/office/drawing/2014/main" id="{9DECDF05-5562-426D-BD1A-EEC6A633AA2B}"/>
                </a:ext>
              </a:extLst>
            </p:cNvPr>
            <p:cNvSpPr>
              <a:spLocks/>
            </p:cNvSpPr>
            <p:nvPr/>
          </p:nvSpPr>
          <p:spPr>
            <a:xfrm>
              <a:off x="5715000" y="46672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8" name="boundary">
              <a:extLst>
                <a:ext uri="{FF2B5EF4-FFF2-40B4-BE49-F238E27FC236}">
                  <a16:creationId xmlns:a16="http://schemas.microsoft.com/office/drawing/2014/main" id="{4213CAA0-0D70-4896-9B68-C25EE89C8B27}"/>
                </a:ext>
              </a:extLst>
            </p:cNvPr>
            <p:cNvSpPr>
              <a:spLocks/>
            </p:cNvSpPr>
            <p:nvPr/>
          </p:nvSpPr>
          <p:spPr>
            <a:xfrm>
              <a:off x="6967538" y="46672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0" name="富化产出">
              <a:extLst>
                <a:ext uri="{FF2B5EF4-FFF2-40B4-BE49-F238E27FC236}">
                  <a16:creationId xmlns:a16="http://schemas.microsoft.com/office/drawing/2014/main" id="{BED7CF8D-408C-4EE4-9F12-F1038882DC4E}"/>
                </a:ext>
              </a:extLst>
            </p:cNvPr>
            <p:cNvSpPr>
              <a:spLocks/>
            </p:cNvSpPr>
            <p:nvPr/>
          </p:nvSpPr>
          <p:spPr>
            <a:xfrm>
              <a:off x="5572125" y="4343400"/>
              <a:ext cx="1538288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富化产出</a:t>
              </a:r>
            </a:p>
          </p:txBody>
        </p:sp>
        <p:sp>
          <p:nvSpPr>
            <p:cNvPr id="61" name="boundary">
              <a:extLst>
                <a:ext uri="{FF2B5EF4-FFF2-40B4-BE49-F238E27FC236}">
                  <a16:creationId xmlns:a16="http://schemas.microsoft.com/office/drawing/2014/main" id="{4F19AA0A-44DF-49AD-9842-C7383BA56A29}"/>
                </a:ext>
              </a:extLst>
            </p:cNvPr>
            <p:cNvSpPr>
              <a:spLocks/>
            </p:cNvSpPr>
            <p:nvPr/>
          </p:nvSpPr>
          <p:spPr>
            <a:xfrm>
              <a:off x="6967538" y="51625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2" name="boundary">
              <a:extLst>
                <a:ext uri="{FF2B5EF4-FFF2-40B4-BE49-F238E27FC236}">
                  <a16:creationId xmlns:a16="http://schemas.microsoft.com/office/drawing/2014/main" id="{5E6B6B45-B5EB-4893-AD6B-A3FC28EA1441}"/>
                </a:ext>
              </a:extLst>
            </p:cNvPr>
            <p:cNvSpPr>
              <a:spLocks/>
            </p:cNvSpPr>
            <p:nvPr/>
          </p:nvSpPr>
          <p:spPr>
            <a:xfrm>
              <a:off x="8220075" y="51625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4" name="校验通过">
              <a:extLst>
                <a:ext uri="{FF2B5EF4-FFF2-40B4-BE49-F238E27FC236}">
                  <a16:creationId xmlns:a16="http://schemas.microsoft.com/office/drawing/2014/main" id="{61660B87-686D-46A6-9670-C1BA9FD72DE1}"/>
                </a:ext>
              </a:extLst>
            </p:cNvPr>
            <p:cNvSpPr>
              <a:spLocks/>
            </p:cNvSpPr>
            <p:nvPr/>
          </p:nvSpPr>
          <p:spPr>
            <a:xfrm>
              <a:off x="6824663" y="4838700"/>
              <a:ext cx="1538288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校验通过</a:t>
              </a:r>
            </a:p>
          </p:txBody>
        </p:sp>
        <p:sp>
          <p:nvSpPr>
            <p:cNvPr id="65" name="boundary">
              <a:extLst>
                <a:ext uri="{FF2B5EF4-FFF2-40B4-BE49-F238E27FC236}">
                  <a16:creationId xmlns:a16="http://schemas.microsoft.com/office/drawing/2014/main" id="{A38416EF-493E-446C-8A2A-245D048E36A5}"/>
                </a:ext>
              </a:extLst>
            </p:cNvPr>
            <p:cNvSpPr>
              <a:spLocks/>
            </p:cNvSpPr>
            <p:nvPr/>
          </p:nvSpPr>
          <p:spPr>
            <a:xfrm>
              <a:off x="8220075" y="5657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6" name="boundary">
              <a:extLst>
                <a:ext uri="{FF2B5EF4-FFF2-40B4-BE49-F238E27FC236}">
                  <a16:creationId xmlns:a16="http://schemas.microsoft.com/office/drawing/2014/main" id="{EC38903F-9841-4166-BA59-44B631C48DE2}"/>
                </a:ext>
              </a:extLst>
            </p:cNvPr>
            <p:cNvSpPr>
              <a:spLocks/>
            </p:cNvSpPr>
            <p:nvPr/>
          </p:nvSpPr>
          <p:spPr>
            <a:xfrm>
              <a:off x="9472613" y="5657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8" name="影响评估">
              <a:extLst>
                <a:ext uri="{FF2B5EF4-FFF2-40B4-BE49-F238E27FC236}">
                  <a16:creationId xmlns:a16="http://schemas.microsoft.com/office/drawing/2014/main" id="{A692612F-D1DC-4B19-B58C-84C67D8EACAE}"/>
                </a:ext>
              </a:extLst>
            </p:cNvPr>
            <p:cNvSpPr>
              <a:spLocks/>
            </p:cNvSpPr>
            <p:nvPr/>
          </p:nvSpPr>
          <p:spPr>
            <a:xfrm>
              <a:off x="8077200" y="5334000"/>
              <a:ext cx="1538288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影响评估</a:t>
              </a:r>
            </a:p>
          </p:txBody>
        </p:sp>
        <p:sp>
          <p:nvSpPr>
            <p:cNvPr id="69" name="boundary">
              <a:extLst>
                <a:ext uri="{FF2B5EF4-FFF2-40B4-BE49-F238E27FC236}">
                  <a16:creationId xmlns:a16="http://schemas.microsoft.com/office/drawing/2014/main" id="{FA2334B0-0A21-44EF-9935-A648FA0DC8F9}"/>
                </a:ext>
              </a:extLst>
            </p:cNvPr>
            <p:cNvSpPr>
              <a:spLocks/>
            </p:cNvSpPr>
            <p:nvPr/>
          </p:nvSpPr>
          <p:spPr>
            <a:xfrm>
              <a:off x="9472613" y="61531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0" name="boundary">
              <a:extLst>
                <a:ext uri="{FF2B5EF4-FFF2-40B4-BE49-F238E27FC236}">
                  <a16:creationId xmlns:a16="http://schemas.microsoft.com/office/drawing/2014/main" id="{D8FB2886-B59F-4717-A4A1-AA0795A6049F}"/>
                </a:ext>
              </a:extLst>
            </p:cNvPr>
            <p:cNvSpPr>
              <a:spLocks/>
            </p:cNvSpPr>
            <p:nvPr/>
          </p:nvSpPr>
          <p:spPr>
            <a:xfrm>
              <a:off x="10725150" y="61531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2" name="经校验返回">
              <a:extLst>
                <a:ext uri="{FF2B5EF4-FFF2-40B4-BE49-F238E27FC236}">
                  <a16:creationId xmlns:a16="http://schemas.microsoft.com/office/drawing/2014/main" id="{CD6F95EF-93E6-4DF4-9063-CDA4F08F2590}"/>
                </a:ext>
              </a:extLst>
            </p:cNvPr>
            <p:cNvSpPr>
              <a:spLocks/>
            </p:cNvSpPr>
            <p:nvPr/>
          </p:nvSpPr>
          <p:spPr>
            <a:xfrm>
              <a:off x="9329738" y="5829300"/>
              <a:ext cx="1538288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经校验返回</a:t>
              </a:r>
            </a:p>
          </p:txBody>
        </p:sp>
        <p:sp>
          <p:nvSpPr>
            <p:cNvPr id="73" name="编排器 Orchestrator    采集器 Collector    归一器 Triage">
              <a:extLst>
                <a:ext uri="{FF2B5EF4-FFF2-40B4-BE49-F238E27FC236}">
                  <a16:creationId xmlns:a16="http://schemas.microsoft.com/office/drawing/2014/main" id="{B82EB76E-8B4F-421A-994E-8558909146BD}"/>
                </a:ext>
              </a:extLst>
            </p:cNvPr>
            <p:cNvSpPr>
              <a:spLocks/>
            </p:cNvSpPr>
            <p:nvPr/>
          </p:nvSpPr>
          <p:spPr>
            <a:xfrm>
              <a:off x="476250" y="6515100"/>
              <a:ext cx="104775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编排器 Orchestrator    采集器 Collector    归一器 Triage</a:t>
              </a:r>
            </a:p>
          </p:txBody>
        </p:sp>
        <p:sp>
          <p:nvSpPr>
            <p:cNvPr id="74" name="富化器 Enricher    校验器 Critic    图写入器 GraphWriter    评估器 Assessor">
              <a:extLst>
                <a:ext uri="{FF2B5EF4-FFF2-40B4-BE49-F238E27FC236}">
                  <a16:creationId xmlns:a16="http://schemas.microsoft.com/office/drawing/2014/main" id="{351F52A3-A6D0-459D-8A73-8DB459306C3B}"/>
                </a:ext>
              </a:extLst>
            </p:cNvPr>
            <p:cNvSpPr>
              <a:spLocks/>
            </p:cNvSpPr>
            <p:nvPr/>
          </p:nvSpPr>
          <p:spPr>
            <a:xfrm>
              <a:off x="476250" y="6915150"/>
              <a:ext cx="104775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富化器 Enricher    校验器 Critic    图写入器 GraphWriter    评估器 Assessor</a:t>
              </a:r>
            </a:p>
          </p:txBody>
        </p:sp>
        <p:sp>
          <p:nvSpPr>
            <p:cNvPr id="75" name="演示注入 / 自有仓库 webhook 验签后触发立即 poll；DEMO 单列">
              <a:extLst>
                <a:ext uri="{FF2B5EF4-FFF2-40B4-BE49-F238E27FC236}">
                  <a16:creationId xmlns:a16="http://schemas.microsoft.com/office/drawing/2014/main" id="{2FB71973-3FEA-479A-B67B-967300CDF55C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演示注入 / 自有仓库 webhook 验签后触发立即 poll；DEMO 单列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36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F-05 - whole figure">
            <a:extLst>
              <a:ext uri="{FF2B5EF4-FFF2-40B4-BE49-F238E27FC236}">
                <a16:creationId xmlns:a16="http://schemas.microsoft.com/office/drawing/2014/main" id="{A7B37C42-7A83-19B9-970C-5B65A088C4CA}"/>
              </a:ext>
            </a:extLst>
          </p:cNvPr>
          <p:cNvGrpSpPr/>
          <p:nvPr/>
        </p:nvGrpSpPr>
        <p:grpSpPr>
          <a:xfrm>
            <a:off x="619125" y="1257300"/>
            <a:ext cx="10201275" cy="5781675"/>
            <a:chOff x="619125" y="1257300"/>
            <a:chExt cx="10201275" cy="5781675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AB7CDF5B-F53B-4A65-BFD9-6DACFC3A189F}"/>
                </a:ext>
              </a:extLst>
            </p:cNvPr>
            <p:cNvCxnSpPr>
              <a:stCxn id="29" idx="2"/>
              <a:endCxn id="32" idx="0"/>
            </p:cNvCxnSpPr>
            <p:nvPr/>
          </p:nvCxnSpPr>
          <p:spPr>
            <a:xfrm>
              <a:off x="4872038" y="5857875"/>
              <a:ext cx="852488" cy="561975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7D97763-3047-4311-9EAB-86C0531F7F11}"/>
                </a:ext>
              </a:extLst>
            </p:cNvPr>
            <p:cNvCxnSpPr>
              <a:stCxn id="22" idx="1"/>
              <a:endCxn id="29" idx="3"/>
            </p:cNvCxnSpPr>
            <p:nvPr/>
          </p:nvCxnSpPr>
          <p:spPr>
            <a:xfrm flipH="1">
              <a:off x="6038850" y="5248275"/>
              <a:ext cx="1057275" cy="204788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4DAE52DC-66E1-4511-A0D8-ECDD1E63C5FA}"/>
                </a:ext>
              </a:extLst>
            </p:cNvPr>
            <p:cNvCxnSpPr>
              <a:stCxn id="27" idx="3"/>
              <a:endCxn id="29" idx="1"/>
            </p:cNvCxnSpPr>
            <p:nvPr/>
          </p:nvCxnSpPr>
          <p:spPr>
            <a:xfrm>
              <a:off x="2876550" y="5453063"/>
              <a:ext cx="828675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936C179-836A-4A82-BB3D-10D1208D7D17}"/>
                </a:ext>
              </a:extLst>
            </p:cNvPr>
            <p:cNvCxnSpPr>
              <a:stCxn id="17" idx="2"/>
              <a:endCxn id="27" idx="0"/>
            </p:cNvCxnSpPr>
            <p:nvPr/>
          </p:nvCxnSpPr>
          <p:spPr>
            <a:xfrm flipH="1">
              <a:off x="1781175" y="4305300"/>
              <a:ext cx="619125" cy="83820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CCB848C6-D185-4362-8199-D8E97D17DAB0}"/>
                </a:ext>
              </a:extLst>
            </p:cNvPr>
            <p:cNvCxnSpPr>
              <a:stCxn id="7" idx="2"/>
              <a:endCxn id="22" idx="0"/>
            </p:cNvCxnSpPr>
            <p:nvPr/>
          </p:nvCxnSpPr>
          <p:spPr>
            <a:xfrm>
              <a:off x="8429625" y="3886200"/>
              <a:ext cx="0" cy="76200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3C0D9E0E-D5C1-49A2-BB37-95B866845040}"/>
                </a:ext>
              </a:extLst>
            </p:cNvPr>
            <p:cNvCxnSpPr>
              <a:stCxn id="7" idx="1"/>
              <a:endCxn id="17" idx="3"/>
            </p:cNvCxnSpPr>
            <p:nvPr/>
          </p:nvCxnSpPr>
          <p:spPr>
            <a:xfrm flipH="1">
              <a:off x="4114800" y="3286125"/>
              <a:ext cx="2981325" cy="38100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71642778-E446-4613-89EA-53CDF9994DC7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 flipH="1">
              <a:off x="8429625" y="2381727"/>
              <a:ext cx="953" cy="30480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C9222FDC-E4E6-4BDE-855E-39C767ACD79B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H="1">
              <a:off x="8429625" y="2381727"/>
              <a:ext cx="1039178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21839B6C-2141-4E65-911C-C7F22CD96EAD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 flipH="1">
              <a:off x="9467850" y="1905477"/>
              <a:ext cx="953" cy="47625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137CD439-C1F0-46D4-A1BF-2056D0066E57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7159625" y="1581150"/>
              <a:ext cx="76200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FC64B84A-A599-4FB7-95F6-346AD0B673D7}"/>
                </a:ext>
              </a:extLst>
            </p:cNvPr>
            <p:cNvCxnSpPr>
              <a:stCxn id="34" idx="3"/>
              <a:endCxn id="2" idx="1"/>
            </p:cNvCxnSpPr>
            <p:nvPr/>
          </p:nvCxnSpPr>
          <p:spPr>
            <a:xfrm>
              <a:off x="3508375" y="1581150"/>
              <a:ext cx="76200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34" name="编码智能体">
              <a:extLst>
                <a:ext uri="{FF2B5EF4-FFF2-40B4-BE49-F238E27FC236}">
                  <a16:creationId xmlns:a16="http://schemas.microsoft.com/office/drawing/2014/main" id="{DF88FB1D-C98F-487F-9B31-EF69AA524F25}"/>
                </a:ext>
              </a:extLst>
            </p:cNvPr>
            <p:cNvSpPr>
              <a:spLocks/>
            </p:cNvSpPr>
            <p:nvPr/>
          </p:nvSpPr>
          <p:spPr>
            <a:xfrm>
              <a:off x="619125" y="1257300"/>
              <a:ext cx="2889250" cy="647700"/>
            </a:xfrm>
            <a:prstGeom prst="roundRect">
              <a:avLst>
                <a:gd name="adj" fmla="val 588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编码智能体</a:t>
              </a:r>
            </a:p>
          </p:txBody>
        </p:sp>
        <p:sp>
          <p:nvSpPr>
            <p:cNvPr id="2" name="/mcp">
              <a:extLst>
                <a:ext uri="{FF2B5EF4-FFF2-40B4-BE49-F238E27FC236}">
                  <a16:creationId xmlns:a16="http://schemas.microsoft.com/office/drawing/2014/main" id="{6568B321-1F67-4203-AB61-6652A8C4CA8D}"/>
                </a:ext>
              </a:extLst>
            </p:cNvPr>
            <p:cNvSpPr>
              <a:spLocks/>
            </p:cNvSpPr>
            <p:nvPr/>
          </p:nvSpPr>
          <p:spPr>
            <a:xfrm>
              <a:off x="4270375" y="1257300"/>
              <a:ext cx="2889250" cy="647700"/>
            </a:xfrm>
            <a:prstGeom prst="roundRect">
              <a:avLst>
                <a:gd name="adj" fmla="val 588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/mcp</a:t>
              </a:r>
            </a:p>
          </p:txBody>
        </p:sp>
        <p:sp>
          <p:nvSpPr>
            <p:cNvPr id="3" name="intel-core">
              <a:extLst>
                <a:ext uri="{FF2B5EF4-FFF2-40B4-BE49-F238E27FC236}">
                  <a16:creationId xmlns:a16="http://schemas.microsoft.com/office/drawing/2014/main" id="{51491D9D-FB04-4142-8DB9-3F85CC20721B}"/>
                </a:ext>
              </a:extLst>
            </p:cNvPr>
            <p:cNvSpPr>
              <a:spLocks/>
            </p:cNvSpPr>
            <p:nvPr/>
          </p:nvSpPr>
          <p:spPr>
            <a:xfrm>
              <a:off x="7921625" y="1257300"/>
              <a:ext cx="2889250" cy="647700"/>
            </a:xfrm>
            <a:prstGeom prst="roundRect">
              <a:avLst>
                <a:gd name="adj" fmla="val 5882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intel-core</a:t>
              </a:r>
            </a:p>
          </p:txBody>
        </p:sp>
        <p:sp>
          <p:nvSpPr>
            <p:cNvPr id="6" name="凭据 / scope / 限流 / 审计">
              <a:extLst>
                <a:ext uri="{FF2B5EF4-FFF2-40B4-BE49-F238E27FC236}">
                  <a16:creationId xmlns:a16="http://schemas.microsoft.com/office/drawing/2014/main" id="{C0164754-7CAC-41C8-B72B-C05B46807213}"/>
                </a:ext>
              </a:extLst>
            </p:cNvPr>
            <p:cNvSpPr>
              <a:spLocks/>
            </p:cNvSpPr>
            <p:nvPr/>
          </p:nvSpPr>
          <p:spPr>
            <a:xfrm>
              <a:off x="5257800" y="2009775"/>
              <a:ext cx="4048125" cy="3714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凭据 / scope / 限流 / 审计</a:t>
              </a:r>
            </a:p>
          </p:txBody>
        </p:sp>
        <p:sp>
          <p:nvSpPr>
            <p:cNvPr id="7" name="耗时估计">
              <a:extLst>
                <a:ext uri="{FF2B5EF4-FFF2-40B4-BE49-F238E27FC236}">
                  <a16:creationId xmlns:a16="http://schemas.microsoft.com/office/drawing/2014/main" id="{97CCC02B-236F-4E2C-BAB2-DF3A279143B3}"/>
                </a:ext>
              </a:extLst>
            </p:cNvPr>
            <p:cNvSpPr>
              <a:spLocks/>
            </p:cNvSpPr>
            <p:nvPr/>
          </p:nvSpPr>
          <p:spPr>
            <a:xfrm>
              <a:off x="7096125" y="2686050"/>
              <a:ext cx="2667000" cy="1200150"/>
            </a:xfrm>
            <a:prstGeom prst="diamond">
              <a:avLst/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950" b="1">
                  <a:solidFill>
                    <a:srgbClr val="A67A20"/>
                  </a:solidFill>
                </a:defRPr>
              </a:pPr>
              <a:r>
                <a:rPr sz="195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耗时估计</a:t>
              </a:r>
            </a:p>
          </p:txBody>
        </p:sp>
        <p:sp>
          <p:nvSpPr>
            <p:cNvPr id="8" name="boundary">
              <a:extLst>
                <a:ext uri="{FF2B5EF4-FFF2-40B4-BE49-F238E27FC236}">
                  <a16:creationId xmlns:a16="http://schemas.microsoft.com/office/drawing/2014/main" id="{0FF74445-DF6D-4332-BFB1-AA243B93405C}"/>
                </a:ext>
              </a:extLst>
            </p:cNvPr>
            <p:cNvSpPr>
              <a:spLocks/>
            </p:cNvSpPr>
            <p:nvPr/>
          </p:nvSpPr>
          <p:spPr>
            <a:xfrm>
              <a:off x="9467850" y="1905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9" name="boundary">
              <a:extLst>
                <a:ext uri="{FF2B5EF4-FFF2-40B4-BE49-F238E27FC236}">
                  <a16:creationId xmlns:a16="http://schemas.microsoft.com/office/drawing/2014/main" id="{8E55533B-7B71-40DA-94A6-AB05E9232367}"/>
                </a:ext>
              </a:extLst>
            </p:cNvPr>
            <p:cNvSpPr>
              <a:spLocks/>
            </p:cNvSpPr>
            <p:nvPr/>
          </p:nvSpPr>
          <p:spPr>
            <a:xfrm>
              <a:off x="9467850" y="23812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EC5CD3E0-1E71-4857-B914-F19F26E23151}"/>
                </a:ext>
              </a:extLst>
            </p:cNvPr>
            <p:cNvSpPr>
              <a:spLocks/>
            </p:cNvSpPr>
            <p:nvPr/>
          </p:nvSpPr>
          <p:spPr>
            <a:xfrm>
              <a:off x="9467850" y="23812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2" name="boundary">
              <a:extLst>
                <a:ext uri="{FF2B5EF4-FFF2-40B4-BE49-F238E27FC236}">
                  <a16:creationId xmlns:a16="http://schemas.microsoft.com/office/drawing/2014/main" id="{269819A4-384D-4B41-A025-67CBBA0E7037}"/>
                </a:ext>
              </a:extLst>
            </p:cNvPr>
            <p:cNvSpPr>
              <a:spLocks/>
            </p:cNvSpPr>
            <p:nvPr/>
          </p:nvSpPr>
          <p:spPr>
            <a:xfrm>
              <a:off x="8429625" y="23812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FCEDED7A-B2C7-4544-99D0-2ADD52517DE8}"/>
                </a:ext>
              </a:extLst>
            </p:cNvPr>
            <p:cNvSpPr>
              <a:spLocks/>
            </p:cNvSpPr>
            <p:nvPr/>
          </p:nvSpPr>
          <p:spPr>
            <a:xfrm>
              <a:off x="8429625" y="23812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5" name="boundary">
              <a:extLst>
                <a:ext uri="{FF2B5EF4-FFF2-40B4-BE49-F238E27FC236}">
                  <a16:creationId xmlns:a16="http://schemas.microsoft.com/office/drawing/2014/main" id="{621D78B7-10C2-4495-A800-49D39D0D58BE}"/>
                </a:ext>
              </a:extLst>
            </p:cNvPr>
            <p:cNvSpPr>
              <a:spLocks/>
            </p:cNvSpPr>
            <p:nvPr/>
          </p:nvSpPr>
          <p:spPr>
            <a:xfrm>
              <a:off x="8429625" y="26860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6EC0088B-8393-40DE-840F-16A7DAEE0678}"/>
                </a:ext>
              </a:extLst>
            </p:cNvPr>
            <p:cNvSpPr>
              <a:spLocks/>
            </p:cNvSpPr>
            <p:nvPr/>
          </p:nvSpPr>
          <p:spPr>
            <a:xfrm>
              <a:off x="685800" y="3028950"/>
              <a:ext cx="3429000" cy="1276350"/>
            </a:xfrm>
            <a:prstGeom prst="roundRect">
              <a:avLst>
                <a:gd name="adj" fmla="val 298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8" name="同步求解">
              <a:extLst>
                <a:ext uri="{FF2B5EF4-FFF2-40B4-BE49-F238E27FC236}">
                  <a16:creationId xmlns:a16="http://schemas.microsoft.com/office/drawing/2014/main" id="{0521569A-DAB6-43B5-87EB-30C1E492A6AC}"/>
                </a:ext>
              </a:extLst>
            </p:cNvPr>
            <p:cNvSpPr>
              <a:spLocks/>
            </p:cNvSpPr>
            <p:nvPr/>
          </p:nvSpPr>
          <p:spPr>
            <a:xfrm>
              <a:off x="781050" y="3124200"/>
              <a:ext cx="3238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同步求解</a:t>
              </a:r>
            </a:p>
          </p:txBody>
        </p:sp>
        <p:sp>
          <p:nvSpPr>
            <p:cNvPr id="19" name="版本 / QA + Critic">
              <a:extLst>
                <a:ext uri="{FF2B5EF4-FFF2-40B4-BE49-F238E27FC236}">
                  <a16:creationId xmlns:a16="http://schemas.microsoft.com/office/drawing/2014/main" id="{873D8337-60BF-4593-9E59-946B5BB9D062}"/>
                </a:ext>
              </a:extLst>
            </p:cNvPr>
            <p:cNvSpPr>
              <a:spLocks/>
            </p:cNvSpPr>
            <p:nvPr/>
          </p:nvSpPr>
          <p:spPr>
            <a:xfrm>
              <a:off x="800100" y="3552825"/>
              <a:ext cx="3200400" cy="657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版本 / QA + Critic</a:t>
              </a:r>
            </a:p>
          </p:txBody>
        </p:sp>
        <p:sp>
          <p:nvSpPr>
            <p:cNvPr id="21" name="≤60 s">
              <a:extLst>
                <a:ext uri="{FF2B5EF4-FFF2-40B4-BE49-F238E27FC236}">
                  <a16:creationId xmlns:a16="http://schemas.microsoft.com/office/drawing/2014/main" id="{2B7ABAF5-D2E7-4967-9156-F42971FA95F9}"/>
                </a:ext>
              </a:extLst>
            </p:cNvPr>
            <p:cNvSpPr>
              <a:spLocks/>
            </p:cNvSpPr>
            <p:nvPr/>
          </p:nvSpPr>
          <p:spPr>
            <a:xfrm>
              <a:off x="4524375" y="3048000"/>
              <a:ext cx="18573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≤60 s</a:t>
              </a:r>
            </a:p>
          </p:txBody>
        </p:sp>
        <p:sp>
          <p:nvSpPr>
            <p:cNvPr id="22" name="boundary">
              <a:extLst>
                <a:ext uri="{FF2B5EF4-FFF2-40B4-BE49-F238E27FC236}">
                  <a16:creationId xmlns:a16="http://schemas.microsoft.com/office/drawing/2014/main" id="{CF7ED303-F327-4114-80A9-A15B660D5AFF}"/>
                </a:ext>
              </a:extLst>
            </p:cNvPr>
            <p:cNvSpPr>
              <a:spLocks/>
            </p:cNvSpPr>
            <p:nvPr/>
          </p:nvSpPr>
          <p:spPr>
            <a:xfrm>
              <a:off x="7096125" y="4648200"/>
              <a:ext cx="2667000" cy="1200150"/>
            </a:xfrm>
            <a:prstGeom prst="roundRect">
              <a:avLst>
                <a:gd name="adj" fmla="val 3175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3" name="TaskHandle">
              <a:extLst>
                <a:ext uri="{FF2B5EF4-FFF2-40B4-BE49-F238E27FC236}">
                  <a16:creationId xmlns:a16="http://schemas.microsoft.com/office/drawing/2014/main" id="{D9FD5F14-7677-4F47-AA63-8F4B311823EB}"/>
                </a:ext>
              </a:extLst>
            </p:cNvPr>
            <p:cNvSpPr>
              <a:spLocks/>
            </p:cNvSpPr>
            <p:nvPr/>
          </p:nvSpPr>
          <p:spPr>
            <a:xfrm>
              <a:off x="7191375" y="4743450"/>
              <a:ext cx="2476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TaskHandle</a:t>
              </a:r>
            </a:p>
          </p:txBody>
        </p:sp>
        <p:sp>
          <p:nvSpPr>
            <p:cNvPr id="24" name="get_task_result">
              <a:extLst>
                <a:ext uri="{FF2B5EF4-FFF2-40B4-BE49-F238E27FC236}">
                  <a16:creationId xmlns:a16="http://schemas.microsoft.com/office/drawing/2014/main" id="{6D38EB4D-8F4D-435F-866C-8E0D3C5EBD08}"/>
                </a:ext>
              </a:extLst>
            </p:cNvPr>
            <p:cNvSpPr>
              <a:spLocks/>
            </p:cNvSpPr>
            <p:nvPr/>
          </p:nvSpPr>
          <p:spPr>
            <a:xfrm>
              <a:off x="7210425" y="5172075"/>
              <a:ext cx="24384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get_task_result</a:t>
              </a:r>
            </a:p>
          </p:txBody>
        </p:sp>
        <p:sp>
          <p:nvSpPr>
            <p:cNvPr id="26" name="&gt;60 s">
              <a:extLst>
                <a:ext uri="{FF2B5EF4-FFF2-40B4-BE49-F238E27FC236}">
                  <a16:creationId xmlns:a16="http://schemas.microsoft.com/office/drawing/2014/main" id="{AA3B029B-A45D-4264-991A-5F7F2D13266A}"/>
                </a:ext>
              </a:extLst>
            </p:cNvPr>
            <p:cNvSpPr>
              <a:spLocks/>
            </p:cNvSpPr>
            <p:nvPr/>
          </p:nvSpPr>
          <p:spPr>
            <a:xfrm>
              <a:off x="9525000" y="4010025"/>
              <a:ext cx="12954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547D45"/>
                  </a:solidFill>
                </a:defRPr>
              </a:defPPr>
            </a:lstStyle>
            <a:p>
              <a:pPr algn="l">
                <a:defRPr sz="1800" b="1">
                  <a:solidFill>
                    <a:srgbClr val="547D45"/>
                  </a:solidFill>
                </a:defRPr>
              </a:pPr>
              <a:r>
                <a:rPr sz="18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&gt;60 s</a:t>
              </a:r>
            </a:p>
          </p:txBody>
        </p:sp>
        <p:sp>
          <p:nvSpPr>
            <p:cNvPr id="27" name="合规过滤">
              <a:extLst>
                <a:ext uri="{FF2B5EF4-FFF2-40B4-BE49-F238E27FC236}">
                  <a16:creationId xmlns:a16="http://schemas.microsoft.com/office/drawing/2014/main" id="{1D8F1D80-FA42-4E24-A523-F3E8791CA373}"/>
                </a:ext>
              </a:extLst>
            </p:cNvPr>
            <p:cNvSpPr>
              <a:spLocks/>
            </p:cNvSpPr>
            <p:nvPr/>
          </p:nvSpPr>
          <p:spPr>
            <a:xfrm>
              <a:off x="685800" y="5143500"/>
              <a:ext cx="2190750" cy="619125"/>
            </a:xfrm>
            <a:prstGeom prst="roundRect">
              <a:avLst>
                <a:gd name="adj" fmla="val 6154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合规过滤</a:t>
              </a:r>
            </a:p>
          </p:txBody>
        </p:sp>
        <p:sp>
          <p:nvSpPr>
            <p:cNvPr id="29" name="结果裁剪 ≤8k tokens">
              <a:extLst>
                <a:ext uri="{FF2B5EF4-FFF2-40B4-BE49-F238E27FC236}">
                  <a16:creationId xmlns:a16="http://schemas.microsoft.com/office/drawing/2014/main" id="{EE352BE9-2EF6-41FF-946A-7AC00CDE54CC}"/>
                </a:ext>
              </a:extLst>
            </p:cNvPr>
            <p:cNvSpPr>
              <a:spLocks/>
            </p:cNvSpPr>
            <p:nvPr/>
          </p:nvSpPr>
          <p:spPr>
            <a:xfrm>
              <a:off x="3705225" y="5048250"/>
              <a:ext cx="2333625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结果裁剪</a:t>
              </a:r>
            </a:p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≤8k tokens</a:t>
              </a:r>
            </a:p>
          </p:txBody>
        </p:sp>
        <p:sp>
          <p:nvSpPr>
            <p:cNvPr id="32" name="返回 / 分页续取">
              <a:extLst>
                <a:ext uri="{FF2B5EF4-FFF2-40B4-BE49-F238E27FC236}">
                  <a16:creationId xmlns:a16="http://schemas.microsoft.com/office/drawing/2014/main" id="{C633F094-9A9B-4F64-B74F-2A09673E6366}"/>
                </a:ext>
              </a:extLst>
            </p:cNvPr>
            <p:cNvSpPr>
              <a:spLocks/>
            </p:cNvSpPr>
            <p:nvPr/>
          </p:nvSpPr>
          <p:spPr>
            <a:xfrm>
              <a:off x="3705225" y="6419850"/>
              <a:ext cx="4038600" cy="619125"/>
            </a:xfrm>
            <a:prstGeom prst="roundRect">
              <a:avLst>
                <a:gd name="adj" fmla="val 6154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返回 / 分页续取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766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F-06 - whole figure">
            <a:extLst>
              <a:ext uri="{FF2B5EF4-FFF2-40B4-BE49-F238E27FC236}">
                <a16:creationId xmlns:a16="http://schemas.microsoft.com/office/drawing/2014/main" id="{35A7BBA8-2699-82FA-9549-2317C7210798}"/>
              </a:ext>
            </a:extLst>
          </p:cNvPr>
          <p:cNvGrpSpPr/>
          <p:nvPr/>
        </p:nvGrpSpPr>
        <p:grpSpPr>
          <a:xfrm>
            <a:off x="428625" y="1181100"/>
            <a:ext cx="10572750" cy="6781800"/>
            <a:chOff x="428625" y="1181100"/>
            <a:chExt cx="10572750" cy="6781800"/>
          </a:xfrm>
        </p:grpSpPr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8C3370A1-5140-4F1C-A688-2D345926F43B}"/>
                </a:ext>
              </a:extLst>
            </p:cNvPr>
            <p:cNvCxnSpPr>
              <a:stCxn id="46" idx="3"/>
              <a:endCxn id="47" idx="1"/>
            </p:cNvCxnSpPr>
            <p:nvPr/>
          </p:nvCxnSpPr>
          <p:spPr>
            <a:xfrm flipH="1">
              <a:off x="7915275" y="4439127"/>
              <a:ext cx="1420178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8A05F66A-5700-4C8D-8C0C-F60542334D3F}"/>
                </a:ext>
              </a:extLst>
            </p:cNvPr>
            <p:cNvCxnSpPr>
              <a:stCxn id="43" idx="3"/>
              <a:endCxn id="44" idx="1"/>
            </p:cNvCxnSpPr>
            <p:nvPr/>
          </p:nvCxnSpPr>
          <p:spPr>
            <a:xfrm flipH="1" flipV="1">
              <a:off x="9334500" y="4439127"/>
              <a:ext cx="953" cy="46672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B4ED8BAD-3590-4347-AEA6-F10730850587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H="1" flipV="1">
              <a:off x="5695950" y="4439127"/>
              <a:ext cx="953" cy="46672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1DBE3418-615D-4773-911F-82A4ADD02572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 flipH="1" flipV="1">
              <a:off x="7915275" y="3839052"/>
              <a:ext cx="953" cy="60007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  <a:tailEnd type="triangle" w="sm" len="sm"/>
            </a:ln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D3A7B69E-BACC-4CD6-95B4-C7BD0987CF08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>
              <a:off x="2067878" y="4439127"/>
              <a:ext cx="584739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A18DF1E1-718E-43A0-A2CB-3B6E02C2D292}"/>
                </a:ext>
              </a:extLst>
            </p:cNvPr>
            <p:cNvCxnSpPr>
              <a:stCxn id="31" idx="3"/>
              <a:endCxn id="32" idx="1"/>
            </p:cNvCxnSpPr>
            <p:nvPr/>
          </p:nvCxnSpPr>
          <p:spPr>
            <a:xfrm flipH="1" flipV="1">
              <a:off x="2066925" y="4439127"/>
              <a:ext cx="953" cy="46672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604D6D90-2792-4B65-9AEE-49397F949C1C}"/>
                </a:ext>
              </a:extLst>
            </p:cNvPr>
            <p:cNvCxnSpPr>
              <a:stCxn id="6" idx="2"/>
              <a:endCxn id="27" idx="0"/>
            </p:cNvCxnSpPr>
            <p:nvPr/>
          </p:nvCxnSpPr>
          <p:spPr>
            <a:xfrm flipH="1">
              <a:off x="9329738" y="3838575"/>
              <a:ext cx="728663" cy="106680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0F60376B-2BF8-4351-9D42-1B8C4ACB6B57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 flipH="1">
              <a:off x="1428750" y="2467452"/>
              <a:ext cx="953" cy="5810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7CE4FA9-F469-4FC5-9746-53E629FFEE76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 flipH="1">
              <a:off x="1428750" y="2467452"/>
              <a:ext cx="42872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F7E64963-DFB8-4CCB-9788-A17F402F80D9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H="1">
              <a:off x="5715000" y="1962627"/>
              <a:ext cx="953" cy="5048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BE445000-DFD8-46F8-8E36-F124EE4D1844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8829675" y="3443288"/>
              <a:ext cx="2857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786FCBE9-E86D-4769-9E3B-51CCF61478B3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6657975" y="3443288"/>
              <a:ext cx="2857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1370E66-1CE8-4BF0-BC23-44E7AE55BD86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4486275" y="3443288"/>
              <a:ext cx="2857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348D642A-C5EE-43C1-8B13-AD5C050A3010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2314575" y="3443288"/>
              <a:ext cx="2857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53" name="Orchestrator">
              <a:extLst>
                <a:ext uri="{FF2B5EF4-FFF2-40B4-BE49-F238E27FC236}">
                  <a16:creationId xmlns:a16="http://schemas.microsoft.com/office/drawing/2014/main" id="{C22889F8-C2F0-4CEB-8F70-42CEF6007081}"/>
                </a:ext>
              </a:extLst>
            </p:cNvPr>
            <p:cNvSpPr>
              <a:spLocks/>
            </p:cNvSpPr>
            <p:nvPr/>
          </p:nvSpPr>
          <p:spPr>
            <a:xfrm>
              <a:off x="4191000" y="1181100"/>
              <a:ext cx="3048000" cy="781050"/>
            </a:xfrm>
            <a:prstGeom prst="hexagon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2100" b="1">
                  <a:solidFill>
                    <a:srgbClr val="FFFFFF"/>
                  </a:solidFill>
                </a:defRPr>
              </a:pPr>
              <a:r>
                <a:rPr sz="21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Orchestrator</a:t>
              </a:r>
            </a:p>
          </p:txBody>
        </p:sp>
        <p:sp>
          <p:nvSpPr>
            <p:cNvPr id="2" name="Collector">
              <a:extLst>
                <a:ext uri="{FF2B5EF4-FFF2-40B4-BE49-F238E27FC236}">
                  <a16:creationId xmlns:a16="http://schemas.microsoft.com/office/drawing/2014/main" id="{EBF6EA3D-C043-4AE4-AC06-78846B6A5ACC}"/>
                </a:ext>
              </a:extLst>
            </p:cNvPr>
            <p:cNvSpPr>
              <a:spLocks/>
            </p:cNvSpPr>
            <p:nvPr/>
          </p:nvSpPr>
          <p:spPr>
            <a:xfrm>
              <a:off x="428625" y="3048000"/>
              <a:ext cx="1885950" cy="790575"/>
            </a:xfrm>
            <a:prstGeom prst="roundRect">
              <a:avLst>
                <a:gd name="adj" fmla="val 4819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Collector</a:t>
              </a:r>
            </a:p>
          </p:txBody>
        </p:sp>
        <p:sp>
          <p:nvSpPr>
            <p:cNvPr id="3" name="Triage">
              <a:extLst>
                <a:ext uri="{FF2B5EF4-FFF2-40B4-BE49-F238E27FC236}">
                  <a16:creationId xmlns:a16="http://schemas.microsoft.com/office/drawing/2014/main" id="{38D75419-2AB8-4C1B-A55C-06A2009B9059}"/>
                </a:ext>
              </a:extLst>
            </p:cNvPr>
            <p:cNvSpPr>
              <a:spLocks/>
            </p:cNvSpPr>
            <p:nvPr/>
          </p:nvSpPr>
          <p:spPr>
            <a:xfrm>
              <a:off x="2600325" y="3048000"/>
              <a:ext cx="1885950" cy="790575"/>
            </a:xfrm>
            <a:prstGeom prst="roundRect">
              <a:avLst>
                <a:gd name="adj" fmla="val 4819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Triage</a:t>
              </a:r>
            </a:p>
          </p:txBody>
        </p:sp>
        <p:sp>
          <p:nvSpPr>
            <p:cNvPr id="4" name="Enricher">
              <a:extLst>
                <a:ext uri="{FF2B5EF4-FFF2-40B4-BE49-F238E27FC236}">
                  <a16:creationId xmlns:a16="http://schemas.microsoft.com/office/drawing/2014/main" id="{060D08E9-8FE5-439E-9869-AD92E685A4D2}"/>
                </a:ext>
              </a:extLst>
            </p:cNvPr>
            <p:cNvSpPr>
              <a:spLocks/>
            </p:cNvSpPr>
            <p:nvPr/>
          </p:nvSpPr>
          <p:spPr>
            <a:xfrm>
              <a:off x="4772025" y="3048000"/>
              <a:ext cx="1885950" cy="790575"/>
            </a:xfrm>
            <a:prstGeom prst="roundRect">
              <a:avLst>
                <a:gd name="adj" fmla="val 4819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Enricher</a:t>
              </a:r>
            </a:p>
          </p:txBody>
        </p:sp>
        <p:sp>
          <p:nvSpPr>
            <p:cNvPr id="5" name="Critic">
              <a:extLst>
                <a:ext uri="{FF2B5EF4-FFF2-40B4-BE49-F238E27FC236}">
                  <a16:creationId xmlns:a16="http://schemas.microsoft.com/office/drawing/2014/main" id="{DEEC8BF7-6ED5-4BB2-90EB-BB4F61C949E7}"/>
                </a:ext>
              </a:extLst>
            </p:cNvPr>
            <p:cNvSpPr>
              <a:spLocks/>
            </p:cNvSpPr>
            <p:nvPr/>
          </p:nvSpPr>
          <p:spPr>
            <a:xfrm>
              <a:off x="6943725" y="3048000"/>
              <a:ext cx="1885950" cy="790575"/>
            </a:xfrm>
            <a:prstGeom prst="roundRect">
              <a:avLst>
                <a:gd name="adj" fmla="val 4819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Critic</a:t>
              </a:r>
            </a:p>
          </p:txBody>
        </p:sp>
        <p:sp>
          <p:nvSpPr>
            <p:cNvPr id="6" name="GraphWriter">
              <a:extLst>
                <a:ext uri="{FF2B5EF4-FFF2-40B4-BE49-F238E27FC236}">
                  <a16:creationId xmlns:a16="http://schemas.microsoft.com/office/drawing/2014/main" id="{4AF7B957-32E0-4268-BB93-DFBA284B0859}"/>
                </a:ext>
              </a:extLst>
            </p:cNvPr>
            <p:cNvSpPr>
              <a:spLocks/>
            </p:cNvSpPr>
            <p:nvPr/>
          </p:nvSpPr>
          <p:spPr>
            <a:xfrm>
              <a:off x="9115425" y="3048000"/>
              <a:ext cx="1885950" cy="790575"/>
            </a:xfrm>
            <a:prstGeom prst="roundRect">
              <a:avLst>
                <a:gd name="adj" fmla="val 4819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GraphWriter</a:t>
              </a:r>
            </a:p>
          </p:txBody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D21FFECC-1861-4CBC-A8D9-3C9EF1F4FE57}"/>
                </a:ext>
              </a:extLst>
            </p:cNvPr>
            <p:cNvSpPr>
              <a:spLocks/>
            </p:cNvSpPr>
            <p:nvPr/>
          </p:nvSpPr>
          <p:spPr>
            <a:xfrm>
              <a:off x="5715000" y="19621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2" name="boundary">
              <a:extLst>
                <a:ext uri="{FF2B5EF4-FFF2-40B4-BE49-F238E27FC236}">
                  <a16:creationId xmlns:a16="http://schemas.microsoft.com/office/drawing/2014/main" id="{739BE15A-EE29-44BE-ABB2-A93DE2E80133}"/>
                </a:ext>
              </a:extLst>
            </p:cNvPr>
            <p:cNvSpPr>
              <a:spLocks/>
            </p:cNvSpPr>
            <p:nvPr/>
          </p:nvSpPr>
          <p:spPr>
            <a:xfrm>
              <a:off x="5715000" y="24669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FF90F19C-EC4A-449F-80D0-5AB24D67BE3B}"/>
                </a:ext>
              </a:extLst>
            </p:cNvPr>
            <p:cNvSpPr>
              <a:spLocks/>
            </p:cNvSpPr>
            <p:nvPr/>
          </p:nvSpPr>
          <p:spPr>
            <a:xfrm>
              <a:off x="5715000" y="24669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5" name="boundary">
              <a:extLst>
                <a:ext uri="{FF2B5EF4-FFF2-40B4-BE49-F238E27FC236}">
                  <a16:creationId xmlns:a16="http://schemas.microsoft.com/office/drawing/2014/main" id="{97D979BD-EF32-46C1-897A-6E1991F18E99}"/>
                </a:ext>
              </a:extLst>
            </p:cNvPr>
            <p:cNvSpPr>
              <a:spLocks/>
            </p:cNvSpPr>
            <p:nvPr/>
          </p:nvSpPr>
          <p:spPr>
            <a:xfrm>
              <a:off x="1428750" y="24669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093E112E-D2CE-485A-9592-44E1FC3D182C}"/>
                </a:ext>
              </a:extLst>
            </p:cNvPr>
            <p:cNvSpPr>
              <a:spLocks/>
            </p:cNvSpPr>
            <p:nvPr/>
          </p:nvSpPr>
          <p:spPr>
            <a:xfrm>
              <a:off x="1428750" y="24669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8" name="boundary">
              <a:extLst>
                <a:ext uri="{FF2B5EF4-FFF2-40B4-BE49-F238E27FC236}">
                  <a16:creationId xmlns:a16="http://schemas.microsoft.com/office/drawing/2014/main" id="{04982D47-5B40-4C5A-AE77-EC1ECD1B676F}"/>
                </a:ext>
              </a:extLst>
            </p:cNvPr>
            <p:cNvSpPr>
              <a:spLocks/>
            </p:cNvSpPr>
            <p:nvPr/>
          </p:nvSpPr>
          <p:spPr>
            <a:xfrm>
              <a:off x="1428750" y="3048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任务调度">
              <a:extLst>
                <a:ext uri="{FF2B5EF4-FFF2-40B4-BE49-F238E27FC236}">
                  <a16:creationId xmlns:a16="http://schemas.microsoft.com/office/drawing/2014/main" id="{F7DDEB07-48AE-42CD-B71E-FAD65DB6DF25}"/>
                </a:ext>
              </a:extLst>
            </p:cNvPr>
            <p:cNvSpPr>
              <a:spLocks/>
            </p:cNvSpPr>
            <p:nvPr/>
          </p:nvSpPr>
          <p:spPr>
            <a:xfrm>
              <a:off x="2876550" y="2114550"/>
              <a:ext cx="19050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任务调度</a:t>
              </a:r>
            </a:p>
          </p:txBody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C2554BFB-FE34-4C7B-B676-6EF081125E33}"/>
                </a:ext>
              </a:extLst>
            </p:cNvPr>
            <p:cNvSpPr>
              <a:spLocks/>
            </p:cNvSpPr>
            <p:nvPr/>
          </p:nvSpPr>
          <p:spPr>
            <a:xfrm>
              <a:off x="952500" y="4905375"/>
              <a:ext cx="2238375" cy="1009650"/>
            </a:xfrm>
            <a:prstGeom prst="roundRect">
              <a:avLst>
                <a:gd name="adj" fmla="val 3774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2" name="QA">
              <a:extLst>
                <a:ext uri="{FF2B5EF4-FFF2-40B4-BE49-F238E27FC236}">
                  <a16:creationId xmlns:a16="http://schemas.microsoft.com/office/drawing/2014/main" id="{02D4D104-EA3E-415A-8D1D-C0F1EC571DB6}"/>
                </a:ext>
              </a:extLst>
            </p:cNvPr>
            <p:cNvSpPr>
              <a:spLocks/>
            </p:cNvSpPr>
            <p:nvPr/>
          </p:nvSpPr>
          <p:spPr>
            <a:xfrm>
              <a:off x="1047750" y="5000625"/>
              <a:ext cx="20478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QA</a:t>
              </a:r>
            </a:p>
          </p:txBody>
        </p:sp>
        <p:sp>
          <p:nvSpPr>
            <p:cNvPr id="23" name="问答产出">
              <a:extLst>
                <a:ext uri="{FF2B5EF4-FFF2-40B4-BE49-F238E27FC236}">
                  <a16:creationId xmlns:a16="http://schemas.microsoft.com/office/drawing/2014/main" id="{A19094B2-9FE3-4F28-9656-AB8F30EE3845}"/>
                </a:ext>
              </a:extLst>
            </p:cNvPr>
            <p:cNvSpPr>
              <a:spLocks/>
            </p:cNvSpPr>
            <p:nvPr/>
          </p:nvSpPr>
          <p:spPr>
            <a:xfrm>
              <a:off x="1066800" y="5429250"/>
              <a:ext cx="2009775" cy="390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问答产出</a:t>
              </a:r>
            </a:p>
          </p:txBody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567DF89A-7B80-4D0E-9E7E-2BF5111A204C}"/>
                </a:ext>
              </a:extLst>
            </p:cNvPr>
            <p:cNvSpPr>
              <a:spLocks/>
            </p:cNvSpPr>
            <p:nvPr/>
          </p:nvSpPr>
          <p:spPr>
            <a:xfrm>
              <a:off x="4581525" y="4905375"/>
              <a:ext cx="2238375" cy="1009650"/>
            </a:xfrm>
            <a:prstGeom prst="roundRect">
              <a:avLst>
                <a:gd name="adj" fmla="val 3774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5" name="Reporter">
              <a:extLst>
                <a:ext uri="{FF2B5EF4-FFF2-40B4-BE49-F238E27FC236}">
                  <a16:creationId xmlns:a16="http://schemas.microsoft.com/office/drawing/2014/main" id="{49F39F4C-8301-4E73-966C-2B9D51CC79A6}"/>
                </a:ext>
              </a:extLst>
            </p:cNvPr>
            <p:cNvSpPr>
              <a:spLocks/>
            </p:cNvSpPr>
            <p:nvPr/>
          </p:nvSpPr>
          <p:spPr>
            <a:xfrm>
              <a:off x="4676775" y="5000625"/>
              <a:ext cx="20478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Reporter</a:t>
              </a:r>
            </a:p>
          </p:txBody>
        </p:sp>
        <p:sp>
          <p:nvSpPr>
            <p:cNvPr id="26" name="报告产出">
              <a:extLst>
                <a:ext uri="{FF2B5EF4-FFF2-40B4-BE49-F238E27FC236}">
                  <a16:creationId xmlns:a16="http://schemas.microsoft.com/office/drawing/2014/main" id="{302BEAB0-A61E-4AC6-9F42-423EABEBED37}"/>
                </a:ext>
              </a:extLst>
            </p:cNvPr>
            <p:cNvSpPr>
              <a:spLocks/>
            </p:cNvSpPr>
            <p:nvPr/>
          </p:nvSpPr>
          <p:spPr>
            <a:xfrm>
              <a:off x="4695825" y="5429250"/>
              <a:ext cx="2009775" cy="390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报告产出</a:t>
              </a:r>
            </a:p>
          </p:txBody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4506A1C5-BD4E-45F3-9D1A-5C8C9AF52452}"/>
                </a:ext>
              </a:extLst>
            </p:cNvPr>
            <p:cNvSpPr>
              <a:spLocks/>
            </p:cNvSpPr>
            <p:nvPr/>
          </p:nvSpPr>
          <p:spPr>
            <a:xfrm>
              <a:off x="8210550" y="4905375"/>
              <a:ext cx="2238375" cy="1009650"/>
            </a:xfrm>
            <a:prstGeom prst="roundRect">
              <a:avLst>
                <a:gd name="adj" fmla="val 3774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8" name="Assessor">
              <a:extLst>
                <a:ext uri="{FF2B5EF4-FFF2-40B4-BE49-F238E27FC236}">
                  <a16:creationId xmlns:a16="http://schemas.microsoft.com/office/drawing/2014/main" id="{40359916-8577-4854-A3E7-60F6248F6870}"/>
                </a:ext>
              </a:extLst>
            </p:cNvPr>
            <p:cNvSpPr>
              <a:spLocks/>
            </p:cNvSpPr>
            <p:nvPr/>
          </p:nvSpPr>
          <p:spPr>
            <a:xfrm>
              <a:off x="8305800" y="5000625"/>
              <a:ext cx="20478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Assessor</a:t>
              </a:r>
            </a:p>
          </p:txBody>
        </p:sp>
        <p:sp>
          <p:nvSpPr>
            <p:cNvPr id="29" name="影响评估">
              <a:extLst>
                <a:ext uri="{FF2B5EF4-FFF2-40B4-BE49-F238E27FC236}">
                  <a16:creationId xmlns:a16="http://schemas.microsoft.com/office/drawing/2014/main" id="{65AA3FA0-7931-400C-8226-A0A04C51B2AD}"/>
                </a:ext>
              </a:extLst>
            </p:cNvPr>
            <p:cNvSpPr>
              <a:spLocks/>
            </p:cNvSpPr>
            <p:nvPr/>
          </p:nvSpPr>
          <p:spPr>
            <a:xfrm>
              <a:off x="8324850" y="5429250"/>
              <a:ext cx="2009775" cy="390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影响评估</a:t>
              </a:r>
            </a:p>
          </p:txBody>
        </p:sp>
        <p:sp>
          <p:nvSpPr>
            <p:cNvPr id="31" name="boundary">
              <a:extLst>
                <a:ext uri="{FF2B5EF4-FFF2-40B4-BE49-F238E27FC236}">
                  <a16:creationId xmlns:a16="http://schemas.microsoft.com/office/drawing/2014/main" id="{9C48B4DE-3CE7-4D42-9DD5-A9D78FA1CA57}"/>
                </a:ext>
              </a:extLst>
            </p:cNvPr>
            <p:cNvSpPr>
              <a:spLocks/>
            </p:cNvSpPr>
            <p:nvPr/>
          </p:nvSpPr>
          <p:spPr>
            <a:xfrm>
              <a:off x="2066925" y="4905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boundary">
              <a:extLst>
                <a:ext uri="{FF2B5EF4-FFF2-40B4-BE49-F238E27FC236}">
                  <a16:creationId xmlns:a16="http://schemas.microsoft.com/office/drawing/2014/main" id="{53FD837A-D3FF-4A3E-8EDF-65FB502E52BD}"/>
                </a:ext>
              </a:extLst>
            </p:cNvPr>
            <p:cNvSpPr>
              <a:spLocks/>
            </p:cNvSpPr>
            <p:nvPr/>
          </p:nvSpPr>
          <p:spPr>
            <a:xfrm>
              <a:off x="2066925" y="4438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4D70A75F-643E-4604-8DDB-F5B1515B9460}"/>
                </a:ext>
              </a:extLst>
            </p:cNvPr>
            <p:cNvSpPr>
              <a:spLocks/>
            </p:cNvSpPr>
            <p:nvPr/>
          </p:nvSpPr>
          <p:spPr>
            <a:xfrm>
              <a:off x="2066925" y="4438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boundary">
              <a:extLst>
                <a:ext uri="{FF2B5EF4-FFF2-40B4-BE49-F238E27FC236}">
                  <a16:creationId xmlns:a16="http://schemas.microsoft.com/office/drawing/2014/main" id="{1702506C-084F-47B1-8D0E-70EE9879918C}"/>
                </a:ext>
              </a:extLst>
            </p:cNvPr>
            <p:cNvSpPr>
              <a:spLocks/>
            </p:cNvSpPr>
            <p:nvPr/>
          </p:nvSpPr>
          <p:spPr>
            <a:xfrm>
              <a:off x="7915275" y="4438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C57451D6-B12B-4CEB-A7CF-23296D0EB92B}"/>
                </a:ext>
              </a:extLst>
            </p:cNvPr>
            <p:cNvSpPr>
              <a:spLocks/>
            </p:cNvSpPr>
            <p:nvPr/>
          </p:nvSpPr>
          <p:spPr>
            <a:xfrm>
              <a:off x="7915275" y="4438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boundary">
              <a:extLst>
                <a:ext uri="{FF2B5EF4-FFF2-40B4-BE49-F238E27FC236}">
                  <a16:creationId xmlns:a16="http://schemas.microsoft.com/office/drawing/2014/main" id="{C995635C-8867-4A88-AD1E-4636A1BE6D2F}"/>
                </a:ext>
              </a:extLst>
            </p:cNvPr>
            <p:cNvSpPr>
              <a:spLocks/>
            </p:cNvSpPr>
            <p:nvPr/>
          </p:nvSpPr>
          <p:spPr>
            <a:xfrm>
              <a:off x="7915275" y="38385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boundary">
              <a:extLst>
                <a:ext uri="{FF2B5EF4-FFF2-40B4-BE49-F238E27FC236}">
                  <a16:creationId xmlns:a16="http://schemas.microsoft.com/office/drawing/2014/main" id="{61BFAB19-D09D-42C7-91E1-62A4B61ECA35}"/>
                </a:ext>
              </a:extLst>
            </p:cNvPr>
            <p:cNvSpPr>
              <a:spLocks/>
            </p:cNvSpPr>
            <p:nvPr/>
          </p:nvSpPr>
          <p:spPr>
            <a:xfrm>
              <a:off x="5695950" y="4905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1" name="boundary">
              <a:extLst>
                <a:ext uri="{FF2B5EF4-FFF2-40B4-BE49-F238E27FC236}">
                  <a16:creationId xmlns:a16="http://schemas.microsoft.com/office/drawing/2014/main" id="{5564C3F9-15CB-41D4-8BA7-893BA6FD27D3}"/>
                </a:ext>
              </a:extLst>
            </p:cNvPr>
            <p:cNvSpPr>
              <a:spLocks/>
            </p:cNvSpPr>
            <p:nvPr/>
          </p:nvSpPr>
          <p:spPr>
            <a:xfrm>
              <a:off x="5695950" y="4438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3" name="boundary">
              <a:extLst>
                <a:ext uri="{FF2B5EF4-FFF2-40B4-BE49-F238E27FC236}">
                  <a16:creationId xmlns:a16="http://schemas.microsoft.com/office/drawing/2014/main" id="{A4C77AF9-24DF-4942-B7DA-F6488D2EE6C3}"/>
                </a:ext>
              </a:extLst>
            </p:cNvPr>
            <p:cNvSpPr>
              <a:spLocks/>
            </p:cNvSpPr>
            <p:nvPr/>
          </p:nvSpPr>
          <p:spPr>
            <a:xfrm>
              <a:off x="9334500" y="4905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4" name="boundary">
              <a:extLst>
                <a:ext uri="{FF2B5EF4-FFF2-40B4-BE49-F238E27FC236}">
                  <a16:creationId xmlns:a16="http://schemas.microsoft.com/office/drawing/2014/main" id="{BE4F0D61-DCF5-4360-AA52-F0BB34C141AC}"/>
                </a:ext>
              </a:extLst>
            </p:cNvPr>
            <p:cNvSpPr>
              <a:spLocks/>
            </p:cNvSpPr>
            <p:nvPr/>
          </p:nvSpPr>
          <p:spPr>
            <a:xfrm>
              <a:off x="9334500" y="4438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6" name="boundary">
              <a:extLst>
                <a:ext uri="{FF2B5EF4-FFF2-40B4-BE49-F238E27FC236}">
                  <a16:creationId xmlns:a16="http://schemas.microsoft.com/office/drawing/2014/main" id="{B62AA121-DB0A-4F9E-8120-0026D6E91B2F}"/>
                </a:ext>
              </a:extLst>
            </p:cNvPr>
            <p:cNvSpPr>
              <a:spLocks/>
            </p:cNvSpPr>
            <p:nvPr/>
          </p:nvSpPr>
          <p:spPr>
            <a:xfrm>
              <a:off x="9334500" y="4438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boundary">
              <a:extLst>
                <a:ext uri="{FF2B5EF4-FFF2-40B4-BE49-F238E27FC236}">
                  <a16:creationId xmlns:a16="http://schemas.microsoft.com/office/drawing/2014/main" id="{6CF480C2-6D89-4B8E-B3CD-BEEAF7C69CD0}"/>
                </a:ext>
              </a:extLst>
            </p:cNvPr>
            <p:cNvSpPr>
              <a:spLocks/>
            </p:cNvSpPr>
            <p:nvPr/>
          </p:nvSpPr>
          <p:spPr>
            <a:xfrm>
              <a:off x="7915275" y="4438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9" name="DLQ 失败任务">
              <a:extLst>
                <a:ext uri="{FF2B5EF4-FFF2-40B4-BE49-F238E27FC236}">
                  <a16:creationId xmlns:a16="http://schemas.microsoft.com/office/drawing/2014/main" id="{D71F6526-9FF6-4B9E-9E01-CC30DB56E2B3}"/>
                </a:ext>
              </a:extLst>
            </p:cNvPr>
            <p:cNvSpPr>
              <a:spLocks/>
            </p:cNvSpPr>
            <p:nvPr/>
          </p:nvSpPr>
          <p:spPr>
            <a:xfrm>
              <a:off x="952500" y="6486525"/>
              <a:ext cx="2238375" cy="542925"/>
            </a:xfrm>
            <a:prstGeom prst="can">
              <a:avLst/>
            </a:prstGeom>
            <a:solidFill>
              <a:srgbClr val="FBE7E2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AB554B"/>
                  </a:solidFill>
                </a:defRPr>
              </a:defPPr>
            </a:lstStyle>
            <a:p>
              <a:pPr algn="ctr">
                <a:defRPr sz="1725" b="1">
                  <a:solidFill>
                    <a:srgbClr val="AB554B"/>
                  </a:solidFill>
                </a:defRPr>
              </a:pPr>
              <a:r>
                <a:rPr sz="1725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DLQ 失败任务</a:t>
              </a:r>
            </a:p>
          </p:txBody>
        </p:sp>
        <p:sp>
          <p:nvSpPr>
            <p:cNvPr id="50" name="调度器重放">
              <a:extLst>
                <a:ext uri="{FF2B5EF4-FFF2-40B4-BE49-F238E27FC236}">
                  <a16:creationId xmlns:a16="http://schemas.microsoft.com/office/drawing/2014/main" id="{87D61592-2AA7-4351-BD15-D8A78509F28F}"/>
                </a:ext>
              </a:extLst>
            </p:cNvPr>
            <p:cNvSpPr>
              <a:spLocks/>
            </p:cNvSpPr>
            <p:nvPr/>
          </p:nvSpPr>
          <p:spPr>
            <a:xfrm>
              <a:off x="3352800" y="6524625"/>
              <a:ext cx="2000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AB554B"/>
                  </a:solidFill>
                </a:defRPr>
              </a:defPPr>
            </a:lstStyle>
            <a:p>
              <a:pPr algn="l">
                <a:defRPr sz="1725" b="0">
                  <a:solidFill>
                    <a:srgbClr val="AB554B"/>
                  </a:solidFill>
                </a:defRPr>
              </a:pPr>
              <a:r>
                <a:rPr sz="1725" b="0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调度器重放</a:t>
              </a:r>
            </a:p>
          </p:txBody>
        </p:sp>
        <p:sp>
          <p:nvSpPr>
            <p:cNvPr id="51" name="所有对外产出均经 Critic 校验">
              <a:extLst>
                <a:ext uri="{FF2B5EF4-FFF2-40B4-BE49-F238E27FC236}">
                  <a16:creationId xmlns:a16="http://schemas.microsoft.com/office/drawing/2014/main" id="{9B10F6AA-8429-4455-868D-CE91C0868CC7}"/>
                </a:ext>
              </a:extLst>
            </p:cNvPr>
            <p:cNvSpPr>
              <a:spLocks/>
            </p:cNvSpPr>
            <p:nvPr/>
          </p:nvSpPr>
          <p:spPr>
            <a:xfrm>
              <a:off x="5600700" y="6457950"/>
              <a:ext cx="4933950" cy="5238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00" b="1">
                  <a:solidFill>
                    <a:srgbClr val="547D45"/>
                  </a:solidFill>
                </a:defRPr>
              </a:pPr>
              <a:r>
                <a:rPr sz="18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所有对外产出均经 Critic 校验</a:t>
              </a:r>
            </a:p>
          </p:txBody>
        </p:sp>
        <p:sp>
          <p:nvSpPr>
            <p:cNvPr id="52" name="9 个角色通过数据与任务状态交接">
              <a:extLst>
                <a:ext uri="{FF2B5EF4-FFF2-40B4-BE49-F238E27FC236}">
                  <a16:creationId xmlns:a16="http://schemas.microsoft.com/office/drawing/2014/main" id="{2178FE1E-330B-4533-ADA7-2E3FD5E70FEB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9 个角色通过数据与任务状态交接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2971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F-07 - whole figure">
            <a:extLst>
              <a:ext uri="{FF2B5EF4-FFF2-40B4-BE49-F238E27FC236}">
                <a16:creationId xmlns:a16="http://schemas.microsoft.com/office/drawing/2014/main" id="{05BAFBB5-CE45-4281-C684-CF4E66E87E0E}"/>
              </a:ext>
            </a:extLst>
          </p:cNvPr>
          <p:cNvGrpSpPr/>
          <p:nvPr/>
        </p:nvGrpSpPr>
        <p:grpSpPr>
          <a:xfrm>
            <a:off x="428625" y="1590675"/>
            <a:ext cx="10572750" cy="6372225"/>
            <a:chOff x="428625" y="1590675"/>
            <a:chExt cx="10572750" cy="6372225"/>
          </a:xfrm>
        </p:grpSpPr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C3625F76-D6C2-4A65-8F63-4BA5BECBCDB4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 flipH="1" flipV="1">
              <a:off x="6324600" y="2324577"/>
              <a:ext cx="953" cy="32385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  <a:tailEnd type="triangle" w="sm" len="sm"/>
            </a:ln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E066BE9C-E2D1-47A8-9CD2-37531BC11BCA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 flipH="1">
              <a:off x="6324600" y="2648427"/>
              <a:ext cx="1372553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</a:ln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73870AC-1D20-4507-97B8-3F5C30693F1E}"/>
                </a:ext>
              </a:extLst>
            </p:cNvPr>
            <p:cNvCxnSpPr>
              <a:stCxn id="31" idx="3"/>
              <a:endCxn id="32" idx="1"/>
            </p:cNvCxnSpPr>
            <p:nvPr/>
          </p:nvCxnSpPr>
          <p:spPr>
            <a:xfrm flipH="1" flipV="1">
              <a:off x="7696200" y="2648427"/>
              <a:ext cx="953" cy="3648075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</a:ln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5163B281-0AB2-49BB-90D6-8DFDBAD64625}"/>
                </a:ext>
              </a:extLst>
            </p:cNvPr>
            <p:cNvCxnSpPr>
              <a:stCxn id="28" idx="3"/>
              <a:endCxn id="29" idx="1"/>
            </p:cNvCxnSpPr>
            <p:nvPr/>
          </p:nvCxnSpPr>
          <p:spPr>
            <a:xfrm>
              <a:off x="6954203" y="6296502"/>
              <a:ext cx="741997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</a:ln>
          </p:spPr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10C2221-B31C-4EBD-B913-1918F9128221}"/>
                </a:ext>
              </a:extLst>
            </p:cNvPr>
            <p:cNvCxnSpPr>
              <a:stCxn id="6" idx="2"/>
              <a:endCxn id="25" idx="1"/>
            </p:cNvCxnSpPr>
            <p:nvPr/>
          </p:nvCxnSpPr>
          <p:spPr>
            <a:xfrm>
              <a:off x="5738813" y="4572000"/>
              <a:ext cx="0" cy="1362075"/>
            </a:xfrm>
            <a:prstGeom prst="straightConnector1">
              <a:avLst/>
            </a:prstGeom>
            <a:ln w="22860">
              <a:solidFill>
                <a:srgbClr val="AB554B"/>
              </a:solidFill>
              <a:prstDash val="dash"/>
              <a:tailEnd type="triangle" w="sm" len="sm"/>
            </a:ln>
          </p:spPr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9A347F05-A4E0-4107-8000-46881DD3B780}"/>
                </a:ext>
              </a:extLst>
            </p:cNvPr>
            <p:cNvCxnSpPr>
              <a:stCxn id="3" idx="2"/>
              <a:endCxn id="22" idx="0"/>
            </p:cNvCxnSpPr>
            <p:nvPr/>
          </p:nvCxnSpPr>
          <p:spPr>
            <a:xfrm>
              <a:off x="9644063" y="2324100"/>
              <a:ext cx="0" cy="1362075"/>
            </a:xfrm>
            <a:prstGeom prst="straightConnector1">
              <a:avLst/>
            </a:prstGeom>
            <a:ln w="22860">
              <a:solidFill>
                <a:srgbClr val="657D8E"/>
              </a:solidFill>
              <a:prstDash val="solid"/>
              <a:tailEnd type="triangle" w="sm" len="sm"/>
            </a:ln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55C75370-8E38-4211-B4F1-74590CBAEB59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 flipH="1">
              <a:off x="3048000" y="4048602"/>
              <a:ext cx="686753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  <a:tailEnd type="triangle" w="sm" len="sm"/>
            </a:ln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604761C4-80EF-4375-B91B-8335BE8BDA14}"/>
                </a:ext>
              </a:extLst>
            </p:cNvPr>
            <p:cNvCxnSpPr>
              <a:stCxn id="15" idx="3"/>
              <a:endCxn id="16" idx="1"/>
            </p:cNvCxnSpPr>
            <p:nvPr/>
          </p:nvCxnSpPr>
          <p:spPr>
            <a:xfrm flipH="1">
              <a:off x="3733800" y="2181702"/>
              <a:ext cx="953" cy="186690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</a:ln>
          </p:spPr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7E093D25-170B-479D-BF6B-0DCB08777037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 flipH="1">
              <a:off x="3733800" y="2181702"/>
              <a:ext cx="791528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</a:ln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37DCA175-AE33-422C-85BD-77BDF0E52834}"/>
                </a:ext>
              </a:extLst>
            </p:cNvPr>
            <p:cNvCxnSpPr>
              <a:stCxn id="2" idx="2"/>
              <a:endCxn id="6" idx="0"/>
            </p:cNvCxnSpPr>
            <p:nvPr/>
          </p:nvCxnSpPr>
          <p:spPr>
            <a:xfrm>
              <a:off x="5738813" y="2324100"/>
              <a:ext cx="0" cy="1200150"/>
            </a:xfrm>
            <a:prstGeom prst="straightConnector1">
              <a:avLst/>
            </a:prstGeom>
            <a:ln w="22860">
              <a:solidFill>
                <a:srgbClr val="A67A20"/>
              </a:solidFill>
              <a:prstDash val="dash"/>
              <a:tailEnd type="triangle" w="sm" len="sm"/>
            </a:ln>
          </p:spPr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270EB50-B8E3-4892-9299-D68312B90481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6953250" y="1957388"/>
              <a:ext cx="1476375" cy="0"/>
            </a:xfrm>
            <a:prstGeom prst="straightConnector1">
              <a:avLst/>
            </a:prstGeom>
            <a:ln w="22860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456FCB15-C1EB-4AF6-B189-713B4B65DE31}"/>
                </a:ext>
              </a:extLst>
            </p:cNvPr>
            <p:cNvCxnSpPr>
              <a:stCxn id="42" idx="3"/>
              <a:endCxn id="2" idx="1"/>
            </p:cNvCxnSpPr>
            <p:nvPr/>
          </p:nvCxnSpPr>
          <p:spPr>
            <a:xfrm>
              <a:off x="3048000" y="1957388"/>
              <a:ext cx="1476375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42" name="queued">
              <a:extLst>
                <a:ext uri="{FF2B5EF4-FFF2-40B4-BE49-F238E27FC236}">
                  <a16:creationId xmlns:a16="http://schemas.microsoft.com/office/drawing/2014/main" id="{8F4673E0-B584-43F2-929D-4F2B4D4602C1}"/>
                </a:ext>
              </a:extLst>
            </p:cNvPr>
            <p:cNvSpPr>
              <a:spLocks/>
            </p:cNvSpPr>
            <p:nvPr/>
          </p:nvSpPr>
          <p:spPr>
            <a:xfrm>
              <a:off x="619125" y="1590675"/>
              <a:ext cx="2428875" cy="733425"/>
            </a:xfrm>
            <a:prstGeom prst="roundRect">
              <a:avLst>
                <a:gd name="adj" fmla="val 519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queued</a:t>
              </a:r>
            </a:p>
          </p:txBody>
        </p:sp>
        <p:sp>
          <p:nvSpPr>
            <p:cNvPr id="2" name="running">
              <a:extLst>
                <a:ext uri="{FF2B5EF4-FFF2-40B4-BE49-F238E27FC236}">
                  <a16:creationId xmlns:a16="http://schemas.microsoft.com/office/drawing/2014/main" id="{47819771-DB40-41D8-85D6-34034971C4F2}"/>
                </a:ext>
              </a:extLst>
            </p:cNvPr>
            <p:cNvSpPr>
              <a:spLocks/>
            </p:cNvSpPr>
            <p:nvPr/>
          </p:nvSpPr>
          <p:spPr>
            <a:xfrm>
              <a:off x="4524375" y="1590675"/>
              <a:ext cx="2428875" cy="733425"/>
            </a:xfrm>
            <a:prstGeom prst="roundRect">
              <a:avLst>
                <a:gd name="adj" fmla="val 5195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running</a:t>
              </a:r>
            </a:p>
          </p:txBody>
        </p:sp>
        <p:sp>
          <p:nvSpPr>
            <p:cNvPr id="3" name="succeeded">
              <a:extLst>
                <a:ext uri="{FF2B5EF4-FFF2-40B4-BE49-F238E27FC236}">
                  <a16:creationId xmlns:a16="http://schemas.microsoft.com/office/drawing/2014/main" id="{F70C8B8E-3EDF-43BC-B5E4-87EA073832B0}"/>
                </a:ext>
              </a:extLst>
            </p:cNvPr>
            <p:cNvSpPr>
              <a:spLocks/>
            </p:cNvSpPr>
            <p:nvPr/>
          </p:nvSpPr>
          <p:spPr>
            <a:xfrm>
              <a:off x="8429625" y="1590675"/>
              <a:ext cx="2428875" cy="733425"/>
            </a:xfrm>
            <a:prstGeom prst="roundRect">
              <a:avLst>
                <a:gd name="adj" fmla="val 5195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succeeded</a:t>
              </a:r>
            </a:p>
          </p:txBody>
        </p:sp>
        <p:sp>
          <p:nvSpPr>
            <p:cNvPr id="6" name="boundary">
              <a:extLst>
                <a:ext uri="{FF2B5EF4-FFF2-40B4-BE49-F238E27FC236}">
                  <a16:creationId xmlns:a16="http://schemas.microsoft.com/office/drawing/2014/main" id="{CB3F2D65-159E-469D-9C7B-8F0C9B750F64}"/>
                </a:ext>
              </a:extLst>
            </p:cNvPr>
            <p:cNvSpPr>
              <a:spLocks/>
            </p:cNvSpPr>
            <p:nvPr/>
          </p:nvSpPr>
          <p:spPr>
            <a:xfrm>
              <a:off x="4524375" y="3524250"/>
              <a:ext cx="2428875" cy="1047750"/>
            </a:xfrm>
            <a:prstGeom prst="roundRect">
              <a:avLst>
                <a:gd name="adj" fmla="val 3636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7" name="retrying">
              <a:extLst>
                <a:ext uri="{FF2B5EF4-FFF2-40B4-BE49-F238E27FC236}">
                  <a16:creationId xmlns:a16="http://schemas.microsoft.com/office/drawing/2014/main" id="{04B0753E-814E-427D-8BB3-479D265E20CB}"/>
                </a:ext>
              </a:extLst>
            </p:cNvPr>
            <p:cNvSpPr>
              <a:spLocks/>
            </p:cNvSpPr>
            <p:nvPr/>
          </p:nvSpPr>
          <p:spPr>
            <a:xfrm>
              <a:off x="4619625" y="3619500"/>
              <a:ext cx="22383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retrying</a:t>
              </a:r>
            </a:p>
          </p:txBody>
        </p:sp>
        <p:sp>
          <p:nvSpPr>
            <p:cNvPr id="8" name="内部状态">
              <a:extLst>
                <a:ext uri="{FF2B5EF4-FFF2-40B4-BE49-F238E27FC236}">
                  <a16:creationId xmlns:a16="http://schemas.microsoft.com/office/drawing/2014/main" id="{13402C38-CDC5-4D93-96A1-8F3D39C95555}"/>
                </a:ext>
              </a:extLst>
            </p:cNvPr>
            <p:cNvSpPr>
              <a:spLocks/>
            </p:cNvSpPr>
            <p:nvPr/>
          </p:nvSpPr>
          <p:spPr>
            <a:xfrm>
              <a:off x="4638675" y="4048125"/>
              <a:ext cx="2200275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内部状态</a:t>
              </a:r>
            </a:p>
          </p:txBody>
        </p:sp>
        <p:sp>
          <p:nvSpPr>
            <p:cNvPr id="10" name="429 / 5xx / 超时">
              <a:extLst>
                <a:ext uri="{FF2B5EF4-FFF2-40B4-BE49-F238E27FC236}">
                  <a16:creationId xmlns:a16="http://schemas.microsoft.com/office/drawing/2014/main" id="{F72A250E-6DC2-45D0-9E7B-1A7C34E970B9}"/>
                </a:ext>
              </a:extLst>
            </p:cNvPr>
            <p:cNvSpPr>
              <a:spLocks/>
            </p:cNvSpPr>
            <p:nvPr/>
          </p:nvSpPr>
          <p:spPr>
            <a:xfrm>
              <a:off x="4295775" y="2714625"/>
              <a:ext cx="2809875" cy="3810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67A20"/>
                  </a:solidFill>
                </a:defRPr>
              </a:pPr>
              <a:r>
                <a:rPr sz="1725" b="0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429 / 5xx / 超时</a:t>
              </a:r>
            </a:p>
          </p:txBody>
        </p:sp>
        <p:sp>
          <p:nvSpPr>
            <p:cNvPr id="11" name="failed">
              <a:extLst>
                <a:ext uri="{FF2B5EF4-FFF2-40B4-BE49-F238E27FC236}">
                  <a16:creationId xmlns:a16="http://schemas.microsoft.com/office/drawing/2014/main" id="{F6820B69-12E9-4E54-8DF8-CD9E4A96F6D5}"/>
                </a:ext>
              </a:extLst>
            </p:cNvPr>
            <p:cNvSpPr>
              <a:spLocks/>
            </p:cNvSpPr>
            <p:nvPr/>
          </p:nvSpPr>
          <p:spPr>
            <a:xfrm>
              <a:off x="619125" y="3686175"/>
              <a:ext cx="2428875" cy="733425"/>
            </a:xfrm>
            <a:prstGeom prst="roundRect">
              <a:avLst>
                <a:gd name="adj" fmla="val 5195"/>
              </a:avLst>
            </a:prstGeom>
            <a:solidFill>
              <a:srgbClr val="FBE7E2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AB554B"/>
                  </a:solidFill>
                </a:defRPr>
              </a:defPPr>
            </a:lstStyle>
            <a:p>
              <a:pPr algn="ctr">
                <a:defRPr sz="1725" b="1">
                  <a:solidFill>
                    <a:srgbClr val="AB554B"/>
                  </a:solidFill>
                </a:defRPr>
              </a:pPr>
              <a:r>
                <a:rPr sz="1725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failed</a:t>
              </a:r>
            </a:p>
          </p:txBody>
        </p:sp>
        <p:sp>
          <p:nvSpPr>
            <p:cNvPr id="12" name="boundary">
              <a:extLst>
                <a:ext uri="{FF2B5EF4-FFF2-40B4-BE49-F238E27FC236}">
                  <a16:creationId xmlns:a16="http://schemas.microsoft.com/office/drawing/2014/main" id="{9E922222-8DE3-4A5D-89C1-E5BD671D4E30}"/>
                </a:ext>
              </a:extLst>
            </p:cNvPr>
            <p:cNvSpPr>
              <a:spLocks/>
            </p:cNvSpPr>
            <p:nvPr/>
          </p:nvSpPr>
          <p:spPr>
            <a:xfrm>
              <a:off x="4524375" y="21812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61537039-1E05-48C7-971E-95282CBC76A9}"/>
                </a:ext>
              </a:extLst>
            </p:cNvPr>
            <p:cNvSpPr>
              <a:spLocks/>
            </p:cNvSpPr>
            <p:nvPr/>
          </p:nvSpPr>
          <p:spPr>
            <a:xfrm>
              <a:off x="3733800" y="21812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5" name="boundary">
              <a:extLst>
                <a:ext uri="{FF2B5EF4-FFF2-40B4-BE49-F238E27FC236}">
                  <a16:creationId xmlns:a16="http://schemas.microsoft.com/office/drawing/2014/main" id="{E2A6ED96-2678-4877-901C-CD69F1300C72}"/>
                </a:ext>
              </a:extLst>
            </p:cNvPr>
            <p:cNvSpPr>
              <a:spLocks/>
            </p:cNvSpPr>
            <p:nvPr/>
          </p:nvSpPr>
          <p:spPr>
            <a:xfrm>
              <a:off x="3733800" y="21812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boundary">
              <a:extLst>
                <a:ext uri="{FF2B5EF4-FFF2-40B4-BE49-F238E27FC236}">
                  <a16:creationId xmlns:a16="http://schemas.microsoft.com/office/drawing/2014/main" id="{5A7562FE-01CF-4622-91BA-8A64BD102A65}"/>
                </a:ext>
              </a:extLst>
            </p:cNvPr>
            <p:cNvSpPr>
              <a:spLocks/>
            </p:cNvSpPr>
            <p:nvPr/>
          </p:nvSpPr>
          <p:spPr>
            <a:xfrm>
              <a:off x="3733800" y="40481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8" name="boundary">
              <a:extLst>
                <a:ext uri="{FF2B5EF4-FFF2-40B4-BE49-F238E27FC236}">
                  <a16:creationId xmlns:a16="http://schemas.microsoft.com/office/drawing/2014/main" id="{FD9543D8-1B56-41DE-AE66-94EBEA89D99B}"/>
                </a:ext>
              </a:extLst>
            </p:cNvPr>
            <p:cNvSpPr>
              <a:spLocks/>
            </p:cNvSpPr>
            <p:nvPr/>
          </p:nvSpPr>
          <p:spPr>
            <a:xfrm>
              <a:off x="3733800" y="40481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68EF2A9E-A9D3-48F5-9A1E-52F7CF4D6D3D}"/>
                </a:ext>
              </a:extLst>
            </p:cNvPr>
            <p:cNvSpPr>
              <a:spLocks/>
            </p:cNvSpPr>
            <p:nvPr/>
          </p:nvSpPr>
          <p:spPr>
            <a:xfrm>
              <a:off x="3048000" y="40481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4xx（非 429）">
              <a:extLst>
                <a:ext uri="{FF2B5EF4-FFF2-40B4-BE49-F238E27FC236}">
                  <a16:creationId xmlns:a16="http://schemas.microsoft.com/office/drawing/2014/main" id="{E473B622-DD8E-49FD-BAC3-A2B25B1F883B}"/>
                </a:ext>
              </a:extLst>
            </p:cNvPr>
            <p:cNvSpPr>
              <a:spLocks/>
            </p:cNvSpPr>
            <p:nvPr/>
          </p:nvSpPr>
          <p:spPr>
            <a:xfrm>
              <a:off x="666750" y="4600575"/>
              <a:ext cx="23812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B554B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B554B"/>
                  </a:solidFill>
                </a:defRPr>
              </a:pPr>
              <a:r>
                <a:rPr sz="1725" b="0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4xx（非 429）</a:t>
              </a:r>
            </a:p>
          </p:txBody>
        </p:sp>
        <p:sp>
          <p:nvSpPr>
            <p:cNvPr id="22" name="expired">
              <a:extLst>
                <a:ext uri="{FF2B5EF4-FFF2-40B4-BE49-F238E27FC236}">
                  <a16:creationId xmlns:a16="http://schemas.microsoft.com/office/drawing/2014/main" id="{4F12A382-4F62-47BB-ADBB-63B552CAB4C4}"/>
                </a:ext>
              </a:extLst>
            </p:cNvPr>
            <p:cNvSpPr>
              <a:spLocks/>
            </p:cNvSpPr>
            <p:nvPr/>
          </p:nvSpPr>
          <p:spPr>
            <a:xfrm>
              <a:off x="8429625" y="3686175"/>
              <a:ext cx="2428875" cy="733425"/>
            </a:xfrm>
            <a:prstGeom prst="roundRect">
              <a:avLst>
                <a:gd name="adj" fmla="val 5195"/>
              </a:avLst>
            </a:prstGeom>
            <a:solidFill>
              <a:srgbClr val="F3F6F8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1">
                  <a:solidFill>
                    <a:srgbClr val="657D8E"/>
                  </a:solidFill>
                </a:defRPr>
              </a:pPr>
              <a:r>
                <a:rPr sz="1725" b="1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expired</a:t>
              </a:r>
            </a:p>
          </p:txBody>
        </p:sp>
        <p:sp>
          <p:nvSpPr>
            <p:cNvPr id="24" name="结果保留 24 h">
              <a:extLst>
                <a:ext uri="{FF2B5EF4-FFF2-40B4-BE49-F238E27FC236}">
                  <a16:creationId xmlns:a16="http://schemas.microsoft.com/office/drawing/2014/main" id="{ACE7774F-D7D9-4AE6-A1E3-3DCD0B74B0A5}"/>
                </a:ext>
              </a:extLst>
            </p:cNvPr>
            <p:cNvSpPr>
              <a:spLocks/>
            </p:cNvSpPr>
            <p:nvPr/>
          </p:nvSpPr>
          <p:spPr>
            <a:xfrm>
              <a:off x="8439150" y="2743200"/>
              <a:ext cx="2419350" cy="3810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结果保留 24 h</a:t>
              </a:r>
            </a:p>
          </p:txBody>
        </p:sp>
        <p:sp>
          <p:nvSpPr>
            <p:cNvPr id="25" name="DLQ">
              <a:extLst>
                <a:ext uri="{FF2B5EF4-FFF2-40B4-BE49-F238E27FC236}">
                  <a16:creationId xmlns:a16="http://schemas.microsoft.com/office/drawing/2014/main" id="{A5B45B0D-B596-4764-BC60-C9CA4D443AA5}"/>
                </a:ext>
              </a:extLst>
            </p:cNvPr>
            <p:cNvSpPr>
              <a:spLocks/>
            </p:cNvSpPr>
            <p:nvPr/>
          </p:nvSpPr>
          <p:spPr>
            <a:xfrm>
              <a:off x="4524375" y="5934075"/>
              <a:ext cx="2428875" cy="723900"/>
            </a:xfrm>
            <a:prstGeom prst="can">
              <a:avLst/>
            </a:prstGeom>
            <a:solidFill>
              <a:srgbClr val="FBE7E2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AB554B"/>
                  </a:solidFill>
                </a:defRPr>
              </a:defPPr>
            </a:lstStyle>
            <a:p>
              <a:pPr algn="ctr">
                <a:defRPr sz="1725" b="1">
                  <a:solidFill>
                    <a:srgbClr val="AB554B"/>
                  </a:solidFill>
                </a:defRPr>
              </a:pPr>
              <a:r>
                <a:rPr sz="1725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DLQ</a:t>
              </a:r>
            </a:p>
          </p:txBody>
        </p:sp>
        <p:sp>
          <p:nvSpPr>
            <p:cNvPr id="27" name="超过 6 次">
              <a:extLst>
                <a:ext uri="{FF2B5EF4-FFF2-40B4-BE49-F238E27FC236}">
                  <a16:creationId xmlns:a16="http://schemas.microsoft.com/office/drawing/2014/main" id="{D27660E4-4DB0-4323-B675-6387CC5F6A9B}"/>
                </a:ext>
              </a:extLst>
            </p:cNvPr>
            <p:cNvSpPr>
              <a:spLocks/>
            </p:cNvSpPr>
            <p:nvPr/>
          </p:nvSpPr>
          <p:spPr>
            <a:xfrm>
              <a:off x="4752975" y="5114925"/>
              <a:ext cx="2000250" cy="3810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B554B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B554B"/>
                  </a:solidFill>
                </a:defRPr>
              </a:pPr>
              <a:r>
                <a:rPr sz="1725" b="0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超过 6 次</a:t>
              </a:r>
            </a:p>
          </p:txBody>
        </p:sp>
        <p:sp>
          <p:nvSpPr>
            <p:cNvPr id="28" name="boundary">
              <a:extLst>
                <a:ext uri="{FF2B5EF4-FFF2-40B4-BE49-F238E27FC236}">
                  <a16:creationId xmlns:a16="http://schemas.microsoft.com/office/drawing/2014/main" id="{8EBD433D-F36F-49F3-87E5-854E31AEA935}"/>
                </a:ext>
              </a:extLst>
            </p:cNvPr>
            <p:cNvSpPr>
              <a:spLocks/>
            </p:cNvSpPr>
            <p:nvPr/>
          </p:nvSpPr>
          <p:spPr>
            <a:xfrm>
              <a:off x="6953250" y="6296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FA82B01A-3F49-4CD9-9FEC-14C804F8D10B}"/>
                </a:ext>
              </a:extLst>
            </p:cNvPr>
            <p:cNvSpPr>
              <a:spLocks/>
            </p:cNvSpPr>
            <p:nvPr/>
          </p:nvSpPr>
          <p:spPr>
            <a:xfrm>
              <a:off x="7696200" y="6296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1" name="boundary">
              <a:extLst>
                <a:ext uri="{FF2B5EF4-FFF2-40B4-BE49-F238E27FC236}">
                  <a16:creationId xmlns:a16="http://schemas.microsoft.com/office/drawing/2014/main" id="{D7D9FFBB-9234-4E42-A451-41A056DCAF95}"/>
                </a:ext>
              </a:extLst>
            </p:cNvPr>
            <p:cNvSpPr>
              <a:spLocks/>
            </p:cNvSpPr>
            <p:nvPr/>
          </p:nvSpPr>
          <p:spPr>
            <a:xfrm>
              <a:off x="7696200" y="6296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boundary">
              <a:extLst>
                <a:ext uri="{FF2B5EF4-FFF2-40B4-BE49-F238E27FC236}">
                  <a16:creationId xmlns:a16="http://schemas.microsoft.com/office/drawing/2014/main" id="{23CB8C8F-D976-4671-A76C-2F6DF6AA124A}"/>
                </a:ext>
              </a:extLst>
            </p:cNvPr>
            <p:cNvSpPr>
              <a:spLocks/>
            </p:cNvSpPr>
            <p:nvPr/>
          </p:nvSpPr>
          <p:spPr>
            <a:xfrm>
              <a:off x="7696200" y="26479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BD2B77B5-E7AA-48BB-BD7A-AA4F54B47711}"/>
                </a:ext>
              </a:extLst>
            </p:cNvPr>
            <p:cNvSpPr>
              <a:spLocks/>
            </p:cNvSpPr>
            <p:nvPr/>
          </p:nvSpPr>
          <p:spPr>
            <a:xfrm>
              <a:off x="7696200" y="26479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boundary">
              <a:extLst>
                <a:ext uri="{FF2B5EF4-FFF2-40B4-BE49-F238E27FC236}">
                  <a16:creationId xmlns:a16="http://schemas.microsoft.com/office/drawing/2014/main" id="{520D097B-63B3-421E-89E3-61743BDEB96B}"/>
                </a:ext>
              </a:extLst>
            </p:cNvPr>
            <p:cNvSpPr>
              <a:spLocks/>
            </p:cNvSpPr>
            <p:nvPr/>
          </p:nvSpPr>
          <p:spPr>
            <a:xfrm>
              <a:off x="6324600" y="26479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DB7A8E1E-C83F-45C6-8092-AAA4481C5348}"/>
                </a:ext>
              </a:extLst>
            </p:cNvPr>
            <p:cNvSpPr>
              <a:spLocks/>
            </p:cNvSpPr>
            <p:nvPr/>
          </p:nvSpPr>
          <p:spPr>
            <a:xfrm>
              <a:off x="6324600" y="26479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boundary">
              <a:extLst>
                <a:ext uri="{FF2B5EF4-FFF2-40B4-BE49-F238E27FC236}">
                  <a16:creationId xmlns:a16="http://schemas.microsoft.com/office/drawing/2014/main" id="{F4AC5E20-EC5D-436E-A87E-5F2C1D088219}"/>
                </a:ext>
              </a:extLst>
            </p:cNvPr>
            <p:cNvSpPr>
              <a:spLocks/>
            </p:cNvSpPr>
            <p:nvPr/>
          </p:nvSpPr>
          <p:spPr>
            <a:xfrm>
              <a:off x="6324600" y="23241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每 15 min 重放">
              <a:extLst>
                <a:ext uri="{FF2B5EF4-FFF2-40B4-BE49-F238E27FC236}">
                  <a16:creationId xmlns:a16="http://schemas.microsoft.com/office/drawing/2014/main" id="{B6655880-1114-4482-B890-C82B66B28D35}"/>
                </a:ext>
              </a:extLst>
            </p:cNvPr>
            <p:cNvSpPr>
              <a:spLocks/>
            </p:cNvSpPr>
            <p:nvPr/>
          </p:nvSpPr>
          <p:spPr>
            <a:xfrm>
              <a:off x="8096250" y="5629275"/>
              <a:ext cx="276225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B554B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B554B"/>
                  </a:solidFill>
                </a:defRPr>
              </a:pPr>
              <a:r>
                <a:rPr sz="1725" b="0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每 15 min 重放</a:t>
              </a:r>
            </a:p>
          </p:txBody>
        </p:sp>
        <p:sp>
          <p:nvSpPr>
            <p:cNvPr id="41" name="retrying 与死信对外均显示为 running">
              <a:extLst>
                <a:ext uri="{FF2B5EF4-FFF2-40B4-BE49-F238E27FC236}">
                  <a16:creationId xmlns:a16="http://schemas.microsoft.com/office/drawing/2014/main" id="{D9298B3E-2339-4C18-B343-749723C25D59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retrying 与死信对外均显示为 running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8183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F-08 - whole figure">
            <a:extLst>
              <a:ext uri="{FF2B5EF4-FFF2-40B4-BE49-F238E27FC236}">
                <a16:creationId xmlns:a16="http://schemas.microsoft.com/office/drawing/2014/main" id="{A4B21DE5-9CAA-1708-E785-7D28778476BA}"/>
              </a:ext>
            </a:extLst>
          </p:cNvPr>
          <p:cNvGrpSpPr/>
          <p:nvPr/>
        </p:nvGrpSpPr>
        <p:grpSpPr>
          <a:xfrm>
            <a:off x="428625" y="1238250"/>
            <a:ext cx="10572750" cy="6724650"/>
            <a:chOff x="428625" y="1238250"/>
            <a:chExt cx="10572750" cy="6724650"/>
          </a:xfrm>
        </p:grpSpPr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465F111C-B3F1-43C0-AE6C-FD44DA54B793}"/>
                </a:ext>
              </a:extLst>
            </p:cNvPr>
            <p:cNvCxnSpPr>
              <a:stCxn id="59" idx="3"/>
              <a:endCxn id="60" idx="1"/>
            </p:cNvCxnSpPr>
            <p:nvPr/>
          </p:nvCxnSpPr>
          <p:spPr>
            <a:xfrm flipH="1">
              <a:off x="9382125" y="5210652"/>
              <a:ext cx="953" cy="51435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  <a:tailEnd type="triangle" w="sm" len="sm"/>
            </a:ln>
          </p:spPr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0E2AFCD3-1AC6-482A-A862-2A1E3A1075C3}"/>
                </a:ext>
              </a:extLst>
            </p:cNvPr>
            <p:cNvCxnSpPr>
              <a:stCxn id="56" idx="3"/>
              <a:endCxn id="57" idx="1"/>
            </p:cNvCxnSpPr>
            <p:nvPr/>
          </p:nvCxnSpPr>
          <p:spPr>
            <a:xfrm>
              <a:off x="5715953" y="5210652"/>
              <a:ext cx="3666172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</a:ln>
          </p:spPr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5BE79113-91F6-4246-A805-731E5EF4589E}"/>
                </a:ext>
              </a:extLst>
            </p:cNvPr>
            <p:cNvCxnSpPr>
              <a:stCxn id="53" idx="3"/>
              <a:endCxn id="54" idx="1"/>
            </p:cNvCxnSpPr>
            <p:nvPr/>
          </p:nvCxnSpPr>
          <p:spPr>
            <a:xfrm flipH="1">
              <a:off x="5715000" y="4762977"/>
              <a:ext cx="953" cy="447675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</a:ln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C9CB970E-D2B6-4CAA-852B-C48E43D6A9DD}"/>
                </a:ext>
              </a:extLst>
            </p:cNvPr>
            <p:cNvCxnSpPr>
              <a:stCxn id="50" idx="3"/>
              <a:endCxn id="51" idx="1"/>
            </p:cNvCxnSpPr>
            <p:nvPr/>
          </p:nvCxnSpPr>
          <p:spPr>
            <a:xfrm flipH="1">
              <a:off x="5715000" y="5210652"/>
              <a:ext cx="953" cy="514350"/>
            </a:xfrm>
            <a:prstGeom prst="straightConnector1">
              <a:avLst/>
            </a:prstGeom>
            <a:ln w="20955">
              <a:solidFill>
                <a:srgbClr val="A67A20"/>
              </a:solidFill>
              <a:prstDash val="solid"/>
              <a:tailEnd type="triangle" w="sm" len="sm"/>
            </a:ln>
          </p:spPr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056FD5C-D1B0-41F3-A9DD-7D7BB3B3C60A}"/>
                </a:ext>
              </a:extLst>
            </p:cNvPr>
            <p:cNvCxnSpPr>
              <a:stCxn id="47" idx="3"/>
              <a:endCxn id="48" idx="1"/>
            </p:cNvCxnSpPr>
            <p:nvPr/>
          </p:nvCxnSpPr>
          <p:spPr>
            <a:xfrm flipH="1">
              <a:off x="5715000" y="5210652"/>
              <a:ext cx="953" cy="0"/>
            </a:xfrm>
            <a:prstGeom prst="straightConnector1">
              <a:avLst/>
            </a:prstGeom>
            <a:ln w="20955">
              <a:solidFill>
                <a:srgbClr val="A67A20"/>
              </a:solidFill>
              <a:prstDash val="solid"/>
            </a:ln>
          </p:spPr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CF060D07-E888-4E82-95E0-7512B54FD318}"/>
                </a:ext>
              </a:extLst>
            </p:cNvPr>
            <p:cNvCxnSpPr>
              <a:stCxn id="44" idx="3"/>
              <a:endCxn id="45" idx="1"/>
            </p:cNvCxnSpPr>
            <p:nvPr/>
          </p:nvCxnSpPr>
          <p:spPr>
            <a:xfrm flipH="1">
              <a:off x="5715000" y="4762977"/>
              <a:ext cx="953" cy="447675"/>
            </a:xfrm>
            <a:prstGeom prst="straightConnector1">
              <a:avLst/>
            </a:prstGeom>
            <a:ln w="20955">
              <a:solidFill>
                <a:srgbClr val="A67A20"/>
              </a:solidFill>
              <a:prstDash val="solid"/>
            </a:ln>
          </p:spPr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84AF386A-DF20-4C11-9513-441A22680FFA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 flipH="1">
              <a:off x="2047875" y="5210652"/>
              <a:ext cx="953" cy="51435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292645F2-0111-424B-9258-B6FBE2328190}"/>
                </a:ext>
              </a:extLst>
            </p:cNvPr>
            <p:cNvCxnSpPr>
              <a:stCxn id="38" idx="3"/>
              <a:endCxn id="39" idx="1"/>
            </p:cNvCxnSpPr>
            <p:nvPr/>
          </p:nvCxnSpPr>
          <p:spPr>
            <a:xfrm flipH="1">
              <a:off x="2047875" y="5210652"/>
              <a:ext cx="3668078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916748D6-A7D2-4557-8E47-A55612FF881E}"/>
                </a:ext>
              </a:extLst>
            </p:cNvPr>
            <p:cNvCxnSpPr>
              <a:stCxn id="35" idx="3"/>
              <a:endCxn id="36" idx="1"/>
            </p:cNvCxnSpPr>
            <p:nvPr/>
          </p:nvCxnSpPr>
          <p:spPr>
            <a:xfrm flipH="1">
              <a:off x="5715000" y="4762977"/>
              <a:ext cx="953" cy="44767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7A92840-FC8A-4BFE-99AB-EAE6A7FEB282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 flipH="1">
              <a:off x="5715000" y="3839052"/>
              <a:ext cx="953" cy="30480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CF6F4719-F630-4F74-B597-B12EF5C806CF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 flipH="1">
              <a:off x="5715000" y="3839052"/>
              <a:ext cx="3268028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ABC2C13-6DEA-4E84-BDDC-CA0DB6FD54D1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 flipH="1">
              <a:off x="8982075" y="3467577"/>
              <a:ext cx="953" cy="37147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4B5C205-381F-4342-B78D-44AA3DC33128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 flipH="1">
              <a:off x="2457450" y="2200752"/>
              <a:ext cx="953" cy="40957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F347DF08-28C1-4AFC-A2C8-0D4512280916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H="1">
              <a:off x="2457450" y="2200752"/>
              <a:ext cx="32585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AF63852F-4D97-40AA-90AC-B735FF2735F1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 flipH="1">
              <a:off x="5715000" y="1857852"/>
              <a:ext cx="953" cy="34290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A9BC1D1A-282C-4B4F-83C1-66747F335B89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7080250" y="3038475"/>
              <a:ext cx="523875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3BF8A376-EE46-4C20-90C8-B887233E8695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3825875" y="3038475"/>
              <a:ext cx="523875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63" name="富化 / 评估 / 问答 / 报告">
              <a:extLst>
                <a:ext uri="{FF2B5EF4-FFF2-40B4-BE49-F238E27FC236}">
                  <a16:creationId xmlns:a16="http://schemas.microsoft.com/office/drawing/2014/main" id="{8F9147C6-B5B4-4C5A-9AB3-ADED2A8CF105}"/>
                </a:ext>
              </a:extLst>
            </p:cNvPr>
            <p:cNvSpPr>
              <a:spLocks/>
            </p:cNvSpPr>
            <p:nvPr/>
          </p:nvSpPr>
          <p:spPr>
            <a:xfrm>
              <a:off x="2381250" y="1238250"/>
              <a:ext cx="6667500" cy="619125"/>
            </a:xfrm>
            <a:prstGeom prst="roundRect">
              <a:avLst>
                <a:gd name="adj" fmla="val 6154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2100" b="1">
                  <a:solidFill>
                    <a:srgbClr val="FFFFFF"/>
                  </a:solidFill>
                </a:defRPr>
              </a:pPr>
              <a:r>
                <a:rPr sz="21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富化 / 评估 / 问答 / 报告</a:t>
              </a:r>
            </a:p>
          </p:txBody>
        </p:sp>
        <p:sp>
          <p:nvSpPr>
            <p:cNvPr id="2" name="引用可回溯">
              <a:extLst>
                <a:ext uri="{FF2B5EF4-FFF2-40B4-BE49-F238E27FC236}">
                  <a16:creationId xmlns:a16="http://schemas.microsoft.com/office/drawing/2014/main" id="{A2AF7705-C4B8-4FB6-B4FB-872566D60735}"/>
                </a:ext>
              </a:extLst>
            </p:cNvPr>
            <p:cNvSpPr>
              <a:spLocks/>
            </p:cNvSpPr>
            <p:nvPr/>
          </p:nvSpPr>
          <p:spPr>
            <a:xfrm>
              <a:off x="1095375" y="2609850"/>
              <a:ext cx="2730500" cy="857250"/>
            </a:xfrm>
            <a:prstGeom prst="roundRect">
              <a:avLst>
                <a:gd name="adj" fmla="val 4444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引用可回溯</a:t>
              </a:r>
            </a:p>
          </p:txBody>
        </p:sp>
        <p:sp>
          <p:nvSpPr>
            <p:cNvPr id="3" name="置信度达门槛">
              <a:extLst>
                <a:ext uri="{FF2B5EF4-FFF2-40B4-BE49-F238E27FC236}">
                  <a16:creationId xmlns:a16="http://schemas.microsoft.com/office/drawing/2014/main" id="{E24E8050-6D94-4670-BBE3-335C2D051CFC}"/>
                </a:ext>
              </a:extLst>
            </p:cNvPr>
            <p:cNvSpPr>
              <a:spLocks/>
            </p:cNvSpPr>
            <p:nvPr/>
          </p:nvSpPr>
          <p:spPr>
            <a:xfrm>
              <a:off x="4349750" y="2609850"/>
              <a:ext cx="2730500" cy="857250"/>
            </a:xfrm>
            <a:prstGeom prst="roundRect">
              <a:avLst>
                <a:gd name="adj" fmla="val 4444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置信度达门槛</a:t>
              </a:r>
            </a:p>
          </p:txBody>
        </p:sp>
        <p:sp>
          <p:nvSpPr>
            <p:cNvPr id="4" name="无违规内容">
              <a:extLst>
                <a:ext uri="{FF2B5EF4-FFF2-40B4-BE49-F238E27FC236}">
                  <a16:creationId xmlns:a16="http://schemas.microsoft.com/office/drawing/2014/main" id="{5AE9E160-8E65-4739-89DF-5EFC2630F957}"/>
                </a:ext>
              </a:extLst>
            </p:cNvPr>
            <p:cNvSpPr>
              <a:spLocks/>
            </p:cNvSpPr>
            <p:nvPr/>
          </p:nvSpPr>
          <p:spPr>
            <a:xfrm>
              <a:off x="7604125" y="2609850"/>
              <a:ext cx="2730500" cy="857250"/>
            </a:xfrm>
            <a:prstGeom prst="roundRect">
              <a:avLst>
                <a:gd name="adj" fmla="val 4444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无违规内容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693F01B5-9C4A-4A1E-B66A-A3B5AA6C107E}"/>
                </a:ext>
              </a:extLst>
            </p:cNvPr>
            <p:cNvSpPr>
              <a:spLocks/>
            </p:cNvSpPr>
            <p:nvPr/>
          </p:nvSpPr>
          <p:spPr>
            <a:xfrm>
              <a:off x="5715000" y="1857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" name="boundary">
              <a:extLst>
                <a:ext uri="{FF2B5EF4-FFF2-40B4-BE49-F238E27FC236}">
                  <a16:creationId xmlns:a16="http://schemas.microsoft.com/office/drawing/2014/main" id="{8B2047ED-6DC6-4A82-8125-BD91CE6E28F8}"/>
                </a:ext>
              </a:extLst>
            </p:cNvPr>
            <p:cNvSpPr>
              <a:spLocks/>
            </p:cNvSpPr>
            <p:nvPr/>
          </p:nvSpPr>
          <p:spPr>
            <a:xfrm>
              <a:off x="5715000" y="22002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D409B7D6-4273-4F9A-9A70-098557706B0B}"/>
                </a:ext>
              </a:extLst>
            </p:cNvPr>
            <p:cNvSpPr>
              <a:spLocks/>
            </p:cNvSpPr>
            <p:nvPr/>
          </p:nvSpPr>
          <p:spPr>
            <a:xfrm>
              <a:off x="5715000" y="22002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C1FA2545-17D6-4B10-BA22-3649E306D298}"/>
                </a:ext>
              </a:extLst>
            </p:cNvPr>
            <p:cNvSpPr>
              <a:spLocks/>
            </p:cNvSpPr>
            <p:nvPr/>
          </p:nvSpPr>
          <p:spPr>
            <a:xfrm>
              <a:off x="2457450" y="22002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E3F6C5DA-86F1-403F-9F87-AA2C1EAAE79D}"/>
                </a:ext>
              </a:extLst>
            </p:cNvPr>
            <p:cNvSpPr>
              <a:spLocks/>
            </p:cNvSpPr>
            <p:nvPr/>
          </p:nvSpPr>
          <p:spPr>
            <a:xfrm>
              <a:off x="2457450" y="22002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08F4466C-77E7-4F84-B3A3-230B48BE60AD}"/>
                </a:ext>
              </a:extLst>
            </p:cNvPr>
            <p:cNvSpPr>
              <a:spLocks/>
            </p:cNvSpPr>
            <p:nvPr/>
          </p:nvSpPr>
          <p:spPr>
            <a:xfrm>
              <a:off x="2457450" y="2609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综合校验结论">
              <a:extLst>
                <a:ext uri="{FF2B5EF4-FFF2-40B4-BE49-F238E27FC236}">
                  <a16:creationId xmlns:a16="http://schemas.microsoft.com/office/drawing/2014/main" id="{5E0AEFCE-AFC9-4D5E-B8E7-E9A7CD660AD2}"/>
                </a:ext>
              </a:extLst>
            </p:cNvPr>
            <p:cNvSpPr>
              <a:spLocks/>
            </p:cNvSpPr>
            <p:nvPr/>
          </p:nvSpPr>
          <p:spPr>
            <a:xfrm>
              <a:off x="4191000" y="4143375"/>
              <a:ext cx="3048000" cy="619125"/>
            </a:xfrm>
            <a:prstGeom prst="roundRect">
              <a:avLst>
                <a:gd name="adj" fmla="val 6154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综合校验结论</a:t>
              </a:r>
            </a:p>
          </p:txBody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D1B67CB5-FC96-40A8-8D26-DFE427BC399D}"/>
                </a:ext>
              </a:extLst>
            </p:cNvPr>
            <p:cNvSpPr>
              <a:spLocks/>
            </p:cNvSpPr>
            <p:nvPr/>
          </p:nvSpPr>
          <p:spPr>
            <a:xfrm>
              <a:off x="8982075" y="34671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8" name="boundary">
              <a:extLst>
                <a:ext uri="{FF2B5EF4-FFF2-40B4-BE49-F238E27FC236}">
                  <a16:creationId xmlns:a16="http://schemas.microsoft.com/office/drawing/2014/main" id="{8B8274D5-ACAC-41FE-AC22-BCB9851927D4}"/>
                </a:ext>
              </a:extLst>
            </p:cNvPr>
            <p:cNvSpPr>
              <a:spLocks/>
            </p:cNvSpPr>
            <p:nvPr/>
          </p:nvSpPr>
          <p:spPr>
            <a:xfrm>
              <a:off x="8982075" y="38385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24B70F7B-1547-4993-92C6-C7064417BA99}"/>
                </a:ext>
              </a:extLst>
            </p:cNvPr>
            <p:cNvSpPr>
              <a:spLocks/>
            </p:cNvSpPr>
            <p:nvPr/>
          </p:nvSpPr>
          <p:spPr>
            <a:xfrm>
              <a:off x="8982075" y="38385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6E7F0206-B0B6-4FCA-931F-9CCB8493EE3B}"/>
                </a:ext>
              </a:extLst>
            </p:cNvPr>
            <p:cNvSpPr>
              <a:spLocks/>
            </p:cNvSpPr>
            <p:nvPr/>
          </p:nvSpPr>
          <p:spPr>
            <a:xfrm>
              <a:off x="5715000" y="38385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60789B87-6102-4846-8A39-65E3ED01861E}"/>
                </a:ext>
              </a:extLst>
            </p:cNvPr>
            <p:cNvSpPr>
              <a:spLocks/>
            </p:cNvSpPr>
            <p:nvPr/>
          </p:nvSpPr>
          <p:spPr>
            <a:xfrm>
              <a:off x="5715000" y="38385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E3A654B9-E7A5-434A-BD7D-487C69D03931}"/>
                </a:ext>
              </a:extLst>
            </p:cNvPr>
            <p:cNvSpPr>
              <a:spLocks/>
            </p:cNvSpPr>
            <p:nvPr/>
          </p:nvSpPr>
          <p:spPr>
            <a:xfrm>
              <a:off x="5715000" y="4143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368CDC84-EDCD-4E58-BEA1-198EEF616644}"/>
                </a:ext>
              </a:extLst>
            </p:cNvPr>
            <p:cNvSpPr>
              <a:spLocks/>
            </p:cNvSpPr>
            <p:nvPr/>
          </p:nvSpPr>
          <p:spPr>
            <a:xfrm>
              <a:off x="476250" y="5724525"/>
              <a:ext cx="3143250" cy="1190625"/>
            </a:xfrm>
            <a:prstGeom prst="roundRect">
              <a:avLst>
                <a:gd name="adj" fmla="val 3200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7" name="pass">
              <a:extLst>
                <a:ext uri="{FF2B5EF4-FFF2-40B4-BE49-F238E27FC236}">
                  <a16:creationId xmlns:a16="http://schemas.microsoft.com/office/drawing/2014/main" id="{DEA87EE0-AC3D-4D91-8471-491E2E1AF4EA}"/>
                </a:ext>
              </a:extLst>
            </p:cNvPr>
            <p:cNvSpPr>
              <a:spLocks/>
            </p:cNvSpPr>
            <p:nvPr/>
          </p:nvSpPr>
          <p:spPr>
            <a:xfrm>
              <a:off x="571500" y="5819775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pass</a:t>
              </a:r>
            </a:p>
          </p:txBody>
        </p:sp>
        <p:sp>
          <p:nvSpPr>
            <p:cNvPr id="28" name="写入或返回">
              <a:extLst>
                <a:ext uri="{FF2B5EF4-FFF2-40B4-BE49-F238E27FC236}">
                  <a16:creationId xmlns:a16="http://schemas.microsoft.com/office/drawing/2014/main" id="{B75389FA-EFEE-41BD-8934-A449EF31191B}"/>
                </a:ext>
              </a:extLst>
            </p:cNvPr>
            <p:cNvSpPr>
              <a:spLocks/>
            </p:cNvSpPr>
            <p:nvPr/>
          </p:nvSpPr>
          <p:spPr>
            <a:xfrm>
              <a:off x="590550" y="6248400"/>
              <a:ext cx="29146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写入或返回</a:t>
              </a:r>
            </a:p>
          </p:txBody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218D056B-5508-492C-9355-DE1D5FDD2D35}"/>
                </a:ext>
              </a:extLst>
            </p:cNvPr>
            <p:cNvSpPr>
              <a:spLocks/>
            </p:cNvSpPr>
            <p:nvPr/>
          </p:nvSpPr>
          <p:spPr>
            <a:xfrm>
              <a:off x="4143375" y="5724525"/>
              <a:ext cx="3143250" cy="1190625"/>
            </a:xfrm>
            <a:prstGeom prst="roundRect">
              <a:avLst>
                <a:gd name="adj" fmla="val 3200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30" name="partial">
              <a:extLst>
                <a:ext uri="{FF2B5EF4-FFF2-40B4-BE49-F238E27FC236}">
                  <a16:creationId xmlns:a16="http://schemas.microsoft.com/office/drawing/2014/main" id="{683AD252-247B-4776-B745-255A0E2ECC9C}"/>
                </a:ext>
              </a:extLst>
            </p:cNvPr>
            <p:cNvSpPr>
              <a:spLocks/>
            </p:cNvSpPr>
            <p:nvPr/>
          </p:nvSpPr>
          <p:spPr>
            <a:xfrm>
              <a:off x="4238625" y="5819775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partial</a:t>
              </a:r>
            </a:p>
          </p:txBody>
        </p:sp>
        <p:sp>
          <p:nvSpPr>
            <p:cNvPr id="31" name="标明不受支持句">
              <a:extLst>
                <a:ext uri="{FF2B5EF4-FFF2-40B4-BE49-F238E27FC236}">
                  <a16:creationId xmlns:a16="http://schemas.microsoft.com/office/drawing/2014/main" id="{BC071152-568C-462A-AA31-BEBD008E1593}"/>
                </a:ext>
              </a:extLst>
            </p:cNvPr>
            <p:cNvSpPr>
              <a:spLocks/>
            </p:cNvSpPr>
            <p:nvPr/>
          </p:nvSpPr>
          <p:spPr>
            <a:xfrm>
              <a:off x="4257675" y="6248400"/>
              <a:ext cx="29146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标明不受支持句</a:t>
              </a:r>
            </a:p>
          </p:txBody>
        </p:sp>
        <p:sp>
          <p:nvSpPr>
            <p:cNvPr id="32" name="boundary">
              <a:extLst>
                <a:ext uri="{FF2B5EF4-FFF2-40B4-BE49-F238E27FC236}">
                  <a16:creationId xmlns:a16="http://schemas.microsoft.com/office/drawing/2014/main" id="{68C49388-28BD-4061-B541-A2EE0F66244E}"/>
                </a:ext>
              </a:extLst>
            </p:cNvPr>
            <p:cNvSpPr>
              <a:spLocks/>
            </p:cNvSpPr>
            <p:nvPr/>
          </p:nvSpPr>
          <p:spPr>
            <a:xfrm>
              <a:off x="7810500" y="5724525"/>
              <a:ext cx="3143250" cy="1190625"/>
            </a:xfrm>
            <a:prstGeom prst="roundRect">
              <a:avLst>
                <a:gd name="adj" fmla="val 3200"/>
              </a:avLst>
            </a:prstGeom>
            <a:solidFill>
              <a:srgbClr val="FBE7E2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33" name="reject / fail">
              <a:extLst>
                <a:ext uri="{FF2B5EF4-FFF2-40B4-BE49-F238E27FC236}">
                  <a16:creationId xmlns:a16="http://schemas.microsoft.com/office/drawing/2014/main" id="{2E1F4A6D-2253-4C7B-AC82-0CB4B347C77B}"/>
                </a:ext>
              </a:extLst>
            </p:cNvPr>
            <p:cNvSpPr>
              <a:spLocks/>
            </p:cNvSpPr>
            <p:nvPr/>
          </p:nvSpPr>
          <p:spPr>
            <a:xfrm>
              <a:off x="7905750" y="5819775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B554B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B554B"/>
                  </a:solidFill>
                </a:defRPr>
              </a:pPr>
              <a:r>
                <a:rPr sz="1875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reject / fail</a:t>
              </a:r>
            </a:p>
          </p:txBody>
        </p:sp>
        <p:sp>
          <p:nvSpPr>
            <p:cNvPr id="34" name="重新检索或富化">
              <a:extLst>
                <a:ext uri="{FF2B5EF4-FFF2-40B4-BE49-F238E27FC236}">
                  <a16:creationId xmlns:a16="http://schemas.microsoft.com/office/drawing/2014/main" id="{123F351C-74A4-4EFD-AF1F-37CBE6127705}"/>
                </a:ext>
              </a:extLst>
            </p:cNvPr>
            <p:cNvSpPr>
              <a:spLocks/>
            </p:cNvSpPr>
            <p:nvPr/>
          </p:nvSpPr>
          <p:spPr>
            <a:xfrm>
              <a:off x="7924800" y="6248400"/>
              <a:ext cx="29146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重新检索或富化</a:t>
              </a:r>
            </a:p>
          </p:txBody>
        </p:sp>
        <p:sp>
          <p:nvSpPr>
            <p:cNvPr id="35" name="boundary">
              <a:extLst>
                <a:ext uri="{FF2B5EF4-FFF2-40B4-BE49-F238E27FC236}">
                  <a16:creationId xmlns:a16="http://schemas.microsoft.com/office/drawing/2014/main" id="{95E03A80-6334-4BB1-BD66-383FDF28AB34}"/>
                </a:ext>
              </a:extLst>
            </p:cNvPr>
            <p:cNvSpPr>
              <a:spLocks/>
            </p:cNvSpPr>
            <p:nvPr/>
          </p:nvSpPr>
          <p:spPr>
            <a:xfrm>
              <a:off x="5715000" y="4762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6" name="boundary">
              <a:extLst>
                <a:ext uri="{FF2B5EF4-FFF2-40B4-BE49-F238E27FC236}">
                  <a16:creationId xmlns:a16="http://schemas.microsoft.com/office/drawing/2014/main" id="{22558CD5-00A2-471A-B80F-43E4DFD2D1AC}"/>
                </a:ext>
              </a:extLst>
            </p:cNvPr>
            <p:cNvSpPr>
              <a:spLocks/>
            </p:cNvSpPr>
            <p:nvPr/>
          </p:nvSpPr>
          <p:spPr>
            <a:xfrm>
              <a:off x="5715000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boundary">
              <a:extLst>
                <a:ext uri="{FF2B5EF4-FFF2-40B4-BE49-F238E27FC236}">
                  <a16:creationId xmlns:a16="http://schemas.microsoft.com/office/drawing/2014/main" id="{C4A40DD3-0F54-4155-9B30-EE5B24F853A7}"/>
                </a:ext>
              </a:extLst>
            </p:cNvPr>
            <p:cNvSpPr>
              <a:spLocks/>
            </p:cNvSpPr>
            <p:nvPr/>
          </p:nvSpPr>
          <p:spPr>
            <a:xfrm>
              <a:off x="5715000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9" name="boundary">
              <a:extLst>
                <a:ext uri="{FF2B5EF4-FFF2-40B4-BE49-F238E27FC236}">
                  <a16:creationId xmlns:a16="http://schemas.microsoft.com/office/drawing/2014/main" id="{0B2113BF-B3C0-437D-9E35-10F10DC28007}"/>
                </a:ext>
              </a:extLst>
            </p:cNvPr>
            <p:cNvSpPr>
              <a:spLocks/>
            </p:cNvSpPr>
            <p:nvPr/>
          </p:nvSpPr>
          <p:spPr>
            <a:xfrm>
              <a:off x="2047875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1" name="boundary">
              <a:extLst>
                <a:ext uri="{FF2B5EF4-FFF2-40B4-BE49-F238E27FC236}">
                  <a16:creationId xmlns:a16="http://schemas.microsoft.com/office/drawing/2014/main" id="{78924D79-796A-434D-94D2-CFC3E71A8909}"/>
                </a:ext>
              </a:extLst>
            </p:cNvPr>
            <p:cNvSpPr>
              <a:spLocks/>
            </p:cNvSpPr>
            <p:nvPr/>
          </p:nvSpPr>
          <p:spPr>
            <a:xfrm>
              <a:off x="2047875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2" name="boundary">
              <a:extLst>
                <a:ext uri="{FF2B5EF4-FFF2-40B4-BE49-F238E27FC236}">
                  <a16:creationId xmlns:a16="http://schemas.microsoft.com/office/drawing/2014/main" id="{84610DB2-8754-4481-80B8-91514A4B521E}"/>
                </a:ext>
              </a:extLst>
            </p:cNvPr>
            <p:cNvSpPr>
              <a:spLocks/>
            </p:cNvSpPr>
            <p:nvPr/>
          </p:nvSpPr>
          <p:spPr>
            <a:xfrm>
              <a:off x="2047875" y="57245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4" name="boundary">
              <a:extLst>
                <a:ext uri="{FF2B5EF4-FFF2-40B4-BE49-F238E27FC236}">
                  <a16:creationId xmlns:a16="http://schemas.microsoft.com/office/drawing/2014/main" id="{6225957F-EAFE-494B-8CCE-95B59BF74F53}"/>
                </a:ext>
              </a:extLst>
            </p:cNvPr>
            <p:cNvSpPr>
              <a:spLocks/>
            </p:cNvSpPr>
            <p:nvPr/>
          </p:nvSpPr>
          <p:spPr>
            <a:xfrm>
              <a:off x="5715000" y="4762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5" name="boundary">
              <a:extLst>
                <a:ext uri="{FF2B5EF4-FFF2-40B4-BE49-F238E27FC236}">
                  <a16:creationId xmlns:a16="http://schemas.microsoft.com/office/drawing/2014/main" id="{4B0FB533-DE13-4E93-8577-8400467333BC}"/>
                </a:ext>
              </a:extLst>
            </p:cNvPr>
            <p:cNvSpPr>
              <a:spLocks/>
            </p:cNvSpPr>
            <p:nvPr/>
          </p:nvSpPr>
          <p:spPr>
            <a:xfrm>
              <a:off x="5715000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boundary">
              <a:extLst>
                <a:ext uri="{FF2B5EF4-FFF2-40B4-BE49-F238E27FC236}">
                  <a16:creationId xmlns:a16="http://schemas.microsoft.com/office/drawing/2014/main" id="{E3F53D96-A7B5-4838-8DC8-12FDDDAA995B}"/>
                </a:ext>
              </a:extLst>
            </p:cNvPr>
            <p:cNvSpPr>
              <a:spLocks/>
            </p:cNvSpPr>
            <p:nvPr/>
          </p:nvSpPr>
          <p:spPr>
            <a:xfrm>
              <a:off x="5715000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8" name="boundary">
              <a:extLst>
                <a:ext uri="{FF2B5EF4-FFF2-40B4-BE49-F238E27FC236}">
                  <a16:creationId xmlns:a16="http://schemas.microsoft.com/office/drawing/2014/main" id="{87B0F48A-D480-4552-B700-E76AD7B1EC77}"/>
                </a:ext>
              </a:extLst>
            </p:cNvPr>
            <p:cNvSpPr>
              <a:spLocks/>
            </p:cNvSpPr>
            <p:nvPr/>
          </p:nvSpPr>
          <p:spPr>
            <a:xfrm>
              <a:off x="5715000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0" name="boundary">
              <a:extLst>
                <a:ext uri="{FF2B5EF4-FFF2-40B4-BE49-F238E27FC236}">
                  <a16:creationId xmlns:a16="http://schemas.microsoft.com/office/drawing/2014/main" id="{5C2DE4D7-B604-454F-88D5-338C5CFC23F5}"/>
                </a:ext>
              </a:extLst>
            </p:cNvPr>
            <p:cNvSpPr>
              <a:spLocks/>
            </p:cNvSpPr>
            <p:nvPr/>
          </p:nvSpPr>
          <p:spPr>
            <a:xfrm>
              <a:off x="5715000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1" name="boundary">
              <a:extLst>
                <a:ext uri="{FF2B5EF4-FFF2-40B4-BE49-F238E27FC236}">
                  <a16:creationId xmlns:a16="http://schemas.microsoft.com/office/drawing/2014/main" id="{0845913E-6086-4FC6-8B98-1C006EC7335C}"/>
                </a:ext>
              </a:extLst>
            </p:cNvPr>
            <p:cNvSpPr>
              <a:spLocks/>
            </p:cNvSpPr>
            <p:nvPr/>
          </p:nvSpPr>
          <p:spPr>
            <a:xfrm>
              <a:off x="5715000" y="57245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3" name="boundary">
              <a:extLst>
                <a:ext uri="{FF2B5EF4-FFF2-40B4-BE49-F238E27FC236}">
                  <a16:creationId xmlns:a16="http://schemas.microsoft.com/office/drawing/2014/main" id="{86F2C802-5E03-475D-8DEA-ED22B99CB5DB}"/>
                </a:ext>
              </a:extLst>
            </p:cNvPr>
            <p:cNvSpPr>
              <a:spLocks/>
            </p:cNvSpPr>
            <p:nvPr/>
          </p:nvSpPr>
          <p:spPr>
            <a:xfrm>
              <a:off x="5715000" y="4762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4" name="boundary">
              <a:extLst>
                <a:ext uri="{FF2B5EF4-FFF2-40B4-BE49-F238E27FC236}">
                  <a16:creationId xmlns:a16="http://schemas.microsoft.com/office/drawing/2014/main" id="{086484D0-C211-4214-93B2-0935B52891F5}"/>
                </a:ext>
              </a:extLst>
            </p:cNvPr>
            <p:cNvSpPr>
              <a:spLocks/>
            </p:cNvSpPr>
            <p:nvPr/>
          </p:nvSpPr>
          <p:spPr>
            <a:xfrm>
              <a:off x="5715000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6" name="boundary">
              <a:extLst>
                <a:ext uri="{FF2B5EF4-FFF2-40B4-BE49-F238E27FC236}">
                  <a16:creationId xmlns:a16="http://schemas.microsoft.com/office/drawing/2014/main" id="{A3D7C015-0729-47C5-AA29-CD492D7511A2}"/>
                </a:ext>
              </a:extLst>
            </p:cNvPr>
            <p:cNvSpPr>
              <a:spLocks/>
            </p:cNvSpPr>
            <p:nvPr/>
          </p:nvSpPr>
          <p:spPr>
            <a:xfrm>
              <a:off x="5715000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7" name="boundary">
              <a:extLst>
                <a:ext uri="{FF2B5EF4-FFF2-40B4-BE49-F238E27FC236}">
                  <a16:creationId xmlns:a16="http://schemas.microsoft.com/office/drawing/2014/main" id="{EEE04475-E780-4563-A764-968971013E59}"/>
                </a:ext>
              </a:extLst>
            </p:cNvPr>
            <p:cNvSpPr>
              <a:spLocks/>
            </p:cNvSpPr>
            <p:nvPr/>
          </p:nvSpPr>
          <p:spPr>
            <a:xfrm>
              <a:off x="9382125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9" name="boundary">
              <a:extLst>
                <a:ext uri="{FF2B5EF4-FFF2-40B4-BE49-F238E27FC236}">
                  <a16:creationId xmlns:a16="http://schemas.microsoft.com/office/drawing/2014/main" id="{EFC93E46-77E4-4A5B-B82C-CA8D1E0DDD55}"/>
                </a:ext>
              </a:extLst>
            </p:cNvPr>
            <p:cNvSpPr>
              <a:spLocks/>
            </p:cNvSpPr>
            <p:nvPr/>
          </p:nvSpPr>
          <p:spPr>
            <a:xfrm>
              <a:off x="9382125" y="5210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0" name="boundary">
              <a:extLst>
                <a:ext uri="{FF2B5EF4-FFF2-40B4-BE49-F238E27FC236}">
                  <a16:creationId xmlns:a16="http://schemas.microsoft.com/office/drawing/2014/main" id="{99E804F9-C9A7-489C-91CC-12B2528718B0}"/>
                </a:ext>
              </a:extLst>
            </p:cNvPr>
            <p:cNvSpPr>
              <a:spLocks/>
            </p:cNvSpPr>
            <p:nvPr/>
          </p:nvSpPr>
          <p:spPr>
            <a:xfrm>
              <a:off x="9382125" y="57245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2" name="关系边门槛 0.6；问答 partial 比例 ≤30%；LLM 产出 20% 抽检">
              <a:extLst>
                <a:ext uri="{FF2B5EF4-FFF2-40B4-BE49-F238E27FC236}">
                  <a16:creationId xmlns:a16="http://schemas.microsoft.com/office/drawing/2014/main" id="{B611E4D9-97F3-4801-9245-08E99D29A206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关系边门槛 0.6；问答 partial 比例 ≤30%；LLM 产出 20% 抽检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61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F-09 - whole figure">
            <a:extLst>
              <a:ext uri="{FF2B5EF4-FFF2-40B4-BE49-F238E27FC236}">
                <a16:creationId xmlns:a16="http://schemas.microsoft.com/office/drawing/2014/main" id="{84F557AB-2750-8B9C-75D9-21CE0FC8BBFB}"/>
              </a:ext>
            </a:extLst>
          </p:cNvPr>
          <p:cNvGrpSpPr/>
          <p:nvPr/>
        </p:nvGrpSpPr>
        <p:grpSpPr>
          <a:xfrm>
            <a:off x="428625" y="1562100"/>
            <a:ext cx="10572750" cy="6400800"/>
            <a:chOff x="428625" y="1562100"/>
            <a:chExt cx="10572750" cy="6400800"/>
          </a:xfrm>
        </p:grpSpPr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C659ADC8-623A-4E88-932E-A05E0D8DF111}"/>
                </a:ext>
              </a:extLst>
            </p:cNvPr>
            <p:cNvSpPr>
              <a:spLocks/>
            </p:cNvSpPr>
            <p:nvPr/>
          </p:nvSpPr>
          <p:spPr>
            <a:xfrm>
              <a:off x="476250" y="1562100"/>
              <a:ext cx="3333750" cy="5153025"/>
            </a:xfrm>
            <a:prstGeom prst="roundRect">
              <a:avLst>
                <a:gd name="adj" fmla="val 5714"/>
              </a:avLst>
            </a:prstGeom>
            <a:solidFill>
              <a:srgbClr val="EAF4FC"/>
            </a:solidFill>
            <a:ln w="0">
              <a:noFill/>
              <a:prstDash val="solid"/>
            </a:ln>
          </p:spPr>
        </p:sp>
        <p:sp>
          <p:nvSpPr>
            <p:cNvPr id="2" name="一级 官方">
              <a:extLst>
                <a:ext uri="{FF2B5EF4-FFF2-40B4-BE49-F238E27FC236}">
                  <a16:creationId xmlns:a16="http://schemas.microsoft.com/office/drawing/2014/main" id="{A3EFF4FE-605B-4EEE-89F2-4FDA7D9470C4}"/>
                </a:ext>
              </a:extLst>
            </p:cNvPr>
            <p:cNvSpPr>
              <a:spLocks/>
            </p:cNvSpPr>
            <p:nvPr/>
          </p:nvSpPr>
          <p:spPr>
            <a:xfrm>
              <a:off x="666750" y="1771650"/>
              <a:ext cx="2952750" cy="495300"/>
            </a:xfrm>
            <a:prstGeom prst="roundRect">
              <a:avLst>
                <a:gd name="adj" fmla="val 7692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一级 官方</a:t>
              </a:r>
            </a:p>
          </p:txBody>
        </p:sp>
        <p:sp>
          <p:nvSpPr>
            <p:cNvPr id="3" name="1.0">
              <a:extLst>
                <a:ext uri="{FF2B5EF4-FFF2-40B4-BE49-F238E27FC236}">
                  <a16:creationId xmlns:a16="http://schemas.microsoft.com/office/drawing/2014/main" id="{F699B01D-CA92-4953-B867-0D228B7241E8}"/>
                </a:ext>
              </a:extLst>
            </p:cNvPr>
            <p:cNvSpPr>
              <a:spLocks/>
            </p:cNvSpPr>
            <p:nvPr/>
          </p:nvSpPr>
          <p:spPr>
            <a:xfrm>
              <a:off x="666750" y="2466975"/>
              <a:ext cx="2952750" cy="9429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465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4650" b="1">
                  <a:solidFill>
                    <a:srgbClr val="277DC3"/>
                  </a:solidFill>
                </a:defRPr>
              </a:pPr>
              <a:r>
                <a:rPr sz="465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1.0</a:t>
              </a:r>
            </a:p>
          </p:txBody>
        </p:sp>
        <p:sp>
          <p:nvSpPr>
            <p:cNvPr id="4" name="可信度权重">
              <a:extLst>
                <a:ext uri="{FF2B5EF4-FFF2-40B4-BE49-F238E27FC236}">
                  <a16:creationId xmlns:a16="http://schemas.microsoft.com/office/drawing/2014/main" id="{76726C14-E321-4260-97ED-411138F7F1B7}"/>
                </a:ext>
              </a:extLst>
            </p:cNvPr>
            <p:cNvSpPr>
              <a:spLocks/>
            </p:cNvSpPr>
            <p:nvPr/>
          </p:nvSpPr>
          <p:spPr>
            <a:xfrm>
              <a:off x="666750" y="3390900"/>
              <a:ext cx="2952750" cy="342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可信度权重</a:t>
              </a:r>
            </a:p>
          </p:txBody>
        </p:sp>
        <p:sp>
          <p:nvSpPr>
            <p:cNvPr id="5" name="NVD / GHSA reviewed OSV / KEV / EPSS ATLAS / 厂商公告 CNNVD / 标准法规 CNVD：人工导入">
              <a:extLst>
                <a:ext uri="{FF2B5EF4-FFF2-40B4-BE49-F238E27FC236}">
                  <a16:creationId xmlns:a16="http://schemas.microsoft.com/office/drawing/2014/main" id="{A0FEA74B-ACCE-427E-B5A9-4060AA1561AA}"/>
                </a:ext>
              </a:extLst>
            </p:cNvPr>
            <p:cNvSpPr>
              <a:spLocks/>
            </p:cNvSpPr>
            <p:nvPr/>
          </p:nvSpPr>
          <p:spPr>
            <a:xfrm>
              <a:off x="619125" y="4019550"/>
              <a:ext cx="3048000" cy="2409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NVD / GHSA reviewed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OSV / KEV / EPSS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ATLAS / 厂商公告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CNNVD / 标准法规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CNVD：人工导入</a:t>
              </a:r>
            </a:p>
          </p:txBody>
        </p:sp>
        <p:sp>
          <p:nvSpPr>
            <p:cNvPr id="6" name="boundary">
              <a:extLst>
                <a:ext uri="{FF2B5EF4-FFF2-40B4-BE49-F238E27FC236}">
                  <a16:creationId xmlns:a16="http://schemas.microsoft.com/office/drawing/2014/main" id="{7758EDF8-DA1C-4655-BB07-45123BAF45B2}"/>
                </a:ext>
              </a:extLst>
            </p:cNvPr>
            <p:cNvSpPr>
              <a:spLocks/>
            </p:cNvSpPr>
            <p:nvPr/>
          </p:nvSpPr>
          <p:spPr>
            <a:xfrm>
              <a:off x="4048125" y="1562100"/>
              <a:ext cx="3333750" cy="5153025"/>
            </a:xfrm>
            <a:prstGeom prst="roundRect">
              <a:avLst>
                <a:gd name="adj" fmla="val 5714"/>
              </a:avLst>
            </a:prstGeom>
            <a:solidFill>
              <a:srgbClr val="E5F0DA"/>
            </a:solidFill>
            <a:ln w="0">
              <a:noFill/>
              <a:prstDash val="solid"/>
            </a:ln>
          </p:spPr>
        </p:sp>
        <p:sp>
          <p:nvSpPr>
            <p:cNvPr id="7" name="二级 专业平台">
              <a:extLst>
                <a:ext uri="{FF2B5EF4-FFF2-40B4-BE49-F238E27FC236}">
                  <a16:creationId xmlns:a16="http://schemas.microsoft.com/office/drawing/2014/main" id="{6E8932E3-35AE-4F64-95EF-FD4A2B666AEB}"/>
                </a:ext>
              </a:extLst>
            </p:cNvPr>
            <p:cNvSpPr>
              <a:spLocks/>
            </p:cNvSpPr>
            <p:nvPr/>
          </p:nvSpPr>
          <p:spPr>
            <a:xfrm>
              <a:off x="4238625" y="1771650"/>
              <a:ext cx="2952750" cy="495300"/>
            </a:xfrm>
            <a:prstGeom prst="roundRect">
              <a:avLst>
                <a:gd name="adj" fmla="val 7692"/>
              </a:avLst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二级 专业平台</a:t>
              </a:r>
            </a:p>
          </p:txBody>
        </p:sp>
        <p:sp>
          <p:nvSpPr>
            <p:cNvPr id="8" name="0.7">
              <a:extLst>
                <a:ext uri="{FF2B5EF4-FFF2-40B4-BE49-F238E27FC236}">
                  <a16:creationId xmlns:a16="http://schemas.microsoft.com/office/drawing/2014/main" id="{8A1031D8-3131-4114-85DC-33B5D6D89038}"/>
                </a:ext>
              </a:extLst>
            </p:cNvPr>
            <p:cNvSpPr>
              <a:spLocks/>
            </p:cNvSpPr>
            <p:nvPr/>
          </p:nvSpPr>
          <p:spPr>
            <a:xfrm>
              <a:off x="4238625" y="2466975"/>
              <a:ext cx="2952750" cy="9429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465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4650" b="1">
                  <a:solidFill>
                    <a:srgbClr val="547D45"/>
                  </a:solidFill>
                </a:defRPr>
              </a:pPr>
              <a:r>
                <a:rPr sz="465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0.7</a:t>
              </a:r>
            </a:p>
          </p:txBody>
        </p:sp>
        <p:sp>
          <p:nvSpPr>
            <p:cNvPr id="9" name="可信度权重">
              <a:extLst>
                <a:ext uri="{FF2B5EF4-FFF2-40B4-BE49-F238E27FC236}">
                  <a16:creationId xmlns:a16="http://schemas.microsoft.com/office/drawing/2014/main" id="{7EE57EE3-CE65-493C-B38F-AD12B14939CF}"/>
                </a:ext>
              </a:extLst>
            </p:cNvPr>
            <p:cNvSpPr>
              <a:spLocks/>
            </p:cNvSpPr>
            <p:nvPr/>
          </p:nvSpPr>
          <p:spPr>
            <a:xfrm>
              <a:off x="4238625" y="3390900"/>
              <a:ext cx="2952750" cy="342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0">
                  <a:solidFill>
                    <a:srgbClr val="547D45"/>
                  </a:solidFill>
                </a:defRPr>
              </a:pPr>
              <a:r>
                <a:rPr sz="1725" b="0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可信度权重</a:t>
              </a:r>
            </a:p>
          </p:txBody>
        </p:sp>
        <p:sp>
          <p:nvSpPr>
            <p:cNvPr id="10" name="huntr / AVID GHSA unreviewed  测绘平台仅供暴露面 不增加来源类别">
              <a:extLst>
                <a:ext uri="{FF2B5EF4-FFF2-40B4-BE49-F238E27FC236}">
                  <a16:creationId xmlns:a16="http://schemas.microsoft.com/office/drawing/2014/main" id="{9DDDEB86-322F-452C-B5C4-B968E7E8D77B}"/>
                </a:ext>
              </a:extLst>
            </p:cNvPr>
            <p:cNvSpPr>
              <a:spLocks/>
            </p:cNvSpPr>
            <p:nvPr/>
          </p:nvSpPr>
          <p:spPr>
            <a:xfrm>
              <a:off x="4191000" y="4019550"/>
              <a:ext cx="3048000" cy="2409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huntr / AVID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GHSA unreviewed</a:t>
              </a:r>
            </a:p>
            <a:p>
              <a:endPara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endParaRP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测绘平台仅供暴露面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不增加来源类别</a:t>
              </a:r>
            </a:p>
          </p:txBody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F2FA8DE9-CF46-4878-9333-F66D7F0F1104}"/>
                </a:ext>
              </a:extLst>
            </p:cNvPr>
            <p:cNvSpPr>
              <a:spLocks/>
            </p:cNvSpPr>
            <p:nvPr/>
          </p:nvSpPr>
          <p:spPr>
            <a:xfrm>
              <a:off x="7620000" y="1562100"/>
              <a:ext cx="3333750" cy="5153025"/>
            </a:xfrm>
            <a:prstGeom prst="roundRect">
              <a:avLst>
                <a:gd name="adj" fmla="val 5714"/>
              </a:avLst>
            </a:prstGeom>
            <a:solidFill>
              <a:srgbClr val="FFF1CB"/>
            </a:solidFill>
            <a:ln w="0">
              <a:noFill/>
              <a:prstDash val="solid"/>
            </a:ln>
          </p:spPr>
        </p:sp>
        <p:sp>
          <p:nvSpPr>
            <p:cNvPr id="12" name="三级 研究资讯">
              <a:extLst>
                <a:ext uri="{FF2B5EF4-FFF2-40B4-BE49-F238E27FC236}">
                  <a16:creationId xmlns:a16="http://schemas.microsoft.com/office/drawing/2014/main" id="{F8E347F2-AA3F-4412-9011-42EAA46DA0EE}"/>
                </a:ext>
              </a:extLst>
            </p:cNvPr>
            <p:cNvSpPr>
              <a:spLocks/>
            </p:cNvSpPr>
            <p:nvPr/>
          </p:nvSpPr>
          <p:spPr>
            <a:xfrm>
              <a:off x="7810500" y="1771650"/>
              <a:ext cx="2952750" cy="495300"/>
            </a:xfrm>
            <a:prstGeom prst="roundRect">
              <a:avLst>
                <a:gd name="adj" fmla="val 7692"/>
              </a:avLst>
            </a:prstGeom>
            <a:solidFill>
              <a:srgbClr val="A67A20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三级 研究资讯</a:t>
              </a:r>
            </a:p>
          </p:txBody>
        </p:sp>
        <p:sp>
          <p:nvSpPr>
            <p:cNvPr id="13" name="0.4">
              <a:extLst>
                <a:ext uri="{FF2B5EF4-FFF2-40B4-BE49-F238E27FC236}">
                  <a16:creationId xmlns:a16="http://schemas.microsoft.com/office/drawing/2014/main" id="{2EA1301F-344C-4BFB-B687-2832768DFE4A}"/>
                </a:ext>
              </a:extLst>
            </p:cNvPr>
            <p:cNvSpPr>
              <a:spLocks/>
            </p:cNvSpPr>
            <p:nvPr/>
          </p:nvSpPr>
          <p:spPr>
            <a:xfrm>
              <a:off x="7810500" y="2466975"/>
              <a:ext cx="2952750" cy="9429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4650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4650" b="1">
                  <a:solidFill>
                    <a:srgbClr val="A67A20"/>
                  </a:solidFill>
                </a:defRPr>
              </a:pPr>
              <a:r>
                <a:rPr sz="465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0.4</a:t>
              </a:r>
            </a:p>
          </p:txBody>
        </p:sp>
        <p:sp>
          <p:nvSpPr>
            <p:cNvPr id="14" name="可信度权重">
              <a:extLst>
                <a:ext uri="{FF2B5EF4-FFF2-40B4-BE49-F238E27FC236}">
                  <a16:creationId xmlns:a16="http://schemas.microsoft.com/office/drawing/2014/main" id="{2728C348-6FFB-4042-A700-9169C8323117}"/>
                </a:ext>
              </a:extLst>
            </p:cNvPr>
            <p:cNvSpPr>
              <a:spLocks/>
            </p:cNvSpPr>
            <p:nvPr/>
          </p:nvSpPr>
          <p:spPr>
            <a:xfrm>
              <a:off x="7810500" y="3390900"/>
              <a:ext cx="2952750" cy="342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67A20"/>
                  </a:solidFill>
                </a:defRPr>
              </a:pPr>
              <a:r>
                <a:rPr sz="1725" b="0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可信度权重</a:t>
              </a:r>
            </a:p>
          </p:txBody>
        </p:sp>
        <p:sp>
          <p:nvSpPr>
            <p:cNvPr id="15" name="arXiv 安全博客 RSS  仅三级支撑：unconfirmed 不进入高危告警">
              <a:extLst>
                <a:ext uri="{FF2B5EF4-FFF2-40B4-BE49-F238E27FC236}">
                  <a16:creationId xmlns:a16="http://schemas.microsoft.com/office/drawing/2014/main" id="{E8FC8CDF-DC6E-4888-8BCE-FDB8D71A8476}"/>
                </a:ext>
              </a:extLst>
            </p:cNvPr>
            <p:cNvSpPr>
              <a:spLocks/>
            </p:cNvSpPr>
            <p:nvPr/>
          </p:nvSpPr>
          <p:spPr>
            <a:xfrm>
              <a:off x="7762875" y="4019550"/>
              <a:ext cx="3048000" cy="2409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arXiv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安全博客 RSS</a:t>
              </a:r>
            </a:p>
            <a:p>
              <a:endPara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endParaRP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仅三级支撑：unconfirmed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不进入高危告警</a:t>
              </a:r>
            </a:p>
          </p:txBody>
        </p:sp>
        <p:sp>
          <p:nvSpPr>
            <p:cNvPr id="16" name="平台审核只可下调可信度；CNNVD 主力，CNVD 加分项">
              <a:extLst>
                <a:ext uri="{FF2B5EF4-FFF2-40B4-BE49-F238E27FC236}">
                  <a16:creationId xmlns:a16="http://schemas.microsoft.com/office/drawing/2014/main" id="{706AFB43-2D2B-4E8B-9696-700CF953F8C5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平台审核只可下调可信度；CNNVD 主力，CNVD 加分项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8925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F-10 - whole figure">
            <a:extLst>
              <a:ext uri="{FF2B5EF4-FFF2-40B4-BE49-F238E27FC236}">
                <a16:creationId xmlns:a16="http://schemas.microsoft.com/office/drawing/2014/main" id="{3957920B-CA47-71F0-99C8-C6D6E69806C1}"/>
              </a:ext>
            </a:extLst>
          </p:cNvPr>
          <p:cNvGrpSpPr/>
          <p:nvPr/>
        </p:nvGrpSpPr>
        <p:grpSpPr>
          <a:xfrm>
            <a:off x="428625" y="1152525"/>
            <a:ext cx="10591800" cy="6810375"/>
            <a:chOff x="428625" y="1152525"/>
            <a:chExt cx="10591800" cy="6810375"/>
          </a:xfrm>
        </p:grpSpPr>
        <p:sp>
          <p:nvSpPr>
            <p:cNvPr id="37" name="轮询频率">
              <a:extLst>
                <a:ext uri="{FF2B5EF4-FFF2-40B4-BE49-F238E27FC236}">
                  <a16:creationId xmlns:a16="http://schemas.microsoft.com/office/drawing/2014/main" id="{8F6357F7-88AF-41FE-BF6F-559B12D1B73F}"/>
                </a:ext>
              </a:extLst>
            </p:cNvPr>
            <p:cNvSpPr>
              <a:spLocks/>
            </p:cNvSpPr>
            <p:nvPr/>
          </p:nvSpPr>
          <p:spPr>
            <a:xfrm>
              <a:off x="647700" y="1152525"/>
              <a:ext cx="18097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l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轮询频率</a:t>
              </a:r>
            </a:p>
          </p:txBody>
        </p:sp>
        <p:sp>
          <p:nvSpPr>
            <p:cNvPr id="2" name="来源与触发方式">
              <a:extLst>
                <a:ext uri="{FF2B5EF4-FFF2-40B4-BE49-F238E27FC236}">
                  <a16:creationId xmlns:a16="http://schemas.microsoft.com/office/drawing/2014/main" id="{05E2C301-38CA-4E56-A2F4-E29FA1DD87B8}"/>
                </a:ext>
              </a:extLst>
            </p:cNvPr>
            <p:cNvSpPr>
              <a:spLocks/>
            </p:cNvSpPr>
            <p:nvPr/>
          </p:nvSpPr>
          <p:spPr>
            <a:xfrm>
              <a:off x="3000375" y="1152525"/>
              <a:ext cx="42862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l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来源与触发方式</a:t>
              </a:r>
            </a:p>
          </p:txBody>
        </p:sp>
        <p:sp>
          <p:nvSpPr>
            <p:cNvPr id="3" name="发现时延目标（待测）">
              <a:extLst>
                <a:ext uri="{FF2B5EF4-FFF2-40B4-BE49-F238E27FC236}">
                  <a16:creationId xmlns:a16="http://schemas.microsoft.com/office/drawing/2014/main" id="{D46B8A87-0C42-443D-A3C8-324ECDC329B6}"/>
                </a:ext>
              </a:extLst>
            </p:cNvPr>
            <p:cNvSpPr>
              <a:spLocks/>
            </p:cNvSpPr>
            <p:nvPr/>
          </p:nvSpPr>
          <p:spPr>
            <a:xfrm>
              <a:off x="7686675" y="1152525"/>
              <a:ext cx="33337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发现时延目标（待测）</a:t>
              </a:r>
            </a:p>
          </p:txBody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ACF7BC11-9731-4ADC-8661-AB56F16A4D3F}"/>
                </a:ext>
              </a:extLst>
            </p:cNvPr>
            <p:cNvSpPr>
              <a:spLocks/>
            </p:cNvSpPr>
            <p:nvPr/>
          </p:nvSpPr>
          <p:spPr>
            <a:xfrm>
              <a:off x="476250" y="1752600"/>
              <a:ext cx="10477500" cy="561975"/>
            </a:xfrm>
            <a:prstGeom prst="rect">
              <a:avLst/>
            </a:prstGeom>
            <a:solidFill>
              <a:srgbClr val="F3F6F8"/>
            </a:solidFill>
            <a:ln w="0">
              <a:noFill/>
              <a:prstDash val="solid"/>
            </a:ln>
          </p:spPr>
        </p:sp>
        <p:sp>
          <p:nvSpPr>
            <p:cNvPr id="5" name="事件">
              <a:extLst>
                <a:ext uri="{FF2B5EF4-FFF2-40B4-BE49-F238E27FC236}">
                  <a16:creationId xmlns:a16="http://schemas.microsoft.com/office/drawing/2014/main" id="{1978D44A-B780-4B59-A4BC-988F372BD4D3}"/>
                </a:ext>
              </a:extLst>
            </p:cNvPr>
            <p:cNvSpPr>
              <a:spLocks/>
            </p:cNvSpPr>
            <p:nvPr/>
          </p:nvSpPr>
          <p:spPr>
            <a:xfrm>
              <a:off x="619125" y="1790700"/>
              <a:ext cx="1714500" cy="485775"/>
            </a:xfrm>
            <a:prstGeom prst="roundRect">
              <a:avLst>
                <a:gd name="adj" fmla="val 7843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事件</a:t>
              </a:r>
            </a:p>
          </p:txBody>
        </p:sp>
        <p:sp>
          <p:nvSpPr>
            <p:cNvPr id="6" name="自有仓库 / DEMO">
              <a:extLst>
                <a:ext uri="{FF2B5EF4-FFF2-40B4-BE49-F238E27FC236}">
                  <a16:creationId xmlns:a16="http://schemas.microsoft.com/office/drawing/2014/main" id="{03F37D00-2949-4681-96CF-D56C35EA44CD}"/>
                </a:ext>
              </a:extLst>
            </p:cNvPr>
            <p:cNvSpPr>
              <a:spLocks/>
            </p:cNvSpPr>
            <p:nvPr/>
          </p:nvSpPr>
          <p:spPr>
            <a:xfrm>
              <a:off x="2952750" y="1800225"/>
              <a:ext cx="471487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自有仓库 / DEMO</a:t>
              </a:r>
            </a:p>
          </p:txBody>
        </p:sp>
        <p:sp>
          <p:nvSpPr>
            <p:cNvPr id="7" name="≤1 min">
              <a:extLst>
                <a:ext uri="{FF2B5EF4-FFF2-40B4-BE49-F238E27FC236}">
                  <a16:creationId xmlns:a16="http://schemas.microsoft.com/office/drawing/2014/main" id="{F8CC0123-2B17-4BAA-BC9F-48C20F4B22FF}"/>
                </a:ext>
              </a:extLst>
            </p:cNvPr>
            <p:cNvSpPr>
              <a:spLocks/>
            </p:cNvSpPr>
            <p:nvPr/>
          </p:nvSpPr>
          <p:spPr>
            <a:xfrm>
              <a:off x="7734300" y="1800225"/>
              <a:ext cx="3143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≤1 min</a:t>
              </a:r>
            </a:p>
          </p:txBody>
        </p:sp>
        <p:sp>
          <p:nvSpPr>
            <p:cNvPr id="8" name="boundary">
              <a:extLst>
                <a:ext uri="{FF2B5EF4-FFF2-40B4-BE49-F238E27FC236}">
                  <a16:creationId xmlns:a16="http://schemas.microsoft.com/office/drawing/2014/main" id="{7C2D861C-A321-4730-A2E1-A406A9B178A6}"/>
                </a:ext>
              </a:extLst>
            </p:cNvPr>
            <p:cNvSpPr>
              <a:spLocks/>
            </p:cNvSpPr>
            <p:nvPr/>
          </p:nvSpPr>
          <p:spPr>
            <a:xfrm>
              <a:off x="476250" y="2400300"/>
              <a:ext cx="10477500" cy="5619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9" name="5 min">
              <a:extLst>
                <a:ext uri="{FF2B5EF4-FFF2-40B4-BE49-F238E27FC236}">
                  <a16:creationId xmlns:a16="http://schemas.microsoft.com/office/drawing/2014/main" id="{ECB2F019-4A2C-4E6D-8AF2-080A9E645269}"/>
                </a:ext>
              </a:extLst>
            </p:cNvPr>
            <p:cNvSpPr>
              <a:spLocks/>
            </p:cNvSpPr>
            <p:nvPr/>
          </p:nvSpPr>
          <p:spPr>
            <a:xfrm>
              <a:off x="619125" y="2438400"/>
              <a:ext cx="1714500" cy="485775"/>
            </a:xfrm>
            <a:prstGeom prst="roundRect">
              <a:avLst>
                <a:gd name="adj" fmla="val 7843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 min</a:t>
              </a:r>
            </a:p>
          </p:txBody>
        </p:sp>
        <p:sp>
          <p:nvSpPr>
            <p:cNvPr id="10" name="P0 厂商公告">
              <a:extLst>
                <a:ext uri="{FF2B5EF4-FFF2-40B4-BE49-F238E27FC236}">
                  <a16:creationId xmlns:a16="http://schemas.microsoft.com/office/drawing/2014/main" id="{44872DE0-4FA0-49CA-97D5-12D0765F7478}"/>
                </a:ext>
              </a:extLst>
            </p:cNvPr>
            <p:cNvSpPr>
              <a:spLocks/>
            </p:cNvSpPr>
            <p:nvPr/>
          </p:nvSpPr>
          <p:spPr>
            <a:xfrm>
              <a:off x="2952750" y="2447925"/>
              <a:ext cx="471487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P0 厂商公告</a:t>
              </a:r>
            </a:p>
          </p:txBody>
        </p:sp>
        <p:sp>
          <p:nvSpPr>
            <p:cNvPr id="11" name="≤10 min">
              <a:extLst>
                <a:ext uri="{FF2B5EF4-FFF2-40B4-BE49-F238E27FC236}">
                  <a16:creationId xmlns:a16="http://schemas.microsoft.com/office/drawing/2014/main" id="{64D85E9F-1690-4209-A05F-B16E4143E1EE}"/>
                </a:ext>
              </a:extLst>
            </p:cNvPr>
            <p:cNvSpPr>
              <a:spLocks/>
            </p:cNvSpPr>
            <p:nvPr/>
          </p:nvSpPr>
          <p:spPr>
            <a:xfrm>
              <a:off x="7734300" y="2447925"/>
              <a:ext cx="3143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≤10 min</a:t>
              </a:r>
            </a:p>
          </p:txBody>
        </p:sp>
        <p:sp>
          <p:nvSpPr>
            <p:cNvPr id="12" name="boundary">
              <a:extLst>
                <a:ext uri="{FF2B5EF4-FFF2-40B4-BE49-F238E27FC236}">
                  <a16:creationId xmlns:a16="http://schemas.microsoft.com/office/drawing/2014/main" id="{FC521C2B-25C6-4BF2-988F-A8E0DA5DD940}"/>
                </a:ext>
              </a:extLst>
            </p:cNvPr>
            <p:cNvSpPr>
              <a:spLocks/>
            </p:cNvSpPr>
            <p:nvPr/>
          </p:nvSpPr>
          <p:spPr>
            <a:xfrm>
              <a:off x="476250" y="3048000"/>
              <a:ext cx="10477500" cy="561975"/>
            </a:xfrm>
            <a:prstGeom prst="rect">
              <a:avLst/>
            </a:prstGeom>
            <a:solidFill>
              <a:srgbClr val="F3F6F8"/>
            </a:solidFill>
            <a:ln w="0">
              <a:noFill/>
              <a:prstDash val="solid"/>
            </a:ln>
          </p:spPr>
        </p:sp>
        <p:sp>
          <p:nvSpPr>
            <p:cNvPr id="13" name="10 min">
              <a:extLst>
                <a:ext uri="{FF2B5EF4-FFF2-40B4-BE49-F238E27FC236}">
                  <a16:creationId xmlns:a16="http://schemas.microsoft.com/office/drawing/2014/main" id="{A8B56BA3-BFAF-4725-9EF8-31CE4A6DB9BA}"/>
                </a:ext>
              </a:extLst>
            </p:cNvPr>
            <p:cNvSpPr>
              <a:spLocks/>
            </p:cNvSpPr>
            <p:nvPr/>
          </p:nvSpPr>
          <p:spPr>
            <a:xfrm>
              <a:off x="619125" y="3086100"/>
              <a:ext cx="1714500" cy="485775"/>
            </a:xfrm>
            <a:prstGeom prst="roundRect">
              <a:avLst>
                <a:gd name="adj" fmla="val 7843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10 min</a:t>
              </a:r>
            </a:p>
          </p:txBody>
        </p:sp>
        <p:sp>
          <p:nvSpPr>
            <p:cNvPr id="14" name="GHSA / NVD / RSS">
              <a:extLst>
                <a:ext uri="{FF2B5EF4-FFF2-40B4-BE49-F238E27FC236}">
                  <a16:creationId xmlns:a16="http://schemas.microsoft.com/office/drawing/2014/main" id="{29DA57E0-7C20-4D5B-ADE3-EEC24C1301C5}"/>
                </a:ext>
              </a:extLst>
            </p:cNvPr>
            <p:cNvSpPr>
              <a:spLocks/>
            </p:cNvSpPr>
            <p:nvPr/>
          </p:nvSpPr>
          <p:spPr>
            <a:xfrm>
              <a:off x="2952750" y="3095625"/>
              <a:ext cx="471487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GHSA / NVD / RSS</a:t>
              </a:r>
            </a:p>
          </p:txBody>
        </p:sp>
        <p:sp>
          <p:nvSpPr>
            <p:cNvPr id="15" name="≤15 / 30 / 30 min">
              <a:extLst>
                <a:ext uri="{FF2B5EF4-FFF2-40B4-BE49-F238E27FC236}">
                  <a16:creationId xmlns:a16="http://schemas.microsoft.com/office/drawing/2014/main" id="{8A7658D5-8F34-468E-AD66-7C0B818D8854}"/>
                </a:ext>
              </a:extLst>
            </p:cNvPr>
            <p:cNvSpPr>
              <a:spLocks/>
            </p:cNvSpPr>
            <p:nvPr/>
          </p:nvSpPr>
          <p:spPr>
            <a:xfrm>
              <a:off x="7734300" y="3095625"/>
              <a:ext cx="3143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≤15 / 30 / 30 min</a:t>
              </a:r>
            </a:p>
          </p:txBody>
        </p:sp>
        <p:sp>
          <p:nvSpPr>
            <p:cNvPr id="16" name="boundary">
              <a:extLst>
                <a:ext uri="{FF2B5EF4-FFF2-40B4-BE49-F238E27FC236}">
                  <a16:creationId xmlns:a16="http://schemas.microsoft.com/office/drawing/2014/main" id="{6D543BF4-EDD5-4F8D-87D7-C4ACF9AC206C}"/>
                </a:ext>
              </a:extLst>
            </p:cNvPr>
            <p:cNvSpPr>
              <a:spLocks/>
            </p:cNvSpPr>
            <p:nvPr/>
          </p:nvSpPr>
          <p:spPr>
            <a:xfrm>
              <a:off x="476250" y="3695700"/>
              <a:ext cx="10477500" cy="5619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7" name="15 min">
              <a:extLst>
                <a:ext uri="{FF2B5EF4-FFF2-40B4-BE49-F238E27FC236}">
                  <a16:creationId xmlns:a16="http://schemas.microsoft.com/office/drawing/2014/main" id="{76F733F9-9D74-4BA9-82A5-201CDBD1FB29}"/>
                </a:ext>
              </a:extLst>
            </p:cNvPr>
            <p:cNvSpPr>
              <a:spLocks/>
            </p:cNvSpPr>
            <p:nvPr/>
          </p:nvSpPr>
          <p:spPr>
            <a:xfrm>
              <a:off x="619125" y="3733800"/>
              <a:ext cx="1714500" cy="485775"/>
            </a:xfrm>
            <a:prstGeom prst="roundRect">
              <a:avLst>
                <a:gd name="adj" fmla="val 7843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15 min</a:t>
              </a:r>
            </a:p>
          </p:txBody>
        </p:sp>
        <p:sp>
          <p:nvSpPr>
            <p:cNvPr id="18" name="OSV">
              <a:extLst>
                <a:ext uri="{FF2B5EF4-FFF2-40B4-BE49-F238E27FC236}">
                  <a16:creationId xmlns:a16="http://schemas.microsoft.com/office/drawing/2014/main" id="{927892A5-6D59-4588-8343-429D3D5019E5}"/>
                </a:ext>
              </a:extLst>
            </p:cNvPr>
            <p:cNvSpPr>
              <a:spLocks/>
            </p:cNvSpPr>
            <p:nvPr/>
          </p:nvSpPr>
          <p:spPr>
            <a:xfrm>
              <a:off x="2952750" y="3743325"/>
              <a:ext cx="471487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OSV</a:t>
              </a:r>
            </a:p>
          </p:txBody>
        </p:sp>
        <p:sp>
          <p:nvSpPr>
            <p:cNvPr id="19" name="≤30 min">
              <a:extLst>
                <a:ext uri="{FF2B5EF4-FFF2-40B4-BE49-F238E27FC236}">
                  <a16:creationId xmlns:a16="http://schemas.microsoft.com/office/drawing/2014/main" id="{74B6B01C-842F-4482-B6B3-E62B213C720E}"/>
                </a:ext>
              </a:extLst>
            </p:cNvPr>
            <p:cNvSpPr>
              <a:spLocks/>
            </p:cNvSpPr>
            <p:nvPr/>
          </p:nvSpPr>
          <p:spPr>
            <a:xfrm>
              <a:off x="7734300" y="3743325"/>
              <a:ext cx="3143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≤30 min</a:t>
              </a:r>
            </a:p>
          </p:txBody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4550517D-28C4-42F3-840F-FC60BE6E63D3}"/>
                </a:ext>
              </a:extLst>
            </p:cNvPr>
            <p:cNvSpPr>
              <a:spLocks/>
            </p:cNvSpPr>
            <p:nvPr/>
          </p:nvSpPr>
          <p:spPr>
            <a:xfrm>
              <a:off x="476250" y="4343400"/>
              <a:ext cx="10477500" cy="561975"/>
            </a:xfrm>
            <a:prstGeom prst="rect">
              <a:avLst/>
            </a:prstGeom>
            <a:solidFill>
              <a:srgbClr val="F3F6F8"/>
            </a:solidFill>
            <a:ln w="0">
              <a:noFill/>
              <a:prstDash val="solid"/>
            </a:ln>
          </p:spPr>
        </p:sp>
        <p:sp>
          <p:nvSpPr>
            <p:cNvPr id="21" name="1 h">
              <a:extLst>
                <a:ext uri="{FF2B5EF4-FFF2-40B4-BE49-F238E27FC236}">
                  <a16:creationId xmlns:a16="http://schemas.microsoft.com/office/drawing/2014/main" id="{C78031F1-2D9E-4254-A968-97D617A2F46B}"/>
                </a:ext>
              </a:extLst>
            </p:cNvPr>
            <p:cNvSpPr>
              <a:spLocks/>
            </p:cNvSpPr>
            <p:nvPr/>
          </p:nvSpPr>
          <p:spPr>
            <a:xfrm>
              <a:off x="619125" y="4381500"/>
              <a:ext cx="1714500" cy="485775"/>
            </a:xfrm>
            <a:prstGeom prst="roundRect">
              <a:avLst>
                <a:gd name="adj" fmla="val 7843"/>
              </a:avLst>
            </a:prstGeom>
            <a:solidFill>
              <a:srgbClr val="EAF4FC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45D8F"/>
                  </a:solidFill>
                </a:defRPr>
              </a:pPr>
              <a:r>
                <a:rPr sz="172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1 h</a:t>
              </a:r>
            </a:p>
          </p:txBody>
        </p:sp>
        <p:sp>
          <p:nvSpPr>
            <p:cNvPr id="22" name="huntr / KEV">
              <a:extLst>
                <a:ext uri="{FF2B5EF4-FFF2-40B4-BE49-F238E27FC236}">
                  <a16:creationId xmlns:a16="http://schemas.microsoft.com/office/drawing/2014/main" id="{64C89512-82C0-44F2-BAA7-0B50925EDA16}"/>
                </a:ext>
              </a:extLst>
            </p:cNvPr>
            <p:cNvSpPr>
              <a:spLocks/>
            </p:cNvSpPr>
            <p:nvPr/>
          </p:nvSpPr>
          <p:spPr>
            <a:xfrm>
              <a:off x="2952750" y="4391025"/>
              <a:ext cx="471487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huntr / KEV</a:t>
              </a:r>
            </a:p>
          </p:txBody>
        </p:sp>
        <p:sp>
          <p:nvSpPr>
            <p:cNvPr id="23" name="≤2 h">
              <a:extLst>
                <a:ext uri="{FF2B5EF4-FFF2-40B4-BE49-F238E27FC236}">
                  <a16:creationId xmlns:a16="http://schemas.microsoft.com/office/drawing/2014/main" id="{3E585188-750D-47A2-B0DB-ECE24C0E3FC5}"/>
                </a:ext>
              </a:extLst>
            </p:cNvPr>
            <p:cNvSpPr>
              <a:spLocks/>
            </p:cNvSpPr>
            <p:nvPr/>
          </p:nvSpPr>
          <p:spPr>
            <a:xfrm>
              <a:off x="7734300" y="4391025"/>
              <a:ext cx="3143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≤2 h</a:t>
              </a:r>
            </a:p>
          </p:txBody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1FC65991-15FE-4288-ADED-A040A04404A8}"/>
                </a:ext>
              </a:extLst>
            </p:cNvPr>
            <p:cNvSpPr>
              <a:spLocks/>
            </p:cNvSpPr>
            <p:nvPr/>
          </p:nvSpPr>
          <p:spPr>
            <a:xfrm>
              <a:off x="476250" y="4991100"/>
              <a:ext cx="10477500" cy="5619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25" name="6 h">
              <a:extLst>
                <a:ext uri="{FF2B5EF4-FFF2-40B4-BE49-F238E27FC236}">
                  <a16:creationId xmlns:a16="http://schemas.microsoft.com/office/drawing/2014/main" id="{7714D9D9-D0A8-43A5-A98A-00001E0FB328}"/>
                </a:ext>
              </a:extLst>
            </p:cNvPr>
            <p:cNvSpPr>
              <a:spLocks/>
            </p:cNvSpPr>
            <p:nvPr/>
          </p:nvSpPr>
          <p:spPr>
            <a:xfrm>
              <a:off x="619125" y="5029200"/>
              <a:ext cx="1714500" cy="485775"/>
            </a:xfrm>
            <a:prstGeom prst="roundRect">
              <a:avLst>
                <a:gd name="adj" fmla="val 7843"/>
              </a:avLst>
            </a:prstGeom>
            <a:solidFill>
              <a:srgbClr val="EAF4FC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45D8F"/>
                  </a:solidFill>
                </a:defRPr>
              </a:pPr>
              <a:r>
                <a:rPr sz="172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6 h</a:t>
              </a:r>
            </a:p>
          </p:txBody>
        </p:sp>
        <p:sp>
          <p:nvSpPr>
            <p:cNvPr id="26" name="AVID">
              <a:extLst>
                <a:ext uri="{FF2B5EF4-FFF2-40B4-BE49-F238E27FC236}">
                  <a16:creationId xmlns:a16="http://schemas.microsoft.com/office/drawing/2014/main" id="{6C77A6B1-7752-4ED7-8D34-8C2D83B724F6}"/>
                </a:ext>
              </a:extLst>
            </p:cNvPr>
            <p:cNvSpPr>
              <a:spLocks/>
            </p:cNvSpPr>
            <p:nvPr/>
          </p:nvSpPr>
          <p:spPr>
            <a:xfrm>
              <a:off x="2952750" y="5038725"/>
              <a:ext cx="471487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AVID</a:t>
              </a:r>
            </a:p>
          </p:txBody>
        </p:sp>
        <p:sp>
          <p:nvSpPr>
            <p:cNvPr id="27" name="≤6 h">
              <a:extLst>
                <a:ext uri="{FF2B5EF4-FFF2-40B4-BE49-F238E27FC236}">
                  <a16:creationId xmlns:a16="http://schemas.microsoft.com/office/drawing/2014/main" id="{E35C8B57-179A-4968-AA20-94E5439988EA}"/>
                </a:ext>
              </a:extLst>
            </p:cNvPr>
            <p:cNvSpPr>
              <a:spLocks/>
            </p:cNvSpPr>
            <p:nvPr/>
          </p:nvSpPr>
          <p:spPr>
            <a:xfrm>
              <a:off x="7734300" y="5038725"/>
              <a:ext cx="3143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≤6 h</a:t>
              </a:r>
            </a:p>
          </p:txBody>
        </p:sp>
        <p:sp>
          <p:nvSpPr>
            <p:cNvPr id="28" name="boundary">
              <a:extLst>
                <a:ext uri="{FF2B5EF4-FFF2-40B4-BE49-F238E27FC236}">
                  <a16:creationId xmlns:a16="http://schemas.microsoft.com/office/drawing/2014/main" id="{CE6B77A5-9CF6-4E6F-A65D-544A1BD830F1}"/>
                </a:ext>
              </a:extLst>
            </p:cNvPr>
            <p:cNvSpPr>
              <a:spLocks/>
            </p:cNvSpPr>
            <p:nvPr/>
          </p:nvSpPr>
          <p:spPr>
            <a:xfrm>
              <a:off x="476250" y="5638800"/>
              <a:ext cx="10477500" cy="561975"/>
            </a:xfrm>
            <a:prstGeom prst="rect">
              <a:avLst/>
            </a:prstGeom>
            <a:solidFill>
              <a:srgbClr val="F3F6F8"/>
            </a:solidFill>
            <a:ln w="0">
              <a:noFill/>
              <a:prstDash val="solid"/>
            </a:ln>
          </p:spPr>
        </p:sp>
        <p:sp>
          <p:nvSpPr>
            <p:cNvPr id="29" name="1 d">
              <a:extLst>
                <a:ext uri="{FF2B5EF4-FFF2-40B4-BE49-F238E27FC236}">
                  <a16:creationId xmlns:a16="http://schemas.microsoft.com/office/drawing/2014/main" id="{08279C1B-A8A3-4459-8966-83532E072942}"/>
                </a:ext>
              </a:extLst>
            </p:cNvPr>
            <p:cNvSpPr>
              <a:spLocks/>
            </p:cNvSpPr>
            <p:nvPr/>
          </p:nvSpPr>
          <p:spPr>
            <a:xfrm>
              <a:off x="619125" y="5676900"/>
              <a:ext cx="1714500" cy="485775"/>
            </a:xfrm>
            <a:prstGeom prst="roundRect">
              <a:avLst>
                <a:gd name="adj" fmla="val 7843"/>
              </a:avLst>
            </a:prstGeom>
            <a:solidFill>
              <a:srgbClr val="EAF4FC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45D8F"/>
                  </a:solidFill>
                </a:defRPr>
              </a:pPr>
              <a:r>
                <a:rPr sz="172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1 d</a:t>
              </a:r>
            </a:p>
          </p:txBody>
        </p:sp>
        <p:sp>
          <p:nvSpPr>
            <p:cNvPr id="30" name="EPSS / arXiv / CNNVD">
              <a:extLst>
                <a:ext uri="{FF2B5EF4-FFF2-40B4-BE49-F238E27FC236}">
                  <a16:creationId xmlns:a16="http://schemas.microsoft.com/office/drawing/2014/main" id="{63004120-099A-4470-A50E-D9D01398F552}"/>
                </a:ext>
              </a:extLst>
            </p:cNvPr>
            <p:cNvSpPr>
              <a:spLocks/>
            </p:cNvSpPr>
            <p:nvPr/>
          </p:nvSpPr>
          <p:spPr>
            <a:xfrm>
              <a:off x="2952750" y="5686425"/>
              <a:ext cx="471487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EPSS / arXiv / CNNVD</a:t>
              </a:r>
            </a:p>
          </p:txBody>
        </p:sp>
        <p:sp>
          <p:nvSpPr>
            <p:cNvPr id="31" name="≤24 h">
              <a:extLst>
                <a:ext uri="{FF2B5EF4-FFF2-40B4-BE49-F238E27FC236}">
                  <a16:creationId xmlns:a16="http://schemas.microsoft.com/office/drawing/2014/main" id="{F1644BF1-2F57-4F05-8256-642B51673B7E}"/>
                </a:ext>
              </a:extLst>
            </p:cNvPr>
            <p:cNvSpPr>
              <a:spLocks/>
            </p:cNvSpPr>
            <p:nvPr/>
          </p:nvSpPr>
          <p:spPr>
            <a:xfrm>
              <a:off x="7734300" y="5686425"/>
              <a:ext cx="3143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≤24 h</a:t>
              </a:r>
            </a:p>
          </p:txBody>
        </p:sp>
        <p:sp>
          <p:nvSpPr>
            <p:cNvPr id="32" name="boundary">
              <a:extLst>
                <a:ext uri="{FF2B5EF4-FFF2-40B4-BE49-F238E27FC236}">
                  <a16:creationId xmlns:a16="http://schemas.microsoft.com/office/drawing/2014/main" id="{4F93C4A7-21BB-4686-A4EE-C79E49977D5E}"/>
                </a:ext>
              </a:extLst>
            </p:cNvPr>
            <p:cNvSpPr>
              <a:spLocks/>
            </p:cNvSpPr>
            <p:nvPr/>
          </p:nvSpPr>
          <p:spPr>
            <a:xfrm>
              <a:off x="476250" y="6286500"/>
              <a:ext cx="10477500" cy="5619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33" name="1 周">
              <a:extLst>
                <a:ext uri="{FF2B5EF4-FFF2-40B4-BE49-F238E27FC236}">
                  <a16:creationId xmlns:a16="http://schemas.microsoft.com/office/drawing/2014/main" id="{24097823-5F51-4ED1-97AF-D3F73B51597A}"/>
                </a:ext>
              </a:extLst>
            </p:cNvPr>
            <p:cNvSpPr>
              <a:spLocks/>
            </p:cNvSpPr>
            <p:nvPr/>
          </p:nvSpPr>
          <p:spPr>
            <a:xfrm>
              <a:off x="619125" y="6324600"/>
              <a:ext cx="1714500" cy="485775"/>
            </a:xfrm>
            <a:prstGeom prst="roundRect">
              <a:avLst>
                <a:gd name="adj" fmla="val 7843"/>
              </a:avLst>
            </a:prstGeom>
            <a:solidFill>
              <a:srgbClr val="EAF4FC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45D8F"/>
                  </a:solidFill>
                </a:defRPr>
              </a:pPr>
              <a:r>
                <a:rPr sz="172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1 周</a:t>
              </a:r>
            </a:p>
          </p:txBody>
        </p:sp>
        <p:sp>
          <p:nvSpPr>
            <p:cNvPr id="34" name="标准法规 / CNVD">
              <a:extLst>
                <a:ext uri="{FF2B5EF4-FFF2-40B4-BE49-F238E27FC236}">
                  <a16:creationId xmlns:a16="http://schemas.microsoft.com/office/drawing/2014/main" id="{30CD763F-6935-4255-9BB1-07CBFEB9E706}"/>
                </a:ext>
              </a:extLst>
            </p:cNvPr>
            <p:cNvSpPr>
              <a:spLocks/>
            </p:cNvSpPr>
            <p:nvPr/>
          </p:nvSpPr>
          <p:spPr>
            <a:xfrm>
              <a:off x="2952750" y="6334125"/>
              <a:ext cx="471487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标准法规 / CNVD</a:t>
              </a:r>
            </a:p>
          </p:txBody>
        </p:sp>
        <p:sp>
          <p:nvSpPr>
            <p:cNvPr id="35" name="版本监测 / 人工">
              <a:extLst>
                <a:ext uri="{FF2B5EF4-FFF2-40B4-BE49-F238E27FC236}">
                  <a16:creationId xmlns:a16="http://schemas.microsoft.com/office/drawing/2014/main" id="{EDB16448-8709-4AB5-8BC8-E973C1B2B5E0}"/>
                </a:ext>
              </a:extLst>
            </p:cNvPr>
            <p:cNvSpPr>
              <a:spLocks/>
            </p:cNvSpPr>
            <p:nvPr/>
          </p:nvSpPr>
          <p:spPr>
            <a:xfrm>
              <a:off x="7734300" y="6334125"/>
              <a:ext cx="3143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657D8E"/>
                  </a:solidFill>
                </a:defRPr>
              </a:defPPr>
            </a:lstStyle>
            <a:p>
              <a:pPr algn="l">
                <a:defRPr sz="1800" b="1">
                  <a:solidFill>
                    <a:srgbClr val="657D8E"/>
                  </a:solidFill>
                </a:defRPr>
              </a:pPr>
              <a:r>
                <a:rPr sz="1800" b="1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版本监测 / 人工</a:t>
              </a:r>
            </a:p>
          </p:txBody>
        </p:sp>
        <p:sp>
          <p:nvSpPr>
            <p:cNvPr id="36" name="6 h 口径：NVD、GHSA、OSV、厂商公告、huntr 首次发现；其余单列">
              <a:extLst>
                <a:ext uri="{FF2B5EF4-FFF2-40B4-BE49-F238E27FC236}">
                  <a16:creationId xmlns:a16="http://schemas.microsoft.com/office/drawing/2014/main" id="{44048243-A3AB-4F35-8004-E0076CB7304A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6 h 口径：NVD、GHSA、OSV、厂商公告、huntr 首次发现；其余单列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498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F-11 - whole figure">
            <a:extLst>
              <a:ext uri="{FF2B5EF4-FFF2-40B4-BE49-F238E27FC236}">
                <a16:creationId xmlns:a16="http://schemas.microsoft.com/office/drawing/2014/main" id="{7A355002-CBD3-2EF7-3AC5-F71601BCD0F2}"/>
              </a:ext>
            </a:extLst>
          </p:cNvPr>
          <p:cNvGrpSpPr/>
          <p:nvPr/>
        </p:nvGrpSpPr>
        <p:grpSpPr>
          <a:xfrm>
            <a:off x="619125" y="1352550"/>
            <a:ext cx="10191750" cy="5686425"/>
            <a:chOff x="619125" y="1352550"/>
            <a:chExt cx="10191750" cy="5686425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E8707F6-64E5-45BC-A7AC-CF889497B315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 flipH="1">
              <a:off x="8572500" y="6039327"/>
              <a:ext cx="953" cy="24765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008E8F16-387B-47A2-A0CC-4CF10F129F93}"/>
                </a:ext>
              </a:extLst>
            </p:cNvPr>
            <p:cNvCxnSpPr>
              <a:stCxn id="21" idx="3"/>
              <a:endCxn id="22" idx="1"/>
            </p:cNvCxnSpPr>
            <p:nvPr/>
          </p:nvCxnSpPr>
          <p:spPr>
            <a:xfrm>
              <a:off x="5715953" y="6039327"/>
              <a:ext cx="285654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F472588-69E6-415E-9B22-6A3B6B59BA04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 flipH="1">
              <a:off x="5715000" y="5791677"/>
              <a:ext cx="953" cy="24765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028CD84A-FA3F-4B27-BDB0-711C7B7216E3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H="1">
              <a:off x="5715000" y="4181952"/>
              <a:ext cx="953" cy="38100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53189B58-DF7A-4173-92EC-C0D6790E6257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 flipH="1">
              <a:off x="5715000" y="2543652"/>
              <a:ext cx="953" cy="38100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27" name="layer surface">
              <a:extLst>
                <a:ext uri="{FF2B5EF4-FFF2-40B4-BE49-F238E27FC236}">
                  <a16:creationId xmlns:a16="http://schemas.microsoft.com/office/drawing/2014/main" id="{BF0F6869-719D-4CB3-9486-E4CD5BA45735}"/>
                </a:ext>
              </a:extLst>
            </p:cNvPr>
            <p:cNvSpPr>
              <a:spLocks/>
            </p:cNvSpPr>
            <p:nvPr/>
          </p:nvSpPr>
          <p:spPr>
            <a:xfrm>
              <a:off x="1333500" y="1352550"/>
              <a:ext cx="8763000" cy="1162050"/>
            </a:xfrm>
            <a:custGeom>
              <a:avLst/>
              <a:gdLst/>
              <a:ahLst/>
              <a:cxnLst/>
              <a:rect l="0" t="0" r="0" b="0"/>
              <a:pathLst>
                <a:path w="8763000" h="1162050">
                  <a:moveTo>
                    <a:pt x="0" y="0"/>
                  </a:moveTo>
                  <a:lnTo>
                    <a:pt x="8763000" y="0"/>
                  </a:lnTo>
                  <a:lnTo>
                    <a:pt x="8420100" y="1162050"/>
                  </a:lnTo>
                  <a:lnTo>
                    <a:pt x="342900" y="1162050"/>
                  </a:lnTo>
                  <a:close/>
                </a:path>
              </a:pathLst>
            </a:custGeom>
            <a:solidFill>
              <a:srgbClr val="EAF4FC"/>
            </a:solidFill>
            <a:ln w="9525">
              <a:solidFill>
                <a:srgbClr val="A6C4DB"/>
              </a:solidFill>
            </a:ln>
          </p:spPr>
        </p:sp>
        <p:sp>
          <p:nvSpPr>
            <p:cNvPr id="2" name="同源幂等">
              <a:extLst>
                <a:ext uri="{FF2B5EF4-FFF2-40B4-BE49-F238E27FC236}">
                  <a16:creationId xmlns:a16="http://schemas.microsoft.com/office/drawing/2014/main" id="{EC6672E5-286A-47CB-B6FA-90508FD5F716}"/>
                </a:ext>
              </a:extLst>
            </p:cNvPr>
            <p:cNvSpPr>
              <a:spLocks/>
            </p:cNvSpPr>
            <p:nvPr/>
          </p:nvSpPr>
          <p:spPr>
            <a:xfrm>
              <a:off x="1762125" y="1485900"/>
              <a:ext cx="79057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2175" b="1">
                  <a:solidFill>
                    <a:srgbClr val="277DC3"/>
                  </a:solidFill>
                </a:defRPr>
              </a:pPr>
              <a:r>
                <a:rPr sz="21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同源幂等</a:t>
              </a:r>
            </a:p>
          </p:txBody>
        </p:sp>
        <p:sp>
          <p:nvSpPr>
            <p:cNvPr id="3" name="(source, external_id)">
              <a:extLst>
                <a:ext uri="{FF2B5EF4-FFF2-40B4-BE49-F238E27FC236}">
                  <a16:creationId xmlns:a16="http://schemas.microsoft.com/office/drawing/2014/main" id="{CAF858CB-FA2D-4902-A376-35AEFD7CCF48}"/>
                </a:ext>
              </a:extLst>
            </p:cNvPr>
            <p:cNvSpPr>
              <a:spLocks/>
            </p:cNvSpPr>
            <p:nvPr/>
          </p:nvSpPr>
          <p:spPr>
            <a:xfrm>
              <a:off x="1714500" y="1971675"/>
              <a:ext cx="800100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(source, external_id)</a:t>
              </a:r>
            </a:p>
          </p:txBody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A2DFB8CC-540D-423D-90C9-9629599D13BC}"/>
                </a:ext>
              </a:extLst>
            </p:cNvPr>
            <p:cNvSpPr>
              <a:spLocks/>
            </p:cNvSpPr>
            <p:nvPr/>
          </p:nvSpPr>
          <p:spPr>
            <a:xfrm>
              <a:off x="5715000" y="2543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" name="boundary">
              <a:extLst>
                <a:ext uri="{FF2B5EF4-FFF2-40B4-BE49-F238E27FC236}">
                  <a16:creationId xmlns:a16="http://schemas.microsoft.com/office/drawing/2014/main" id="{10C5A3D4-2CD5-4565-9171-C75BF48F8002}"/>
                </a:ext>
              </a:extLst>
            </p:cNvPr>
            <p:cNvSpPr>
              <a:spLocks/>
            </p:cNvSpPr>
            <p:nvPr/>
          </p:nvSpPr>
          <p:spPr>
            <a:xfrm>
              <a:off x="5715000" y="2924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" name="layer surface">
              <a:extLst>
                <a:ext uri="{FF2B5EF4-FFF2-40B4-BE49-F238E27FC236}">
                  <a16:creationId xmlns:a16="http://schemas.microsoft.com/office/drawing/2014/main" id="{F3D5BEC1-4E23-42B8-8AD4-D1D73214E33D}"/>
                </a:ext>
              </a:extLst>
            </p:cNvPr>
            <p:cNvSpPr>
              <a:spLocks/>
            </p:cNvSpPr>
            <p:nvPr/>
          </p:nvSpPr>
          <p:spPr>
            <a:xfrm>
              <a:off x="1952625" y="2990850"/>
              <a:ext cx="7524750" cy="1162050"/>
            </a:xfrm>
            <a:custGeom>
              <a:avLst/>
              <a:gdLst/>
              <a:ahLst/>
              <a:cxnLst/>
              <a:rect l="0" t="0" r="0" b="0"/>
              <a:pathLst>
                <a:path w="7524750" h="1162050">
                  <a:moveTo>
                    <a:pt x="0" y="0"/>
                  </a:moveTo>
                  <a:lnTo>
                    <a:pt x="7524750" y="0"/>
                  </a:lnTo>
                  <a:lnTo>
                    <a:pt x="7181850" y="1162050"/>
                  </a:lnTo>
                  <a:lnTo>
                    <a:pt x="342900" y="1162050"/>
                  </a:lnTo>
                  <a:close/>
                </a:path>
              </a:pathLst>
            </a:custGeom>
            <a:solidFill>
              <a:srgbClr val="EAF4FC"/>
            </a:solidFill>
            <a:ln w="9525">
              <a:solidFill>
                <a:srgbClr val="A6C4DB"/>
              </a:solidFill>
            </a:ln>
          </p:spPr>
        </p:sp>
        <p:sp>
          <p:nvSpPr>
            <p:cNvPr id="8" name="跨源别名并查集">
              <a:extLst>
                <a:ext uri="{FF2B5EF4-FFF2-40B4-BE49-F238E27FC236}">
                  <a16:creationId xmlns:a16="http://schemas.microsoft.com/office/drawing/2014/main" id="{F316EF97-238D-4A6F-BBC1-731BDA887810}"/>
                </a:ext>
              </a:extLst>
            </p:cNvPr>
            <p:cNvSpPr>
              <a:spLocks/>
            </p:cNvSpPr>
            <p:nvPr/>
          </p:nvSpPr>
          <p:spPr>
            <a:xfrm>
              <a:off x="2381250" y="3124200"/>
              <a:ext cx="66675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2175" b="1">
                  <a:solidFill>
                    <a:srgbClr val="277DC3"/>
                  </a:solidFill>
                </a:defRPr>
              </a:pPr>
              <a:r>
                <a:rPr sz="21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跨源别名并查集</a:t>
              </a:r>
            </a:p>
          </p:txBody>
        </p:sp>
        <p:sp>
          <p:nvSpPr>
            <p:cNvPr id="9" name="CVE &gt; GHSA &gt; OSV &gt; huntr &gt; SW">
              <a:extLst>
                <a:ext uri="{FF2B5EF4-FFF2-40B4-BE49-F238E27FC236}">
                  <a16:creationId xmlns:a16="http://schemas.microsoft.com/office/drawing/2014/main" id="{5DC1FBF0-10FB-4427-BD0A-D11E5F634227}"/>
                </a:ext>
              </a:extLst>
            </p:cNvPr>
            <p:cNvSpPr>
              <a:spLocks/>
            </p:cNvSpPr>
            <p:nvPr/>
          </p:nvSpPr>
          <p:spPr>
            <a:xfrm>
              <a:off x="2333625" y="3609975"/>
              <a:ext cx="67627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CVE &gt; GHSA &gt; OSV &gt; huntr &gt; SW</a:t>
              </a:r>
            </a:p>
          </p:txBody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15667E03-5DD5-421C-A3F1-48877CC708BB}"/>
                </a:ext>
              </a:extLst>
            </p:cNvPr>
            <p:cNvSpPr>
              <a:spLocks/>
            </p:cNvSpPr>
            <p:nvPr/>
          </p:nvSpPr>
          <p:spPr>
            <a:xfrm>
              <a:off x="5715000" y="41814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8A209FEA-EB74-4BED-BD49-4FF98180A2F8}"/>
                </a:ext>
              </a:extLst>
            </p:cNvPr>
            <p:cNvSpPr>
              <a:spLocks/>
            </p:cNvSpPr>
            <p:nvPr/>
          </p:nvSpPr>
          <p:spPr>
            <a:xfrm>
              <a:off x="5715000" y="45624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3" name="layer surface">
              <a:extLst>
                <a:ext uri="{FF2B5EF4-FFF2-40B4-BE49-F238E27FC236}">
                  <a16:creationId xmlns:a16="http://schemas.microsoft.com/office/drawing/2014/main" id="{000DD1F0-06B0-4637-A25D-268E7E839A0D}"/>
                </a:ext>
              </a:extLst>
            </p:cNvPr>
            <p:cNvSpPr>
              <a:spLocks/>
            </p:cNvSpPr>
            <p:nvPr/>
          </p:nvSpPr>
          <p:spPr>
            <a:xfrm>
              <a:off x="2571750" y="4629150"/>
              <a:ext cx="6286500" cy="1162050"/>
            </a:xfrm>
            <a:custGeom>
              <a:avLst/>
              <a:gdLst/>
              <a:ahLst/>
              <a:cxnLst/>
              <a:rect l="0" t="0" r="0" b="0"/>
              <a:pathLst>
                <a:path w="6286500" h="1162050">
                  <a:moveTo>
                    <a:pt x="0" y="0"/>
                  </a:moveTo>
                  <a:lnTo>
                    <a:pt x="6286500" y="0"/>
                  </a:lnTo>
                  <a:lnTo>
                    <a:pt x="5943600" y="1162050"/>
                  </a:lnTo>
                  <a:lnTo>
                    <a:pt x="342900" y="1162050"/>
                  </a:lnTo>
                  <a:close/>
                </a:path>
              </a:pathLst>
            </a:custGeom>
            <a:solidFill>
              <a:srgbClr val="E5F0DA"/>
            </a:solidFill>
            <a:ln w="9525">
              <a:solidFill>
                <a:srgbClr val="A6C4DB"/>
              </a:solidFill>
            </a:ln>
          </p:spPr>
        </p:sp>
        <p:sp>
          <p:nvSpPr>
            <p:cNvPr id="14" name="无编号相似候选">
              <a:extLst>
                <a:ext uri="{FF2B5EF4-FFF2-40B4-BE49-F238E27FC236}">
                  <a16:creationId xmlns:a16="http://schemas.microsoft.com/office/drawing/2014/main" id="{932D6581-290A-4AE9-B55C-2C24ABF02143}"/>
                </a:ext>
              </a:extLst>
            </p:cNvPr>
            <p:cNvSpPr>
              <a:spLocks/>
            </p:cNvSpPr>
            <p:nvPr/>
          </p:nvSpPr>
          <p:spPr>
            <a:xfrm>
              <a:off x="3000375" y="4762500"/>
              <a:ext cx="54292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7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2175" b="1">
                  <a:solidFill>
                    <a:srgbClr val="547D45"/>
                  </a:solidFill>
                </a:defRPr>
              </a:pPr>
              <a:r>
                <a:rPr sz="21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无编号相似候选</a:t>
              </a:r>
            </a:p>
          </p:txBody>
        </p:sp>
        <p:sp>
          <p:nvSpPr>
            <p:cNvPr id="15" name="purl + SimHash ≥0.9 + 日期 ±3 天">
              <a:extLst>
                <a:ext uri="{FF2B5EF4-FFF2-40B4-BE49-F238E27FC236}">
                  <a16:creationId xmlns:a16="http://schemas.microsoft.com/office/drawing/2014/main" id="{3B1F7EB7-C74E-49A0-8808-8BA5B4D7EA7F}"/>
                </a:ext>
              </a:extLst>
            </p:cNvPr>
            <p:cNvSpPr>
              <a:spLocks/>
            </p:cNvSpPr>
            <p:nvPr/>
          </p:nvSpPr>
          <p:spPr>
            <a:xfrm>
              <a:off x="2952750" y="5248275"/>
              <a:ext cx="552450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purl + SimHash ≥0.9 + 日期 ±3 天</a:t>
              </a:r>
            </a:p>
          </p:txBody>
        </p:sp>
        <p:sp>
          <p:nvSpPr>
            <p:cNvPr id="16" name="双 CVE 不合并 保留 DUPLICATE_OF 候选">
              <a:extLst>
                <a:ext uri="{FF2B5EF4-FFF2-40B4-BE49-F238E27FC236}">
                  <a16:creationId xmlns:a16="http://schemas.microsoft.com/office/drawing/2014/main" id="{507722BF-05E9-48A7-9561-5EE6FF4EFD56}"/>
                </a:ext>
              </a:extLst>
            </p:cNvPr>
            <p:cNvSpPr>
              <a:spLocks/>
            </p:cNvSpPr>
            <p:nvPr/>
          </p:nvSpPr>
          <p:spPr>
            <a:xfrm>
              <a:off x="619125" y="6286500"/>
              <a:ext cx="4476750" cy="752475"/>
            </a:xfrm>
            <a:prstGeom prst="roundRect">
              <a:avLst>
                <a:gd name="adj" fmla="val 5063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双 CVE 不合并</a:t>
              </a:r>
            </a:p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保留 DUPLICATE_OF 候选</a:t>
              </a:r>
            </a:p>
          </p:txBody>
        </p:sp>
        <p:sp>
          <p:nvSpPr>
            <p:cNvPr id="17" name="Critic 复核 候选不自动合并">
              <a:extLst>
                <a:ext uri="{FF2B5EF4-FFF2-40B4-BE49-F238E27FC236}">
                  <a16:creationId xmlns:a16="http://schemas.microsoft.com/office/drawing/2014/main" id="{0F0A283D-891A-48A1-AFE2-227C3555388F}"/>
                </a:ext>
              </a:extLst>
            </p:cNvPr>
            <p:cNvSpPr>
              <a:spLocks/>
            </p:cNvSpPr>
            <p:nvPr/>
          </p:nvSpPr>
          <p:spPr>
            <a:xfrm>
              <a:off x="6334125" y="6286500"/>
              <a:ext cx="4476750" cy="752475"/>
            </a:xfrm>
            <a:prstGeom prst="roundRect">
              <a:avLst>
                <a:gd name="adj" fmla="val 5063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Critic 复核</a:t>
              </a:r>
            </a:p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候选不自动合并</a:t>
              </a:r>
            </a:p>
          </p:txBody>
        </p:sp>
        <p:sp>
          <p:nvSpPr>
            <p:cNvPr id="18" name="boundary">
              <a:extLst>
                <a:ext uri="{FF2B5EF4-FFF2-40B4-BE49-F238E27FC236}">
                  <a16:creationId xmlns:a16="http://schemas.microsoft.com/office/drawing/2014/main" id="{81D24C0F-CACE-483B-890B-D1456497B7B0}"/>
                </a:ext>
              </a:extLst>
            </p:cNvPr>
            <p:cNvSpPr>
              <a:spLocks/>
            </p:cNvSpPr>
            <p:nvPr/>
          </p:nvSpPr>
          <p:spPr>
            <a:xfrm>
              <a:off x="5715000" y="57912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1AAF46D0-C5C7-4D1F-B848-FA4C243B8515}"/>
                </a:ext>
              </a:extLst>
            </p:cNvPr>
            <p:cNvSpPr>
              <a:spLocks/>
            </p:cNvSpPr>
            <p:nvPr/>
          </p:nvSpPr>
          <p:spPr>
            <a:xfrm>
              <a:off x="5715000" y="6038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02518292-1B8E-4B9E-80BA-A9434134411C}"/>
                </a:ext>
              </a:extLst>
            </p:cNvPr>
            <p:cNvSpPr>
              <a:spLocks/>
            </p:cNvSpPr>
            <p:nvPr/>
          </p:nvSpPr>
          <p:spPr>
            <a:xfrm>
              <a:off x="5715000" y="6038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2" name="boundary">
              <a:extLst>
                <a:ext uri="{FF2B5EF4-FFF2-40B4-BE49-F238E27FC236}">
                  <a16:creationId xmlns:a16="http://schemas.microsoft.com/office/drawing/2014/main" id="{4A90664E-29E9-43B7-A12C-205B8BC2B77E}"/>
                </a:ext>
              </a:extLst>
            </p:cNvPr>
            <p:cNvSpPr>
              <a:spLocks/>
            </p:cNvSpPr>
            <p:nvPr/>
          </p:nvSpPr>
          <p:spPr>
            <a:xfrm>
              <a:off x="8572500" y="6038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E325544A-8312-4032-8179-069D988794AE}"/>
                </a:ext>
              </a:extLst>
            </p:cNvPr>
            <p:cNvSpPr>
              <a:spLocks/>
            </p:cNvSpPr>
            <p:nvPr/>
          </p:nvSpPr>
          <p:spPr>
            <a:xfrm>
              <a:off x="8572500" y="6038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5" name="boundary">
              <a:extLst>
                <a:ext uri="{FF2B5EF4-FFF2-40B4-BE49-F238E27FC236}">
                  <a16:creationId xmlns:a16="http://schemas.microsoft.com/office/drawing/2014/main" id="{E8A342BC-E4C3-4F87-9237-0EDF9638A270}"/>
                </a:ext>
              </a:extLst>
            </p:cNvPr>
            <p:cNvSpPr>
              <a:spLocks/>
            </p:cNvSpPr>
            <p:nvPr/>
          </p:nvSpPr>
          <p:spPr>
            <a:xfrm>
              <a:off x="8572500" y="6286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146407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F-12 - whole figure">
            <a:extLst>
              <a:ext uri="{FF2B5EF4-FFF2-40B4-BE49-F238E27FC236}">
                <a16:creationId xmlns:a16="http://schemas.microsoft.com/office/drawing/2014/main" id="{12C58095-C0E6-9FBC-D903-45C9D72CEE4B}"/>
              </a:ext>
            </a:extLst>
          </p:cNvPr>
          <p:cNvGrpSpPr/>
          <p:nvPr/>
        </p:nvGrpSpPr>
        <p:grpSpPr>
          <a:xfrm>
            <a:off x="428625" y="1209675"/>
            <a:ext cx="10572750" cy="6753225"/>
            <a:chOff x="428625" y="1209675"/>
            <a:chExt cx="10572750" cy="6753225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21F35BCE-1A01-495A-83D3-22880CB20AEB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 flipH="1">
              <a:off x="5715000" y="1705452"/>
              <a:ext cx="953" cy="390525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42" name="漏洞实体">
              <a:extLst>
                <a:ext uri="{FF2B5EF4-FFF2-40B4-BE49-F238E27FC236}">
                  <a16:creationId xmlns:a16="http://schemas.microsoft.com/office/drawing/2014/main" id="{BD18F041-7756-4AB9-9B5F-A3068DA693CF}"/>
                </a:ext>
              </a:extLst>
            </p:cNvPr>
            <p:cNvSpPr>
              <a:spLocks/>
            </p:cNvSpPr>
            <p:nvPr/>
          </p:nvSpPr>
          <p:spPr>
            <a:xfrm>
              <a:off x="4191000" y="1209675"/>
              <a:ext cx="3048000" cy="495300"/>
            </a:xfrm>
            <a:prstGeom prst="roundRect">
              <a:avLst>
                <a:gd name="adj" fmla="val 7692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漏洞实体</a:t>
              </a:r>
            </a:p>
          </p:txBody>
        </p:sp>
        <p:sp>
          <p:nvSpPr>
            <p:cNvPr id="2" name="boundary">
              <a:extLst>
                <a:ext uri="{FF2B5EF4-FFF2-40B4-BE49-F238E27FC236}">
                  <a16:creationId xmlns:a16="http://schemas.microsoft.com/office/drawing/2014/main" id="{D3E87A49-6342-4504-B37F-6FDDA3A480AB}"/>
                </a:ext>
              </a:extLst>
            </p:cNvPr>
            <p:cNvSpPr>
              <a:spLocks/>
            </p:cNvSpPr>
            <p:nvPr/>
          </p:nvSpPr>
          <p:spPr>
            <a:xfrm>
              <a:off x="5715000" y="17049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" name="boundary">
              <a:extLst>
                <a:ext uri="{FF2B5EF4-FFF2-40B4-BE49-F238E27FC236}">
                  <a16:creationId xmlns:a16="http://schemas.microsoft.com/office/drawing/2014/main" id="{15BBF90F-200B-446E-ABFC-F0D6CDC09660}"/>
                </a:ext>
              </a:extLst>
            </p:cNvPr>
            <p:cNvSpPr>
              <a:spLocks/>
            </p:cNvSpPr>
            <p:nvPr/>
          </p:nvSpPr>
          <p:spPr>
            <a:xfrm>
              <a:off x="5715000" y="2095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" name="boundary">
              <a:extLst>
                <a:ext uri="{FF2B5EF4-FFF2-40B4-BE49-F238E27FC236}">
                  <a16:creationId xmlns:a16="http://schemas.microsoft.com/office/drawing/2014/main" id="{5C78E229-EC29-4C49-84BE-369C740E5965}"/>
                </a:ext>
              </a:extLst>
            </p:cNvPr>
            <p:cNvSpPr>
              <a:spLocks/>
            </p:cNvSpPr>
            <p:nvPr/>
          </p:nvSpPr>
          <p:spPr>
            <a:xfrm>
              <a:off x="476250" y="2286000"/>
              <a:ext cx="3143250" cy="1333500"/>
            </a:xfrm>
            <a:prstGeom prst="roundRect">
              <a:avLst>
                <a:gd name="adj" fmla="val 2857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6" name="CVSS">
              <a:extLst>
                <a:ext uri="{FF2B5EF4-FFF2-40B4-BE49-F238E27FC236}">
                  <a16:creationId xmlns:a16="http://schemas.microsoft.com/office/drawing/2014/main" id="{AD874603-F617-4FB9-84CF-417520DD3FDE}"/>
                </a:ext>
              </a:extLst>
            </p:cNvPr>
            <p:cNvSpPr>
              <a:spLocks/>
            </p:cNvSpPr>
            <p:nvPr/>
          </p:nvSpPr>
          <p:spPr>
            <a:xfrm>
              <a:off x="571500" y="2381250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CVSS</a:t>
              </a:r>
            </a:p>
          </p:txBody>
        </p:sp>
        <p:sp>
          <p:nvSpPr>
            <p:cNvPr id="7" name="NVD / GHSA 保留分歧">
              <a:extLst>
                <a:ext uri="{FF2B5EF4-FFF2-40B4-BE49-F238E27FC236}">
                  <a16:creationId xmlns:a16="http://schemas.microsoft.com/office/drawing/2014/main" id="{5294B082-53A1-40E1-9166-2B2C8DFB9134}"/>
                </a:ext>
              </a:extLst>
            </p:cNvPr>
            <p:cNvSpPr>
              <a:spLocks/>
            </p:cNvSpPr>
            <p:nvPr/>
          </p:nvSpPr>
          <p:spPr>
            <a:xfrm>
              <a:off x="590550" y="2809875"/>
              <a:ext cx="29146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NVD / GHSA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保留分歧</a:t>
              </a:r>
            </a:p>
          </p:txBody>
        </p:sp>
        <p:sp>
          <p:nvSpPr>
            <p:cNvPr id="8" name="1">
              <a:extLst>
                <a:ext uri="{FF2B5EF4-FFF2-40B4-BE49-F238E27FC236}">
                  <a16:creationId xmlns:a16="http://schemas.microsoft.com/office/drawing/2014/main" id="{28E6BC96-925D-4B55-8994-6964DBD115C9}"/>
                </a:ext>
              </a:extLst>
            </p:cNvPr>
            <p:cNvSpPr>
              <a:spLocks/>
            </p:cNvSpPr>
            <p:nvPr/>
          </p:nvSpPr>
          <p:spPr>
            <a:xfrm>
              <a:off x="457200" y="2133600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9" name="boundary">
              <a:extLst>
                <a:ext uri="{FF2B5EF4-FFF2-40B4-BE49-F238E27FC236}">
                  <a16:creationId xmlns:a16="http://schemas.microsoft.com/office/drawing/2014/main" id="{E4CE3CDF-54E2-48C5-ADF8-FAA931837C6F}"/>
                </a:ext>
              </a:extLst>
            </p:cNvPr>
            <p:cNvSpPr>
              <a:spLocks/>
            </p:cNvSpPr>
            <p:nvPr/>
          </p:nvSpPr>
          <p:spPr>
            <a:xfrm>
              <a:off x="4143375" y="2286000"/>
              <a:ext cx="3143250" cy="1333500"/>
            </a:xfrm>
            <a:prstGeom prst="roundRect">
              <a:avLst>
                <a:gd name="adj" fmla="val 2857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0" name="EPSS">
              <a:extLst>
                <a:ext uri="{FF2B5EF4-FFF2-40B4-BE49-F238E27FC236}">
                  <a16:creationId xmlns:a16="http://schemas.microsoft.com/office/drawing/2014/main" id="{88210D93-603E-478F-9FC2-43AC7F7F33E3}"/>
                </a:ext>
              </a:extLst>
            </p:cNvPr>
            <p:cNvSpPr>
              <a:spLocks/>
            </p:cNvSpPr>
            <p:nvPr/>
          </p:nvSpPr>
          <p:spPr>
            <a:xfrm>
              <a:off x="4238625" y="2381250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EPSS</a:t>
              </a:r>
            </a:p>
          </p:txBody>
        </p:sp>
        <p:sp>
          <p:nvSpPr>
            <p:cNvPr id="11" name="FIRST 每日更新">
              <a:extLst>
                <a:ext uri="{FF2B5EF4-FFF2-40B4-BE49-F238E27FC236}">
                  <a16:creationId xmlns:a16="http://schemas.microsoft.com/office/drawing/2014/main" id="{92AB92A6-FDC9-48FF-B7BE-176F1409E518}"/>
                </a:ext>
              </a:extLst>
            </p:cNvPr>
            <p:cNvSpPr>
              <a:spLocks/>
            </p:cNvSpPr>
            <p:nvPr/>
          </p:nvSpPr>
          <p:spPr>
            <a:xfrm>
              <a:off x="4257675" y="2809875"/>
              <a:ext cx="29146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FIRST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每日更新</a:t>
              </a:r>
            </a:p>
          </p:txBody>
        </p:sp>
        <p:sp>
          <p:nvSpPr>
            <p:cNvPr id="12" name="2">
              <a:extLst>
                <a:ext uri="{FF2B5EF4-FFF2-40B4-BE49-F238E27FC236}">
                  <a16:creationId xmlns:a16="http://schemas.microsoft.com/office/drawing/2014/main" id="{D3398DF0-E9E8-40A6-B091-1C1E7259140D}"/>
                </a:ext>
              </a:extLst>
            </p:cNvPr>
            <p:cNvSpPr>
              <a:spLocks/>
            </p:cNvSpPr>
            <p:nvPr/>
          </p:nvSpPr>
          <p:spPr>
            <a:xfrm>
              <a:off x="4124325" y="2133600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C640C76D-7E3E-4389-9F35-0667F503921E}"/>
                </a:ext>
              </a:extLst>
            </p:cNvPr>
            <p:cNvSpPr>
              <a:spLocks/>
            </p:cNvSpPr>
            <p:nvPr/>
          </p:nvSpPr>
          <p:spPr>
            <a:xfrm>
              <a:off x="7810500" y="2286000"/>
              <a:ext cx="3143250" cy="1333500"/>
            </a:xfrm>
            <a:prstGeom prst="roundRect">
              <a:avLst>
                <a:gd name="adj" fmla="val 2857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4" name="KEV">
              <a:extLst>
                <a:ext uri="{FF2B5EF4-FFF2-40B4-BE49-F238E27FC236}">
                  <a16:creationId xmlns:a16="http://schemas.microsoft.com/office/drawing/2014/main" id="{072A9094-37DC-4A7D-BECC-8EF5318C2EA1}"/>
                </a:ext>
              </a:extLst>
            </p:cNvPr>
            <p:cNvSpPr>
              <a:spLocks/>
            </p:cNvSpPr>
            <p:nvPr/>
          </p:nvSpPr>
          <p:spPr>
            <a:xfrm>
              <a:off x="7905750" y="2381250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KEV</a:t>
              </a:r>
            </a:p>
          </p:txBody>
        </p:sp>
        <p:sp>
          <p:nvSpPr>
            <p:cNvPr id="15" name="仅 KEV 置位">
              <a:extLst>
                <a:ext uri="{FF2B5EF4-FFF2-40B4-BE49-F238E27FC236}">
                  <a16:creationId xmlns:a16="http://schemas.microsoft.com/office/drawing/2014/main" id="{E61FCD95-018D-4A0D-9A7D-6DEC1C191926}"/>
                </a:ext>
              </a:extLst>
            </p:cNvPr>
            <p:cNvSpPr>
              <a:spLocks/>
            </p:cNvSpPr>
            <p:nvPr/>
          </p:nvSpPr>
          <p:spPr>
            <a:xfrm>
              <a:off x="7924800" y="2809875"/>
              <a:ext cx="29146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仅 KEV 置位</a:t>
              </a:r>
            </a:p>
          </p:txBody>
        </p:sp>
        <p:sp>
          <p:nvSpPr>
            <p:cNvPr id="16" name="3">
              <a:extLst>
                <a:ext uri="{FF2B5EF4-FFF2-40B4-BE49-F238E27FC236}">
                  <a16:creationId xmlns:a16="http://schemas.microsoft.com/office/drawing/2014/main" id="{F9B1319F-6F91-47E3-804E-0C0267B33A9E}"/>
                </a:ext>
              </a:extLst>
            </p:cNvPr>
            <p:cNvSpPr>
              <a:spLocks/>
            </p:cNvSpPr>
            <p:nvPr/>
          </p:nvSpPr>
          <p:spPr>
            <a:xfrm>
              <a:off x="7791450" y="2133600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AC6C3867-2A57-44A0-8C0C-9F20DCD5FCCA}"/>
                </a:ext>
              </a:extLst>
            </p:cNvPr>
            <p:cNvSpPr>
              <a:spLocks/>
            </p:cNvSpPr>
            <p:nvPr/>
          </p:nvSpPr>
          <p:spPr>
            <a:xfrm>
              <a:off x="476250" y="3867150"/>
              <a:ext cx="3143250" cy="1333500"/>
            </a:xfrm>
            <a:prstGeom prst="roundRect">
              <a:avLst>
                <a:gd name="adj" fmla="val 2857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8" name="CWE">
              <a:extLst>
                <a:ext uri="{FF2B5EF4-FFF2-40B4-BE49-F238E27FC236}">
                  <a16:creationId xmlns:a16="http://schemas.microsoft.com/office/drawing/2014/main" id="{F3268FC8-0D7F-4AB2-896B-8BED4D600820}"/>
                </a:ext>
              </a:extLst>
            </p:cNvPr>
            <p:cNvSpPr>
              <a:spLocks/>
            </p:cNvSpPr>
            <p:nvPr/>
          </p:nvSpPr>
          <p:spPr>
            <a:xfrm>
              <a:off x="571500" y="3962400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CWE</a:t>
              </a:r>
            </a:p>
          </p:txBody>
        </p:sp>
        <p:sp>
          <p:nvSpPr>
            <p:cNvPr id="19" name="来源字段与规则">
              <a:extLst>
                <a:ext uri="{FF2B5EF4-FFF2-40B4-BE49-F238E27FC236}">
                  <a16:creationId xmlns:a16="http://schemas.microsoft.com/office/drawing/2014/main" id="{AE6683EE-AAE2-40FC-B2FF-4D4F296FF35C}"/>
                </a:ext>
              </a:extLst>
            </p:cNvPr>
            <p:cNvSpPr>
              <a:spLocks/>
            </p:cNvSpPr>
            <p:nvPr/>
          </p:nvSpPr>
          <p:spPr>
            <a:xfrm>
              <a:off x="590550" y="4391025"/>
              <a:ext cx="29146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来源字段与规则</a:t>
              </a:r>
            </a:p>
          </p:txBody>
        </p:sp>
        <p:sp>
          <p:nvSpPr>
            <p:cNvPr id="20" name="4">
              <a:extLst>
                <a:ext uri="{FF2B5EF4-FFF2-40B4-BE49-F238E27FC236}">
                  <a16:creationId xmlns:a16="http://schemas.microsoft.com/office/drawing/2014/main" id="{1C5ED6B3-EE62-42EE-8CAF-0E02BA74F390}"/>
                </a:ext>
              </a:extLst>
            </p:cNvPr>
            <p:cNvSpPr>
              <a:spLocks/>
            </p:cNvSpPr>
            <p:nvPr/>
          </p:nvSpPr>
          <p:spPr>
            <a:xfrm>
              <a:off x="457200" y="3714750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5FF61DB9-BEEE-4A86-B620-1E2C9644F4B0}"/>
                </a:ext>
              </a:extLst>
            </p:cNvPr>
            <p:cNvSpPr>
              <a:spLocks/>
            </p:cNvSpPr>
            <p:nvPr/>
          </p:nvSpPr>
          <p:spPr>
            <a:xfrm>
              <a:off x="4143375" y="3867150"/>
              <a:ext cx="3143250" cy="1333500"/>
            </a:xfrm>
            <a:prstGeom prst="roundRect">
              <a:avLst>
                <a:gd name="adj" fmla="val 2857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2" name="ATLAS">
              <a:extLst>
                <a:ext uri="{FF2B5EF4-FFF2-40B4-BE49-F238E27FC236}">
                  <a16:creationId xmlns:a16="http://schemas.microsoft.com/office/drawing/2014/main" id="{89F9225B-B687-48FB-B7AB-1DD56A821D34}"/>
                </a:ext>
              </a:extLst>
            </p:cNvPr>
            <p:cNvSpPr>
              <a:spLocks/>
            </p:cNvSpPr>
            <p:nvPr/>
          </p:nvSpPr>
          <p:spPr>
            <a:xfrm>
              <a:off x="4238625" y="3962400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00" b="1">
                  <a:solidFill>
                    <a:srgbClr val="547D45"/>
                  </a:solidFill>
                </a:defRPr>
              </a:pPr>
              <a:r>
                <a:rPr sz="18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ATLAS</a:t>
              </a:r>
            </a:p>
          </p:txBody>
        </p:sp>
        <p:sp>
          <p:nvSpPr>
            <p:cNvPr id="23" name="规则召回 + LLM">
              <a:extLst>
                <a:ext uri="{FF2B5EF4-FFF2-40B4-BE49-F238E27FC236}">
                  <a16:creationId xmlns:a16="http://schemas.microsoft.com/office/drawing/2014/main" id="{3AEDC1C9-C227-43BC-849D-C4BEFF751B46}"/>
                </a:ext>
              </a:extLst>
            </p:cNvPr>
            <p:cNvSpPr>
              <a:spLocks/>
            </p:cNvSpPr>
            <p:nvPr/>
          </p:nvSpPr>
          <p:spPr>
            <a:xfrm>
              <a:off x="4257675" y="4391025"/>
              <a:ext cx="29146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规则召回 + LLM</a:t>
              </a:r>
            </a:p>
          </p:txBody>
        </p:sp>
        <p:sp>
          <p:nvSpPr>
            <p:cNvPr id="24" name="5">
              <a:extLst>
                <a:ext uri="{FF2B5EF4-FFF2-40B4-BE49-F238E27FC236}">
                  <a16:creationId xmlns:a16="http://schemas.microsoft.com/office/drawing/2014/main" id="{D7C72E72-B414-4F3C-B504-5CC03D542208}"/>
                </a:ext>
              </a:extLst>
            </p:cNvPr>
            <p:cNvSpPr>
              <a:spLocks/>
            </p:cNvSpPr>
            <p:nvPr/>
          </p:nvSpPr>
          <p:spPr>
            <a:xfrm>
              <a:off x="4124325" y="3714750"/>
              <a:ext cx="419100" cy="419100"/>
            </a:xfrm>
            <a:prstGeom prst="ellipse">
              <a:avLst/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25" name="boundary">
              <a:extLst>
                <a:ext uri="{FF2B5EF4-FFF2-40B4-BE49-F238E27FC236}">
                  <a16:creationId xmlns:a16="http://schemas.microsoft.com/office/drawing/2014/main" id="{51BA5ACE-77EF-4265-9E1A-C7B4DAE0B63A}"/>
                </a:ext>
              </a:extLst>
            </p:cNvPr>
            <p:cNvSpPr>
              <a:spLocks/>
            </p:cNvSpPr>
            <p:nvPr/>
          </p:nvSpPr>
          <p:spPr>
            <a:xfrm>
              <a:off x="7810500" y="3867150"/>
              <a:ext cx="3143250" cy="1333500"/>
            </a:xfrm>
            <a:prstGeom prst="roundRect">
              <a:avLst>
                <a:gd name="adj" fmla="val 2857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6" name="受影响与修复版本">
              <a:extLst>
                <a:ext uri="{FF2B5EF4-FFF2-40B4-BE49-F238E27FC236}">
                  <a16:creationId xmlns:a16="http://schemas.microsoft.com/office/drawing/2014/main" id="{E0266669-F999-42F6-A073-BCDA180941C9}"/>
                </a:ext>
              </a:extLst>
            </p:cNvPr>
            <p:cNvSpPr>
              <a:spLocks/>
            </p:cNvSpPr>
            <p:nvPr/>
          </p:nvSpPr>
          <p:spPr>
            <a:xfrm>
              <a:off x="7905750" y="3962400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受影响与修复版本</a:t>
              </a:r>
            </a:p>
          </p:txBody>
        </p:sp>
        <p:sp>
          <p:nvSpPr>
            <p:cNvPr id="27" name="OSV 区间语义">
              <a:extLst>
                <a:ext uri="{FF2B5EF4-FFF2-40B4-BE49-F238E27FC236}">
                  <a16:creationId xmlns:a16="http://schemas.microsoft.com/office/drawing/2014/main" id="{93A78FF2-7F23-4032-9C26-F91F953C1C09}"/>
                </a:ext>
              </a:extLst>
            </p:cNvPr>
            <p:cNvSpPr>
              <a:spLocks/>
            </p:cNvSpPr>
            <p:nvPr/>
          </p:nvSpPr>
          <p:spPr>
            <a:xfrm>
              <a:off x="7924800" y="4391025"/>
              <a:ext cx="29146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OSV 区间语义</a:t>
              </a:r>
            </a:p>
          </p:txBody>
        </p:sp>
        <p:sp>
          <p:nvSpPr>
            <p:cNvPr id="28" name="6">
              <a:extLst>
                <a:ext uri="{FF2B5EF4-FFF2-40B4-BE49-F238E27FC236}">
                  <a16:creationId xmlns:a16="http://schemas.microsoft.com/office/drawing/2014/main" id="{B0FA8E11-8ECF-4F71-A02A-C0D614295610}"/>
                </a:ext>
              </a:extLst>
            </p:cNvPr>
            <p:cNvSpPr>
              <a:spLocks/>
            </p:cNvSpPr>
            <p:nvPr/>
          </p:nvSpPr>
          <p:spPr>
            <a:xfrm>
              <a:off x="7791450" y="3714750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</a:p>
          </p:txBody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8C703FC8-738E-4256-B952-1AB141BFE936}"/>
                </a:ext>
              </a:extLst>
            </p:cNvPr>
            <p:cNvSpPr>
              <a:spLocks/>
            </p:cNvSpPr>
            <p:nvPr/>
          </p:nvSpPr>
          <p:spPr>
            <a:xfrm>
              <a:off x="476250" y="5448300"/>
              <a:ext cx="3143250" cy="1333500"/>
            </a:xfrm>
            <a:prstGeom prst="roundRect">
              <a:avLst>
                <a:gd name="adj" fmla="val 2857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30" name="论文与文章">
              <a:extLst>
                <a:ext uri="{FF2B5EF4-FFF2-40B4-BE49-F238E27FC236}">
                  <a16:creationId xmlns:a16="http://schemas.microsoft.com/office/drawing/2014/main" id="{B3386713-AC84-47F6-A465-022FEDB13C4D}"/>
                </a:ext>
              </a:extLst>
            </p:cNvPr>
            <p:cNvSpPr>
              <a:spLocks/>
            </p:cNvSpPr>
            <p:nvPr/>
          </p:nvSpPr>
          <p:spPr>
            <a:xfrm>
              <a:off x="571500" y="5543550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00" b="1">
                  <a:solidFill>
                    <a:srgbClr val="547D45"/>
                  </a:solidFill>
                </a:defRPr>
              </a:pPr>
              <a:r>
                <a:rPr sz="18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论文与文章</a:t>
              </a:r>
            </a:p>
          </p:txBody>
        </p:sp>
        <p:sp>
          <p:nvSpPr>
            <p:cNvPr id="31" name="嵌入 + 组件共现">
              <a:extLst>
                <a:ext uri="{FF2B5EF4-FFF2-40B4-BE49-F238E27FC236}">
                  <a16:creationId xmlns:a16="http://schemas.microsoft.com/office/drawing/2014/main" id="{19502479-7854-4CB3-85F8-AE88BE251B03}"/>
                </a:ext>
              </a:extLst>
            </p:cNvPr>
            <p:cNvSpPr>
              <a:spLocks/>
            </p:cNvSpPr>
            <p:nvPr/>
          </p:nvSpPr>
          <p:spPr>
            <a:xfrm>
              <a:off x="590550" y="5972175"/>
              <a:ext cx="29146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嵌入 + 组件共现</a:t>
              </a:r>
            </a:p>
          </p:txBody>
        </p:sp>
        <p:sp>
          <p:nvSpPr>
            <p:cNvPr id="32" name="7">
              <a:extLst>
                <a:ext uri="{FF2B5EF4-FFF2-40B4-BE49-F238E27FC236}">
                  <a16:creationId xmlns:a16="http://schemas.microsoft.com/office/drawing/2014/main" id="{EB44A7EE-3960-4150-85F9-0F787ACD9D47}"/>
                </a:ext>
              </a:extLst>
            </p:cNvPr>
            <p:cNvSpPr>
              <a:spLocks/>
            </p:cNvSpPr>
            <p:nvPr/>
          </p:nvSpPr>
          <p:spPr>
            <a:xfrm>
              <a:off x="457200" y="5295900"/>
              <a:ext cx="419100" cy="419100"/>
            </a:xfrm>
            <a:prstGeom prst="ellipse">
              <a:avLst/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</a:p>
          </p:txBody>
        </p:sp>
        <p:sp>
          <p:nvSpPr>
            <p:cNvPr id="33" name="boundary">
              <a:extLst>
                <a:ext uri="{FF2B5EF4-FFF2-40B4-BE49-F238E27FC236}">
                  <a16:creationId xmlns:a16="http://schemas.microsoft.com/office/drawing/2014/main" id="{C388322D-4A69-414A-B3B4-8C4B00D217A1}"/>
                </a:ext>
              </a:extLst>
            </p:cNvPr>
            <p:cNvSpPr>
              <a:spLocks/>
            </p:cNvSpPr>
            <p:nvPr/>
          </p:nvSpPr>
          <p:spPr>
            <a:xfrm>
              <a:off x="4143375" y="5448300"/>
              <a:ext cx="3143250" cy="1333500"/>
            </a:xfrm>
            <a:prstGeom prst="roundRect">
              <a:avLst>
                <a:gd name="adj" fmla="val 2857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34" name="PoC 存在性">
              <a:extLst>
                <a:ext uri="{FF2B5EF4-FFF2-40B4-BE49-F238E27FC236}">
                  <a16:creationId xmlns:a16="http://schemas.microsoft.com/office/drawing/2014/main" id="{11DFD171-20D3-4961-B213-E5F9AC4A3550}"/>
                </a:ext>
              </a:extLst>
            </p:cNvPr>
            <p:cNvSpPr>
              <a:spLocks/>
            </p:cNvSpPr>
            <p:nvPr/>
          </p:nvSpPr>
          <p:spPr>
            <a:xfrm>
              <a:off x="4238625" y="5543550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PoC 存在性</a:t>
              </a:r>
            </a:p>
          </p:txBody>
        </p:sp>
        <p:sp>
          <p:nvSpPr>
            <p:cNvPr id="35" name="仅链接与标题">
              <a:extLst>
                <a:ext uri="{FF2B5EF4-FFF2-40B4-BE49-F238E27FC236}">
                  <a16:creationId xmlns:a16="http://schemas.microsoft.com/office/drawing/2014/main" id="{968D6D52-1199-4F94-854C-EC8801F341CF}"/>
                </a:ext>
              </a:extLst>
            </p:cNvPr>
            <p:cNvSpPr>
              <a:spLocks/>
            </p:cNvSpPr>
            <p:nvPr/>
          </p:nvSpPr>
          <p:spPr>
            <a:xfrm>
              <a:off x="4257675" y="5972175"/>
              <a:ext cx="29146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仅链接与标题</a:t>
              </a:r>
            </a:p>
          </p:txBody>
        </p:sp>
        <p:sp>
          <p:nvSpPr>
            <p:cNvPr id="36" name="8">
              <a:extLst>
                <a:ext uri="{FF2B5EF4-FFF2-40B4-BE49-F238E27FC236}">
                  <a16:creationId xmlns:a16="http://schemas.microsoft.com/office/drawing/2014/main" id="{EBD228E1-6407-427D-9C0E-BACD2760534D}"/>
                </a:ext>
              </a:extLst>
            </p:cNvPr>
            <p:cNvSpPr>
              <a:spLocks/>
            </p:cNvSpPr>
            <p:nvPr/>
          </p:nvSpPr>
          <p:spPr>
            <a:xfrm>
              <a:off x="4124325" y="5295900"/>
              <a:ext cx="419100" cy="419100"/>
            </a:xfrm>
            <a:prstGeom prst="ellipse">
              <a:avLst/>
            </a:prstGeom>
            <a:solidFill>
              <a:srgbClr val="A67A20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</a:p>
          </p:txBody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2C7960EC-EFB8-4201-9DF0-180425133DCC}"/>
                </a:ext>
              </a:extLst>
            </p:cNvPr>
            <p:cNvSpPr>
              <a:spLocks/>
            </p:cNvSpPr>
            <p:nvPr/>
          </p:nvSpPr>
          <p:spPr>
            <a:xfrm>
              <a:off x="7810500" y="5448300"/>
              <a:ext cx="3143250" cy="1333500"/>
            </a:xfrm>
            <a:prstGeom prst="roundRect">
              <a:avLst>
                <a:gd name="adj" fmla="val 2857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38" name="公网暴露面">
              <a:extLst>
                <a:ext uri="{FF2B5EF4-FFF2-40B4-BE49-F238E27FC236}">
                  <a16:creationId xmlns:a16="http://schemas.microsoft.com/office/drawing/2014/main" id="{98C3C697-DE91-440D-9A73-52AAFC0AEDB8}"/>
                </a:ext>
              </a:extLst>
            </p:cNvPr>
            <p:cNvSpPr>
              <a:spLocks/>
            </p:cNvSpPr>
            <p:nvPr/>
          </p:nvSpPr>
          <p:spPr>
            <a:xfrm>
              <a:off x="7905750" y="5543550"/>
              <a:ext cx="2952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公网暴露面</a:t>
              </a:r>
            </a:p>
          </p:txBody>
        </p:sp>
        <p:sp>
          <p:nvSpPr>
            <p:cNvPr id="39" name="仅聚合计数">
              <a:extLst>
                <a:ext uri="{FF2B5EF4-FFF2-40B4-BE49-F238E27FC236}">
                  <a16:creationId xmlns:a16="http://schemas.microsoft.com/office/drawing/2014/main" id="{ECBF0C80-5412-4C1B-B819-630EA27AD8E5}"/>
                </a:ext>
              </a:extLst>
            </p:cNvPr>
            <p:cNvSpPr>
              <a:spLocks/>
            </p:cNvSpPr>
            <p:nvPr/>
          </p:nvSpPr>
          <p:spPr>
            <a:xfrm>
              <a:off x="7924800" y="5972175"/>
              <a:ext cx="2914650" cy="714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仅聚合计数</a:t>
              </a:r>
            </a:p>
          </p:txBody>
        </p:sp>
        <p:sp>
          <p:nvSpPr>
            <p:cNvPr id="40" name="9">
              <a:extLst>
                <a:ext uri="{FF2B5EF4-FFF2-40B4-BE49-F238E27FC236}">
                  <a16:creationId xmlns:a16="http://schemas.microsoft.com/office/drawing/2014/main" id="{13CE264E-A2C2-463D-99D3-5EAE84D721BB}"/>
                </a:ext>
              </a:extLst>
            </p:cNvPr>
            <p:cNvSpPr>
              <a:spLocks/>
            </p:cNvSpPr>
            <p:nvPr/>
          </p:nvSpPr>
          <p:spPr>
            <a:xfrm>
              <a:off x="7791450" y="5295900"/>
              <a:ext cx="419100" cy="419100"/>
            </a:xfrm>
            <a:prstGeom prst="ellipse">
              <a:avLst/>
            </a:prstGeom>
            <a:solidFill>
              <a:srgbClr val="A67A20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9</a:t>
              </a:r>
            </a:p>
          </p:txBody>
        </p:sp>
        <p:sp>
          <p:nvSpPr>
            <p:cNvPr id="41" name="蓝色：规则与确定性信息；绿色：弱关联须 Critic 校验；黄色：合规边界">
              <a:extLst>
                <a:ext uri="{FF2B5EF4-FFF2-40B4-BE49-F238E27FC236}">
                  <a16:creationId xmlns:a16="http://schemas.microsoft.com/office/drawing/2014/main" id="{09147A4B-9BB8-44EE-B8DE-CD6C7AE9CCF7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蓝色：规则与确定性信息；绿色：弱关联须 Critic 校验；黄色：合规边界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8737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-13 - whole figure">
            <a:extLst>
              <a:ext uri="{FF2B5EF4-FFF2-40B4-BE49-F238E27FC236}">
                <a16:creationId xmlns:a16="http://schemas.microsoft.com/office/drawing/2014/main" id="{F476FDBC-85B4-8DE6-88E8-E2F912E36FA5}"/>
              </a:ext>
            </a:extLst>
          </p:cNvPr>
          <p:cNvGrpSpPr/>
          <p:nvPr/>
        </p:nvGrpSpPr>
        <p:grpSpPr>
          <a:xfrm>
            <a:off x="428625" y="1152525"/>
            <a:ext cx="10572750" cy="6810375"/>
            <a:chOff x="428625" y="1152525"/>
            <a:chExt cx="10572750" cy="6810375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84024F35-3FF1-40A2-9A20-8C2DAA157A3D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H="1">
              <a:off x="3762375" y="4915377"/>
              <a:ext cx="953" cy="32385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201A4E35-6E1F-41C2-931C-05E522367593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H="1">
              <a:off x="3762375" y="3210402"/>
              <a:ext cx="953" cy="32385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24" name="Quake 暴露面口径收窄">
              <a:extLst>
                <a:ext uri="{FF2B5EF4-FFF2-40B4-BE49-F238E27FC236}">
                  <a16:creationId xmlns:a16="http://schemas.microsoft.com/office/drawing/2014/main" id="{9D2AC8AF-741D-4473-9B09-4DD63329F546}"/>
                </a:ext>
              </a:extLst>
            </p:cNvPr>
            <p:cNvSpPr>
              <a:spLocks/>
            </p:cNvSpPr>
            <p:nvPr/>
          </p:nvSpPr>
          <p:spPr>
            <a:xfrm>
              <a:off x="619125" y="1152525"/>
              <a:ext cx="6191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2100" b="1">
                  <a:solidFill>
                    <a:srgbClr val="277DC3"/>
                  </a:solidFill>
                </a:defRPr>
              </a:defPPr>
            </a:lstStyle>
            <a:p>
              <a:pPr algn="l">
                <a:defRPr sz="2100" b="1">
                  <a:solidFill>
                    <a:srgbClr val="277DC3"/>
                  </a:solidFill>
                </a:defRPr>
              </a:pPr>
              <a:r>
                <a:rPr sz="21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Quake 暴露面口径收窄</a:t>
              </a:r>
            </a:p>
          </p:txBody>
        </p:sp>
        <p:sp>
          <p:nvSpPr>
            <p:cNvPr id="2" name="layer surface">
              <a:extLst>
                <a:ext uri="{FF2B5EF4-FFF2-40B4-BE49-F238E27FC236}">
                  <a16:creationId xmlns:a16="http://schemas.microsoft.com/office/drawing/2014/main" id="{4BC2C301-0D44-4B4A-A510-F8E2C69E6A58}"/>
                </a:ext>
              </a:extLst>
            </p:cNvPr>
            <p:cNvSpPr>
              <a:spLocks/>
            </p:cNvSpPr>
            <p:nvPr/>
          </p:nvSpPr>
          <p:spPr>
            <a:xfrm>
              <a:off x="619125" y="1895475"/>
              <a:ext cx="6286500" cy="1266825"/>
            </a:xfrm>
            <a:custGeom>
              <a:avLst/>
              <a:gdLst/>
              <a:ahLst/>
              <a:cxnLst/>
              <a:rect l="0" t="0" r="0" b="0"/>
              <a:pathLst>
                <a:path w="6286500" h="1266825">
                  <a:moveTo>
                    <a:pt x="0" y="0"/>
                  </a:moveTo>
                  <a:lnTo>
                    <a:pt x="6286500" y="0"/>
                  </a:lnTo>
                  <a:lnTo>
                    <a:pt x="5857875" y="1266825"/>
                  </a:lnTo>
                  <a:lnTo>
                    <a:pt x="428625" y="1266825"/>
                  </a:lnTo>
                  <a:close/>
                </a:path>
              </a:pathLst>
            </a:custGeom>
            <a:solidFill>
              <a:srgbClr val="F3F6F8"/>
            </a:solidFill>
            <a:ln w="9525">
              <a:solidFill>
                <a:srgbClr val="A6C4DB"/>
              </a:solidFill>
            </a:ln>
          </p:spPr>
        </p:sp>
        <p:sp>
          <p:nvSpPr>
            <p:cNvPr id="3" name="823 690">
              <a:extLst>
                <a:ext uri="{FF2B5EF4-FFF2-40B4-BE49-F238E27FC236}">
                  <a16:creationId xmlns:a16="http://schemas.microsoft.com/office/drawing/2014/main" id="{6D2077FD-90EA-40B5-95FF-6CCDC4EAAC53}"/>
                </a:ext>
              </a:extLst>
            </p:cNvPr>
            <p:cNvSpPr>
              <a:spLocks/>
            </p:cNvSpPr>
            <p:nvPr/>
          </p:nvSpPr>
          <p:spPr>
            <a:xfrm>
              <a:off x="1000125" y="1990725"/>
              <a:ext cx="55245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3450" b="1">
                  <a:solidFill>
                    <a:srgbClr val="657D8E"/>
                  </a:solidFill>
                </a:defRPr>
              </a:defPPr>
            </a:lstStyle>
            <a:p>
              <a:pPr algn="ctr">
                <a:defRPr sz="3450" b="1">
                  <a:solidFill>
                    <a:srgbClr val="657D8E"/>
                  </a:solidFill>
                </a:defRPr>
              </a:pPr>
              <a:r>
                <a:rPr sz="3450" b="1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823 690</a:t>
              </a:r>
            </a:p>
          </p:txBody>
        </p:sp>
        <p:sp>
          <p:nvSpPr>
            <p:cNvPr id="4" name="宽口径，仅作上限参考">
              <a:extLst>
                <a:ext uri="{FF2B5EF4-FFF2-40B4-BE49-F238E27FC236}">
                  <a16:creationId xmlns:a16="http://schemas.microsoft.com/office/drawing/2014/main" id="{DEC7E7F9-6C47-4B0B-9552-176A120B4D79}"/>
                </a:ext>
              </a:extLst>
            </p:cNvPr>
            <p:cNvSpPr>
              <a:spLocks/>
            </p:cNvSpPr>
            <p:nvPr/>
          </p:nvSpPr>
          <p:spPr>
            <a:xfrm>
              <a:off x="762000" y="2628900"/>
              <a:ext cx="60007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宽口径，仅作上限参考</a:t>
              </a:r>
            </a:p>
          </p:txBody>
        </p:sp>
        <p:sp>
          <p:nvSpPr>
            <p:cNvPr id="5" name="boundary">
              <a:extLst>
                <a:ext uri="{FF2B5EF4-FFF2-40B4-BE49-F238E27FC236}">
                  <a16:creationId xmlns:a16="http://schemas.microsoft.com/office/drawing/2014/main" id="{4104A7FD-3EB6-4798-BF7A-11B473E9BAE3}"/>
                </a:ext>
              </a:extLst>
            </p:cNvPr>
            <p:cNvSpPr>
              <a:spLocks/>
            </p:cNvSpPr>
            <p:nvPr/>
          </p:nvSpPr>
          <p:spPr>
            <a:xfrm>
              <a:off x="3762375" y="3209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" name="boundary">
              <a:extLst>
                <a:ext uri="{FF2B5EF4-FFF2-40B4-BE49-F238E27FC236}">
                  <a16:creationId xmlns:a16="http://schemas.microsoft.com/office/drawing/2014/main" id="{E4C5A498-C13F-4FC3-8EAD-99015E5ED9AC}"/>
                </a:ext>
              </a:extLst>
            </p:cNvPr>
            <p:cNvSpPr>
              <a:spLocks/>
            </p:cNvSpPr>
            <p:nvPr/>
          </p:nvSpPr>
          <p:spPr>
            <a:xfrm>
              <a:off x="3762375" y="35337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" name="layer surface">
              <a:extLst>
                <a:ext uri="{FF2B5EF4-FFF2-40B4-BE49-F238E27FC236}">
                  <a16:creationId xmlns:a16="http://schemas.microsoft.com/office/drawing/2014/main" id="{AFD81E92-81F8-44EA-9D11-AB8153EA07FC}"/>
                </a:ext>
              </a:extLst>
            </p:cNvPr>
            <p:cNvSpPr>
              <a:spLocks/>
            </p:cNvSpPr>
            <p:nvPr/>
          </p:nvSpPr>
          <p:spPr>
            <a:xfrm>
              <a:off x="1095375" y="3600450"/>
              <a:ext cx="5334000" cy="1266825"/>
            </a:xfrm>
            <a:custGeom>
              <a:avLst/>
              <a:gdLst/>
              <a:ahLst/>
              <a:cxnLst/>
              <a:rect l="0" t="0" r="0" b="0"/>
              <a:pathLst>
                <a:path w="5334000" h="1266825">
                  <a:moveTo>
                    <a:pt x="0" y="0"/>
                  </a:moveTo>
                  <a:lnTo>
                    <a:pt x="5334000" y="0"/>
                  </a:lnTo>
                  <a:lnTo>
                    <a:pt x="4905375" y="1266825"/>
                  </a:lnTo>
                  <a:lnTo>
                    <a:pt x="428625" y="1266825"/>
                  </a:lnTo>
                  <a:close/>
                </a:path>
              </a:pathLst>
            </a:custGeom>
            <a:solidFill>
              <a:srgbClr val="EAF4FC"/>
            </a:solidFill>
            <a:ln w="9525">
              <a:solidFill>
                <a:srgbClr val="A6C4DB"/>
              </a:solidFill>
            </a:ln>
          </p:spPr>
        </p:sp>
        <p:sp>
          <p:nvSpPr>
            <p:cNvPr id="9" name="172 411">
              <a:extLst>
                <a:ext uri="{FF2B5EF4-FFF2-40B4-BE49-F238E27FC236}">
                  <a16:creationId xmlns:a16="http://schemas.microsoft.com/office/drawing/2014/main" id="{FD4D1315-ACC6-4E0A-9E14-DD93D34813B1}"/>
                </a:ext>
              </a:extLst>
            </p:cNvPr>
            <p:cNvSpPr>
              <a:spLocks/>
            </p:cNvSpPr>
            <p:nvPr/>
          </p:nvSpPr>
          <p:spPr>
            <a:xfrm>
              <a:off x="1476375" y="3695700"/>
              <a:ext cx="45720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345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3450" b="1">
                  <a:solidFill>
                    <a:srgbClr val="277DC3"/>
                  </a:solidFill>
                </a:defRPr>
              </a:pPr>
              <a:r>
                <a:rPr sz="345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172 411</a:t>
              </a:r>
            </a:p>
          </p:txBody>
        </p:sp>
        <p:sp>
          <p:nvSpPr>
            <p:cNvPr id="10" name="收窄全球：端口 + 响应特征">
              <a:extLst>
                <a:ext uri="{FF2B5EF4-FFF2-40B4-BE49-F238E27FC236}">
                  <a16:creationId xmlns:a16="http://schemas.microsoft.com/office/drawing/2014/main" id="{E85276C5-EEB0-4824-9A53-3E6042D85304}"/>
                </a:ext>
              </a:extLst>
            </p:cNvPr>
            <p:cNvSpPr>
              <a:spLocks/>
            </p:cNvSpPr>
            <p:nvPr/>
          </p:nvSpPr>
          <p:spPr>
            <a:xfrm>
              <a:off x="1238250" y="4333875"/>
              <a:ext cx="50482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收窄全球：端口 + 响应特征</a:t>
              </a:r>
            </a:p>
          </p:txBody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5CA61438-57AC-41CF-B6AD-9303FCE3CF05}"/>
                </a:ext>
              </a:extLst>
            </p:cNvPr>
            <p:cNvSpPr>
              <a:spLocks/>
            </p:cNvSpPr>
            <p:nvPr/>
          </p:nvSpPr>
          <p:spPr>
            <a:xfrm>
              <a:off x="3762375" y="49149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2" name="boundary">
              <a:extLst>
                <a:ext uri="{FF2B5EF4-FFF2-40B4-BE49-F238E27FC236}">
                  <a16:creationId xmlns:a16="http://schemas.microsoft.com/office/drawing/2014/main" id="{AA261F25-AB65-47B2-8C47-EC9CA0E93782}"/>
                </a:ext>
              </a:extLst>
            </p:cNvPr>
            <p:cNvSpPr>
              <a:spLocks/>
            </p:cNvSpPr>
            <p:nvPr/>
          </p:nvSpPr>
          <p:spPr>
            <a:xfrm>
              <a:off x="3762375" y="5238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layer surface">
              <a:extLst>
                <a:ext uri="{FF2B5EF4-FFF2-40B4-BE49-F238E27FC236}">
                  <a16:creationId xmlns:a16="http://schemas.microsoft.com/office/drawing/2014/main" id="{59DAD829-07E4-4D3D-A211-0A9EE0426DB1}"/>
                </a:ext>
              </a:extLst>
            </p:cNvPr>
            <p:cNvSpPr>
              <a:spLocks/>
            </p:cNvSpPr>
            <p:nvPr/>
          </p:nvSpPr>
          <p:spPr>
            <a:xfrm>
              <a:off x="1666875" y="5305425"/>
              <a:ext cx="4191000" cy="1266825"/>
            </a:xfrm>
            <a:custGeom>
              <a:avLst/>
              <a:gdLst/>
              <a:ahLst/>
              <a:cxnLst/>
              <a:rect l="0" t="0" r="0" b="0"/>
              <a:pathLst>
                <a:path w="4191000" h="1266825">
                  <a:moveTo>
                    <a:pt x="0" y="0"/>
                  </a:moveTo>
                  <a:lnTo>
                    <a:pt x="4191000" y="0"/>
                  </a:lnTo>
                  <a:lnTo>
                    <a:pt x="3762375" y="1266825"/>
                  </a:lnTo>
                  <a:lnTo>
                    <a:pt x="428625" y="1266825"/>
                  </a:lnTo>
                  <a:close/>
                </a:path>
              </a:pathLst>
            </a:custGeom>
            <a:solidFill>
              <a:srgbClr val="E5F0DA"/>
            </a:solidFill>
            <a:ln w="9525">
              <a:solidFill>
                <a:srgbClr val="A6C4DB"/>
              </a:solidFill>
            </a:ln>
          </p:spPr>
        </p:sp>
        <p:sp>
          <p:nvSpPr>
            <p:cNvPr id="15" name="51 612">
              <a:extLst>
                <a:ext uri="{FF2B5EF4-FFF2-40B4-BE49-F238E27FC236}">
                  <a16:creationId xmlns:a16="http://schemas.microsoft.com/office/drawing/2014/main" id="{0E17B303-4967-4AB5-B04F-C79EB314EA36}"/>
                </a:ext>
              </a:extLst>
            </p:cNvPr>
            <p:cNvSpPr>
              <a:spLocks/>
            </p:cNvSpPr>
            <p:nvPr/>
          </p:nvSpPr>
          <p:spPr>
            <a:xfrm>
              <a:off x="2047875" y="5400675"/>
              <a:ext cx="34290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345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3450" b="1">
                  <a:solidFill>
                    <a:srgbClr val="547D45"/>
                  </a:solidFill>
                </a:defRPr>
              </a:pPr>
              <a:r>
                <a:rPr sz="345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51 612</a:t>
              </a:r>
            </a:p>
          </p:txBody>
        </p:sp>
        <p:sp>
          <p:nvSpPr>
            <p:cNvPr id="16" name="国内：按平台国家字段">
              <a:extLst>
                <a:ext uri="{FF2B5EF4-FFF2-40B4-BE49-F238E27FC236}">
                  <a16:creationId xmlns:a16="http://schemas.microsoft.com/office/drawing/2014/main" id="{759AEEAC-87DA-4490-8A6E-089C3ED66F2D}"/>
                </a:ext>
              </a:extLst>
            </p:cNvPr>
            <p:cNvSpPr>
              <a:spLocks/>
            </p:cNvSpPr>
            <p:nvPr/>
          </p:nvSpPr>
          <p:spPr>
            <a:xfrm>
              <a:off x="1809750" y="6038850"/>
              <a:ext cx="39052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国内：按平台国家字段</a:t>
              </a:r>
            </a:p>
          </p:txBody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9508868D-3E8E-4838-9652-D2A8B02E9081}"/>
                </a:ext>
              </a:extLst>
            </p:cNvPr>
            <p:cNvSpPr>
              <a:spLocks/>
            </p:cNvSpPr>
            <p:nvPr/>
          </p:nvSpPr>
          <p:spPr>
            <a:xfrm>
              <a:off x="7572375" y="1895475"/>
              <a:ext cx="3286125" cy="4676775"/>
            </a:xfrm>
            <a:prstGeom prst="roundRect">
              <a:avLst>
                <a:gd name="adj" fmla="val 5217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8" name="元数据抽样验证">
              <a:extLst>
                <a:ext uri="{FF2B5EF4-FFF2-40B4-BE49-F238E27FC236}">
                  <a16:creationId xmlns:a16="http://schemas.microsoft.com/office/drawing/2014/main" id="{4681974F-08AE-4E7F-8EE9-9B02118D2E2F}"/>
                </a:ext>
              </a:extLst>
            </p:cNvPr>
            <p:cNvSpPr>
              <a:spLocks/>
            </p:cNvSpPr>
            <p:nvPr/>
          </p:nvSpPr>
          <p:spPr>
            <a:xfrm>
              <a:off x="7743825" y="1990725"/>
              <a:ext cx="2943225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元数据抽样验证</a:t>
              </a:r>
            </a:p>
          </p:txBody>
        </p:sp>
        <p:sp>
          <p:nvSpPr>
            <p:cNvPr id="19" name="44 / 50">
              <a:extLst>
                <a:ext uri="{FF2B5EF4-FFF2-40B4-BE49-F238E27FC236}">
                  <a16:creationId xmlns:a16="http://schemas.microsoft.com/office/drawing/2014/main" id="{B86FF975-6078-4921-96F9-ECDD1630BA34}"/>
                </a:ext>
              </a:extLst>
            </p:cNvPr>
            <p:cNvSpPr>
              <a:spLocks/>
            </p:cNvSpPr>
            <p:nvPr/>
          </p:nvSpPr>
          <p:spPr>
            <a:xfrm>
              <a:off x="7753350" y="2705100"/>
              <a:ext cx="2924175" cy="762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3600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3600" b="1">
                  <a:solidFill>
                    <a:srgbClr val="A67A20"/>
                  </a:solidFill>
                </a:defRPr>
              </a:pPr>
              <a:r>
                <a:rPr sz="36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44 / 50</a:t>
              </a:r>
            </a:p>
          </p:txBody>
        </p:sp>
        <p:sp>
          <p:nvSpPr>
            <p:cNvPr id="20" name="精确率 88% ≥80% verified">
              <a:extLst>
                <a:ext uri="{FF2B5EF4-FFF2-40B4-BE49-F238E27FC236}">
                  <a16:creationId xmlns:a16="http://schemas.microsoft.com/office/drawing/2014/main" id="{B202E9F5-B3D2-428B-886F-E3CCD0936E8C}"/>
                </a:ext>
              </a:extLst>
            </p:cNvPr>
            <p:cNvSpPr>
              <a:spLocks/>
            </p:cNvSpPr>
            <p:nvPr/>
          </p:nvSpPr>
          <p:spPr>
            <a:xfrm>
              <a:off x="7753350" y="3705225"/>
              <a:ext cx="2924175" cy="800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0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2025" b="1">
                  <a:solidFill>
                    <a:srgbClr val="547D45"/>
                  </a:solidFill>
                </a:defRPr>
              </a:pPr>
              <a:r>
                <a:rPr sz="20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精确率 88% ≥80%</a:t>
              </a:r>
            </a:p>
            <a:p>
              <a:pPr algn="ctr">
                <a:defRPr sz="2025" b="1">
                  <a:solidFill>
                    <a:srgbClr val="547D45"/>
                  </a:solidFill>
                </a:defRPr>
              </a:pPr>
              <a:r>
                <a:rPr sz="20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verified</a:t>
              </a:r>
            </a:p>
          </p:txBody>
        </p:sp>
        <p:sp>
          <p:nvSpPr>
            <p:cNvPr id="21" name="抽样时间 19:55 当时总数 172 401">
              <a:extLst>
                <a:ext uri="{FF2B5EF4-FFF2-40B4-BE49-F238E27FC236}">
                  <a16:creationId xmlns:a16="http://schemas.microsoft.com/office/drawing/2014/main" id="{184B0ED4-F499-4C6A-8A37-AF9A98C366EA}"/>
                </a:ext>
              </a:extLst>
            </p:cNvPr>
            <p:cNvSpPr>
              <a:spLocks/>
            </p:cNvSpPr>
            <p:nvPr/>
          </p:nvSpPr>
          <p:spPr>
            <a:xfrm>
              <a:off x="7724775" y="4972050"/>
              <a:ext cx="2981325" cy="895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抽样时间 19:55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当时总数 172 401</a:t>
              </a:r>
            </a:p>
          </p:txBody>
        </p:sp>
        <p:sp>
          <p:nvSpPr>
            <p:cNvPr id="22" name="计数时间 15:57">
              <a:extLst>
                <a:ext uri="{FF2B5EF4-FFF2-40B4-BE49-F238E27FC236}">
                  <a16:creationId xmlns:a16="http://schemas.microsoft.com/office/drawing/2014/main" id="{4681E6F9-E533-4D3E-98C3-3F32F19A4071}"/>
                </a:ext>
              </a:extLst>
            </p:cNvPr>
            <p:cNvSpPr>
              <a:spLocks/>
            </p:cNvSpPr>
            <p:nvPr/>
          </p:nvSpPr>
          <p:spPr>
            <a:xfrm>
              <a:off x="1000125" y="6724650"/>
              <a:ext cx="5524500" cy="3714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计数时间 15:57</a:t>
              </a:r>
            </a:p>
          </p:txBody>
        </p:sp>
        <p:sp>
          <p:nvSpPr>
            <p:cNvPr id="23" name="2026-10-15，仅计数；Talos / Shodan 文献为 1139，覆盖口径不同，不直接比较">
              <a:extLst>
                <a:ext uri="{FF2B5EF4-FFF2-40B4-BE49-F238E27FC236}">
                  <a16:creationId xmlns:a16="http://schemas.microsoft.com/office/drawing/2014/main" id="{1BE7B1F1-3D6E-41FB-8360-5A84BC339AA2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2026-10-15，仅计数；Talos / Shodan 文献为 1139，覆盖口径不同，不直接比较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62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F-14 - whole figure">
            <a:extLst>
              <a:ext uri="{FF2B5EF4-FFF2-40B4-BE49-F238E27FC236}">
                <a16:creationId xmlns:a16="http://schemas.microsoft.com/office/drawing/2014/main" id="{0DEC810A-AA9D-E721-57C1-42CD0B18C58A}"/>
              </a:ext>
            </a:extLst>
          </p:cNvPr>
          <p:cNvGrpSpPr/>
          <p:nvPr/>
        </p:nvGrpSpPr>
        <p:grpSpPr>
          <a:xfrm>
            <a:off x="428625" y="1238250"/>
            <a:ext cx="10572750" cy="6724650"/>
            <a:chOff x="428625" y="1238250"/>
            <a:chExt cx="10572750" cy="6724650"/>
          </a:xfrm>
        </p:grpSpPr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E2BFF496-FEF0-450D-A0F6-2D6DA6353931}"/>
                </a:ext>
              </a:extLst>
            </p:cNvPr>
            <p:cNvCxnSpPr>
              <a:stCxn id="78" idx="3"/>
              <a:endCxn id="79" idx="1"/>
            </p:cNvCxnSpPr>
            <p:nvPr/>
          </p:nvCxnSpPr>
          <p:spPr>
            <a:xfrm>
              <a:off x="7859078" y="5763102"/>
              <a:ext cx="47529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  <a:tailEnd type="triangle" w="sm" len="sm"/>
            </a:ln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9F055AC4-1CA8-4064-A670-9DA6DE8197BF}"/>
                </a:ext>
              </a:extLst>
            </p:cNvPr>
            <p:cNvCxnSpPr>
              <a:stCxn id="75" idx="3"/>
              <a:endCxn id="76" idx="1"/>
            </p:cNvCxnSpPr>
            <p:nvPr/>
          </p:nvCxnSpPr>
          <p:spPr>
            <a:xfrm flipH="1">
              <a:off x="7858125" y="4134327"/>
              <a:ext cx="953" cy="162877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55D97934-EC17-45E6-B0ED-70D7DD688241}"/>
                </a:ext>
              </a:extLst>
            </p:cNvPr>
            <p:cNvCxnSpPr>
              <a:stCxn id="72" idx="3"/>
              <a:endCxn id="73" idx="1"/>
            </p:cNvCxnSpPr>
            <p:nvPr/>
          </p:nvCxnSpPr>
          <p:spPr>
            <a:xfrm>
              <a:off x="7382828" y="4134327"/>
              <a:ext cx="47529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504AC4A2-6F1A-48B0-97B7-D9F00A07C4AF}"/>
                </a:ext>
              </a:extLst>
            </p:cNvPr>
            <p:cNvCxnSpPr>
              <a:stCxn id="65" idx="3"/>
              <a:endCxn id="66" idx="1"/>
            </p:cNvCxnSpPr>
            <p:nvPr/>
          </p:nvCxnSpPr>
          <p:spPr>
            <a:xfrm flipH="1">
              <a:off x="3095625" y="5763102"/>
              <a:ext cx="4772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6132F817-C991-4346-9DC0-ACC865D8011F}"/>
                </a:ext>
              </a:extLst>
            </p:cNvPr>
            <p:cNvCxnSpPr>
              <a:stCxn id="62" idx="3"/>
              <a:endCxn id="63" idx="1"/>
            </p:cNvCxnSpPr>
            <p:nvPr/>
          </p:nvCxnSpPr>
          <p:spPr>
            <a:xfrm flipH="1">
              <a:off x="3571875" y="4134327"/>
              <a:ext cx="953" cy="162877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E90411FD-6321-44DB-BC08-F8DE71B51764}"/>
                </a:ext>
              </a:extLst>
            </p:cNvPr>
            <p:cNvCxnSpPr>
              <a:stCxn id="59" idx="3"/>
              <a:endCxn id="60" idx="1"/>
            </p:cNvCxnSpPr>
            <p:nvPr/>
          </p:nvCxnSpPr>
          <p:spPr>
            <a:xfrm flipH="1">
              <a:off x="3571875" y="4134327"/>
              <a:ext cx="4772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8E435D13-465D-4B24-B616-535E831F4310}"/>
                </a:ext>
              </a:extLst>
            </p:cNvPr>
            <p:cNvCxnSpPr>
              <a:stCxn id="52" idx="3"/>
              <a:endCxn id="53" idx="1"/>
            </p:cNvCxnSpPr>
            <p:nvPr/>
          </p:nvCxnSpPr>
          <p:spPr>
            <a:xfrm>
              <a:off x="7859078" y="3753327"/>
              <a:ext cx="47529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  <a:tailEnd type="triangle" w="sm" len="sm"/>
            </a:ln>
          </p:spPr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B755355D-C711-4F68-ADC1-987D24211A54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 flipH="1" flipV="1">
              <a:off x="7858125" y="3753327"/>
              <a:ext cx="953" cy="2857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D4777F6-7B91-44A2-9618-5A2ECDC9552B}"/>
                </a:ext>
              </a:extLst>
            </p:cNvPr>
            <p:cNvCxnSpPr>
              <a:stCxn id="46" idx="3"/>
              <a:endCxn id="47" idx="1"/>
            </p:cNvCxnSpPr>
            <p:nvPr/>
          </p:nvCxnSpPr>
          <p:spPr>
            <a:xfrm>
              <a:off x="7382828" y="3781902"/>
              <a:ext cx="47529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75793205-90B8-4CFF-A8B8-7A6567928976}"/>
                </a:ext>
              </a:extLst>
            </p:cNvPr>
            <p:cNvCxnSpPr>
              <a:stCxn id="39" idx="3"/>
              <a:endCxn id="40" idx="1"/>
            </p:cNvCxnSpPr>
            <p:nvPr/>
          </p:nvCxnSpPr>
          <p:spPr>
            <a:xfrm flipH="1">
              <a:off x="3095625" y="3753327"/>
              <a:ext cx="4772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63E59530-DBC4-475B-AF0C-10B5FA17186A}"/>
                </a:ext>
              </a:extLst>
            </p:cNvPr>
            <p:cNvCxnSpPr>
              <a:stCxn id="36" idx="3"/>
              <a:endCxn id="37" idx="1"/>
            </p:cNvCxnSpPr>
            <p:nvPr/>
          </p:nvCxnSpPr>
          <p:spPr>
            <a:xfrm flipH="1" flipV="1">
              <a:off x="3571875" y="3753327"/>
              <a:ext cx="953" cy="2857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996525CF-12A1-4301-99FB-A02B03D75FB0}"/>
                </a:ext>
              </a:extLst>
            </p:cNvPr>
            <p:cNvCxnSpPr>
              <a:stCxn id="33" idx="3"/>
              <a:endCxn id="34" idx="1"/>
            </p:cNvCxnSpPr>
            <p:nvPr/>
          </p:nvCxnSpPr>
          <p:spPr>
            <a:xfrm flipH="1">
              <a:off x="3571875" y="3781902"/>
              <a:ext cx="4772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2A32C76F-CC10-4275-9458-C2ACB7C0C84E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>
              <a:off x="7859078" y="1781652"/>
              <a:ext cx="4752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7F6E2086-B48C-4023-AF09-9F1540772438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 flipH="1" flipV="1">
              <a:off x="7858125" y="1781652"/>
              <a:ext cx="953" cy="16478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B4743D60-7FDF-4B3F-BA5D-63789CFC47D0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>
              <a:off x="7382828" y="3429477"/>
              <a:ext cx="4752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4D18835-ED2E-450E-A303-BB54859A87E7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3572828" y="3429477"/>
              <a:ext cx="4752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AE44AEA4-3FF3-4312-9A26-EA896EEF3050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H="1">
              <a:off x="3571875" y="1781652"/>
              <a:ext cx="953" cy="16478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C7D29F68-7805-47C2-BB27-98C55482028C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3096578" y="1781652"/>
              <a:ext cx="4752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sp>
          <p:nvSpPr>
            <p:cNvPr id="88" name="boundary">
              <a:extLst>
                <a:ext uri="{FF2B5EF4-FFF2-40B4-BE49-F238E27FC236}">
                  <a16:creationId xmlns:a16="http://schemas.microsoft.com/office/drawing/2014/main" id="{A05E1D42-8719-4E7C-A12D-BFE7C4828891}"/>
                </a:ext>
              </a:extLst>
            </p:cNvPr>
            <p:cNvSpPr>
              <a:spLocks/>
            </p:cNvSpPr>
            <p:nvPr/>
          </p:nvSpPr>
          <p:spPr>
            <a:xfrm>
              <a:off x="4048125" y="3209925"/>
              <a:ext cx="3333750" cy="1143000"/>
            </a:xfrm>
            <a:prstGeom prst="roundRect">
              <a:avLst>
                <a:gd name="adj" fmla="val 3333"/>
              </a:avLst>
            </a:prstGeom>
            <a:solidFill>
              <a:srgbClr val="277DC3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" name="Vulnerability">
              <a:extLst>
                <a:ext uri="{FF2B5EF4-FFF2-40B4-BE49-F238E27FC236}">
                  <a16:creationId xmlns:a16="http://schemas.microsoft.com/office/drawing/2014/main" id="{D6727F3F-E6DD-43D2-9A77-5F5DF8085480}"/>
                </a:ext>
              </a:extLst>
            </p:cNvPr>
            <p:cNvSpPr>
              <a:spLocks/>
            </p:cNvSpPr>
            <p:nvPr/>
          </p:nvSpPr>
          <p:spPr>
            <a:xfrm>
              <a:off x="4143375" y="3305175"/>
              <a:ext cx="3143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Vulnerability</a:t>
              </a:r>
            </a:p>
          </p:txBody>
        </p:sp>
        <p:sp>
          <p:nvSpPr>
            <p:cNvPr id="3" name="漏洞事实">
              <a:extLst>
                <a:ext uri="{FF2B5EF4-FFF2-40B4-BE49-F238E27FC236}">
                  <a16:creationId xmlns:a16="http://schemas.microsoft.com/office/drawing/2014/main" id="{777F0FE7-71C8-4056-AF7D-E770F9AAB826}"/>
                </a:ext>
              </a:extLst>
            </p:cNvPr>
            <p:cNvSpPr>
              <a:spLocks/>
            </p:cNvSpPr>
            <p:nvPr/>
          </p:nvSpPr>
          <p:spPr>
            <a:xfrm>
              <a:off x="4162425" y="3733800"/>
              <a:ext cx="3105150" cy="5238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0">
                  <a:solidFill>
                    <a:srgbClr val="FFFFFF"/>
                  </a:solidFill>
                </a:defRPr>
              </a:pPr>
              <a:r>
                <a:rPr sz="1725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漏洞事实</a:t>
              </a:r>
            </a:p>
          </p:txBody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16665313-82AE-484E-8A27-C8BD8CB07284}"/>
                </a:ext>
              </a:extLst>
            </p:cNvPr>
            <p:cNvSpPr>
              <a:spLocks/>
            </p:cNvSpPr>
            <p:nvPr/>
          </p:nvSpPr>
          <p:spPr>
            <a:xfrm>
              <a:off x="523875" y="1238250"/>
              <a:ext cx="2571750" cy="1085850"/>
            </a:xfrm>
            <a:prstGeom prst="roundRect">
              <a:avLst>
                <a:gd name="adj" fmla="val 3509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5" name="Advisory">
              <a:extLst>
                <a:ext uri="{FF2B5EF4-FFF2-40B4-BE49-F238E27FC236}">
                  <a16:creationId xmlns:a16="http://schemas.microsoft.com/office/drawing/2014/main" id="{2F3E4762-84D6-4020-94E7-35803581C1E6}"/>
                </a:ext>
              </a:extLst>
            </p:cNvPr>
            <p:cNvSpPr>
              <a:spLocks/>
            </p:cNvSpPr>
            <p:nvPr/>
          </p:nvSpPr>
          <p:spPr>
            <a:xfrm>
              <a:off x="619125" y="1333500"/>
              <a:ext cx="2381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Advisory</a:t>
              </a:r>
            </a:p>
          </p:txBody>
        </p:sp>
        <p:sp>
          <p:nvSpPr>
            <p:cNvPr id="6" name="公告">
              <a:extLst>
                <a:ext uri="{FF2B5EF4-FFF2-40B4-BE49-F238E27FC236}">
                  <a16:creationId xmlns:a16="http://schemas.microsoft.com/office/drawing/2014/main" id="{6D09D978-B703-46AB-A81C-DB27B2B1F197}"/>
                </a:ext>
              </a:extLst>
            </p:cNvPr>
            <p:cNvSpPr>
              <a:spLocks/>
            </p:cNvSpPr>
            <p:nvPr/>
          </p:nvSpPr>
          <p:spPr>
            <a:xfrm>
              <a:off x="638175" y="1762125"/>
              <a:ext cx="23431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公告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EF9E4914-F709-45AF-8103-C17304ED03AD}"/>
                </a:ext>
              </a:extLst>
            </p:cNvPr>
            <p:cNvSpPr>
              <a:spLocks/>
            </p:cNvSpPr>
            <p:nvPr/>
          </p:nvSpPr>
          <p:spPr>
            <a:xfrm>
              <a:off x="3095625" y="178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" name="boundary">
              <a:extLst>
                <a:ext uri="{FF2B5EF4-FFF2-40B4-BE49-F238E27FC236}">
                  <a16:creationId xmlns:a16="http://schemas.microsoft.com/office/drawing/2014/main" id="{8B7BC13F-86C9-485F-9F26-EC6BC29F4F51}"/>
                </a:ext>
              </a:extLst>
            </p:cNvPr>
            <p:cNvSpPr>
              <a:spLocks/>
            </p:cNvSpPr>
            <p:nvPr/>
          </p:nvSpPr>
          <p:spPr>
            <a:xfrm>
              <a:off x="3571875" y="178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95E92984-FDA3-4B74-A595-54EAA239CCB2}"/>
                </a:ext>
              </a:extLst>
            </p:cNvPr>
            <p:cNvSpPr>
              <a:spLocks/>
            </p:cNvSpPr>
            <p:nvPr/>
          </p:nvSpPr>
          <p:spPr>
            <a:xfrm>
              <a:off x="3571875" y="178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DDB62565-09FE-4260-9215-AED13FC80B28}"/>
                </a:ext>
              </a:extLst>
            </p:cNvPr>
            <p:cNvSpPr>
              <a:spLocks/>
            </p:cNvSpPr>
            <p:nvPr/>
          </p:nvSpPr>
          <p:spPr>
            <a:xfrm>
              <a:off x="3571875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2053A9EB-BA81-4F01-ABE8-9D02CE89184C}"/>
                </a:ext>
              </a:extLst>
            </p:cNvPr>
            <p:cNvSpPr>
              <a:spLocks/>
            </p:cNvSpPr>
            <p:nvPr/>
          </p:nvSpPr>
          <p:spPr>
            <a:xfrm>
              <a:off x="3571875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FA34A4FE-A75D-4024-9015-98DE0C267F8A}"/>
                </a:ext>
              </a:extLst>
            </p:cNvPr>
            <p:cNvSpPr>
              <a:spLocks/>
            </p:cNvSpPr>
            <p:nvPr/>
          </p:nvSpPr>
          <p:spPr>
            <a:xfrm>
              <a:off x="4048125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描述">
              <a:extLst>
                <a:ext uri="{FF2B5EF4-FFF2-40B4-BE49-F238E27FC236}">
                  <a16:creationId xmlns:a16="http://schemas.microsoft.com/office/drawing/2014/main" id="{6D392C72-7E3D-4234-8FC0-04D2FDCC297B}"/>
                </a:ext>
              </a:extLst>
            </p:cNvPr>
            <p:cNvSpPr>
              <a:spLocks/>
            </p:cNvSpPr>
            <p:nvPr/>
          </p:nvSpPr>
          <p:spPr>
            <a:xfrm>
              <a:off x="3133725" y="1400175"/>
              <a:ext cx="876300" cy="36195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描述</a:t>
              </a:r>
            </a:p>
          </p:txBody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DFA3B43B-3D34-4F78-B6A9-34161EDBCC3E}"/>
                </a:ext>
              </a:extLst>
            </p:cNvPr>
            <p:cNvSpPr>
              <a:spLocks/>
            </p:cNvSpPr>
            <p:nvPr/>
          </p:nvSpPr>
          <p:spPr>
            <a:xfrm>
              <a:off x="8334375" y="1238250"/>
              <a:ext cx="2571750" cy="1085850"/>
            </a:xfrm>
            <a:prstGeom prst="roundRect">
              <a:avLst>
                <a:gd name="adj" fmla="val 3509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8" name="Component">
              <a:extLst>
                <a:ext uri="{FF2B5EF4-FFF2-40B4-BE49-F238E27FC236}">
                  <a16:creationId xmlns:a16="http://schemas.microsoft.com/office/drawing/2014/main" id="{A43721BE-E9D5-4709-A7FE-EE0ABCA342CA}"/>
                </a:ext>
              </a:extLst>
            </p:cNvPr>
            <p:cNvSpPr>
              <a:spLocks/>
            </p:cNvSpPr>
            <p:nvPr/>
          </p:nvSpPr>
          <p:spPr>
            <a:xfrm>
              <a:off x="8429625" y="1333500"/>
              <a:ext cx="2381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Component</a:t>
              </a:r>
            </a:p>
          </p:txBody>
        </p:sp>
        <p:sp>
          <p:nvSpPr>
            <p:cNvPr id="19" name="组件">
              <a:extLst>
                <a:ext uri="{FF2B5EF4-FFF2-40B4-BE49-F238E27FC236}">
                  <a16:creationId xmlns:a16="http://schemas.microsoft.com/office/drawing/2014/main" id="{1B119EEA-9817-4FA9-898E-730F25F47AC2}"/>
                </a:ext>
              </a:extLst>
            </p:cNvPr>
            <p:cNvSpPr>
              <a:spLocks/>
            </p:cNvSpPr>
            <p:nvPr/>
          </p:nvSpPr>
          <p:spPr>
            <a:xfrm>
              <a:off x="8448675" y="1762125"/>
              <a:ext cx="23431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组件</a:t>
              </a:r>
            </a:p>
          </p:txBody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13D0D1FA-AB30-4956-81DF-C27576B80725}"/>
                </a:ext>
              </a:extLst>
            </p:cNvPr>
            <p:cNvSpPr>
              <a:spLocks/>
            </p:cNvSpPr>
            <p:nvPr/>
          </p:nvSpPr>
          <p:spPr>
            <a:xfrm>
              <a:off x="7381875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FD243939-EA14-4DB4-9EED-02BA7F830838}"/>
                </a:ext>
              </a:extLst>
            </p:cNvPr>
            <p:cNvSpPr>
              <a:spLocks/>
            </p:cNvSpPr>
            <p:nvPr/>
          </p:nvSpPr>
          <p:spPr>
            <a:xfrm>
              <a:off x="7858125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0B6BB115-5BB4-45E7-B925-7F1C5707890B}"/>
                </a:ext>
              </a:extLst>
            </p:cNvPr>
            <p:cNvSpPr>
              <a:spLocks/>
            </p:cNvSpPr>
            <p:nvPr/>
          </p:nvSpPr>
          <p:spPr>
            <a:xfrm>
              <a:off x="7858125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999FA7B7-90F6-4971-9C35-5F2232133DE6}"/>
                </a:ext>
              </a:extLst>
            </p:cNvPr>
            <p:cNvSpPr>
              <a:spLocks/>
            </p:cNvSpPr>
            <p:nvPr/>
          </p:nvSpPr>
          <p:spPr>
            <a:xfrm>
              <a:off x="7858125" y="178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57763C5F-F270-4977-9D4C-BF6B9BC798DD}"/>
                </a:ext>
              </a:extLst>
            </p:cNvPr>
            <p:cNvSpPr>
              <a:spLocks/>
            </p:cNvSpPr>
            <p:nvPr/>
          </p:nvSpPr>
          <p:spPr>
            <a:xfrm>
              <a:off x="7858125" y="178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B92E1B0F-9D9D-4B2D-98D2-DA670AB1D9A8}"/>
                </a:ext>
              </a:extLst>
            </p:cNvPr>
            <p:cNvSpPr>
              <a:spLocks/>
            </p:cNvSpPr>
            <p:nvPr/>
          </p:nvSpPr>
          <p:spPr>
            <a:xfrm>
              <a:off x="8334375" y="178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影响">
              <a:extLst>
                <a:ext uri="{FF2B5EF4-FFF2-40B4-BE49-F238E27FC236}">
                  <a16:creationId xmlns:a16="http://schemas.microsoft.com/office/drawing/2014/main" id="{5D329DC2-1FB6-4187-A85B-80A284BEFE38}"/>
                </a:ext>
              </a:extLst>
            </p:cNvPr>
            <p:cNvSpPr>
              <a:spLocks/>
            </p:cNvSpPr>
            <p:nvPr/>
          </p:nvSpPr>
          <p:spPr>
            <a:xfrm>
              <a:off x="7419975" y="1400175"/>
              <a:ext cx="876300" cy="36195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影响</a:t>
              </a:r>
            </a:p>
          </p:txBody>
        </p:sp>
        <p:sp>
          <p:nvSpPr>
            <p:cNvPr id="30" name="boundary">
              <a:extLst>
                <a:ext uri="{FF2B5EF4-FFF2-40B4-BE49-F238E27FC236}">
                  <a16:creationId xmlns:a16="http://schemas.microsoft.com/office/drawing/2014/main" id="{14444864-DF89-4B67-8021-F72CD49D095F}"/>
                </a:ext>
              </a:extLst>
            </p:cNvPr>
            <p:cNvSpPr>
              <a:spLocks/>
            </p:cNvSpPr>
            <p:nvPr/>
          </p:nvSpPr>
          <p:spPr>
            <a:xfrm>
              <a:off x="523875" y="3209925"/>
              <a:ext cx="2571750" cy="1085850"/>
            </a:xfrm>
            <a:prstGeom prst="roundRect">
              <a:avLst>
                <a:gd name="adj" fmla="val 3509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31" name="CWE">
              <a:extLst>
                <a:ext uri="{FF2B5EF4-FFF2-40B4-BE49-F238E27FC236}">
                  <a16:creationId xmlns:a16="http://schemas.microsoft.com/office/drawing/2014/main" id="{95E5DA8F-F7F7-4773-9F5E-1F43B7A6F6E0}"/>
                </a:ext>
              </a:extLst>
            </p:cNvPr>
            <p:cNvSpPr>
              <a:spLocks/>
            </p:cNvSpPr>
            <p:nvPr/>
          </p:nvSpPr>
          <p:spPr>
            <a:xfrm>
              <a:off x="619125" y="3305175"/>
              <a:ext cx="2381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CWE</a:t>
              </a:r>
            </a:p>
          </p:txBody>
        </p:sp>
        <p:sp>
          <p:nvSpPr>
            <p:cNvPr id="32" name="弱点分类">
              <a:extLst>
                <a:ext uri="{FF2B5EF4-FFF2-40B4-BE49-F238E27FC236}">
                  <a16:creationId xmlns:a16="http://schemas.microsoft.com/office/drawing/2014/main" id="{88C65066-63A8-4E26-9C0A-98A87A5E86C5}"/>
                </a:ext>
              </a:extLst>
            </p:cNvPr>
            <p:cNvSpPr>
              <a:spLocks/>
            </p:cNvSpPr>
            <p:nvPr/>
          </p:nvSpPr>
          <p:spPr>
            <a:xfrm>
              <a:off x="638175" y="3733800"/>
              <a:ext cx="23431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弱点分类</a:t>
              </a:r>
            </a:p>
          </p:txBody>
        </p:sp>
        <p:sp>
          <p:nvSpPr>
            <p:cNvPr id="33" name="boundary">
              <a:extLst>
                <a:ext uri="{FF2B5EF4-FFF2-40B4-BE49-F238E27FC236}">
                  <a16:creationId xmlns:a16="http://schemas.microsoft.com/office/drawing/2014/main" id="{25F186D0-223B-45AC-93B9-30B2FA9EA9CC}"/>
                </a:ext>
              </a:extLst>
            </p:cNvPr>
            <p:cNvSpPr>
              <a:spLocks/>
            </p:cNvSpPr>
            <p:nvPr/>
          </p:nvSpPr>
          <p:spPr>
            <a:xfrm>
              <a:off x="4048125" y="37814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0A9332DA-3D28-4E79-B37C-2F9328FD7093}"/>
                </a:ext>
              </a:extLst>
            </p:cNvPr>
            <p:cNvSpPr>
              <a:spLocks/>
            </p:cNvSpPr>
            <p:nvPr/>
          </p:nvSpPr>
          <p:spPr>
            <a:xfrm>
              <a:off x="3571875" y="37814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6" name="boundary">
              <a:extLst>
                <a:ext uri="{FF2B5EF4-FFF2-40B4-BE49-F238E27FC236}">
                  <a16:creationId xmlns:a16="http://schemas.microsoft.com/office/drawing/2014/main" id="{85A4FFAD-0F5D-4654-B513-015F33222231}"/>
                </a:ext>
              </a:extLst>
            </p:cNvPr>
            <p:cNvSpPr>
              <a:spLocks/>
            </p:cNvSpPr>
            <p:nvPr/>
          </p:nvSpPr>
          <p:spPr>
            <a:xfrm>
              <a:off x="3571875" y="37814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5114A74B-8EAB-49FB-91D4-67F052F560F0}"/>
                </a:ext>
              </a:extLst>
            </p:cNvPr>
            <p:cNvSpPr>
              <a:spLocks/>
            </p:cNvSpPr>
            <p:nvPr/>
          </p:nvSpPr>
          <p:spPr>
            <a:xfrm>
              <a:off x="35718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9" name="boundary">
              <a:extLst>
                <a:ext uri="{FF2B5EF4-FFF2-40B4-BE49-F238E27FC236}">
                  <a16:creationId xmlns:a16="http://schemas.microsoft.com/office/drawing/2014/main" id="{8777919B-8D70-4B75-9A52-6418795452B3}"/>
                </a:ext>
              </a:extLst>
            </p:cNvPr>
            <p:cNvSpPr>
              <a:spLocks/>
            </p:cNvSpPr>
            <p:nvPr/>
          </p:nvSpPr>
          <p:spPr>
            <a:xfrm>
              <a:off x="35718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boundary">
              <a:extLst>
                <a:ext uri="{FF2B5EF4-FFF2-40B4-BE49-F238E27FC236}">
                  <a16:creationId xmlns:a16="http://schemas.microsoft.com/office/drawing/2014/main" id="{7760EFF4-3F6F-4F6F-8F3B-1102EE6EF4FE}"/>
                </a:ext>
              </a:extLst>
            </p:cNvPr>
            <p:cNvSpPr>
              <a:spLocks/>
            </p:cNvSpPr>
            <p:nvPr/>
          </p:nvSpPr>
          <p:spPr>
            <a:xfrm>
              <a:off x="30956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2" name="弱点">
              <a:extLst>
                <a:ext uri="{FF2B5EF4-FFF2-40B4-BE49-F238E27FC236}">
                  <a16:creationId xmlns:a16="http://schemas.microsoft.com/office/drawing/2014/main" id="{B2F959E2-DD23-4434-A6F3-E3350D0CE98A}"/>
                </a:ext>
              </a:extLst>
            </p:cNvPr>
            <p:cNvSpPr>
              <a:spLocks/>
            </p:cNvSpPr>
            <p:nvPr/>
          </p:nvSpPr>
          <p:spPr>
            <a:xfrm>
              <a:off x="3133725" y="3371850"/>
              <a:ext cx="876300" cy="36195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弱点</a:t>
              </a:r>
            </a:p>
          </p:txBody>
        </p:sp>
        <p:sp>
          <p:nvSpPr>
            <p:cNvPr id="43" name="boundary">
              <a:extLst>
                <a:ext uri="{FF2B5EF4-FFF2-40B4-BE49-F238E27FC236}">
                  <a16:creationId xmlns:a16="http://schemas.microsoft.com/office/drawing/2014/main" id="{F6F166BB-0838-44E1-9580-2B8FBF9705D1}"/>
                </a:ext>
              </a:extLst>
            </p:cNvPr>
            <p:cNvSpPr>
              <a:spLocks/>
            </p:cNvSpPr>
            <p:nvPr/>
          </p:nvSpPr>
          <p:spPr>
            <a:xfrm>
              <a:off x="8334375" y="3209925"/>
              <a:ext cx="2571750" cy="1085850"/>
            </a:xfrm>
            <a:prstGeom prst="roundRect">
              <a:avLst>
                <a:gd name="adj" fmla="val 3509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44" name="AtlasTechnique">
              <a:extLst>
                <a:ext uri="{FF2B5EF4-FFF2-40B4-BE49-F238E27FC236}">
                  <a16:creationId xmlns:a16="http://schemas.microsoft.com/office/drawing/2014/main" id="{6A6C4CCB-7D1B-4DDC-AE0C-57CD65C9947A}"/>
                </a:ext>
              </a:extLst>
            </p:cNvPr>
            <p:cNvSpPr>
              <a:spLocks/>
            </p:cNvSpPr>
            <p:nvPr/>
          </p:nvSpPr>
          <p:spPr>
            <a:xfrm>
              <a:off x="8429625" y="3305175"/>
              <a:ext cx="2381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00" b="1">
                  <a:solidFill>
                    <a:srgbClr val="547D45"/>
                  </a:solidFill>
                </a:defRPr>
              </a:pPr>
              <a:r>
                <a:rPr sz="18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AtlasTechnique</a:t>
              </a:r>
            </a:p>
          </p:txBody>
        </p:sp>
        <p:sp>
          <p:nvSpPr>
            <p:cNvPr id="45" name="攻击技术">
              <a:extLst>
                <a:ext uri="{FF2B5EF4-FFF2-40B4-BE49-F238E27FC236}">
                  <a16:creationId xmlns:a16="http://schemas.microsoft.com/office/drawing/2014/main" id="{89DF6FD5-EF1A-4C8D-BCFA-D6F65056CDB2}"/>
                </a:ext>
              </a:extLst>
            </p:cNvPr>
            <p:cNvSpPr>
              <a:spLocks/>
            </p:cNvSpPr>
            <p:nvPr/>
          </p:nvSpPr>
          <p:spPr>
            <a:xfrm>
              <a:off x="8448675" y="3733800"/>
              <a:ext cx="23431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攻击技术</a:t>
              </a:r>
            </a:p>
          </p:txBody>
        </p:sp>
        <p:sp>
          <p:nvSpPr>
            <p:cNvPr id="46" name="boundary">
              <a:extLst>
                <a:ext uri="{FF2B5EF4-FFF2-40B4-BE49-F238E27FC236}">
                  <a16:creationId xmlns:a16="http://schemas.microsoft.com/office/drawing/2014/main" id="{BDFB4B88-4813-4CF8-8550-B15596295BF1}"/>
                </a:ext>
              </a:extLst>
            </p:cNvPr>
            <p:cNvSpPr>
              <a:spLocks/>
            </p:cNvSpPr>
            <p:nvPr/>
          </p:nvSpPr>
          <p:spPr>
            <a:xfrm>
              <a:off x="7381875" y="37814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boundary">
              <a:extLst>
                <a:ext uri="{FF2B5EF4-FFF2-40B4-BE49-F238E27FC236}">
                  <a16:creationId xmlns:a16="http://schemas.microsoft.com/office/drawing/2014/main" id="{80F909D9-F09E-4A24-98FA-354C3178AACA}"/>
                </a:ext>
              </a:extLst>
            </p:cNvPr>
            <p:cNvSpPr>
              <a:spLocks/>
            </p:cNvSpPr>
            <p:nvPr/>
          </p:nvSpPr>
          <p:spPr>
            <a:xfrm>
              <a:off x="7858125" y="37814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9" name="boundary">
              <a:extLst>
                <a:ext uri="{FF2B5EF4-FFF2-40B4-BE49-F238E27FC236}">
                  <a16:creationId xmlns:a16="http://schemas.microsoft.com/office/drawing/2014/main" id="{B155970F-15CB-428E-995C-264EF2F099EE}"/>
                </a:ext>
              </a:extLst>
            </p:cNvPr>
            <p:cNvSpPr>
              <a:spLocks/>
            </p:cNvSpPr>
            <p:nvPr/>
          </p:nvSpPr>
          <p:spPr>
            <a:xfrm>
              <a:off x="7858125" y="37814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0" name="boundary">
              <a:extLst>
                <a:ext uri="{FF2B5EF4-FFF2-40B4-BE49-F238E27FC236}">
                  <a16:creationId xmlns:a16="http://schemas.microsoft.com/office/drawing/2014/main" id="{C7C1FA14-F13E-4B8E-9283-0633D4DD6AA2}"/>
                </a:ext>
              </a:extLst>
            </p:cNvPr>
            <p:cNvSpPr>
              <a:spLocks/>
            </p:cNvSpPr>
            <p:nvPr/>
          </p:nvSpPr>
          <p:spPr>
            <a:xfrm>
              <a:off x="78581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2" name="boundary">
              <a:extLst>
                <a:ext uri="{FF2B5EF4-FFF2-40B4-BE49-F238E27FC236}">
                  <a16:creationId xmlns:a16="http://schemas.microsoft.com/office/drawing/2014/main" id="{C0E0FE24-6E25-413B-8853-1F519A8DE83C}"/>
                </a:ext>
              </a:extLst>
            </p:cNvPr>
            <p:cNvSpPr>
              <a:spLocks/>
            </p:cNvSpPr>
            <p:nvPr/>
          </p:nvSpPr>
          <p:spPr>
            <a:xfrm>
              <a:off x="78581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3" name="boundary">
              <a:extLst>
                <a:ext uri="{FF2B5EF4-FFF2-40B4-BE49-F238E27FC236}">
                  <a16:creationId xmlns:a16="http://schemas.microsoft.com/office/drawing/2014/main" id="{DDC3593A-1495-4DF8-88C1-3E65F66DDA52}"/>
                </a:ext>
              </a:extLst>
            </p:cNvPr>
            <p:cNvSpPr>
              <a:spLocks/>
            </p:cNvSpPr>
            <p:nvPr/>
          </p:nvSpPr>
          <p:spPr>
            <a:xfrm>
              <a:off x="83343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5" name="映射">
              <a:extLst>
                <a:ext uri="{FF2B5EF4-FFF2-40B4-BE49-F238E27FC236}">
                  <a16:creationId xmlns:a16="http://schemas.microsoft.com/office/drawing/2014/main" id="{FC6EE018-26EA-40E2-B3D4-7CB046907C74}"/>
                </a:ext>
              </a:extLst>
            </p:cNvPr>
            <p:cNvSpPr>
              <a:spLocks/>
            </p:cNvSpPr>
            <p:nvPr/>
          </p:nvSpPr>
          <p:spPr>
            <a:xfrm>
              <a:off x="7419975" y="3371850"/>
              <a:ext cx="876300" cy="36195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0">
                  <a:solidFill>
                    <a:srgbClr val="547D45"/>
                  </a:solidFill>
                </a:defRPr>
              </a:pPr>
              <a:r>
                <a:rPr sz="1725" b="0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映射</a:t>
              </a:r>
            </a:p>
          </p:txBody>
        </p:sp>
        <p:sp>
          <p:nvSpPr>
            <p:cNvPr id="56" name="boundary">
              <a:extLst>
                <a:ext uri="{FF2B5EF4-FFF2-40B4-BE49-F238E27FC236}">
                  <a16:creationId xmlns:a16="http://schemas.microsoft.com/office/drawing/2014/main" id="{0DEFF492-4602-42C9-8403-A94FE64B0838}"/>
                </a:ext>
              </a:extLst>
            </p:cNvPr>
            <p:cNvSpPr>
              <a:spLocks/>
            </p:cNvSpPr>
            <p:nvPr/>
          </p:nvSpPr>
          <p:spPr>
            <a:xfrm>
              <a:off x="523875" y="5219700"/>
              <a:ext cx="2571750" cy="1085850"/>
            </a:xfrm>
            <a:prstGeom prst="roundRect">
              <a:avLst>
                <a:gd name="adj" fmla="val 3509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57" name="PocRef">
              <a:extLst>
                <a:ext uri="{FF2B5EF4-FFF2-40B4-BE49-F238E27FC236}">
                  <a16:creationId xmlns:a16="http://schemas.microsoft.com/office/drawing/2014/main" id="{54F56B4F-3ECF-4E31-A790-9EDF2D180720}"/>
                </a:ext>
              </a:extLst>
            </p:cNvPr>
            <p:cNvSpPr>
              <a:spLocks/>
            </p:cNvSpPr>
            <p:nvPr/>
          </p:nvSpPr>
          <p:spPr>
            <a:xfrm>
              <a:off x="619125" y="5314950"/>
              <a:ext cx="2381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PocRef</a:t>
              </a:r>
            </a:p>
          </p:txBody>
        </p:sp>
        <p:sp>
          <p:nvSpPr>
            <p:cNvPr id="58" name="公开引用">
              <a:extLst>
                <a:ext uri="{FF2B5EF4-FFF2-40B4-BE49-F238E27FC236}">
                  <a16:creationId xmlns:a16="http://schemas.microsoft.com/office/drawing/2014/main" id="{407D5E79-36C6-42F5-895E-45B036A88D04}"/>
                </a:ext>
              </a:extLst>
            </p:cNvPr>
            <p:cNvSpPr>
              <a:spLocks/>
            </p:cNvSpPr>
            <p:nvPr/>
          </p:nvSpPr>
          <p:spPr>
            <a:xfrm>
              <a:off x="638175" y="5743575"/>
              <a:ext cx="23431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公开引用</a:t>
              </a:r>
            </a:p>
          </p:txBody>
        </p:sp>
        <p:sp>
          <p:nvSpPr>
            <p:cNvPr id="59" name="boundary">
              <a:extLst>
                <a:ext uri="{FF2B5EF4-FFF2-40B4-BE49-F238E27FC236}">
                  <a16:creationId xmlns:a16="http://schemas.microsoft.com/office/drawing/2014/main" id="{D85B2736-83C5-4E0B-963A-6BA585D87EE4}"/>
                </a:ext>
              </a:extLst>
            </p:cNvPr>
            <p:cNvSpPr>
              <a:spLocks/>
            </p:cNvSpPr>
            <p:nvPr/>
          </p:nvSpPr>
          <p:spPr>
            <a:xfrm>
              <a:off x="4048125" y="4133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0" name="boundary">
              <a:extLst>
                <a:ext uri="{FF2B5EF4-FFF2-40B4-BE49-F238E27FC236}">
                  <a16:creationId xmlns:a16="http://schemas.microsoft.com/office/drawing/2014/main" id="{F063D299-6164-4159-8139-4FE44BACFFB8}"/>
                </a:ext>
              </a:extLst>
            </p:cNvPr>
            <p:cNvSpPr>
              <a:spLocks/>
            </p:cNvSpPr>
            <p:nvPr/>
          </p:nvSpPr>
          <p:spPr>
            <a:xfrm>
              <a:off x="3571875" y="4133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2" name="boundary">
              <a:extLst>
                <a:ext uri="{FF2B5EF4-FFF2-40B4-BE49-F238E27FC236}">
                  <a16:creationId xmlns:a16="http://schemas.microsoft.com/office/drawing/2014/main" id="{A5AF907F-059B-451C-8216-C135CC4C599C}"/>
                </a:ext>
              </a:extLst>
            </p:cNvPr>
            <p:cNvSpPr>
              <a:spLocks/>
            </p:cNvSpPr>
            <p:nvPr/>
          </p:nvSpPr>
          <p:spPr>
            <a:xfrm>
              <a:off x="3571875" y="4133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3" name="boundary">
              <a:extLst>
                <a:ext uri="{FF2B5EF4-FFF2-40B4-BE49-F238E27FC236}">
                  <a16:creationId xmlns:a16="http://schemas.microsoft.com/office/drawing/2014/main" id="{0AC3D24B-F8C5-4B65-9470-6ECBE3495262}"/>
                </a:ext>
              </a:extLst>
            </p:cNvPr>
            <p:cNvSpPr>
              <a:spLocks/>
            </p:cNvSpPr>
            <p:nvPr/>
          </p:nvSpPr>
          <p:spPr>
            <a:xfrm>
              <a:off x="3571875" y="5762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5" name="boundary">
              <a:extLst>
                <a:ext uri="{FF2B5EF4-FFF2-40B4-BE49-F238E27FC236}">
                  <a16:creationId xmlns:a16="http://schemas.microsoft.com/office/drawing/2014/main" id="{9A4B453A-6FA6-40D9-B594-ED09B9986E75}"/>
                </a:ext>
              </a:extLst>
            </p:cNvPr>
            <p:cNvSpPr>
              <a:spLocks/>
            </p:cNvSpPr>
            <p:nvPr/>
          </p:nvSpPr>
          <p:spPr>
            <a:xfrm>
              <a:off x="3571875" y="5762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6" name="boundary">
              <a:extLst>
                <a:ext uri="{FF2B5EF4-FFF2-40B4-BE49-F238E27FC236}">
                  <a16:creationId xmlns:a16="http://schemas.microsoft.com/office/drawing/2014/main" id="{E7D4E7E3-A762-4832-9B74-1E17CBC55657}"/>
                </a:ext>
              </a:extLst>
            </p:cNvPr>
            <p:cNvSpPr>
              <a:spLocks/>
            </p:cNvSpPr>
            <p:nvPr/>
          </p:nvSpPr>
          <p:spPr>
            <a:xfrm>
              <a:off x="3095625" y="5762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8" name="引用">
              <a:extLst>
                <a:ext uri="{FF2B5EF4-FFF2-40B4-BE49-F238E27FC236}">
                  <a16:creationId xmlns:a16="http://schemas.microsoft.com/office/drawing/2014/main" id="{9C372004-7E63-4CC7-94DE-0FFED0011E36}"/>
                </a:ext>
              </a:extLst>
            </p:cNvPr>
            <p:cNvSpPr>
              <a:spLocks/>
            </p:cNvSpPr>
            <p:nvPr/>
          </p:nvSpPr>
          <p:spPr>
            <a:xfrm>
              <a:off x="3133725" y="5381625"/>
              <a:ext cx="876300" cy="36195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引用</a:t>
              </a:r>
            </a:p>
          </p:txBody>
        </p:sp>
        <p:sp>
          <p:nvSpPr>
            <p:cNvPr id="69" name="boundary">
              <a:extLst>
                <a:ext uri="{FF2B5EF4-FFF2-40B4-BE49-F238E27FC236}">
                  <a16:creationId xmlns:a16="http://schemas.microsoft.com/office/drawing/2014/main" id="{CAABA4F6-3F0C-4648-AAC4-EF01B8A16AE6}"/>
                </a:ext>
              </a:extLst>
            </p:cNvPr>
            <p:cNvSpPr>
              <a:spLocks/>
            </p:cNvSpPr>
            <p:nvPr/>
          </p:nvSpPr>
          <p:spPr>
            <a:xfrm>
              <a:off x="8334375" y="5219700"/>
              <a:ext cx="2571750" cy="1085850"/>
            </a:xfrm>
            <a:prstGeom prst="roundRect">
              <a:avLst>
                <a:gd name="adj" fmla="val 3509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70" name="Paper / Article">
              <a:extLst>
                <a:ext uri="{FF2B5EF4-FFF2-40B4-BE49-F238E27FC236}">
                  <a16:creationId xmlns:a16="http://schemas.microsoft.com/office/drawing/2014/main" id="{6F16257B-93C2-43D8-A759-DA58FAA484C5}"/>
                </a:ext>
              </a:extLst>
            </p:cNvPr>
            <p:cNvSpPr>
              <a:spLocks/>
            </p:cNvSpPr>
            <p:nvPr/>
          </p:nvSpPr>
          <p:spPr>
            <a:xfrm>
              <a:off x="8429625" y="5314950"/>
              <a:ext cx="2381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00" b="1">
                  <a:solidFill>
                    <a:srgbClr val="547D45"/>
                  </a:solidFill>
                </a:defRPr>
              </a:pPr>
              <a:r>
                <a:rPr sz="18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Paper / Article</a:t>
              </a:r>
            </a:p>
          </p:txBody>
        </p:sp>
        <p:sp>
          <p:nvSpPr>
            <p:cNvPr id="71" name="论文与文章">
              <a:extLst>
                <a:ext uri="{FF2B5EF4-FFF2-40B4-BE49-F238E27FC236}">
                  <a16:creationId xmlns:a16="http://schemas.microsoft.com/office/drawing/2014/main" id="{69062D3B-69CF-41CC-B09C-CF408D6058B6}"/>
                </a:ext>
              </a:extLst>
            </p:cNvPr>
            <p:cNvSpPr>
              <a:spLocks/>
            </p:cNvSpPr>
            <p:nvPr/>
          </p:nvSpPr>
          <p:spPr>
            <a:xfrm>
              <a:off x="8448675" y="5743575"/>
              <a:ext cx="23431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论文与文章</a:t>
              </a:r>
            </a:p>
          </p:txBody>
        </p:sp>
        <p:sp>
          <p:nvSpPr>
            <p:cNvPr id="72" name="boundary">
              <a:extLst>
                <a:ext uri="{FF2B5EF4-FFF2-40B4-BE49-F238E27FC236}">
                  <a16:creationId xmlns:a16="http://schemas.microsoft.com/office/drawing/2014/main" id="{B000D381-0316-490C-96BA-203FA52B39EE}"/>
                </a:ext>
              </a:extLst>
            </p:cNvPr>
            <p:cNvSpPr>
              <a:spLocks/>
            </p:cNvSpPr>
            <p:nvPr/>
          </p:nvSpPr>
          <p:spPr>
            <a:xfrm>
              <a:off x="7381875" y="4133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3" name="boundary">
              <a:extLst>
                <a:ext uri="{FF2B5EF4-FFF2-40B4-BE49-F238E27FC236}">
                  <a16:creationId xmlns:a16="http://schemas.microsoft.com/office/drawing/2014/main" id="{9E9CDA70-4CBD-4465-B0A9-E2F1563138A8}"/>
                </a:ext>
              </a:extLst>
            </p:cNvPr>
            <p:cNvSpPr>
              <a:spLocks/>
            </p:cNvSpPr>
            <p:nvPr/>
          </p:nvSpPr>
          <p:spPr>
            <a:xfrm>
              <a:off x="7858125" y="4133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5" name="boundary">
              <a:extLst>
                <a:ext uri="{FF2B5EF4-FFF2-40B4-BE49-F238E27FC236}">
                  <a16:creationId xmlns:a16="http://schemas.microsoft.com/office/drawing/2014/main" id="{F88A5EB2-99C2-415B-8E30-576DF36B0AEB}"/>
                </a:ext>
              </a:extLst>
            </p:cNvPr>
            <p:cNvSpPr>
              <a:spLocks/>
            </p:cNvSpPr>
            <p:nvPr/>
          </p:nvSpPr>
          <p:spPr>
            <a:xfrm>
              <a:off x="7858125" y="4133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6" name="boundary">
              <a:extLst>
                <a:ext uri="{FF2B5EF4-FFF2-40B4-BE49-F238E27FC236}">
                  <a16:creationId xmlns:a16="http://schemas.microsoft.com/office/drawing/2014/main" id="{C75BBB90-2A4C-4E14-A1DC-80E4AF6CD8E8}"/>
                </a:ext>
              </a:extLst>
            </p:cNvPr>
            <p:cNvSpPr>
              <a:spLocks/>
            </p:cNvSpPr>
            <p:nvPr/>
          </p:nvSpPr>
          <p:spPr>
            <a:xfrm>
              <a:off x="7858125" y="5762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8" name="boundary">
              <a:extLst>
                <a:ext uri="{FF2B5EF4-FFF2-40B4-BE49-F238E27FC236}">
                  <a16:creationId xmlns:a16="http://schemas.microsoft.com/office/drawing/2014/main" id="{76DD75B3-0D0A-4FFA-AEDC-D5406698BC5F}"/>
                </a:ext>
              </a:extLst>
            </p:cNvPr>
            <p:cNvSpPr>
              <a:spLocks/>
            </p:cNvSpPr>
            <p:nvPr/>
          </p:nvSpPr>
          <p:spPr>
            <a:xfrm>
              <a:off x="7858125" y="5762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9" name="boundary">
              <a:extLst>
                <a:ext uri="{FF2B5EF4-FFF2-40B4-BE49-F238E27FC236}">
                  <a16:creationId xmlns:a16="http://schemas.microsoft.com/office/drawing/2014/main" id="{9A53A075-DAC2-4C32-9C77-51675B2CB3D8}"/>
                </a:ext>
              </a:extLst>
            </p:cNvPr>
            <p:cNvSpPr>
              <a:spLocks/>
            </p:cNvSpPr>
            <p:nvPr/>
          </p:nvSpPr>
          <p:spPr>
            <a:xfrm>
              <a:off x="8334375" y="5762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1" name="讨论">
              <a:extLst>
                <a:ext uri="{FF2B5EF4-FFF2-40B4-BE49-F238E27FC236}">
                  <a16:creationId xmlns:a16="http://schemas.microsoft.com/office/drawing/2014/main" id="{1FA82D20-93EA-46D2-914D-C539AED0F3C9}"/>
                </a:ext>
              </a:extLst>
            </p:cNvPr>
            <p:cNvSpPr>
              <a:spLocks/>
            </p:cNvSpPr>
            <p:nvPr/>
          </p:nvSpPr>
          <p:spPr>
            <a:xfrm>
              <a:off x="7419975" y="5381625"/>
              <a:ext cx="876300" cy="36195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0">
                  <a:solidFill>
                    <a:srgbClr val="547D45"/>
                  </a:solidFill>
                </a:defRPr>
              </a:pPr>
              <a:r>
                <a:rPr sz="1725" b="0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讨论</a:t>
              </a:r>
            </a:p>
          </p:txBody>
        </p:sp>
        <p:sp>
          <p:nvSpPr>
            <p:cNvPr id="82" name="规则理由：aliases 含 CVE">
              <a:extLst>
                <a:ext uri="{FF2B5EF4-FFF2-40B4-BE49-F238E27FC236}">
                  <a16:creationId xmlns:a16="http://schemas.microsoft.com/office/drawing/2014/main" id="{326A85C5-038D-4183-B572-2FCE7FB0CD4C}"/>
                </a:ext>
              </a:extLst>
            </p:cNvPr>
            <p:cNvSpPr>
              <a:spLocks/>
            </p:cNvSpPr>
            <p:nvPr/>
          </p:nvSpPr>
          <p:spPr>
            <a:xfrm>
              <a:off x="3714750" y="1333500"/>
              <a:ext cx="400050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800" b="0">
                  <a:solidFill>
                    <a:srgbClr val="277DC3"/>
                  </a:solidFill>
                </a:defRPr>
              </a:pPr>
              <a:r>
                <a:rPr sz="1800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规则理由：aliases 含 CVE</a:t>
              </a:r>
            </a:p>
          </p:txBody>
        </p:sp>
        <p:sp>
          <p:nvSpPr>
            <p:cNvPr id="83" name="弱关联：摘要相似 + 组件共现">
              <a:extLst>
                <a:ext uri="{FF2B5EF4-FFF2-40B4-BE49-F238E27FC236}">
                  <a16:creationId xmlns:a16="http://schemas.microsoft.com/office/drawing/2014/main" id="{C9939FCC-B56D-47D8-9C05-19DF0E5BFDB1}"/>
                </a:ext>
              </a:extLst>
            </p:cNvPr>
            <p:cNvSpPr>
              <a:spLocks/>
            </p:cNvSpPr>
            <p:nvPr/>
          </p:nvSpPr>
          <p:spPr>
            <a:xfrm>
              <a:off x="3667125" y="1952625"/>
              <a:ext cx="4095750" cy="647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0">
                  <a:solidFill>
                    <a:srgbClr val="547D45"/>
                  </a:solidFill>
                </a:defRPr>
              </a:pPr>
              <a:r>
                <a:rPr sz="1725" b="0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弱关联：摘要相似 + 组件共现</a:t>
              </a:r>
            </a:p>
          </p:txBody>
        </p:sp>
        <p:sp>
          <p:nvSpPr>
            <p:cNvPr id="84" name="处置关联：修复 + 缓解模板 版本求解：清单 × 影响区间">
              <a:extLst>
                <a:ext uri="{FF2B5EF4-FFF2-40B4-BE49-F238E27FC236}">
                  <a16:creationId xmlns:a16="http://schemas.microsoft.com/office/drawing/2014/main" id="{AA0C8ABE-14B9-4F87-BB6C-277C1EE01A5E}"/>
                </a:ext>
              </a:extLst>
            </p:cNvPr>
            <p:cNvSpPr>
              <a:spLocks/>
            </p:cNvSpPr>
            <p:nvPr/>
          </p:nvSpPr>
          <p:spPr>
            <a:xfrm>
              <a:off x="3619500" y="5143500"/>
              <a:ext cx="4191000" cy="933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0">
                  <a:solidFill>
                    <a:srgbClr val="233E54"/>
                  </a:solidFill>
                </a:defRPr>
              </a:pPr>
              <a:r>
                <a:rPr sz="1800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处置关联：修复 + 缓解模板</a:t>
              </a:r>
            </a:p>
            <a:p>
              <a:pPr algn="ctr">
                <a:defRPr sz="1800" b="0">
                  <a:solidFill>
                    <a:srgbClr val="233E54"/>
                  </a:solidFill>
                </a:defRPr>
              </a:pPr>
              <a:r>
                <a:rPr sz="1800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版本求解：清单 × 影响区间</a:t>
              </a:r>
            </a:p>
          </p:txBody>
        </p:sp>
        <p:sp>
          <p:nvSpPr>
            <p:cNvPr id="85" name="描述 DESCRIBES    影响 AFFECTS    弱点 HAS_CWE">
              <a:extLst>
                <a:ext uri="{FF2B5EF4-FFF2-40B4-BE49-F238E27FC236}">
                  <a16:creationId xmlns:a16="http://schemas.microsoft.com/office/drawing/2014/main" id="{5DA9211E-ACE2-4BE9-AF82-5768FF383F32}"/>
                </a:ext>
              </a:extLst>
            </p:cNvPr>
            <p:cNvSpPr>
              <a:spLocks/>
            </p:cNvSpPr>
            <p:nvPr/>
          </p:nvSpPr>
          <p:spPr>
            <a:xfrm>
              <a:off x="476250" y="6572250"/>
              <a:ext cx="104775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描述 DESCRIBES    影响 AFFECTS    弱点 HAS_CWE</a:t>
              </a:r>
            </a:p>
          </p:txBody>
        </p:sp>
        <p:sp>
          <p:nvSpPr>
            <p:cNvPr id="86" name="映射 MAPS_TO    引用 HAS_POC_REF    讨论 DISCUSSED_IN">
              <a:extLst>
                <a:ext uri="{FF2B5EF4-FFF2-40B4-BE49-F238E27FC236}">
                  <a16:creationId xmlns:a16="http://schemas.microsoft.com/office/drawing/2014/main" id="{079A3A17-9738-4465-8DAF-052E5F631B3C}"/>
                </a:ext>
              </a:extLst>
            </p:cNvPr>
            <p:cNvSpPr>
              <a:spLocks/>
            </p:cNvSpPr>
            <p:nvPr/>
          </p:nvSpPr>
          <p:spPr>
            <a:xfrm>
              <a:off x="476250" y="6953250"/>
              <a:ext cx="104775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映射 MAPS_TO    引用 HAS_POC_REF    讨论 DISCUSSED_IN</a:t>
              </a:r>
            </a:p>
          </p:txBody>
        </p:sp>
        <p:sp>
          <p:nvSpPr>
            <p:cNvPr id="87" name="实线：确定性关联；虚线：须经 Critic 校验的弱关联">
              <a:extLst>
                <a:ext uri="{FF2B5EF4-FFF2-40B4-BE49-F238E27FC236}">
                  <a16:creationId xmlns:a16="http://schemas.microsoft.com/office/drawing/2014/main" id="{14EC53C4-5AF2-4385-A795-8DB9F2EF2245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实线：确定性关联；虚线：须经 Critic 校验的弱关联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947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F-15 - whole figure">
            <a:extLst>
              <a:ext uri="{FF2B5EF4-FFF2-40B4-BE49-F238E27FC236}">
                <a16:creationId xmlns:a16="http://schemas.microsoft.com/office/drawing/2014/main" id="{F627A4A0-ABD1-A3D7-0BE5-DC4C283C8F92}"/>
              </a:ext>
            </a:extLst>
          </p:cNvPr>
          <p:cNvGrpSpPr/>
          <p:nvPr/>
        </p:nvGrpSpPr>
        <p:grpSpPr>
          <a:xfrm>
            <a:off x="428625" y="1209675"/>
            <a:ext cx="10572750" cy="6753225"/>
            <a:chOff x="428625" y="1209675"/>
            <a:chExt cx="10572750" cy="6753225"/>
          </a:xfrm>
        </p:grpSpPr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22901035-891E-4A89-8338-26719753B563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H="1">
              <a:off x="8477250" y="5839302"/>
              <a:ext cx="953" cy="47625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F232C275-D26C-4A3F-8582-F78CAD223507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 flipH="1">
              <a:off x="8477250" y="5839302"/>
              <a:ext cx="534353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55A5A80C-2374-4654-84B0-715A6EB08586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 flipH="1">
              <a:off x="2952750" y="5839302"/>
              <a:ext cx="953" cy="47625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7836F9A2-C9C5-4774-944A-5123751D1D94}"/>
                </a:ext>
              </a:extLst>
            </p:cNvPr>
            <p:cNvCxnSpPr>
              <a:stCxn id="31" idx="3"/>
              <a:endCxn id="32" idx="1"/>
            </p:cNvCxnSpPr>
            <p:nvPr/>
          </p:nvCxnSpPr>
          <p:spPr>
            <a:xfrm flipH="1">
              <a:off x="2952750" y="5839302"/>
              <a:ext cx="605885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91435359-1E6F-426E-8B7F-8BBD2870D6D7}"/>
                </a:ext>
              </a:extLst>
            </p:cNvPr>
            <p:cNvCxnSpPr>
              <a:stCxn id="28" idx="3"/>
              <a:endCxn id="29" idx="1"/>
            </p:cNvCxnSpPr>
            <p:nvPr/>
          </p:nvCxnSpPr>
          <p:spPr>
            <a:xfrm flipH="1">
              <a:off x="9010650" y="5363052"/>
              <a:ext cx="953" cy="47625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BA8A659-1873-4771-B859-C18C884ECDD2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 flipH="1">
              <a:off x="2419350" y="4515327"/>
              <a:ext cx="953" cy="1619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9BCA00A-2598-48D3-B4E1-11CB93BEB4BE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 flipH="1">
              <a:off x="2419350" y="4515327"/>
              <a:ext cx="32966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AC84CFC1-1E11-4C40-95A3-4A066B7DCA78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 flipH="1">
              <a:off x="5715000" y="4324827"/>
              <a:ext cx="953" cy="19050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30386D6C-6684-486C-BDFE-2332893792B7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7131050" y="5019675"/>
              <a:ext cx="5143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72379D41-9F97-4743-94B5-86597A8E5F00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>
              <a:off x="3784600" y="5019675"/>
              <a:ext cx="514350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640FAE5A-395E-4B88-878E-6C796729AA81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 flipH="1">
              <a:off x="5715000" y="1705452"/>
              <a:ext cx="953" cy="45720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44" name="字段候选">
              <a:extLst>
                <a:ext uri="{FF2B5EF4-FFF2-40B4-BE49-F238E27FC236}">
                  <a16:creationId xmlns:a16="http://schemas.microsoft.com/office/drawing/2014/main" id="{E71EDFAF-DEA3-41BD-8B9C-808B1FC51305}"/>
                </a:ext>
              </a:extLst>
            </p:cNvPr>
            <p:cNvSpPr>
              <a:spLocks/>
            </p:cNvSpPr>
            <p:nvPr/>
          </p:nvSpPr>
          <p:spPr>
            <a:xfrm>
              <a:off x="4286250" y="1209675"/>
              <a:ext cx="2857500" cy="495300"/>
            </a:xfrm>
            <a:prstGeom prst="roundRect">
              <a:avLst>
                <a:gd name="adj" fmla="val 7692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字段候选</a:t>
              </a:r>
            </a:p>
          </p:txBody>
        </p:sp>
        <p:sp>
          <p:nvSpPr>
            <p:cNvPr id="2" name="boundary">
              <a:extLst>
                <a:ext uri="{FF2B5EF4-FFF2-40B4-BE49-F238E27FC236}">
                  <a16:creationId xmlns:a16="http://schemas.microsoft.com/office/drawing/2014/main" id="{CB0E00BE-6CF7-43A9-AAB8-DF7D39894BE3}"/>
                </a:ext>
              </a:extLst>
            </p:cNvPr>
            <p:cNvSpPr>
              <a:spLocks/>
            </p:cNvSpPr>
            <p:nvPr/>
          </p:nvSpPr>
          <p:spPr>
            <a:xfrm>
              <a:off x="5715000" y="17049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" name="boundary">
              <a:extLst>
                <a:ext uri="{FF2B5EF4-FFF2-40B4-BE49-F238E27FC236}">
                  <a16:creationId xmlns:a16="http://schemas.microsoft.com/office/drawing/2014/main" id="{84377CAB-6BBD-49EC-99EA-611995218499}"/>
                </a:ext>
              </a:extLst>
            </p:cNvPr>
            <p:cNvSpPr>
              <a:spLocks/>
            </p:cNvSpPr>
            <p:nvPr/>
          </p:nvSpPr>
          <p:spPr>
            <a:xfrm>
              <a:off x="5715000" y="2162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" name="boundary">
              <a:extLst>
                <a:ext uri="{FF2B5EF4-FFF2-40B4-BE49-F238E27FC236}">
                  <a16:creationId xmlns:a16="http://schemas.microsoft.com/office/drawing/2014/main" id="{9353FF5C-9DA8-4686-9BA2-74020B8C3D38}"/>
                </a:ext>
              </a:extLst>
            </p:cNvPr>
            <p:cNvSpPr>
              <a:spLocks/>
            </p:cNvSpPr>
            <p:nvPr/>
          </p:nvSpPr>
          <p:spPr>
            <a:xfrm>
              <a:off x="476250" y="2143125"/>
              <a:ext cx="10477500" cy="1647825"/>
            </a:xfrm>
            <a:prstGeom prst="roundRect">
              <a:avLst>
                <a:gd name="adj" fmla="val 10405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6" name="优先处理特例">
              <a:extLst>
                <a:ext uri="{FF2B5EF4-FFF2-40B4-BE49-F238E27FC236}">
                  <a16:creationId xmlns:a16="http://schemas.microsoft.com/office/drawing/2014/main" id="{D168F340-AED0-4B20-9EDE-9CACE7EF9557}"/>
                </a:ext>
              </a:extLst>
            </p:cNvPr>
            <p:cNvSpPr>
              <a:spLocks/>
            </p:cNvSpPr>
            <p:nvPr/>
          </p:nvSpPr>
          <p:spPr>
            <a:xfrm>
              <a:off x="647700" y="2238375"/>
              <a:ext cx="1013460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67A20"/>
                  </a:solidFill>
                </a:defRPr>
              </a:defPPr>
            </a:lstStyle>
            <a:p>
              <a:pPr algn="l">
                <a:defRPr sz="1800" b="1">
                  <a:solidFill>
                    <a:srgbClr val="A67A20"/>
                  </a:solidFill>
                </a:defRPr>
              </a:pPr>
              <a:r>
                <a:rPr sz="18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优先处理特例</a:t>
              </a:r>
            </a:p>
          </p:txBody>
        </p:sp>
        <p:sp>
          <p:nvSpPr>
            <p:cNvPr id="7" name="KEV 专属">
              <a:extLst>
                <a:ext uri="{FF2B5EF4-FFF2-40B4-BE49-F238E27FC236}">
                  <a16:creationId xmlns:a16="http://schemas.microsoft.com/office/drawing/2014/main" id="{28348369-F19B-45DB-89D9-663BBF287890}"/>
                </a:ext>
              </a:extLst>
            </p:cNvPr>
            <p:cNvSpPr>
              <a:spLocks/>
            </p:cNvSpPr>
            <p:nvPr/>
          </p:nvSpPr>
          <p:spPr>
            <a:xfrm>
              <a:off x="762000" y="2800350"/>
              <a:ext cx="2190750" cy="609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3335">
              <a:solidFill>
                <a:srgbClr val="DEC989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KEV 专属</a:t>
              </a:r>
            </a:p>
          </p:txBody>
        </p:sp>
        <p:sp>
          <p:nvSpPr>
            <p:cNvPr id="8" name="一级撤回">
              <a:extLst>
                <a:ext uri="{FF2B5EF4-FFF2-40B4-BE49-F238E27FC236}">
                  <a16:creationId xmlns:a16="http://schemas.microsoft.com/office/drawing/2014/main" id="{EE40F2E6-0E55-4F38-AF69-98D7EBD2BF20}"/>
                </a:ext>
              </a:extLst>
            </p:cNvPr>
            <p:cNvSpPr>
              <a:spLocks/>
            </p:cNvSpPr>
            <p:nvPr/>
          </p:nvSpPr>
          <p:spPr>
            <a:xfrm>
              <a:off x="3371850" y="2800350"/>
              <a:ext cx="2190750" cy="609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3335">
              <a:solidFill>
                <a:srgbClr val="DEC989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一级撤回</a:t>
              </a:r>
            </a:p>
          </p:txBody>
        </p:sp>
        <p:sp>
          <p:nvSpPr>
            <p:cNvPr id="9" name="区间互斥">
              <a:extLst>
                <a:ext uri="{FF2B5EF4-FFF2-40B4-BE49-F238E27FC236}">
                  <a16:creationId xmlns:a16="http://schemas.microsoft.com/office/drawing/2014/main" id="{8C6561D1-6E8F-4103-AFB5-6B9A0F92B62B}"/>
                </a:ext>
              </a:extLst>
            </p:cNvPr>
            <p:cNvSpPr>
              <a:spLocks/>
            </p:cNvSpPr>
            <p:nvPr/>
          </p:nvSpPr>
          <p:spPr>
            <a:xfrm>
              <a:off x="5981700" y="2800350"/>
              <a:ext cx="2190750" cy="609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3335">
              <a:solidFill>
                <a:srgbClr val="DEC989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区间互斥</a:t>
              </a:r>
            </a:p>
          </p:txBody>
        </p:sp>
        <p:sp>
          <p:nvSpPr>
            <p:cNvPr id="10" name="双 CVE">
              <a:extLst>
                <a:ext uri="{FF2B5EF4-FFF2-40B4-BE49-F238E27FC236}">
                  <a16:creationId xmlns:a16="http://schemas.microsoft.com/office/drawing/2014/main" id="{5E22CB96-1999-4ED1-BBBF-F7AAD327D628}"/>
                </a:ext>
              </a:extLst>
            </p:cNvPr>
            <p:cNvSpPr>
              <a:spLocks/>
            </p:cNvSpPr>
            <p:nvPr/>
          </p:nvSpPr>
          <p:spPr>
            <a:xfrm>
              <a:off x="8591550" y="2800350"/>
              <a:ext cx="2190750" cy="609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3335">
              <a:solidFill>
                <a:srgbClr val="DEC989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双 CVE</a:t>
              </a:r>
            </a:p>
          </p:txBody>
        </p:sp>
        <p:sp>
          <p:nvSpPr>
            <p:cNvPr id="11" name="并集、撤回、保留候选">
              <a:extLst>
                <a:ext uri="{FF2B5EF4-FFF2-40B4-BE49-F238E27FC236}">
                  <a16:creationId xmlns:a16="http://schemas.microsoft.com/office/drawing/2014/main" id="{F8926F0E-30DE-490E-B15E-B909D5C1E746}"/>
                </a:ext>
              </a:extLst>
            </p:cNvPr>
            <p:cNvSpPr>
              <a:spLocks/>
            </p:cNvSpPr>
            <p:nvPr/>
          </p:nvSpPr>
          <p:spPr>
            <a:xfrm>
              <a:off x="3476625" y="3924300"/>
              <a:ext cx="44767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0">
                  <a:solidFill>
                    <a:srgbClr val="A67A20"/>
                  </a:solidFill>
                </a:defRPr>
              </a:defPPr>
            </a:lstStyle>
            <a:p>
              <a:pPr algn="ctr">
                <a:defRPr sz="1800" b="0">
                  <a:solidFill>
                    <a:srgbClr val="A67A20"/>
                  </a:solidFill>
                </a:defRPr>
              </a:pPr>
              <a:r>
                <a:rPr sz="1800" b="0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并集、撤回、保留候选</a:t>
              </a:r>
            </a:p>
          </p:txBody>
        </p:sp>
        <p:sp>
          <p:nvSpPr>
            <p:cNvPr id="12" name="可信度等级">
              <a:extLst>
                <a:ext uri="{FF2B5EF4-FFF2-40B4-BE49-F238E27FC236}">
                  <a16:creationId xmlns:a16="http://schemas.microsoft.com/office/drawing/2014/main" id="{63294ECF-E33A-4B2B-9E0E-63A363A64D9B}"/>
                </a:ext>
              </a:extLst>
            </p:cNvPr>
            <p:cNvSpPr>
              <a:spLocks/>
            </p:cNvSpPr>
            <p:nvPr/>
          </p:nvSpPr>
          <p:spPr>
            <a:xfrm>
              <a:off x="952500" y="4676775"/>
              <a:ext cx="2832100" cy="685800"/>
            </a:xfrm>
            <a:prstGeom prst="roundRect">
              <a:avLst>
                <a:gd name="adj" fmla="val 555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可信度等级</a:t>
              </a:r>
            </a:p>
          </p:txBody>
        </p:sp>
        <p:sp>
          <p:nvSpPr>
            <p:cNvPr id="13" name="置信度">
              <a:extLst>
                <a:ext uri="{FF2B5EF4-FFF2-40B4-BE49-F238E27FC236}">
                  <a16:creationId xmlns:a16="http://schemas.microsoft.com/office/drawing/2014/main" id="{4B0E52B8-43FC-4754-83D3-80CB3D67109A}"/>
                </a:ext>
              </a:extLst>
            </p:cNvPr>
            <p:cNvSpPr>
              <a:spLocks/>
            </p:cNvSpPr>
            <p:nvPr/>
          </p:nvSpPr>
          <p:spPr>
            <a:xfrm>
              <a:off x="4298950" y="4676775"/>
              <a:ext cx="2832100" cy="685800"/>
            </a:xfrm>
            <a:prstGeom prst="roundRect">
              <a:avLst>
                <a:gd name="adj" fmla="val 555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置信度</a:t>
              </a:r>
            </a:p>
          </p:txBody>
        </p:sp>
        <p:sp>
          <p:nvSpPr>
            <p:cNvPr id="14" name="更新时间">
              <a:extLst>
                <a:ext uri="{FF2B5EF4-FFF2-40B4-BE49-F238E27FC236}">
                  <a16:creationId xmlns:a16="http://schemas.microsoft.com/office/drawing/2014/main" id="{341FC4C6-2A37-4868-9C2B-52183CABBF30}"/>
                </a:ext>
              </a:extLst>
            </p:cNvPr>
            <p:cNvSpPr>
              <a:spLocks/>
            </p:cNvSpPr>
            <p:nvPr/>
          </p:nvSpPr>
          <p:spPr>
            <a:xfrm>
              <a:off x="7645400" y="4676775"/>
              <a:ext cx="2832100" cy="685800"/>
            </a:xfrm>
            <a:prstGeom prst="roundRect">
              <a:avLst>
                <a:gd name="adj" fmla="val 555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更新时间</a:t>
              </a:r>
            </a:p>
          </p:txBody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D44BC738-1A08-4675-A363-E197B66FC647}"/>
                </a:ext>
              </a:extLst>
            </p:cNvPr>
            <p:cNvSpPr>
              <a:spLocks/>
            </p:cNvSpPr>
            <p:nvPr/>
          </p:nvSpPr>
          <p:spPr>
            <a:xfrm>
              <a:off x="5715000" y="43243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8" name="boundary">
              <a:extLst>
                <a:ext uri="{FF2B5EF4-FFF2-40B4-BE49-F238E27FC236}">
                  <a16:creationId xmlns:a16="http://schemas.microsoft.com/office/drawing/2014/main" id="{F34F364B-BDDA-4BD9-A9C6-5D2974C4EA51}"/>
                </a:ext>
              </a:extLst>
            </p:cNvPr>
            <p:cNvSpPr>
              <a:spLocks/>
            </p:cNvSpPr>
            <p:nvPr/>
          </p:nvSpPr>
          <p:spPr>
            <a:xfrm>
              <a:off x="5715000" y="4514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B35CF300-D0C9-49D9-865D-CA7A98918C85}"/>
                </a:ext>
              </a:extLst>
            </p:cNvPr>
            <p:cNvSpPr>
              <a:spLocks/>
            </p:cNvSpPr>
            <p:nvPr/>
          </p:nvSpPr>
          <p:spPr>
            <a:xfrm>
              <a:off x="5715000" y="4514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2FC0629F-440A-4E4A-A778-B9DBCAD2E9F5}"/>
                </a:ext>
              </a:extLst>
            </p:cNvPr>
            <p:cNvSpPr>
              <a:spLocks/>
            </p:cNvSpPr>
            <p:nvPr/>
          </p:nvSpPr>
          <p:spPr>
            <a:xfrm>
              <a:off x="2419350" y="4514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3CED4FB7-5A0E-44DA-89D4-354C617462CB}"/>
                </a:ext>
              </a:extLst>
            </p:cNvPr>
            <p:cNvSpPr>
              <a:spLocks/>
            </p:cNvSpPr>
            <p:nvPr/>
          </p:nvSpPr>
          <p:spPr>
            <a:xfrm>
              <a:off x="2419350" y="4514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CA2EA1B1-5B8C-441E-95FD-327323440870}"/>
                </a:ext>
              </a:extLst>
            </p:cNvPr>
            <p:cNvSpPr>
              <a:spLocks/>
            </p:cNvSpPr>
            <p:nvPr/>
          </p:nvSpPr>
          <p:spPr>
            <a:xfrm>
              <a:off x="2419350" y="46767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6" name="主值 + provenance">
              <a:extLst>
                <a:ext uri="{FF2B5EF4-FFF2-40B4-BE49-F238E27FC236}">
                  <a16:creationId xmlns:a16="http://schemas.microsoft.com/office/drawing/2014/main" id="{AF936281-D6E8-442E-8C3E-28FC79E07A1F}"/>
                </a:ext>
              </a:extLst>
            </p:cNvPr>
            <p:cNvSpPr>
              <a:spLocks/>
            </p:cNvSpPr>
            <p:nvPr/>
          </p:nvSpPr>
          <p:spPr>
            <a:xfrm>
              <a:off x="714375" y="6315075"/>
              <a:ext cx="4476750" cy="733425"/>
            </a:xfrm>
            <a:prstGeom prst="roundRect">
              <a:avLst>
                <a:gd name="adj" fmla="val 519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33E54"/>
                  </a:solidFill>
                </a:defRPr>
              </a:pPr>
              <a:r>
                <a:rPr sz="195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主值 + provenance</a:t>
              </a:r>
            </a:p>
          </p:txBody>
        </p:sp>
        <p:sp>
          <p:nvSpPr>
            <p:cNvPr id="27" name="落选值保留在 conflicts[]">
              <a:extLst>
                <a:ext uri="{FF2B5EF4-FFF2-40B4-BE49-F238E27FC236}">
                  <a16:creationId xmlns:a16="http://schemas.microsoft.com/office/drawing/2014/main" id="{75C76D0D-37C4-4EED-9533-4CB742469196}"/>
                </a:ext>
              </a:extLst>
            </p:cNvPr>
            <p:cNvSpPr>
              <a:spLocks/>
            </p:cNvSpPr>
            <p:nvPr/>
          </p:nvSpPr>
          <p:spPr>
            <a:xfrm>
              <a:off x="6238875" y="6315075"/>
              <a:ext cx="4476750" cy="733425"/>
            </a:xfrm>
            <a:prstGeom prst="roundRect">
              <a:avLst>
                <a:gd name="adj" fmla="val 5195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落选值保留在 conflicts[]</a:t>
              </a:r>
            </a:p>
          </p:txBody>
        </p:sp>
        <p:sp>
          <p:nvSpPr>
            <p:cNvPr id="28" name="boundary">
              <a:extLst>
                <a:ext uri="{FF2B5EF4-FFF2-40B4-BE49-F238E27FC236}">
                  <a16:creationId xmlns:a16="http://schemas.microsoft.com/office/drawing/2014/main" id="{59AE0E41-66CD-4834-A675-2CE26F54858B}"/>
                </a:ext>
              </a:extLst>
            </p:cNvPr>
            <p:cNvSpPr>
              <a:spLocks/>
            </p:cNvSpPr>
            <p:nvPr/>
          </p:nvSpPr>
          <p:spPr>
            <a:xfrm>
              <a:off x="9010650" y="53625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2C86B8E6-EBB6-42CD-B711-E4ECD49C2341}"/>
                </a:ext>
              </a:extLst>
            </p:cNvPr>
            <p:cNvSpPr>
              <a:spLocks/>
            </p:cNvSpPr>
            <p:nvPr/>
          </p:nvSpPr>
          <p:spPr>
            <a:xfrm>
              <a:off x="9010650" y="58388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1" name="boundary">
              <a:extLst>
                <a:ext uri="{FF2B5EF4-FFF2-40B4-BE49-F238E27FC236}">
                  <a16:creationId xmlns:a16="http://schemas.microsoft.com/office/drawing/2014/main" id="{CB216FE8-3839-4B75-9EFF-11BDF156B25A}"/>
                </a:ext>
              </a:extLst>
            </p:cNvPr>
            <p:cNvSpPr>
              <a:spLocks/>
            </p:cNvSpPr>
            <p:nvPr/>
          </p:nvSpPr>
          <p:spPr>
            <a:xfrm>
              <a:off x="9010650" y="58388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boundary">
              <a:extLst>
                <a:ext uri="{FF2B5EF4-FFF2-40B4-BE49-F238E27FC236}">
                  <a16:creationId xmlns:a16="http://schemas.microsoft.com/office/drawing/2014/main" id="{1F56974A-04B9-407E-982A-59A7EF8D5BA0}"/>
                </a:ext>
              </a:extLst>
            </p:cNvPr>
            <p:cNvSpPr>
              <a:spLocks/>
            </p:cNvSpPr>
            <p:nvPr/>
          </p:nvSpPr>
          <p:spPr>
            <a:xfrm>
              <a:off x="2952750" y="58388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B811B905-A7BA-4C79-9301-02380515787C}"/>
                </a:ext>
              </a:extLst>
            </p:cNvPr>
            <p:cNvSpPr>
              <a:spLocks/>
            </p:cNvSpPr>
            <p:nvPr/>
          </p:nvSpPr>
          <p:spPr>
            <a:xfrm>
              <a:off x="2952750" y="58388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boundary">
              <a:extLst>
                <a:ext uri="{FF2B5EF4-FFF2-40B4-BE49-F238E27FC236}">
                  <a16:creationId xmlns:a16="http://schemas.microsoft.com/office/drawing/2014/main" id="{12325E59-39DF-448D-9E4D-7FEA360CAC1D}"/>
                </a:ext>
              </a:extLst>
            </p:cNvPr>
            <p:cNvSpPr>
              <a:spLocks/>
            </p:cNvSpPr>
            <p:nvPr/>
          </p:nvSpPr>
          <p:spPr>
            <a:xfrm>
              <a:off x="2952750" y="63150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63F82810-C3E3-48B8-80AE-DA161EA1F731}"/>
                </a:ext>
              </a:extLst>
            </p:cNvPr>
            <p:cNvSpPr>
              <a:spLocks/>
            </p:cNvSpPr>
            <p:nvPr/>
          </p:nvSpPr>
          <p:spPr>
            <a:xfrm>
              <a:off x="9010650" y="58388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boundary">
              <a:extLst>
                <a:ext uri="{FF2B5EF4-FFF2-40B4-BE49-F238E27FC236}">
                  <a16:creationId xmlns:a16="http://schemas.microsoft.com/office/drawing/2014/main" id="{3125480C-4CC0-41BE-85CD-9B1F8E155054}"/>
                </a:ext>
              </a:extLst>
            </p:cNvPr>
            <p:cNvSpPr>
              <a:spLocks/>
            </p:cNvSpPr>
            <p:nvPr/>
          </p:nvSpPr>
          <p:spPr>
            <a:xfrm>
              <a:off x="8477250" y="58388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boundary">
              <a:extLst>
                <a:ext uri="{FF2B5EF4-FFF2-40B4-BE49-F238E27FC236}">
                  <a16:creationId xmlns:a16="http://schemas.microsoft.com/office/drawing/2014/main" id="{C8C33E19-B92F-418A-B2F8-A1D7AD15129A}"/>
                </a:ext>
              </a:extLst>
            </p:cNvPr>
            <p:cNvSpPr>
              <a:spLocks/>
            </p:cNvSpPr>
            <p:nvPr/>
          </p:nvSpPr>
          <p:spPr>
            <a:xfrm>
              <a:off x="8477250" y="58388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1" name="boundary">
              <a:extLst>
                <a:ext uri="{FF2B5EF4-FFF2-40B4-BE49-F238E27FC236}">
                  <a16:creationId xmlns:a16="http://schemas.microsoft.com/office/drawing/2014/main" id="{21CD624D-E74E-4373-8927-A6EA78F78F55}"/>
                </a:ext>
              </a:extLst>
            </p:cNvPr>
            <p:cNvSpPr>
              <a:spLocks/>
            </p:cNvSpPr>
            <p:nvPr/>
          </p:nvSpPr>
          <p:spPr>
            <a:xfrm>
              <a:off x="8477250" y="63150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3" name="CVSS 10.0 与 9.8 均保留；主值选择不抹去分歧">
              <a:extLst>
                <a:ext uri="{FF2B5EF4-FFF2-40B4-BE49-F238E27FC236}">
                  <a16:creationId xmlns:a16="http://schemas.microsoft.com/office/drawing/2014/main" id="{4350D7AC-639E-46A5-85BF-5ED9E10020FA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CVSS 10.0 与 9.8 均保留；主值选择不抹去分歧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952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F-16 - whole figure">
            <a:extLst>
              <a:ext uri="{FF2B5EF4-FFF2-40B4-BE49-F238E27FC236}">
                <a16:creationId xmlns:a16="http://schemas.microsoft.com/office/drawing/2014/main" id="{83AEBBA3-3A60-DC7D-76D6-613058A1E339}"/>
              </a:ext>
            </a:extLst>
          </p:cNvPr>
          <p:cNvGrpSpPr/>
          <p:nvPr/>
        </p:nvGrpSpPr>
        <p:grpSpPr>
          <a:xfrm>
            <a:off x="428625" y="1371600"/>
            <a:ext cx="10572750" cy="6591300"/>
            <a:chOff x="428625" y="1371600"/>
            <a:chExt cx="10572750" cy="6591300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7BFE5319-D8AC-4314-B354-0DB4EF843C7E}"/>
                </a:ext>
              </a:extLst>
            </p:cNvPr>
            <p:cNvCxnSpPr>
              <a:stCxn id="52" idx="3"/>
              <a:endCxn id="53" idx="1"/>
            </p:cNvCxnSpPr>
            <p:nvPr/>
          </p:nvCxnSpPr>
          <p:spPr>
            <a:xfrm flipH="1">
              <a:off x="9382125" y="5153502"/>
              <a:ext cx="953" cy="447675"/>
            </a:xfrm>
            <a:prstGeom prst="straightConnector1">
              <a:avLst/>
            </a:prstGeom>
            <a:ln w="20955">
              <a:solidFill>
                <a:srgbClr val="A67A20"/>
              </a:solidFill>
              <a:prstDash val="solid"/>
              <a:tailEnd type="triangle" w="sm" len="sm"/>
            </a:ln>
          </p:spPr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FF238E2B-F04C-4B8D-91B6-7119ECEC11BB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>
              <a:off x="5715953" y="5153502"/>
              <a:ext cx="3666172" cy="0"/>
            </a:xfrm>
            <a:prstGeom prst="straightConnector1">
              <a:avLst/>
            </a:prstGeom>
            <a:ln w="20955">
              <a:solidFill>
                <a:srgbClr val="A67A20"/>
              </a:solidFill>
              <a:prstDash val="solid"/>
            </a:ln>
          </p:spPr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CC155A78-541F-41C6-850E-09229C12622B}"/>
                </a:ext>
              </a:extLst>
            </p:cNvPr>
            <p:cNvCxnSpPr>
              <a:stCxn id="46" idx="3"/>
              <a:endCxn id="47" idx="1"/>
            </p:cNvCxnSpPr>
            <p:nvPr/>
          </p:nvCxnSpPr>
          <p:spPr>
            <a:xfrm flipH="1">
              <a:off x="5715000" y="4715352"/>
              <a:ext cx="953" cy="438150"/>
            </a:xfrm>
            <a:prstGeom prst="straightConnector1">
              <a:avLst/>
            </a:prstGeom>
            <a:ln w="20955">
              <a:solidFill>
                <a:srgbClr val="A67A20"/>
              </a:solidFill>
              <a:prstDash val="solid"/>
            </a:ln>
          </p:spPr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5204C196-7DD9-4EB4-ADC6-F349358C945F}"/>
                </a:ext>
              </a:extLst>
            </p:cNvPr>
            <p:cNvCxnSpPr>
              <a:stCxn id="42" idx="3"/>
              <a:endCxn id="43" idx="1"/>
            </p:cNvCxnSpPr>
            <p:nvPr/>
          </p:nvCxnSpPr>
          <p:spPr>
            <a:xfrm flipH="1">
              <a:off x="5715000" y="5153502"/>
              <a:ext cx="953" cy="44767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55A5BAE4-5483-496B-915F-C87AFE7A40BE}"/>
                </a:ext>
              </a:extLst>
            </p:cNvPr>
            <p:cNvCxnSpPr>
              <a:stCxn id="39" idx="3"/>
              <a:endCxn id="40" idx="1"/>
            </p:cNvCxnSpPr>
            <p:nvPr/>
          </p:nvCxnSpPr>
          <p:spPr>
            <a:xfrm flipH="1">
              <a:off x="5715000" y="5153502"/>
              <a:ext cx="953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D9F6A5DC-4850-454E-A85F-17F87CEA2C68}"/>
                </a:ext>
              </a:extLst>
            </p:cNvPr>
            <p:cNvCxnSpPr>
              <a:stCxn id="36" idx="3"/>
              <a:endCxn id="37" idx="1"/>
            </p:cNvCxnSpPr>
            <p:nvPr/>
          </p:nvCxnSpPr>
          <p:spPr>
            <a:xfrm flipH="1">
              <a:off x="5715000" y="4715352"/>
              <a:ext cx="953" cy="43815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723A61E1-8B40-44AA-BD0E-E6209E094520}"/>
                </a:ext>
              </a:extLst>
            </p:cNvPr>
            <p:cNvCxnSpPr>
              <a:stCxn id="32" idx="3"/>
              <a:endCxn id="33" idx="1"/>
            </p:cNvCxnSpPr>
            <p:nvPr/>
          </p:nvCxnSpPr>
          <p:spPr>
            <a:xfrm flipH="1">
              <a:off x="2047875" y="5153502"/>
              <a:ext cx="953" cy="447675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  <a:tailEnd type="triangle" w="sm" len="sm"/>
            </a:ln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B382F8D-FADA-4BA0-8F7A-E9E2D87BCC0B}"/>
                </a:ext>
              </a:extLst>
            </p:cNvPr>
            <p:cNvCxnSpPr>
              <a:stCxn id="29" idx="3"/>
              <a:endCxn id="30" idx="1"/>
            </p:cNvCxnSpPr>
            <p:nvPr/>
          </p:nvCxnSpPr>
          <p:spPr>
            <a:xfrm flipH="1">
              <a:off x="2047875" y="5153502"/>
              <a:ext cx="3668078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</a:ln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CB74F02-0F8D-4097-B0A8-5BD5A97A8775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 flipH="1">
              <a:off x="5715000" y="4715352"/>
              <a:ext cx="953" cy="43815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</a:ln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766929ED-0A82-472B-AC14-F1A0EF48CD8C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 flipH="1">
              <a:off x="5715000" y="3000852"/>
              <a:ext cx="266795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71DF569-B3FA-4D33-A2CB-8335236A9B7A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 flipH="1">
              <a:off x="8382000" y="2572227"/>
              <a:ext cx="953" cy="4286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92471BA6-B878-430A-94D5-47B27366AAB5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 flipH="1">
              <a:off x="5715000" y="3000852"/>
              <a:ext cx="953" cy="47625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D108650-626B-41FA-9768-11563813F599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3048953" y="3000852"/>
              <a:ext cx="266604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B2963F05-CC7A-40EC-96DE-C60DDFFA0B9F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H="1">
              <a:off x="3048000" y="2572227"/>
              <a:ext cx="953" cy="4286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sp>
          <p:nvSpPr>
            <p:cNvPr id="57" name="boundary">
              <a:extLst>
                <a:ext uri="{FF2B5EF4-FFF2-40B4-BE49-F238E27FC236}">
                  <a16:creationId xmlns:a16="http://schemas.microsoft.com/office/drawing/2014/main" id="{6BA49F19-D7E6-42B1-AE92-45FBA02938F8}"/>
                </a:ext>
              </a:extLst>
            </p:cNvPr>
            <p:cNvSpPr>
              <a:spLocks/>
            </p:cNvSpPr>
            <p:nvPr/>
          </p:nvSpPr>
          <p:spPr>
            <a:xfrm>
              <a:off x="952500" y="1371600"/>
              <a:ext cx="4191000" cy="1200150"/>
            </a:xfrm>
            <a:prstGeom prst="roundRect">
              <a:avLst>
                <a:gd name="adj" fmla="val 317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" name="依赖文件 / 清单">
              <a:extLst>
                <a:ext uri="{FF2B5EF4-FFF2-40B4-BE49-F238E27FC236}">
                  <a16:creationId xmlns:a16="http://schemas.microsoft.com/office/drawing/2014/main" id="{06699F22-C389-4601-B451-DDA179AEBE0C}"/>
                </a:ext>
              </a:extLst>
            </p:cNvPr>
            <p:cNvSpPr>
              <a:spLocks/>
            </p:cNvSpPr>
            <p:nvPr/>
          </p:nvSpPr>
          <p:spPr>
            <a:xfrm>
              <a:off x="1047750" y="1466850"/>
              <a:ext cx="4000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依赖文件 / 清单</a:t>
              </a:r>
            </a:p>
          </p:txBody>
        </p:sp>
        <p:sp>
          <p:nvSpPr>
            <p:cNvPr id="3" name="组件与版本">
              <a:extLst>
                <a:ext uri="{FF2B5EF4-FFF2-40B4-BE49-F238E27FC236}">
                  <a16:creationId xmlns:a16="http://schemas.microsoft.com/office/drawing/2014/main" id="{36BAA9A2-7BE4-4192-B478-A5F532B8AFB9}"/>
                </a:ext>
              </a:extLst>
            </p:cNvPr>
            <p:cNvSpPr>
              <a:spLocks/>
            </p:cNvSpPr>
            <p:nvPr/>
          </p:nvSpPr>
          <p:spPr>
            <a:xfrm>
              <a:off x="1066800" y="1895475"/>
              <a:ext cx="39624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组件与版本</a:t>
              </a:r>
            </a:p>
          </p:txBody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C9293626-44DB-4D6B-806D-226FF9EF969E}"/>
                </a:ext>
              </a:extLst>
            </p:cNvPr>
            <p:cNvSpPr>
              <a:spLocks/>
            </p:cNvSpPr>
            <p:nvPr/>
          </p:nvSpPr>
          <p:spPr>
            <a:xfrm>
              <a:off x="6286500" y="1371600"/>
              <a:ext cx="4191000" cy="1200150"/>
            </a:xfrm>
            <a:prstGeom prst="roundRect">
              <a:avLst>
                <a:gd name="adj" fmla="val 3175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5" name="purl 与生态">
              <a:extLst>
                <a:ext uri="{FF2B5EF4-FFF2-40B4-BE49-F238E27FC236}">
                  <a16:creationId xmlns:a16="http://schemas.microsoft.com/office/drawing/2014/main" id="{7CEE165F-D3F4-4EE3-A137-F244917CAA84}"/>
                </a:ext>
              </a:extLst>
            </p:cNvPr>
            <p:cNvSpPr>
              <a:spLocks/>
            </p:cNvSpPr>
            <p:nvPr/>
          </p:nvSpPr>
          <p:spPr>
            <a:xfrm>
              <a:off x="6381750" y="1466850"/>
              <a:ext cx="4000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purl 与生态</a:t>
              </a:r>
            </a:p>
          </p:txBody>
        </p:sp>
        <p:sp>
          <p:nvSpPr>
            <p:cNvPr id="6" name="规范化输入">
              <a:extLst>
                <a:ext uri="{FF2B5EF4-FFF2-40B4-BE49-F238E27FC236}">
                  <a16:creationId xmlns:a16="http://schemas.microsoft.com/office/drawing/2014/main" id="{DDCBDEAC-5276-4ADB-A87F-B3661935C1CD}"/>
                </a:ext>
              </a:extLst>
            </p:cNvPr>
            <p:cNvSpPr>
              <a:spLocks/>
            </p:cNvSpPr>
            <p:nvPr/>
          </p:nvSpPr>
          <p:spPr>
            <a:xfrm>
              <a:off x="6400800" y="1895475"/>
              <a:ext cx="39624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规范化输入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08F0DBD0-741D-4637-A723-27C2C3B06757}"/>
                </a:ext>
              </a:extLst>
            </p:cNvPr>
            <p:cNvSpPr>
              <a:spLocks/>
            </p:cNvSpPr>
            <p:nvPr/>
          </p:nvSpPr>
          <p:spPr>
            <a:xfrm>
              <a:off x="2286000" y="3476625"/>
              <a:ext cx="6858000" cy="1238250"/>
            </a:xfrm>
            <a:prstGeom prst="roundRect">
              <a:avLst>
                <a:gd name="adj" fmla="val 3077"/>
              </a:avLst>
            </a:prstGeom>
            <a:solidFill>
              <a:srgbClr val="277DC3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8" name="OSV 区间求解">
              <a:extLst>
                <a:ext uri="{FF2B5EF4-FFF2-40B4-BE49-F238E27FC236}">
                  <a16:creationId xmlns:a16="http://schemas.microsoft.com/office/drawing/2014/main" id="{205B3327-50ED-4EC8-8115-1734CB855EE2}"/>
                </a:ext>
              </a:extLst>
            </p:cNvPr>
            <p:cNvSpPr>
              <a:spLocks/>
            </p:cNvSpPr>
            <p:nvPr/>
          </p:nvSpPr>
          <p:spPr>
            <a:xfrm>
              <a:off x="2381250" y="3571875"/>
              <a:ext cx="6667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OSV 区间求解</a:t>
              </a:r>
            </a:p>
          </p:txBody>
        </p:sp>
        <p:sp>
          <p:nvSpPr>
            <p:cNvPr id="9" name="introduced / fixed / last_affected / limit">
              <a:extLst>
                <a:ext uri="{FF2B5EF4-FFF2-40B4-BE49-F238E27FC236}">
                  <a16:creationId xmlns:a16="http://schemas.microsoft.com/office/drawing/2014/main" id="{C8D5C226-59D1-4716-9B0C-FBB0D6000A6D}"/>
                </a:ext>
              </a:extLst>
            </p:cNvPr>
            <p:cNvSpPr>
              <a:spLocks/>
            </p:cNvSpPr>
            <p:nvPr/>
          </p:nvSpPr>
          <p:spPr>
            <a:xfrm>
              <a:off x="2400300" y="4000500"/>
              <a:ext cx="66294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0">
                  <a:solidFill>
                    <a:srgbClr val="FFFFFF"/>
                  </a:solidFill>
                </a:defRPr>
              </a:pPr>
              <a:r>
                <a:rPr sz="1725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introduced / fixed / last_affected / limit</a:t>
              </a:r>
            </a:p>
          </p:txBody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381AF5EB-FE3B-4610-963F-45E3BE738522}"/>
                </a:ext>
              </a:extLst>
            </p:cNvPr>
            <p:cNvSpPr>
              <a:spLocks/>
            </p:cNvSpPr>
            <p:nvPr/>
          </p:nvSpPr>
          <p:spPr>
            <a:xfrm>
              <a:off x="3048000" y="2571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F5CD37B4-37FA-44FA-8E83-20E40F4A8930}"/>
                </a:ext>
              </a:extLst>
            </p:cNvPr>
            <p:cNvSpPr>
              <a:spLocks/>
            </p:cNvSpPr>
            <p:nvPr/>
          </p:nvSpPr>
          <p:spPr>
            <a:xfrm>
              <a:off x="3048000" y="3000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57FE6B41-3A1F-4478-98D0-EF5E9A678BE2}"/>
                </a:ext>
              </a:extLst>
            </p:cNvPr>
            <p:cNvSpPr>
              <a:spLocks/>
            </p:cNvSpPr>
            <p:nvPr/>
          </p:nvSpPr>
          <p:spPr>
            <a:xfrm>
              <a:off x="3048000" y="3000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C89C7434-F44E-4BB2-AF36-25881677DAE3}"/>
                </a:ext>
              </a:extLst>
            </p:cNvPr>
            <p:cNvSpPr>
              <a:spLocks/>
            </p:cNvSpPr>
            <p:nvPr/>
          </p:nvSpPr>
          <p:spPr>
            <a:xfrm>
              <a:off x="5715000" y="3000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boundary">
              <a:extLst>
                <a:ext uri="{FF2B5EF4-FFF2-40B4-BE49-F238E27FC236}">
                  <a16:creationId xmlns:a16="http://schemas.microsoft.com/office/drawing/2014/main" id="{BE1943FD-47C3-47BC-A4D7-AFC8777F8E61}"/>
                </a:ext>
              </a:extLst>
            </p:cNvPr>
            <p:cNvSpPr>
              <a:spLocks/>
            </p:cNvSpPr>
            <p:nvPr/>
          </p:nvSpPr>
          <p:spPr>
            <a:xfrm>
              <a:off x="5715000" y="3000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78491DFF-807E-433F-B550-FD2F23CE66FA}"/>
                </a:ext>
              </a:extLst>
            </p:cNvPr>
            <p:cNvSpPr>
              <a:spLocks/>
            </p:cNvSpPr>
            <p:nvPr/>
          </p:nvSpPr>
          <p:spPr>
            <a:xfrm>
              <a:off x="5715000" y="3476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281224FD-1AD6-42E0-98E9-58D0D47186C4}"/>
                </a:ext>
              </a:extLst>
            </p:cNvPr>
            <p:cNvSpPr>
              <a:spLocks/>
            </p:cNvSpPr>
            <p:nvPr/>
          </p:nvSpPr>
          <p:spPr>
            <a:xfrm>
              <a:off x="8382000" y="2571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65E94535-8F28-43EE-BCA6-5E537BB0A8B4}"/>
                </a:ext>
              </a:extLst>
            </p:cNvPr>
            <p:cNvSpPr>
              <a:spLocks/>
            </p:cNvSpPr>
            <p:nvPr/>
          </p:nvSpPr>
          <p:spPr>
            <a:xfrm>
              <a:off x="8382000" y="3000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2" name="boundary">
              <a:extLst>
                <a:ext uri="{FF2B5EF4-FFF2-40B4-BE49-F238E27FC236}">
                  <a16:creationId xmlns:a16="http://schemas.microsoft.com/office/drawing/2014/main" id="{62A89236-3044-4633-8E06-0CD25A6A3708}"/>
                </a:ext>
              </a:extLst>
            </p:cNvPr>
            <p:cNvSpPr>
              <a:spLocks/>
            </p:cNvSpPr>
            <p:nvPr/>
          </p:nvSpPr>
          <p:spPr>
            <a:xfrm>
              <a:off x="8382000" y="3000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D0B2BA0C-0265-464D-B6B7-DB0FAEC894AC}"/>
                </a:ext>
              </a:extLst>
            </p:cNvPr>
            <p:cNvSpPr>
              <a:spLocks/>
            </p:cNvSpPr>
            <p:nvPr/>
          </p:nvSpPr>
          <p:spPr>
            <a:xfrm>
              <a:off x="5715000" y="3000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5" name="受影响">
              <a:extLst>
                <a:ext uri="{FF2B5EF4-FFF2-40B4-BE49-F238E27FC236}">
                  <a16:creationId xmlns:a16="http://schemas.microsoft.com/office/drawing/2014/main" id="{58C02ADF-90DA-457F-AFB9-3CACCE680F6E}"/>
                </a:ext>
              </a:extLst>
            </p:cNvPr>
            <p:cNvSpPr>
              <a:spLocks/>
            </p:cNvSpPr>
            <p:nvPr/>
          </p:nvSpPr>
          <p:spPr>
            <a:xfrm>
              <a:off x="476250" y="5600700"/>
              <a:ext cx="3143250" cy="781050"/>
            </a:xfrm>
            <a:prstGeom prst="roundRect">
              <a:avLst>
                <a:gd name="adj" fmla="val 4878"/>
              </a:avLst>
            </a:prstGeom>
            <a:solidFill>
              <a:srgbClr val="FBE7E2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B554B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B554B"/>
                  </a:solidFill>
                </a:defRPr>
              </a:pPr>
              <a:r>
                <a:rPr sz="1875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受影响</a:t>
              </a:r>
            </a:p>
          </p:txBody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50F8689C-E256-4A38-9A02-96E486A80739}"/>
                </a:ext>
              </a:extLst>
            </p:cNvPr>
            <p:cNvSpPr>
              <a:spLocks/>
            </p:cNvSpPr>
            <p:nvPr/>
          </p:nvSpPr>
          <p:spPr>
            <a:xfrm>
              <a:off x="5715000" y="47148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5AA34EFC-C2C3-440B-8F8C-4C836B9BA70A}"/>
                </a:ext>
              </a:extLst>
            </p:cNvPr>
            <p:cNvSpPr>
              <a:spLocks/>
            </p:cNvSpPr>
            <p:nvPr/>
          </p:nvSpPr>
          <p:spPr>
            <a:xfrm>
              <a:off x="5715000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89414745-4CC9-4EB7-A81D-380967436432}"/>
                </a:ext>
              </a:extLst>
            </p:cNvPr>
            <p:cNvSpPr>
              <a:spLocks/>
            </p:cNvSpPr>
            <p:nvPr/>
          </p:nvSpPr>
          <p:spPr>
            <a:xfrm>
              <a:off x="5715000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0" name="boundary">
              <a:extLst>
                <a:ext uri="{FF2B5EF4-FFF2-40B4-BE49-F238E27FC236}">
                  <a16:creationId xmlns:a16="http://schemas.microsoft.com/office/drawing/2014/main" id="{351C2A92-AD56-48A0-A178-DB9E5E43A5F0}"/>
                </a:ext>
              </a:extLst>
            </p:cNvPr>
            <p:cNvSpPr>
              <a:spLocks/>
            </p:cNvSpPr>
            <p:nvPr/>
          </p:nvSpPr>
          <p:spPr>
            <a:xfrm>
              <a:off x="2047875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boundary">
              <a:extLst>
                <a:ext uri="{FF2B5EF4-FFF2-40B4-BE49-F238E27FC236}">
                  <a16:creationId xmlns:a16="http://schemas.microsoft.com/office/drawing/2014/main" id="{BEE205A4-761F-4B10-825A-0930A5516EF0}"/>
                </a:ext>
              </a:extLst>
            </p:cNvPr>
            <p:cNvSpPr>
              <a:spLocks/>
            </p:cNvSpPr>
            <p:nvPr/>
          </p:nvSpPr>
          <p:spPr>
            <a:xfrm>
              <a:off x="2047875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3" name="boundary">
              <a:extLst>
                <a:ext uri="{FF2B5EF4-FFF2-40B4-BE49-F238E27FC236}">
                  <a16:creationId xmlns:a16="http://schemas.microsoft.com/office/drawing/2014/main" id="{6D5F082B-F7F2-4AFE-BA9C-06E4A161252B}"/>
                </a:ext>
              </a:extLst>
            </p:cNvPr>
            <p:cNvSpPr>
              <a:spLocks/>
            </p:cNvSpPr>
            <p:nvPr/>
          </p:nvSpPr>
          <p:spPr>
            <a:xfrm>
              <a:off x="2047875" y="56007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未发现已知影响">
              <a:extLst>
                <a:ext uri="{FF2B5EF4-FFF2-40B4-BE49-F238E27FC236}">
                  <a16:creationId xmlns:a16="http://schemas.microsoft.com/office/drawing/2014/main" id="{F56436B0-5ECC-4307-BF32-F3A22F15BF30}"/>
                </a:ext>
              </a:extLst>
            </p:cNvPr>
            <p:cNvSpPr>
              <a:spLocks/>
            </p:cNvSpPr>
            <p:nvPr/>
          </p:nvSpPr>
          <p:spPr>
            <a:xfrm>
              <a:off x="4143375" y="5600700"/>
              <a:ext cx="3143250" cy="781050"/>
            </a:xfrm>
            <a:prstGeom prst="roundRect">
              <a:avLst>
                <a:gd name="adj" fmla="val 4878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未发现已知影响</a:t>
              </a:r>
            </a:p>
          </p:txBody>
        </p:sp>
        <p:sp>
          <p:nvSpPr>
            <p:cNvPr id="36" name="boundary">
              <a:extLst>
                <a:ext uri="{FF2B5EF4-FFF2-40B4-BE49-F238E27FC236}">
                  <a16:creationId xmlns:a16="http://schemas.microsoft.com/office/drawing/2014/main" id="{BC8902DB-2977-4288-B71B-6AF87E80F271}"/>
                </a:ext>
              </a:extLst>
            </p:cNvPr>
            <p:cNvSpPr>
              <a:spLocks/>
            </p:cNvSpPr>
            <p:nvPr/>
          </p:nvSpPr>
          <p:spPr>
            <a:xfrm>
              <a:off x="5715000" y="47148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658453D9-D05E-4FE4-94DA-6F293C01544E}"/>
                </a:ext>
              </a:extLst>
            </p:cNvPr>
            <p:cNvSpPr>
              <a:spLocks/>
            </p:cNvSpPr>
            <p:nvPr/>
          </p:nvSpPr>
          <p:spPr>
            <a:xfrm>
              <a:off x="5715000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9" name="boundary">
              <a:extLst>
                <a:ext uri="{FF2B5EF4-FFF2-40B4-BE49-F238E27FC236}">
                  <a16:creationId xmlns:a16="http://schemas.microsoft.com/office/drawing/2014/main" id="{ED65E8F0-1607-4E76-8011-3AB6E6449DAA}"/>
                </a:ext>
              </a:extLst>
            </p:cNvPr>
            <p:cNvSpPr>
              <a:spLocks/>
            </p:cNvSpPr>
            <p:nvPr/>
          </p:nvSpPr>
          <p:spPr>
            <a:xfrm>
              <a:off x="5715000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boundary">
              <a:extLst>
                <a:ext uri="{FF2B5EF4-FFF2-40B4-BE49-F238E27FC236}">
                  <a16:creationId xmlns:a16="http://schemas.microsoft.com/office/drawing/2014/main" id="{432724A9-0F70-4E89-9FDE-7431ADDE55A6}"/>
                </a:ext>
              </a:extLst>
            </p:cNvPr>
            <p:cNvSpPr>
              <a:spLocks/>
            </p:cNvSpPr>
            <p:nvPr/>
          </p:nvSpPr>
          <p:spPr>
            <a:xfrm>
              <a:off x="5715000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2" name="boundary">
              <a:extLst>
                <a:ext uri="{FF2B5EF4-FFF2-40B4-BE49-F238E27FC236}">
                  <a16:creationId xmlns:a16="http://schemas.microsoft.com/office/drawing/2014/main" id="{E4AA7AED-D08C-4D1D-94FA-6CF2BE47BF73}"/>
                </a:ext>
              </a:extLst>
            </p:cNvPr>
            <p:cNvSpPr>
              <a:spLocks/>
            </p:cNvSpPr>
            <p:nvPr/>
          </p:nvSpPr>
          <p:spPr>
            <a:xfrm>
              <a:off x="5715000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3" name="boundary">
              <a:extLst>
                <a:ext uri="{FF2B5EF4-FFF2-40B4-BE49-F238E27FC236}">
                  <a16:creationId xmlns:a16="http://schemas.microsoft.com/office/drawing/2014/main" id="{5152897B-C781-4519-880E-4E7EF3D7489A}"/>
                </a:ext>
              </a:extLst>
            </p:cNvPr>
            <p:cNvSpPr>
              <a:spLocks/>
            </p:cNvSpPr>
            <p:nvPr/>
          </p:nvSpPr>
          <p:spPr>
            <a:xfrm>
              <a:off x="5715000" y="56007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5" name="组件未收录">
              <a:extLst>
                <a:ext uri="{FF2B5EF4-FFF2-40B4-BE49-F238E27FC236}">
                  <a16:creationId xmlns:a16="http://schemas.microsoft.com/office/drawing/2014/main" id="{1BED48E1-5FD9-4B43-9FE7-8C54E1F1E5B1}"/>
                </a:ext>
              </a:extLst>
            </p:cNvPr>
            <p:cNvSpPr>
              <a:spLocks/>
            </p:cNvSpPr>
            <p:nvPr/>
          </p:nvSpPr>
          <p:spPr>
            <a:xfrm>
              <a:off x="7810500" y="5600700"/>
              <a:ext cx="3143250" cy="781050"/>
            </a:xfrm>
            <a:prstGeom prst="roundRect">
              <a:avLst>
                <a:gd name="adj" fmla="val 4878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组件未收录</a:t>
              </a:r>
            </a:p>
          </p:txBody>
        </p:sp>
        <p:sp>
          <p:nvSpPr>
            <p:cNvPr id="46" name="boundary">
              <a:extLst>
                <a:ext uri="{FF2B5EF4-FFF2-40B4-BE49-F238E27FC236}">
                  <a16:creationId xmlns:a16="http://schemas.microsoft.com/office/drawing/2014/main" id="{E1FDCBAA-7B7F-4FD1-A34B-8D4B8F05C2EE}"/>
                </a:ext>
              </a:extLst>
            </p:cNvPr>
            <p:cNvSpPr>
              <a:spLocks/>
            </p:cNvSpPr>
            <p:nvPr/>
          </p:nvSpPr>
          <p:spPr>
            <a:xfrm>
              <a:off x="5715000" y="47148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boundary">
              <a:extLst>
                <a:ext uri="{FF2B5EF4-FFF2-40B4-BE49-F238E27FC236}">
                  <a16:creationId xmlns:a16="http://schemas.microsoft.com/office/drawing/2014/main" id="{465CCBCF-3598-4718-A991-DC97549A5DB3}"/>
                </a:ext>
              </a:extLst>
            </p:cNvPr>
            <p:cNvSpPr>
              <a:spLocks/>
            </p:cNvSpPr>
            <p:nvPr/>
          </p:nvSpPr>
          <p:spPr>
            <a:xfrm>
              <a:off x="5715000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9" name="boundary">
              <a:extLst>
                <a:ext uri="{FF2B5EF4-FFF2-40B4-BE49-F238E27FC236}">
                  <a16:creationId xmlns:a16="http://schemas.microsoft.com/office/drawing/2014/main" id="{3A404546-6450-452C-A69B-C14827E4B093}"/>
                </a:ext>
              </a:extLst>
            </p:cNvPr>
            <p:cNvSpPr>
              <a:spLocks/>
            </p:cNvSpPr>
            <p:nvPr/>
          </p:nvSpPr>
          <p:spPr>
            <a:xfrm>
              <a:off x="5715000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0" name="boundary">
              <a:extLst>
                <a:ext uri="{FF2B5EF4-FFF2-40B4-BE49-F238E27FC236}">
                  <a16:creationId xmlns:a16="http://schemas.microsoft.com/office/drawing/2014/main" id="{996EEAF2-63B6-4AA6-898C-89DB291F52EC}"/>
                </a:ext>
              </a:extLst>
            </p:cNvPr>
            <p:cNvSpPr>
              <a:spLocks/>
            </p:cNvSpPr>
            <p:nvPr/>
          </p:nvSpPr>
          <p:spPr>
            <a:xfrm>
              <a:off x="9382125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2" name="boundary">
              <a:extLst>
                <a:ext uri="{FF2B5EF4-FFF2-40B4-BE49-F238E27FC236}">
                  <a16:creationId xmlns:a16="http://schemas.microsoft.com/office/drawing/2014/main" id="{ED55773D-94E8-4191-B7DA-77E3B005F861}"/>
                </a:ext>
              </a:extLst>
            </p:cNvPr>
            <p:cNvSpPr>
              <a:spLocks/>
            </p:cNvSpPr>
            <p:nvPr/>
          </p:nvSpPr>
          <p:spPr>
            <a:xfrm>
              <a:off x="9382125" y="51530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3" name="boundary">
              <a:extLst>
                <a:ext uri="{FF2B5EF4-FFF2-40B4-BE49-F238E27FC236}">
                  <a16:creationId xmlns:a16="http://schemas.microsoft.com/office/drawing/2014/main" id="{8C50D9CC-3063-4AD8-BF27-90EC66F88B4E}"/>
                </a:ext>
              </a:extLst>
            </p:cNvPr>
            <p:cNvSpPr>
              <a:spLocks/>
            </p:cNvSpPr>
            <p:nvPr/>
          </p:nvSpPr>
          <p:spPr>
            <a:xfrm>
              <a:off x="9382125" y="56007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5" name="共享入口：Web / check_stack / shaowang check">
              <a:extLst>
                <a:ext uri="{FF2B5EF4-FFF2-40B4-BE49-F238E27FC236}">
                  <a16:creationId xmlns:a16="http://schemas.microsoft.com/office/drawing/2014/main" id="{C00BFB8D-D5B5-4A48-84F4-93D85823F095}"/>
                </a:ext>
              </a:extLst>
            </p:cNvPr>
            <p:cNvSpPr>
              <a:spLocks/>
            </p:cNvSpPr>
            <p:nvPr/>
          </p:nvSpPr>
          <p:spPr>
            <a:xfrm>
              <a:off x="714375" y="6657975"/>
              <a:ext cx="10001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77DC3"/>
                  </a:solidFill>
                </a:defRPr>
              </a:pPr>
              <a:r>
                <a:rPr sz="195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共享入口：Web / check_stack / shaowang check</a:t>
              </a:r>
            </a:p>
          </p:txBody>
        </p:sp>
        <p:sp>
          <p:nvSpPr>
            <p:cNvPr id="56" name="区间有分歧时提示；高危退出码 1 可接 CI；未知不等于安全">
              <a:extLst>
                <a:ext uri="{FF2B5EF4-FFF2-40B4-BE49-F238E27FC236}">
                  <a16:creationId xmlns:a16="http://schemas.microsoft.com/office/drawing/2014/main" id="{36E853F6-9B77-43E9-86FD-C609F0BE833A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区间有分歧时提示；高危退出码 1 可接 CI；未知不等于安全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7110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F-17 - whole figure">
            <a:extLst>
              <a:ext uri="{FF2B5EF4-FFF2-40B4-BE49-F238E27FC236}">
                <a16:creationId xmlns:a16="http://schemas.microsoft.com/office/drawing/2014/main" id="{7E784423-CE7F-49BA-0E85-B8505C87A686}"/>
              </a:ext>
            </a:extLst>
          </p:cNvPr>
          <p:cNvGrpSpPr/>
          <p:nvPr/>
        </p:nvGrpSpPr>
        <p:grpSpPr>
          <a:xfrm>
            <a:off x="428625" y="1400175"/>
            <a:ext cx="10572750" cy="6562725"/>
            <a:chOff x="428625" y="1400175"/>
            <a:chExt cx="10572750" cy="6562725"/>
          </a:xfrm>
        </p:grpSpPr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7FAEA765-CE58-447A-AE36-3D90E5FA3C24}"/>
                </a:ext>
              </a:extLst>
            </p:cNvPr>
            <p:cNvCxnSpPr>
              <a:stCxn id="81" idx="3"/>
              <a:endCxn id="82" idx="1"/>
            </p:cNvCxnSpPr>
            <p:nvPr/>
          </p:nvCxnSpPr>
          <p:spPr>
            <a:xfrm flipH="1" flipV="1">
              <a:off x="1476375" y="4343877"/>
              <a:ext cx="953" cy="2181225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  <a:tailEnd type="triangle" w="sm" len="sm"/>
            </a:ln>
          </p:spPr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A5C548FC-4849-4DFD-B399-FD7BDB6520A0}"/>
                </a:ext>
              </a:extLst>
            </p:cNvPr>
            <p:cNvCxnSpPr>
              <a:stCxn id="78" idx="3"/>
              <a:endCxn id="79" idx="1"/>
            </p:cNvCxnSpPr>
            <p:nvPr/>
          </p:nvCxnSpPr>
          <p:spPr>
            <a:xfrm flipH="1">
              <a:off x="1476375" y="6525102"/>
              <a:ext cx="2382203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</a:ln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7BA2A677-A710-4404-BD7E-CA8AF638F45D}"/>
                </a:ext>
              </a:extLst>
            </p:cNvPr>
            <p:cNvCxnSpPr>
              <a:stCxn id="74" idx="1"/>
              <a:endCxn id="76" idx="3"/>
            </p:cNvCxnSpPr>
            <p:nvPr/>
          </p:nvCxnSpPr>
          <p:spPr>
            <a:xfrm flipH="1">
              <a:off x="6353175" y="6524625"/>
              <a:ext cx="1533525" cy="0"/>
            </a:xfrm>
            <a:prstGeom prst="straightConnector1">
              <a:avLst/>
            </a:prstGeom>
            <a:ln w="22860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22EB7FBD-38FA-4AFA-99FF-25B1DD6E9BC5}"/>
                </a:ext>
              </a:extLst>
            </p:cNvPr>
            <p:cNvCxnSpPr>
              <a:stCxn id="70" idx="2"/>
              <a:endCxn id="74" idx="0"/>
            </p:cNvCxnSpPr>
            <p:nvPr/>
          </p:nvCxnSpPr>
          <p:spPr>
            <a:xfrm flipH="1">
              <a:off x="9444038" y="4343400"/>
              <a:ext cx="509588" cy="184785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B2AFAC12-657E-4621-AB98-F0A3D84D8E3C}"/>
                </a:ext>
              </a:extLst>
            </p:cNvPr>
            <p:cNvCxnSpPr>
              <a:stCxn id="40" idx="3"/>
              <a:endCxn id="70" idx="1"/>
            </p:cNvCxnSpPr>
            <p:nvPr/>
          </p:nvCxnSpPr>
          <p:spPr>
            <a:xfrm>
              <a:off x="8324850" y="3748088"/>
              <a:ext cx="581025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0BAED77F-B910-46B5-9762-217F7B84264A}"/>
                </a:ext>
              </a:extLst>
            </p:cNvPr>
            <p:cNvCxnSpPr>
              <a:stCxn id="67" idx="3"/>
              <a:endCxn id="68" idx="1"/>
            </p:cNvCxnSpPr>
            <p:nvPr/>
          </p:nvCxnSpPr>
          <p:spPr>
            <a:xfrm>
              <a:off x="6220778" y="3753327"/>
              <a:ext cx="43719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D76F3FF3-4BCD-46A3-8D01-750EC15DCF14}"/>
                </a:ext>
              </a:extLst>
            </p:cNvPr>
            <p:cNvCxnSpPr>
              <a:stCxn id="64" idx="3"/>
              <a:endCxn id="65" idx="1"/>
            </p:cNvCxnSpPr>
            <p:nvPr/>
          </p:nvCxnSpPr>
          <p:spPr>
            <a:xfrm flipH="1" flipV="1">
              <a:off x="6219825" y="3753327"/>
              <a:ext cx="953" cy="183832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34BF7340-FB02-4856-AA18-A5C4CA5AABB4}"/>
                </a:ext>
              </a:extLst>
            </p:cNvPr>
            <p:cNvCxnSpPr>
              <a:stCxn id="61" idx="3"/>
              <a:endCxn id="62" idx="1"/>
            </p:cNvCxnSpPr>
            <p:nvPr/>
          </p:nvCxnSpPr>
          <p:spPr>
            <a:xfrm>
              <a:off x="5811203" y="5591652"/>
              <a:ext cx="408622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CC1B8D0B-DE13-4AA5-907F-4F210333FD59}"/>
                </a:ext>
              </a:extLst>
            </p:cNvPr>
            <p:cNvCxnSpPr>
              <a:stCxn id="58" idx="3"/>
              <a:endCxn id="59" idx="1"/>
            </p:cNvCxnSpPr>
            <p:nvPr/>
          </p:nvCxnSpPr>
          <p:spPr>
            <a:xfrm>
              <a:off x="6220778" y="3753327"/>
              <a:ext cx="4371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F2354C11-F7F9-4D35-8470-9518DDD77290}"/>
                </a:ext>
              </a:extLst>
            </p:cNvPr>
            <p:cNvCxnSpPr>
              <a:stCxn id="55" idx="3"/>
              <a:endCxn id="56" idx="1"/>
            </p:cNvCxnSpPr>
            <p:nvPr/>
          </p:nvCxnSpPr>
          <p:spPr>
            <a:xfrm flipH="1">
              <a:off x="6219825" y="3753327"/>
              <a:ext cx="95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1D7C21D-7B4F-47F3-84A8-78C08A120BB6}"/>
                </a:ext>
              </a:extLst>
            </p:cNvPr>
            <p:cNvCxnSpPr>
              <a:stCxn id="52" idx="3"/>
              <a:endCxn id="53" idx="1"/>
            </p:cNvCxnSpPr>
            <p:nvPr/>
          </p:nvCxnSpPr>
          <p:spPr>
            <a:xfrm>
              <a:off x="5811203" y="3753327"/>
              <a:ext cx="408622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30D1074C-B57D-4814-852E-9FD55DAC72A4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>
              <a:off x="6220778" y="3753327"/>
              <a:ext cx="4371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0C331A03-B9F7-47E2-93DA-470D392B8175}"/>
                </a:ext>
              </a:extLst>
            </p:cNvPr>
            <p:cNvCxnSpPr>
              <a:stCxn id="46" idx="3"/>
              <a:endCxn id="47" idx="1"/>
            </p:cNvCxnSpPr>
            <p:nvPr/>
          </p:nvCxnSpPr>
          <p:spPr>
            <a:xfrm flipH="1">
              <a:off x="6219825" y="1915002"/>
              <a:ext cx="953" cy="18383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40E5644-E6D3-4F79-AC57-8424B0EF3D64}"/>
                </a:ext>
              </a:extLst>
            </p:cNvPr>
            <p:cNvCxnSpPr>
              <a:stCxn id="43" idx="3"/>
              <a:endCxn id="44" idx="1"/>
            </p:cNvCxnSpPr>
            <p:nvPr/>
          </p:nvCxnSpPr>
          <p:spPr>
            <a:xfrm>
              <a:off x="5811203" y="1915002"/>
              <a:ext cx="408622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A0366491-8C3B-43FC-A1A6-52EED17C34CD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>
              <a:off x="2887028" y="5591652"/>
              <a:ext cx="39909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A3B3D4E7-3F53-497B-92C7-FCAE8743FD1C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 flipH="1">
              <a:off x="2886075" y="3753327"/>
              <a:ext cx="953" cy="183832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48D4D04-B15E-49B1-A4ED-9F3E4447D449}"/>
                </a:ext>
              </a:extLst>
            </p:cNvPr>
            <p:cNvCxnSpPr>
              <a:stCxn id="31" idx="3"/>
              <a:endCxn id="32" idx="1"/>
            </p:cNvCxnSpPr>
            <p:nvPr/>
          </p:nvCxnSpPr>
          <p:spPr>
            <a:xfrm>
              <a:off x="2525078" y="3753327"/>
              <a:ext cx="36099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solid"/>
            </a:ln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4EFFE166-BC70-4BDD-A717-FD9C00B15395}"/>
                </a:ext>
              </a:extLst>
            </p:cNvPr>
            <p:cNvCxnSpPr>
              <a:stCxn id="28" idx="3"/>
              <a:endCxn id="29" idx="1"/>
            </p:cNvCxnSpPr>
            <p:nvPr/>
          </p:nvCxnSpPr>
          <p:spPr>
            <a:xfrm>
              <a:off x="2887028" y="3753327"/>
              <a:ext cx="3990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F4A68F6D-CF80-46AB-A847-5F475D644383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 flipH="1">
              <a:off x="2886075" y="3753327"/>
              <a:ext cx="95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A5349B2-6B83-4B4A-8128-AE8D142C0883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>
              <a:off x="2525078" y="3753327"/>
              <a:ext cx="3609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10BDF0A-967B-4952-BE79-31632F4144DB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>
              <a:off x="2887028" y="1915002"/>
              <a:ext cx="3990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2F7872CA-0BAF-4066-8AFA-768448FC8DC1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 flipH="1" flipV="1">
              <a:off x="2886075" y="1915002"/>
              <a:ext cx="953" cy="18383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1876D70-CB4C-4F23-B286-777E90E37D79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2525078" y="3753327"/>
              <a:ext cx="3609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sp>
          <p:nvSpPr>
            <p:cNvPr id="86" name="boundary">
              <a:extLst>
                <a:ext uri="{FF2B5EF4-FFF2-40B4-BE49-F238E27FC236}">
                  <a16:creationId xmlns:a16="http://schemas.microsoft.com/office/drawing/2014/main" id="{57D99D17-4805-4E4A-A60B-BF0507C1BB9D}"/>
                </a:ext>
              </a:extLst>
            </p:cNvPr>
            <p:cNvSpPr>
              <a:spLocks/>
            </p:cNvSpPr>
            <p:nvPr/>
          </p:nvSpPr>
          <p:spPr>
            <a:xfrm>
              <a:off x="428625" y="3152775"/>
              <a:ext cx="2095500" cy="1190625"/>
            </a:xfrm>
            <a:prstGeom prst="roundRect">
              <a:avLst>
                <a:gd name="adj" fmla="val 32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" name="问题与规划器">
              <a:extLst>
                <a:ext uri="{FF2B5EF4-FFF2-40B4-BE49-F238E27FC236}">
                  <a16:creationId xmlns:a16="http://schemas.microsoft.com/office/drawing/2014/main" id="{47A4E76F-372D-4856-A4FE-398661359EE3}"/>
                </a:ext>
              </a:extLst>
            </p:cNvPr>
            <p:cNvSpPr>
              <a:spLocks/>
            </p:cNvSpPr>
            <p:nvPr/>
          </p:nvSpPr>
          <p:spPr>
            <a:xfrm>
              <a:off x="523875" y="3248025"/>
              <a:ext cx="1905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问题与规划器</a:t>
              </a:r>
            </a:p>
          </p:txBody>
        </p:sp>
        <p:sp>
          <p:nvSpPr>
            <p:cNvPr id="3" name="检索计划">
              <a:extLst>
                <a:ext uri="{FF2B5EF4-FFF2-40B4-BE49-F238E27FC236}">
                  <a16:creationId xmlns:a16="http://schemas.microsoft.com/office/drawing/2014/main" id="{4207E8FB-FB98-4638-8ABE-E67935F6D6DE}"/>
                </a:ext>
              </a:extLst>
            </p:cNvPr>
            <p:cNvSpPr>
              <a:spLocks/>
            </p:cNvSpPr>
            <p:nvPr/>
          </p:nvSpPr>
          <p:spPr>
            <a:xfrm>
              <a:off x="542925" y="3676650"/>
              <a:ext cx="18669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检索计划</a:t>
              </a:r>
            </a:p>
          </p:txBody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526B8D12-EEEE-4540-9311-535777A14FBA}"/>
                </a:ext>
              </a:extLst>
            </p:cNvPr>
            <p:cNvSpPr>
              <a:spLocks/>
            </p:cNvSpPr>
            <p:nvPr/>
          </p:nvSpPr>
          <p:spPr>
            <a:xfrm>
              <a:off x="3286125" y="1400175"/>
              <a:ext cx="2524125" cy="1028700"/>
            </a:xfrm>
            <a:prstGeom prst="roundRect">
              <a:avLst>
                <a:gd name="adj" fmla="val 3704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5" name="BM25">
              <a:extLst>
                <a:ext uri="{FF2B5EF4-FFF2-40B4-BE49-F238E27FC236}">
                  <a16:creationId xmlns:a16="http://schemas.microsoft.com/office/drawing/2014/main" id="{8892A135-52BA-4912-9F02-FAD0EEB132A3}"/>
                </a:ext>
              </a:extLst>
            </p:cNvPr>
            <p:cNvSpPr>
              <a:spLocks/>
            </p:cNvSpPr>
            <p:nvPr/>
          </p:nvSpPr>
          <p:spPr>
            <a:xfrm>
              <a:off x="3381375" y="1495425"/>
              <a:ext cx="233362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BM25</a:t>
              </a:r>
            </a:p>
          </p:txBody>
        </p:sp>
        <p:sp>
          <p:nvSpPr>
            <p:cNvPr id="6" name="关键词召回">
              <a:extLst>
                <a:ext uri="{FF2B5EF4-FFF2-40B4-BE49-F238E27FC236}">
                  <a16:creationId xmlns:a16="http://schemas.microsoft.com/office/drawing/2014/main" id="{FFEEAC0A-AAF5-4915-A7F8-7FCDD3764C7A}"/>
                </a:ext>
              </a:extLst>
            </p:cNvPr>
            <p:cNvSpPr>
              <a:spLocks/>
            </p:cNvSpPr>
            <p:nvPr/>
          </p:nvSpPr>
          <p:spPr>
            <a:xfrm>
              <a:off x="3400425" y="1924050"/>
              <a:ext cx="229552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关键词召回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AAC2F7A3-D51C-4F29-8FA9-914C205C48E5}"/>
                </a:ext>
              </a:extLst>
            </p:cNvPr>
            <p:cNvSpPr>
              <a:spLocks/>
            </p:cNvSpPr>
            <p:nvPr/>
          </p:nvSpPr>
          <p:spPr>
            <a:xfrm>
              <a:off x="3286125" y="3238500"/>
              <a:ext cx="2524125" cy="1028700"/>
            </a:xfrm>
            <a:prstGeom prst="roundRect">
              <a:avLst>
                <a:gd name="adj" fmla="val 3704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8" name="向量 top-50">
              <a:extLst>
                <a:ext uri="{FF2B5EF4-FFF2-40B4-BE49-F238E27FC236}">
                  <a16:creationId xmlns:a16="http://schemas.microsoft.com/office/drawing/2014/main" id="{0F3ECD07-BB58-4459-9486-4BFFD47D7FE0}"/>
                </a:ext>
              </a:extLst>
            </p:cNvPr>
            <p:cNvSpPr>
              <a:spLocks/>
            </p:cNvSpPr>
            <p:nvPr/>
          </p:nvSpPr>
          <p:spPr>
            <a:xfrm>
              <a:off x="3381375" y="3333750"/>
              <a:ext cx="233362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向量 top-50</a:t>
              </a:r>
            </a:p>
          </p:txBody>
        </p:sp>
        <p:sp>
          <p:nvSpPr>
            <p:cNvPr id="9" name="语义召回">
              <a:extLst>
                <a:ext uri="{FF2B5EF4-FFF2-40B4-BE49-F238E27FC236}">
                  <a16:creationId xmlns:a16="http://schemas.microsoft.com/office/drawing/2014/main" id="{75AB825E-895B-46A3-8D99-63CE394D7B19}"/>
                </a:ext>
              </a:extLst>
            </p:cNvPr>
            <p:cNvSpPr>
              <a:spLocks/>
            </p:cNvSpPr>
            <p:nvPr/>
          </p:nvSpPr>
          <p:spPr>
            <a:xfrm>
              <a:off x="3400425" y="3762375"/>
              <a:ext cx="229552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语义召回</a:t>
              </a:r>
            </a:p>
          </p:txBody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BEBABCAF-3339-4EBE-B9AE-A78754257FD8}"/>
                </a:ext>
              </a:extLst>
            </p:cNvPr>
            <p:cNvSpPr>
              <a:spLocks/>
            </p:cNvSpPr>
            <p:nvPr/>
          </p:nvSpPr>
          <p:spPr>
            <a:xfrm>
              <a:off x="3286125" y="5076825"/>
              <a:ext cx="2524125" cy="1028700"/>
            </a:xfrm>
            <a:prstGeom prst="roundRect">
              <a:avLst>
                <a:gd name="adj" fmla="val 3704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1" name="图扩展 1–2 跳">
              <a:extLst>
                <a:ext uri="{FF2B5EF4-FFF2-40B4-BE49-F238E27FC236}">
                  <a16:creationId xmlns:a16="http://schemas.microsoft.com/office/drawing/2014/main" id="{7CBB7F97-14F8-42AE-ACB7-18938EF57ACC}"/>
                </a:ext>
              </a:extLst>
            </p:cNvPr>
            <p:cNvSpPr>
              <a:spLocks/>
            </p:cNvSpPr>
            <p:nvPr/>
          </p:nvSpPr>
          <p:spPr>
            <a:xfrm>
              <a:off x="3381375" y="5172075"/>
              <a:ext cx="233362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图扩展 1–2 跳</a:t>
              </a:r>
            </a:p>
          </p:txBody>
        </p:sp>
        <p:sp>
          <p:nvSpPr>
            <p:cNvPr id="12" name="关系召回">
              <a:extLst>
                <a:ext uri="{FF2B5EF4-FFF2-40B4-BE49-F238E27FC236}">
                  <a16:creationId xmlns:a16="http://schemas.microsoft.com/office/drawing/2014/main" id="{175BC6D1-50EB-4A05-BFFE-3AB8D1BD3D26}"/>
                </a:ext>
              </a:extLst>
            </p:cNvPr>
            <p:cNvSpPr>
              <a:spLocks/>
            </p:cNvSpPr>
            <p:nvPr/>
          </p:nvSpPr>
          <p:spPr>
            <a:xfrm>
              <a:off x="3400425" y="5600700"/>
              <a:ext cx="229552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关系召回</a:t>
              </a:r>
            </a:p>
          </p:txBody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C9130854-FCF9-46C0-9F7F-809C22D8F984}"/>
                </a:ext>
              </a:extLst>
            </p:cNvPr>
            <p:cNvSpPr>
              <a:spLocks/>
            </p:cNvSpPr>
            <p:nvPr/>
          </p:nvSpPr>
          <p:spPr>
            <a:xfrm>
              <a:off x="25241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A416D68F-9DE5-4607-85F8-1DA0DC163027}"/>
                </a:ext>
              </a:extLst>
            </p:cNvPr>
            <p:cNvSpPr>
              <a:spLocks/>
            </p:cNvSpPr>
            <p:nvPr/>
          </p:nvSpPr>
          <p:spPr>
            <a:xfrm>
              <a:off x="28860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boundary">
              <a:extLst>
                <a:ext uri="{FF2B5EF4-FFF2-40B4-BE49-F238E27FC236}">
                  <a16:creationId xmlns:a16="http://schemas.microsoft.com/office/drawing/2014/main" id="{1C8E84F0-2189-43D7-8389-31703FD48DD5}"/>
                </a:ext>
              </a:extLst>
            </p:cNvPr>
            <p:cNvSpPr>
              <a:spLocks/>
            </p:cNvSpPr>
            <p:nvPr/>
          </p:nvSpPr>
          <p:spPr>
            <a:xfrm>
              <a:off x="28860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C70EAB67-1F97-4C7B-AEC3-910A9BAF0B1E}"/>
                </a:ext>
              </a:extLst>
            </p:cNvPr>
            <p:cNvSpPr>
              <a:spLocks/>
            </p:cNvSpPr>
            <p:nvPr/>
          </p:nvSpPr>
          <p:spPr>
            <a:xfrm>
              <a:off x="2886075" y="19145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27F65226-51B0-49F4-9F46-751AC1DB5C90}"/>
                </a:ext>
              </a:extLst>
            </p:cNvPr>
            <p:cNvSpPr>
              <a:spLocks/>
            </p:cNvSpPr>
            <p:nvPr/>
          </p:nvSpPr>
          <p:spPr>
            <a:xfrm>
              <a:off x="2886075" y="19145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E18C9244-EE3F-48B6-BCB4-3BA3568000D7}"/>
                </a:ext>
              </a:extLst>
            </p:cNvPr>
            <p:cNvSpPr>
              <a:spLocks/>
            </p:cNvSpPr>
            <p:nvPr/>
          </p:nvSpPr>
          <p:spPr>
            <a:xfrm>
              <a:off x="3286125" y="19145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2" name="boundary">
              <a:extLst>
                <a:ext uri="{FF2B5EF4-FFF2-40B4-BE49-F238E27FC236}">
                  <a16:creationId xmlns:a16="http://schemas.microsoft.com/office/drawing/2014/main" id="{252C849A-5CEF-4052-9DC8-69C11F1BAC3C}"/>
                </a:ext>
              </a:extLst>
            </p:cNvPr>
            <p:cNvSpPr>
              <a:spLocks/>
            </p:cNvSpPr>
            <p:nvPr/>
          </p:nvSpPr>
          <p:spPr>
            <a:xfrm>
              <a:off x="25241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7A9282C4-CE0E-4F0C-A05D-493246D8F36C}"/>
                </a:ext>
              </a:extLst>
            </p:cNvPr>
            <p:cNvSpPr>
              <a:spLocks/>
            </p:cNvSpPr>
            <p:nvPr/>
          </p:nvSpPr>
          <p:spPr>
            <a:xfrm>
              <a:off x="28860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5" name="boundary">
              <a:extLst>
                <a:ext uri="{FF2B5EF4-FFF2-40B4-BE49-F238E27FC236}">
                  <a16:creationId xmlns:a16="http://schemas.microsoft.com/office/drawing/2014/main" id="{225BF13D-BDCC-4C7B-87DE-407E456F86BA}"/>
                </a:ext>
              </a:extLst>
            </p:cNvPr>
            <p:cNvSpPr>
              <a:spLocks/>
            </p:cNvSpPr>
            <p:nvPr/>
          </p:nvSpPr>
          <p:spPr>
            <a:xfrm>
              <a:off x="28860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AD61374D-7516-4E18-8129-CED40BC6B9FE}"/>
                </a:ext>
              </a:extLst>
            </p:cNvPr>
            <p:cNvSpPr>
              <a:spLocks/>
            </p:cNvSpPr>
            <p:nvPr/>
          </p:nvSpPr>
          <p:spPr>
            <a:xfrm>
              <a:off x="28860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8" name="boundary">
              <a:extLst>
                <a:ext uri="{FF2B5EF4-FFF2-40B4-BE49-F238E27FC236}">
                  <a16:creationId xmlns:a16="http://schemas.microsoft.com/office/drawing/2014/main" id="{AE3E7836-BD06-4D26-BC14-CB7B2CE8651D}"/>
                </a:ext>
              </a:extLst>
            </p:cNvPr>
            <p:cNvSpPr>
              <a:spLocks/>
            </p:cNvSpPr>
            <p:nvPr/>
          </p:nvSpPr>
          <p:spPr>
            <a:xfrm>
              <a:off x="28860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0E928365-0CD5-44F3-8E57-839CDF475A94}"/>
                </a:ext>
              </a:extLst>
            </p:cNvPr>
            <p:cNvSpPr>
              <a:spLocks/>
            </p:cNvSpPr>
            <p:nvPr/>
          </p:nvSpPr>
          <p:spPr>
            <a:xfrm>
              <a:off x="32861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1" name="boundary">
              <a:extLst>
                <a:ext uri="{FF2B5EF4-FFF2-40B4-BE49-F238E27FC236}">
                  <a16:creationId xmlns:a16="http://schemas.microsoft.com/office/drawing/2014/main" id="{F2F40A03-87E3-4F15-BF88-10E5E93EA9ED}"/>
                </a:ext>
              </a:extLst>
            </p:cNvPr>
            <p:cNvSpPr>
              <a:spLocks/>
            </p:cNvSpPr>
            <p:nvPr/>
          </p:nvSpPr>
          <p:spPr>
            <a:xfrm>
              <a:off x="25241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boundary">
              <a:extLst>
                <a:ext uri="{FF2B5EF4-FFF2-40B4-BE49-F238E27FC236}">
                  <a16:creationId xmlns:a16="http://schemas.microsoft.com/office/drawing/2014/main" id="{EED269A8-A2FA-487B-AD4B-D36B82CEA0A1}"/>
                </a:ext>
              </a:extLst>
            </p:cNvPr>
            <p:cNvSpPr>
              <a:spLocks/>
            </p:cNvSpPr>
            <p:nvPr/>
          </p:nvSpPr>
          <p:spPr>
            <a:xfrm>
              <a:off x="28860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4A731411-7DD5-4AF3-8196-8BBA42D1D7A2}"/>
                </a:ext>
              </a:extLst>
            </p:cNvPr>
            <p:cNvSpPr>
              <a:spLocks/>
            </p:cNvSpPr>
            <p:nvPr/>
          </p:nvSpPr>
          <p:spPr>
            <a:xfrm>
              <a:off x="28860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boundary">
              <a:extLst>
                <a:ext uri="{FF2B5EF4-FFF2-40B4-BE49-F238E27FC236}">
                  <a16:creationId xmlns:a16="http://schemas.microsoft.com/office/drawing/2014/main" id="{AA618198-ED34-4476-B344-484EF1C9B498}"/>
                </a:ext>
              </a:extLst>
            </p:cNvPr>
            <p:cNvSpPr>
              <a:spLocks/>
            </p:cNvSpPr>
            <p:nvPr/>
          </p:nvSpPr>
          <p:spPr>
            <a:xfrm>
              <a:off x="2886075" y="559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8C4335C3-618F-4A50-8457-A6A74077A783}"/>
                </a:ext>
              </a:extLst>
            </p:cNvPr>
            <p:cNvSpPr>
              <a:spLocks/>
            </p:cNvSpPr>
            <p:nvPr/>
          </p:nvSpPr>
          <p:spPr>
            <a:xfrm>
              <a:off x="2886075" y="559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boundary">
              <a:extLst>
                <a:ext uri="{FF2B5EF4-FFF2-40B4-BE49-F238E27FC236}">
                  <a16:creationId xmlns:a16="http://schemas.microsoft.com/office/drawing/2014/main" id="{719672DD-3F68-4184-AF8D-43B47AF2F52D}"/>
                </a:ext>
              </a:extLst>
            </p:cNvPr>
            <p:cNvSpPr>
              <a:spLocks/>
            </p:cNvSpPr>
            <p:nvPr/>
          </p:nvSpPr>
          <p:spPr>
            <a:xfrm>
              <a:off x="3286125" y="559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boundary">
              <a:extLst>
                <a:ext uri="{FF2B5EF4-FFF2-40B4-BE49-F238E27FC236}">
                  <a16:creationId xmlns:a16="http://schemas.microsoft.com/office/drawing/2014/main" id="{53F7CF09-3281-458E-A47F-0F8C31001DE3}"/>
                </a:ext>
              </a:extLst>
            </p:cNvPr>
            <p:cNvSpPr>
              <a:spLocks/>
            </p:cNvSpPr>
            <p:nvPr/>
          </p:nvSpPr>
          <p:spPr>
            <a:xfrm>
              <a:off x="6657975" y="3152775"/>
              <a:ext cx="1666875" cy="1190625"/>
            </a:xfrm>
            <a:prstGeom prst="roundRect">
              <a:avLst>
                <a:gd name="adj" fmla="val 32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41" name="RRF">
              <a:extLst>
                <a:ext uri="{FF2B5EF4-FFF2-40B4-BE49-F238E27FC236}">
                  <a16:creationId xmlns:a16="http://schemas.microsoft.com/office/drawing/2014/main" id="{AF051BA3-B6B7-4930-9906-754F9E7AA74F}"/>
                </a:ext>
              </a:extLst>
            </p:cNvPr>
            <p:cNvSpPr>
              <a:spLocks/>
            </p:cNvSpPr>
            <p:nvPr/>
          </p:nvSpPr>
          <p:spPr>
            <a:xfrm>
              <a:off x="6753225" y="3248025"/>
              <a:ext cx="14763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RRF</a:t>
              </a:r>
            </a:p>
          </p:txBody>
        </p:sp>
        <p:sp>
          <p:nvSpPr>
            <p:cNvPr id="42" name="k=60">
              <a:extLst>
                <a:ext uri="{FF2B5EF4-FFF2-40B4-BE49-F238E27FC236}">
                  <a16:creationId xmlns:a16="http://schemas.microsoft.com/office/drawing/2014/main" id="{B17C061A-7869-4256-B613-F75E32953072}"/>
                </a:ext>
              </a:extLst>
            </p:cNvPr>
            <p:cNvSpPr>
              <a:spLocks/>
            </p:cNvSpPr>
            <p:nvPr/>
          </p:nvSpPr>
          <p:spPr>
            <a:xfrm>
              <a:off x="6772275" y="3676650"/>
              <a:ext cx="1438275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k=60</a:t>
              </a:r>
            </a:p>
          </p:txBody>
        </p:sp>
        <p:sp>
          <p:nvSpPr>
            <p:cNvPr id="43" name="boundary">
              <a:extLst>
                <a:ext uri="{FF2B5EF4-FFF2-40B4-BE49-F238E27FC236}">
                  <a16:creationId xmlns:a16="http://schemas.microsoft.com/office/drawing/2014/main" id="{1313BF20-8ADC-4BDE-9B68-00F36C30AEBD}"/>
                </a:ext>
              </a:extLst>
            </p:cNvPr>
            <p:cNvSpPr>
              <a:spLocks/>
            </p:cNvSpPr>
            <p:nvPr/>
          </p:nvSpPr>
          <p:spPr>
            <a:xfrm>
              <a:off x="5810250" y="19145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4" name="boundary">
              <a:extLst>
                <a:ext uri="{FF2B5EF4-FFF2-40B4-BE49-F238E27FC236}">
                  <a16:creationId xmlns:a16="http://schemas.microsoft.com/office/drawing/2014/main" id="{FE2BE18A-4091-422A-97FA-CB2A6DC17312}"/>
                </a:ext>
              </a:extLst>
            </p:cNvPr>
            <p:cNvSpPr>
              <a:spLocks/>
            </p:cNvSpPr>
            <p:nvPr/>
          </p:nvSpPr>
          <p:spPr>
            <a:xfrm>
              <a:off x="6219825" y="19145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6" name="boundary">
              <a:extLst>
                <a:ext uri="{FF2B5EF4-FFF2-40B4-BE49-F238E27FC236}">
                  <a16:creationId xmlns:a16="http://schemas.microsoft.com/office/drawing/2014/main" id="{119582C8-4C1E-4844-B2F3-D1FA76666199}"/>
                </a:ext>
              </a:extLst>
            </p:cNvPr>
            <p:cNvSpPr>
              <a:spLocks/>
            </p:cNvSpPr>
            <p:nvPr/>
          </p:nvSpPr>
          <p:spPr>
            <a:xfrm>
              <a:off x="6219825" y="19145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boundary">
              <a:extLst>
                <a:ext uri="{FF2B5EF4-FFF2-40B4-BE49-F238E27FC236}">
                  <a16:creationId xmlns:a16="http://schemas.microsoft.com/office/drawing/2014/main" id="{AA09CF10-5D61-45B6-B355-B989BB16A655}"/>
                </a:ext>
              </a:extLst>
            </p:cNvPr>
            <p:cNvSpPr>
              <a:spLocks/>
            </p:cNvSpPr>
            <p:nvPr/>
          </p:nvSpPr>
          <p:spPr>
            <a:xfrm>
              <a:off x="62198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9" name="boundary">
              <a:extLst>
                <a:ext uri="{FF2B5EF4-FFF2-40B4-BE49-F238E27FC236}">
                  <a16:creationId xmlns:a16="http://schemas.microsoft.com/office/drawing/2014/main" id="{171753C1-A064-4FC4-9868-FC288D55B614}"/>
                </a:ext>
              </a:extLst>
            </p:cNvPr>
            <p:cNvSpPr>
              <a:spLocks/>
            </p:cNvSpPr>
            <p:nvPr/>
          </p:nvSpPr>
          <p:spPr>
            <a:xfrm>
              <a:off x="62198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0" name="boundary">
              <a:extLst>
                <a:ext uri="{FF2B5EF4-FFF2-40B4-BE49-F238E27FC236}">
                  <a16:creationId xmlns:a16="http://schemas.microsoft.com/office/drawing/2014/main" id="{FA6C28C3-EF41-48E4-81BD-E0A75F8459BE}"/>
                </a:ext>
              </a:extLst>
            </p:cNvPr>
            <p:cNvSpPr>
              <a:spLocks/>
            </p:cNvSpPr>
            <p:nvPr/>
          </p:nvSpPr>
          <p:spPr>
            <a:xfrm>
              <a:off x="66579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2" name="boundary">
              <a:extLst>
                <a:ext uri="{FF2B5EF4-FFF2-40B4-BE49-F238E27FC236}">
                  <a16:creationId xmlns:a16="http://schemas.microsoft.com/office/drawing/2014/main" id="{5514FF65-9370-4D71-9CEF-2DA42CD6106E}"/>
                </a:ext>
              </a:extLst>
            </p:cNvPr>
            <p:cNvSpPr>
              <a:spLocks/>
            </p:cNvSpPr>
            <p:nvPr/>
          </p:nvSpPr>
          <p:spPr>
            <a:xfrm>
              <a:off x="5810250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3" name="boundary">
              <a:extLst>
                <a:ext uri="{FF2B5EF4-FFF2-40B4-BE49-F238E27FC236}">
                  <a16:creationId xmlns:a16="http://schemas.microsoft.com/office/drawing/2014/main" id="{2C170760-5C58-48A1-8BDB-817E9D288105}"/>
                </a:ext>
              </a:extLst>
            </p:cNvPr>
            <p:cNvSpPr>
              <a:spLocks/>
            </p:cNvSpPr>
            <p:nvPr/>
          </p:nvSpPr>
          <p:spPr>
            <a:xfrm>
              <a:off x="62198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5" name="boundary">
              <a:extLst>
                <a:ext uri="{FF2B5EF4-FFF2-40B4-BE49-F238E27FC236}">
                  <a16:creationId xmlns:a16="http://schemas.microsoft.com/office/drawing/2014/main" id="{2F89ED27-1410-47B2-B06D-9146F2A14B05}"/>
                </a:ext>
              </a:extLst>
            </p:cNvPr>
            <p:cNvSpPr>
              <a:spLocks/>
            </p:cNvSpPr>
            <p:nvPr/>
          </p:nvSpPr>
          <p:spPr>
            <a:xfrm>
              <a:off x="62198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6" name="boundary">
              <a:extLst>
                <a:ext uri="{FF2B5EF4-FFF2-40B4-BE49-F238E27FC236}">
                  <a16:creationId xmlns:a16="http://schemas.microsoft.com/office/drawing/2014/main" id="{FAE1AD02-9B02-440A-8B6A-D757B02682BD}"/>
                </a:ext>
              </a:extLst>
            </p:cNvPr>
            <p:cNvSpPr>
              <a:spLocks/>
            </p:cNvSpPr>
            <p:nvPr/>
          </p:nvSpPr>
          <p:spPr>
            <a:xfrm>
              <a:off x="62198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8" name="boundary">
              <a:extLst>
                <a:ext uri="{FF2B5EF4-FFF2-40B4-BE49-F238E27FC236}">
                  <a16:creationId xmlns:a16="http://schemas.microsoft.com/office/drawing/2014/main" id="{05DF99B3-A7B6-448E-B0ED-BD42E28BFD1D}"/>
                </a:ext>
              </a:extLst>
            </p:cNvPr>
            <p:cNvSpPr>
              <a:spLocks/>
            </p:cNvSpPr>
            <p:nvPr/>
          </p:nvSpPr>
          <p:spPr>
            <a:xfrm>
              <a:off x="62198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9" name="boundary">
              <a:extLst>
                <a:ext uri="{FF2B5EF4-FFF2-40B4-BE49-F238E27FC236}">
                  <a16:creationId xmlns:a16="http://schemas.microsoft.com/office/drawing/2014/main" id="{43AAD2D6-49C1-4888-A717-A13600703BCD}"/>
                </a:ext>
              </a:extLst>
            </p:cNvPr>
            <p:cNvSpPr>
              <a:spLocks/>
            </p:cNvSpPr>
            <p:nvPr/>
          </p:nvSpPr>
          <p:spPr>
            <a:xfrm>
              <a:off x="66579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1" name="boundary">
              <a:extLst>
                <a:ext uri="{FF2B5EF4-FFF2-40B4-BE49-F238E27FC236}">
                  <a16:creationId xmlns:a16="http://schemas.microsoft.com/office/drawing/2014/main" id="{EB3E9415-A98F-4429-8612-271483A3D2F8}"/>
                </a:ext>
              </a:extLst>
            </p:cNvPr>
            <p:cNvSpPr>
              <a:spLocks/>
            </p:cNvSpPr>
            <p:nvPr/>
          </p:nvSpPr>
          <p:spPr>
            <a:xfrm>
              <a:off x="5810250" y="559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2" name="boundary">
              <a:extLst>
                <a:ext uri="{FF2B5EF4-FFF2-40B4-BE49-F238E27FC236}">
                  <a16:creationId xmlns:a16="http://schemas.microsoft.com/office/drawing/2014/main" id="{41ACCE8F-16AB-456E-A3FE-FCB49AF21A2A}"/>
                </a:ext>
              </a:extLst>
            </p:cNvPr>
            <p:cNvSpPr>
              <a:spLocks/>
            </p:cNvSpPr>
            <p:nvPr/>
          </p:nvSpPr>
          <p:spPr>
            <a:xfrm>
              <a:off x="6219825" y="559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4" name="boundary">
              <a:extLst>
                <a:ext uri="{FF2B5EF4-FFF2-40B4-BE49-F238E27FC236}">
                  <a16:creationId xmlns:a16="http://schemas.microsoft.com/office/drawing/2014/main" id="{F9B8A737-0691-4147-918A-16B5582238FF}"/>
                </a:ext>
              </a:extLst>
            </p:cNvPr>
            <p:cNvSpPr>
              <a:spLocks/>
            </p:cNvSpPr>
            <p:nvPr/>
          </p:nvSpPr>
          <p:spPr>
            <a:xfrm>
              <a:off x="6219825" y="55911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5" name="boundary">
              <a:extLst>
                <a:ext uri="{FF2B5EF4-FFF2-40B4-BE49-F238E27FC236}">
                  <a16:creationId xmlns:a16="http://schemas.microsoft.com/office/drawing/2014/main" id="{87208670-D489-4337-B67D-865C83F27A04}"/>
                </a:ext>
              </a:extLst>
            </p:cNvPr>
            <p:cNvSpPr>
              <a:spLocks/>
            </p:cNvSpPr>
            <p:nvPr/>
          </p:nvSpPr>
          <p:spPr>
            <a:xfrm>
              <a:off x="62198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7" name="boundary">
              <a:extLst>
                <a:ext uri="{FF2B5EF4-FFF2-40B4-BE49-F238E27FC236}">
                  <a16:creationId xmlns:a16="http://schemas.microsoft.com/office/drawing/2014/main" id="{44014671-8BCA-4565-AD8A-CA6F62F37CA0}"/>
                </a:ext>
              </a:extLst>
            </p:cNvPr>
            <p:cNvSpPr>
              <a:spLocks/>
            </p:cNvSpPr>
            <p:nvPr/>
          </p:nvSpPr>
          <p:spPr>
            <a:xfrm>
              <a:off x="621982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8" name="boundary">
              <a:extLst>
                <a:ext uri="{FF2B5EF4-FFF2-40B4-BE49-F238E27FC236}">
                  <a16:creationId xmlns:a16="http://schemas.microsoft.com/office/drawing/2014/main" id="{6C489656-61D6-494C-95FB-8B37A12B1B62}"/>
                </a:ext>
              </a:extLst>
            </p:cNvPr>
            <p:cNvSpPr>
              <a:spLocks/>
            </p:cNvSpPr>
            <p:nvPr/>
          </p:nvSpPr>
          <p:spPr>
            <a:xfrm>
              <a:off x="6657975" y="3752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0" name="boundary">
              <a:extLst>
                <a:ext uri="{FF2B5EF4-FFF2-40B4-BE49-F238E27FC236}">
                  <a16:creationId xmlns:a16="http://schemas.microsoft.com/office/drawing/2014/main" id="{AAEC6480-CBBA-4792-83FF-938931203E50}"/>
                </a:ext>
              </a:extLst>
            </p:cNvPr>
            <p:cNvSpPr>
              <a:spLocks/>
            </p:cNvSpPr>
            <p:nvPr/>
          </p:nvSpPr>
          <p:spPr>
            <a:xfrm>
              <a:off x="8905875" y="3152775"/>
              <a:ext cx="2095500" cy="1190625"/>
            </a:xfrm>
            <a:prstGeom prst="roundRect">
              <a:avLst>
                <a:gd name="adj" fmla="val 32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71" name="前 50 重排">
              <a:extLst>
                <a:ext uri="{FF2B5EF4-FFF2-40B4-BE49-F238E27FC236}">
                  <a16:creationId xmlns:a16="http://schemas.microsoft.com/office/drawing/2014/main" id="{940D1F17-4D49-4AD5-AA83-0F042D63757F}"/>
                </a:ext>
              </a:extLst>
            </p:cNvPr>
            <p:cNvSpPr>
              <a:spLocks/>
            </p:cNvSpPr>
            <p:nvPr/>
          </p:nvSpPr>
          <p:spPr>
            <a:xfrm>
              <a:off x="9001125" y="3248025"/>
              <a:ext cx="1905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前 50 重排</a:t>
              </a:r>
            </a:p>
          </p:txBody>
        </p:sp>
        <p:sp>
          <p:nvSpPr>
            <p:cNvPr id="72" name="8–12 证据块">
              <a:extLst>
                <a:ext uri="{FF2B5EF4-FFF2-40B4-BE49-F238E27FC236}">
                  <a16:creationId xmlns:a16="http://schemas.microsoft.com/office/drawing/2014/main" id="{11FC2412-943D-4606-A58F-9B474A3EE5EF}"/>
                </a:ext>
              </a:extLst>
            </p:cNvPr>
            <p:cNvSpPr>
              <a:spLocks/>
            </p:cNvSpPr>
            <p:nvPr/>
          </p:nvSpPr>
          <p:spPr>
            <a:xfrm>
              <a:off x="9020175" y="3676650"/>
              <a:ext cx="18669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8–12 证据块</a:t>
              </a:r>
            </a:p>
          </p:txBody>
        </p:sp>
        <p:sp>
          <p:nvSpPr>
            <p:cNvPr id="74" name="生成并逐句引用">
              <a:extLst>
                <a:ext uri="{FF2B5EF4-FFF2-40B4-BE49-F238E27FC236}">
                  <a16:creationId xmlns:a16="http://schemas.microsoft.com/office/drawing/2014/main" id="{A9253A0D-7B58-4766-93B4-0A42ED7C1941}"/>
                </a:ext>
              </a:extLst>
            </p:cNvPr>
            <p:cNvSpPr>
              <a:spLocks/>
            </p:cNvSpPr>
            <p:nvPr/>
          </p:nvSpPr>
          <p:spPr>
            <a:xfrm>
              <a:off x="7886700" y="6191250"/>
              <a:ext cx="3114675" cy="666750"/>
            </a:xfrm>
            <a:prstGeom prst="roundRect">
              <a:avLst>
                <a:gd name="adj" fmla="val 5714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生成并逐句引用</a:t>
              </a:r>
            </a:p>
          </p:txBody>
        </p:sp>
        <p:sp>
          <p:nvSpPr>
            <p:cNvPr id="76" name="Critic 校验">
              <a:extLst>
                <a:ext uri="{FF2B5EF4-FFF2-40B4-BE49-F238E27FC236}">
                  <a16:creationId xmlns:a16="http://schemas.microsoft.com/office/drawing/2014/main" id="{38C42A06-A014-4284-99C6-F69A707E077A}"/>
                </a:ext>
              </a:extLst>
            </p:cNvPr>
            <p:cNvSpPr>
              <a:spLocks/>
            </p:cNvSpPr>
            <p:nvPr/>
          </p:nvSpPr>
          <p:spPr>
            <a:xfrm>
              <a:off x="3857625" y="6191250"/>
              <a:ext cx="2495550" cy="666750"/>
            </a:xfrm>
            <a:prstGeom prst="roundRect">
              <a:avLst>
                <a:gd name="adj" fmla="val 5714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950" b="1">
                  <a:solidFill>
                    <a:srgbClr val="547D45"/>
                  </a:solidFill>
                </a:defRPr>
              </a:pPr>
              <a:r>
                <a:rPr sz="195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Critic 校验</a:t>
              </a:r>
            </a:p>
          </p:txBody>
        </p:sp>
        <p:sp>
          <p:nvSpPr>
            <p:cNvPr id="78" name="boundary">
              <a:extLst>
                <a:ext uri="{FF2B5EF4-FFF2-40B4-BE49-F238E27FC236}">
                  <a16:creationId xmlns:a16="http://schemas.microsoft.com/office/drawing/2014/main" id="{8DF8C6A2-D6A0-4A9E-8CD1-6C87F2617DA6}"/>
                </a:ext>
              </a:extLst>
            </p:cNvPr>
            <p:cNvSpPr>
              <a:spLocks/>
            </p:cNvSpPr>
            <p:nvPr/>
          </p:nvSpPr>
          <p:spPr>
            <a:xfrm>
              <a:off x="3857625" y="6524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9" name="boundary">
              <a:extLst>
                <a:ext uri="{FF2B5EF4-FFF2-40B4-BE49-F238E27FC236}">
                  <a16:creationId xmlns:a16="http://schemas.microsoft.com/office/drawing/2014/main" id="{8FC287C8-B25C-4790-BA54-B92EA5620B6F}"/>
                </a:ext>
              </a:extLst>
            </p:cNvPr>
            <p:cNvSpPr>
              <a:spLocks/>
            </p:cNvSpPr>
            <p:nvPr/>
          </p:nvSpPr>
          <p:spPr>
            <a:xfrm>
              <a:off x="1476375" y="6524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1" name="boundary">
              <a:extLst>
                <a:ext uri="{FF2B5EF4-FFF2-40B4-BE49-F238E27FC236}">
                  <a16:creationId xmlns:a16="http://schemas.microsoft.com/office/drawing/2014/main" id="{FEDB933A-52FD-44F0-9372-0B41C1B39E0D}"/>
                </a:ext>
              </a:extLst>
            </p:cNvPr>
            <p:cNvSpPr>
              <a:spLocks/>
            </p:cNvSpPr>
            <p:nvPr/>
          </p:nvSpPr>
          <p:spPr>
            <a:xfrm>
              <a:off x="1476375" y="6524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2" name="boundary">
              <a:extLst>
                <a:ext uri="{FF2B5EF4-FFF2-40B4-BE49-F238E27FC236}">
                  <a16:creationId xmlns:a16="http://schemas.microsoft.com/office/drawing/2014/main" id="{646436D1-9980-4D1A-9FDC-8A3B7E5817D9}"/>
                </a:ext>
              </a:extLst>
            </p:cNvPr>
            <p:cNvSpPr>
              <a:spLocks/>
            </p:cNvSpPr>
            <p:nvPr/>
          </p:nvSpPr>
          <p:spPr>
            <a:xfrm>
              <a:off x="1476375" y="43434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4" name="fail 重新规划">
              <a:extLst>
                <a:ext uri="{FF2B5EF4-FFF2-40B4-BE49-F238E27FC236}">
                  <a16:creationId xmlns:a16="http://schemas.microsoft.com/office/drawing/2014/main" id="{80868AB3-1F94-4153-B88A-F0612C0CD051}"/>
                </a:ext>
              </a:extLst>
            </p:cNvPr>
            <p:cNvSpPr>
              <a:spLocks/>
            </p:cNvSpPr>
            <p:nvPr/>
          </p:nvSpPr>
          <p:spPr>
            <a:xfrm>
              <a:off x="504825" y="5638800"/>
              <a:ext cx="2314575" cy="4095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B554B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B554B"/>
                  </a:solidFill>
                </a:defRPr>
              </a:pPr>
              <a:r>
                <a:rPr sz="1725" b="0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fail 重新规划</a:t>
              </a:r>
            </a:p>
          </p:txBody>
        </p:sp>
        <p:sp>
          <p:nvSpPr>
            <p:cNvPr id="85" name="三路排名融合，不混加原始分数；校验通过后返回答案">
              <a:extLst>
                <a:ext uri="{FF2B5EF4-FFF2-40B4-BE49-F238E27FC236}">
                  <a16:creationId xmlns:a16="http://schemas.microsoft.com/office/drawing/2014/main" id="{2C95DBA9-BA36-4C2F-8372-A9816A69904B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三路排名融合，不混加原始分数；校验通过后返回答案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6122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F-18 - whole figure">
            <a:extLst>
              <a:ext uri="{FF2B5EF4-FFF2-40B4-BE49-F238E27FC236}">
                <a16:creationId xmlns:a16="http://schemas.microsoft.com/office/drawing/2014/main" id="{4EA123C2-A96A-EDAE-EBA2-F22D430F6CC0}"/>
              </a:ext>
            </a:extLst>
          </p:cNvPr>
          <p:cNvGrpSpPr/>
          <p:nvPr/>
        </p:nvGrpSpPr>
        <p:grpSpPr>
          <a:xfrm>
            <a:off x="428625" y="1219200"/>
            <a:ext cx="10572750" cy="6743700"/>
            <a:chOff x="428625" y="1219200"/>
            <a:chExt cx="10572750" cy="6743700"/>
          </a:xfrm>
        </p:grpSpPr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8ED74974-F521-49D9-AB01-C177266D6330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>
              <a:off x="8154353" y="4705827"/>
              <a:ext cx="437197" cy="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9A06A46-1657-4897-BD5D-B5AB71A5EC48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5449253" y="4705827"/>
              <a:ext cx="437197" cy="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FC600B85-071F-4DBD-AA8E-DF928A25B063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2744153" y="4705827"/>
              <a:ext cx="437197" cy="0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28" name="近 90 天影响 vLLM 且有公开 PoC 链接的漏洞及其 ATLAS 技术">
              <a:extLst>
                <a:ext uri="{FF2B5EF4-FFF2-40B4-BE49-F238E27FC236}">
                  <a16:creationId xmlns:a16="http://schemas.microsoft.com/office/drawing/2014/main" id="{B6F9AC2D-3D95-44B2-9615-D78DBD63EF02}"/>
                </a:ext>
              </a:extLst>
            </p:cNvPr>
            <p:cNvSpPr>
              <a:spLocks/>
            </p:cNvSpPr>
            <p:nvPr/>
          </p:nvSpPr>
          <p:spPr>
            <a:xfrm>
              <a:off x="476250" y="1219200"/>
              <a:ext cx="10477500" cy="895350"/>
            </a:xfrm>
            <a:prstGeom prst="roundRect">
              <a:avLst>
                <a:gd name="adj" fmla="val 4255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0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2025" b="1">
                  <a:solidFill>
                    <a:srgbClr val="FFFFFF"/>
                  </a:solidFill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近 90 天影响 vLLM 且有公开 PoC 链接的漏洞及其 ATLAS 技术</a:t>
              </a:r>
            </a:p>
          </p:txBody>
        </p:sp>
        <p:sp>
          <p:nvSpPr>
            <p:cNvPr id="2" name="1">
              <a:extLst>
                <a:ext uri="{FF2B5EF4-FFF2-40B4-BE49-F238E27FC236}">
                  <a16:creationId xmlns:a16="http://schemas.microsoft.com/office/drawing/2014/main" id="{8A843868-AE15-4CB9-AA25-141541E4D66F}"/>
                </a:ext>
              </a:extLst>
            </p:cNvPr>
            <p:cNvSpPr>
              <a:spLocks/>
            </p:cNvSpPr>
            <p:nvPr/>
          </p:nvSpPr>
          <p:spPr>
            <a:xfrm>
              <a:off x="1352550" y="2695575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3" name="影响哪些漏洞">
              <a:extLst>
                <a:ext uri="{FF2B5EF4-FFF2-40B4-BE49-F238E27FC236}">
                  <a16:creationId xmlns:a16="http://schemas.microsoft.com/office/drawing/2014/main" id="{607317B6-C1CC-4C0C-B40C-A80001CB0719}"/>
                </a:ext>
              </a:extLst>
            </p:cNvPr>
            <p:cNvSpPr>
              <a:spLocks/>
            </p:cNvSpPr>
            <p:nvPr/>
          </p:nvSpPr>
          <p:spPr>
            <a:xfrm>
              <a:off x="476250" y="3333750"/>
              <a:ext cx="23622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45D8F"/>
                  </a:solidFill>
                </a:defRPr>
              </a:pPr>
              <a:r>
                <a:rPr sz="195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影响哪些漏洞</a:t>
              </a:r>
            </a:p>
          </p:txBody>
        </p:sp>
        <p:sp>
          <p:nvSpPr>
            <p:cNvPr id="4" name="AFFECTS vllm">
              <a:extLst>
                <a:ext uri="{FF2B5EF4-FFF2-40B4-BE49-F238E27FC236}">
                  <a16:creationId xmlns:a16="http://schemas.microsoft.com/office/drawing/2014/main" id="{CE92C01C-7F24-4F13-BAD3-20C484E66A44}"/>
                </a:ext>
              </a:extLst>
            </p:cNvPr>
            <p:cNvSpPr>
              <a:spLocks/>
            </p:cNvSpPr>
            <p:nvPr/>
          </p:nvSpPr>
          <p:spPr>
            <a:xfrm>
              <a:off x="571500" y="4162425"/>
              <a:ext cx="2171700" cy="1095375"/>
            </a:xfrm>
            <a:prstGeom prst="roundRect">
              <a:avLst>
                <a:gd name="adj" fmla="val 3478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AFFECTS</a:t>
              </a:r>
            </a:p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vllm</a:t>
              </a:r>
            </a:p>
          </p:txBody>
        </p:sp>
        <p:sp>
          <p:nvSpPr>
            <p:cNvPr id="5" name="图检索 / 命中 n">
              <a:extLst>
                <a:ext uri="{FF2B5EF4-FFF2-40B4-BE49-F238E27FC236}">
                  <a16:creationId xmlns:a16="http://schemas.microsoft.com/office/drawing/2014/main" id="{79D022DA-54C5-46AD-992E-51939FE4A5CD}"/>
                </a:ext>
              </a:extLst>
            </p:cNvPr>
            <p:cNvSpPr>
              <a:spLocks/>
            </p:cNvSpPr>
            <p:nvPr/>
          </p:nvSpPr>
          <p:spPr>
            <a:xfrm>
              <a:off x="476250" y="5581650"/>
              <a:ext cx="23622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图检索 / 命中 n</a:t>
              </a:r>
            </a:p>
          </p:txBody>
        </p:sp>
        <p:sp>
          <p:nvSpPr>
            <p:cNvPr id="6" name="boundary">
              <a:extLst>
                <a:ext uri="{FF2B5EF4-FFF2-40B4-BE49-F238E27FC236}">
                  <a16:creationId xmlns:a16="http://schemas.microsoft.com/office/drawing/2014/main" id="{01FAA802-7723-4B3D-8A20-FCAD1626A5FB}"/>
                </a:ext>
              </a:extLst>
            </p:cNvPr>
            <p:cNvSpPr>
              <a:spLocks/>
            </p:cNvSpPr>
            <p:nvPr/>
          </p:nvSpPr>
          <p:spPr>
            <a:xfrm>
              <a:off x="2743200" y="47053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64EFB184-E43B-4F76-8391-1F2A2369874C}"/>
                </a:ext>
              </a:extLst>
            </p:cNvPr>
            <p:cNvSpPr>
              <a:spLocks/>
            </p:cNvSpPr>
            <p:nvPr/>
          </p:nvSpPr>
          <p:spPr>
            <a:xfrm>
              <a:off x="3181350" y="47053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9" name="2">
              <a:extLst>
                <a:ext uri="{FF2B5EF4-FFF2-40B4-BE49-F238E27FC236}">
                  <a16:creationId xmlns:a16="http://schemas.microsoft.com/office/drawing/2014/main" id="{74119564-5612-42ED-9464-BE471A863712}"/>
                </a:ext>
              </a:extLst>
            </p:cNvPr>
            <p:cNvSpPr>
              <a:spLocks/>
            </p:cNvSpPr>
            <p:nvPr/>
          </p:nvSpPr>
          <p:spPr>
            <a:xfrm>
              <a:off x="4057650" y="2695575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0" name="是否有公开引用">
              <a:extLst>
                <a:ext uri="{FF2B5EF4-FFF2-40B4-BE49-F238E27FC236}">
                  <a16:creationId xmlns:a16="http://schemas.microsoft.com/office/drawing/2014/main" id="{A9962D6E-2C55-4176-871C-47A8E138F259}"/>
                </a:ext>
              </a:extLst>
            </p:cNvPr>
            <p:cNvSpPr>
              <a:spLocks/>
            </p:cNvSpPr>
            <p:nvPr/>
          </p:nvSpPr>
          <p:spPr>
            <a:xfrm>
              <a:off x="3181350" y="3333750"/>
              <a:ext cx="23622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45D8F"/>
                  </a:solidFill>
                </a:defRPr>
              </a:pPr>
              <a:r>
                <a:rPr sz="195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是否有公开引用</a:t>
              </a:r>
            </a:p>
          </p:txBody>
        </p:sp>
        <p:sp>
          <p:nvSpPr>
            <p:cNvPr id="11" name="HAS_POC_REF">
              <a:extLst>
                <a:ext uri="{FF2B5EF4-FFF2-40B4-BE49-F238E27FC236}">
                  <a16:creationId xmlns:a16="http://schemas.microsoft.com/office/drawing/2014/main" id="{DDE73754-8995-4C3F-8FA0-4CEF12EFCD93}"/>
                </a:ext>
              </a:extLst>
            </p:cNvPr>
            <p:cNvSpPr>
              <a:spLocks/>
            </p:cNvSpPr>
            <p:nvPr/>
          </p:nvSpPr>
          <p:spPr>
            <a:xfrm>
              <a:off x="3276600" y="4162425"/>
              <a:ext cx="2171700" cy="1095375"/>
            </a:xfrm>
            <a:prstGeom prst="roundRect">
              <a:avLst>
                <a:gd name="adj" fmla="val 3478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HAS_POC_REF</a:t>
              </a:r>
            </a:p>
          </p:txBody>
        </p:sp>
        <p:sp>
          <p:nvSpPr>
            <p:cNvPr id="12" name="图过滤 / 命中 n">
              <a:extLst>
                <a:ext uri="{FF2B5EF4-FFF2-40B4-BE49-F238E27FC236}">
                  <a16:creationId xmlns:a16="http://schemas.microsoft.com/office/drawing/2014/main" id="{56EB141E-13B0-4AE0-B576-894F61AA5187}"/>
                </a:ext>
              </a:extLst>
            </p:cNvPr>
            <p:cNvSpPr>
              <a:spLocks/>
            </p:cNvSpPr>
            <p:nvPr/>
          </p:nvSpPr>
          <p:spPr>
            <a:xfrm>
              <a:off x="3181350" y="5581650"/>
              <a:ext cx="23622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图过滤 / 命中 n</a:t>
              </a:r>
            </a:p>
          </p:txBody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B4A4217E-8CF2-400B-903E-DA83A220468B}"/>
                </a:ext>
              </a:extLst>
            </p:cNvPr>
            <p:cNvSpPr>
              <a:spLocks/>
            </p:cNvSpPr>
            <p:nvPr/>
          </p:nvSpPr>
          <p:spPr>
            <a:xfrm>
              <a:off x="5448300" y="47053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C17BEB00-1B55-46CC-8BCE-209B7D4EB0AC}"/>
                </a:ext>
              </a:extLst>
            </p:cNvPr>
            <p:cNvSpPr>
              <a:spLocks/>
            </p:cNvSpPr>
            <p:nvPr/>
          </p:nvSpPr>
          <p:spPr>
            <a:xfrm>
              <a:off x="5886450" y="47053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3">
              <a:extLst>
                <a:ext uri="{FF2B5EF4-FFF2-40B4-BE49-F238E27FC236}">
                  <a16:creationId xmlns:a16="http://schemas.microsoft.com/office/drawing/2014/main" id="{E3383EAA-03E8-4131-9A14-214063CC67E6}"/>
                </a:ext>
              </a:extLst>
            </p:cNvPr>
            <p:cNvSpPr>
              <a:spLocks/>
            </p:cNvSpPr>
            <p:nvPr/>
          </p:nvSpPr>
          <p:spPr>
            <a:xfrm>
              <a:off x="6762750" y="2695575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17" name="是否在时间内">
              <a:extLst>
                <a:ext uri="{FF2B5EF4-FFF2-40B4-BE49-F238E27FC236}">
                  <a16:creationId xmlns:a16="http://schemas.microsoft.com/office/drawing/2014/main" id="{969E48D1-5993-4566-96BD-9FCAF2CD03BE}"/>
                </a:ext>
              </a:extLst>
            </p:cNvPr>
            <p:cNvSpPr>
              <a:spLocks/>
            </p:cNvSpPr>
            <p:nvPr/>
          </p:nvSpPr>
          <p:spPr>
            <a:xfrm>
              <a:off x="5886450" y="3333750"/>
              <a:ext cx="23622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45D8F"/>
                  </a:solidFill>
                </a:defRPr>
              </a:pPr>
              <a:r>
                <a:rPr sz="195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是否在时间内</a:t>
              </a:r>
            </a:p>
          </p:txBody>
        </p:sp>
        <p:sp>
          <p:nvSpPr>
            <p:cNvPr id="18" name="近 90 天">
              <a:extLst>
                <a:ext uri="{FF2B5EF4-FFF2-40B4-BE49-F238E27FC236}">
                  <a16:creationId xmlns:a16="http://schemas.microsoft.com/office/drawing/2014/main" id="{376256E4-EE84-4476-90A7-290DEA3D2159}"/>
                </a:ext>
              </a:extLst>
            </p:cNvPr>
            <p:cNvSpPr>
              <a:spLocks/>
            </p:cNvSpPr>
            <p:nvPr/>
          </p:nvSpPr>
          <p:spPr>
            <a:xfrm>
              <a:off x="5981700" y="4162425"/>
              <a:ext cx="2171700" cy="1095375"/>
            </a:xfrm>
            <a:prstGeom prst="roundRect">
              <a:avLst>
                <a:gd name="adj" fmla="val 3478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近 90 天</a:t>
              </a:r>
            </a:p>
          </p:txBody>
        </p:sp>
        <p:sp>
          <p:nvSpPr>
            <p:cNvPr id="19" name="时间过滤 / 命中 n">
              <a:extLst>
                <a:ext uri="{FF2B5EF4-FFF2-40B4-BE49-F238E27FC236}">
                  <a16:creationId xmlns:a16="http://schemas.microsoft.com/office/drawing/2014/main" id="{40326A35-C95E-4155-8596-A593390F7DC4}"/>
                </a:ext>
              </a:extLst>
            </p:cNvPr>
            <p:cNvSpPr>
              <a:spLocks/>
            </p:cNvSpPr>
            <p:nvPr/>
          </p:nvSpPr>
          <p:spPr>
            <a:xfrm>
              <a:off x="5886450" y="5581650"/>
              <a:ext cx="23622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时间过滤 / 命中 n</a:t>
              </a:r>
            </a:p>
          </p:txBody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3280EB3B-4E1B-4784-AFB9-AD8EEAFA9B02}"/>
                </a:ext>
              </a:extLst>
            </p:cNvPr>
            <p:cNvSpPr>
              <a:spLocks/>
            </p:cNvSpPr>
            <p:nvPr/>
          </p:nvSpPr>
          <p:spPr>
            <a:xfrm>
              <a:off x="8153400" y="47053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4B4F7B5E-0C30-431E-892A-98E5D926E1D8}"/>
                </a:ext>
              </a:extLst>
            </p:cNvPr>
            <p:cNvSpPr>
              <a:spLocks/>
            </p:cNvSpPr>
            <p:nvPr/>
          </p:nvSpPr>
          <p:spPr>
            <a:xfrm>
              <a:off x="8591550" y="47053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4">
              <a:extLst>
                <a:ext uri="{FF2B5EF4-FFF2-40B4-BE49-F238E27FC236}">
                  <a16:creationId xmlns:a16="http://schemas.microsoft.com/office/drawing/2014/main" id="{93416146-1EA0-448A-B34F-2E21049C85B1}"/>
                </a:ext>
              </a:extLst>
            </p:cNvPr>
            <p:cNvSpPr>
              <a:spLocks/>
            </p:cNvSpPr>
            <p:nvPr/>
          </p:nvSpPr>
          <p:spPr>
            <a:xfrm>
              <a:off x="9467850" y="2695575"/>
              <a:ext cx="419100" cy="419100"/>
            </a:xfrm>
            <a:prstGeom prst="ellipse">
              <a:avLst/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4" name="对应什么技术">
              <a:extLst>
                <a:ext uri="{FF2B5EF4-FFF2-40B4-BE49-F238E27FC236}">
                  <a16:creationId xmlns:a16="http://schemas.microsoft.com/office/drawing/2014/main" id="{9673AF31-DCAF-480C-BCF8-BB20E6BCA389}"/>
                </a:ext>
              </a:extLst>
            </p:cNvPr>
            <p:cNvSpPr>
              <a:spLocks/>
            </p:cNvSpPr>
            <p:nvPr/>
          </p:nvSpPr>
          <p:spPr>
            <a:xfrm>
              <a:off x="8591550" y="3333750"/>
              <a:ext cx="23622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45D8F"/>
                  </a:solidFill>
                </a:defRPr>
              </a:pPr>
              <a:r>
                <a:rPr sz="195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对应什么技术</a:t>
              </a:r>
            </a:p>
          </p:txBody>
        </p:sp>
        <p:sp>
          <p:nvSpPr>
            <p:cNvPr id="25" name="MAPS_TO ATLAS">
              <a:extLst>
                <a:ext uri="{FF2B5EF4-FFF2-40B4-BE49-F238E27FC236}">
                  <a16:creationId xmlns:a16="http://schemas.microsoft.com/office/drawing/2014/main" id="{3D010CDC-6677-41C9-9BA3-6D5B36835C96}"/>
                </a:ext>
              </a:extLst>
            </p:cNvPr>
            <p:cNvSpPr>
              <a:spLocks/>
            </p:cNvSpPr>
            <p:nvPr/>
          </p:nvSpPr>
          <p:spPr>
            <a:xfrm>
              <a:off x="8686800" y="4162425"/>
              <a:ext cx="2171700" cy="1095375"/>
            </a:xfrm>
            <a:prstGeom prst="roundRect">
              <a:avLst>
                <a:gd name="adj" fmla="val 3478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MAPS_TO</a:t>
              </a:r>
            </a:p>
            <a:p>
              <a:pPr algn="ctr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ATLAS</a:t>
              </a:r>
            </a:p>
          </p:txBody>
        </p:sp>
        <p:sp>
          <p:nvSpPr>
            <p:cNvPr id="26" name="图扩展 / 命中 n">
              <a:extLst>
                <a:ext uri="{FF2B5EF4-FFF2-40B4-BE49-F238E27FC236}">
                  <a16:creationId xmlns:a16="http://schemas.microsoft.com/office/drawing/2014/main" id="{7CE2665B-3572-47CD-9086-FB08E311A991}"/>
                </a:ext>
              </a:extLst>
            </p:cNvPr>
            <p:cNvSpPr>
              <a:spLocks/>
            </p:cNvSpPr>
            <p:nvPr/>
          </p:nvSpPr>
          <p:spPr>
            <a:xfrm>
              <a:off x="8591550" y="5581650"/>
              <a:ext cx="23622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图扩展 / 命中 n</a:t>
              </a:r>
            </a:p>
          </p:txBody>
        </p:sp>
        <p:sp>
          <p:nvSpPr>
            <p:cNvPr id="27" name="reasoning_steps 保存子问题、检索方式、查询语句与命中数；n 是示意占位，非实测">
              <a:extLst>
                <a:ext uri="{FF2B5EF4-FFF2-40B4-BE49-F238E27FC236}">
                  <a16:creationId xmlns:a16="http://schemas.microsoft.com/office/drawing/2014/main" id="{BA864ED2-4763-4DA5-8AE9-9BA6F8F36046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reasoning_steps 保存子问题、检索方式、查询语句与命中数；n 是示意占位，非实测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4413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F-19 - whole figure">
            <a:extLst>
              <a:ext uri="{FF2B5EF4-FFF2-40B4-BE49-F238E27FC236}">
                <a16:creationId xmlns:a16="http://schemas.microsoft.com/office/drawing/2014/main" id="{6772E161-88C5-C08B-3BDD-3C357E531D85}"/>
              </a:ext>
            </a:extLst>
          </p:cNvPr>
          <p:cNvGrpSpPr/>
          <p:nvPr/>
        </p:nvGrpSpPr>
        <p:grpSpPr>
          <a:xfrm>
            <a:off x="428625" y="1352550"/>
            <a:ext cx="10572750" cy="6610350"/>
            <a:chOff x="428625" y="1352550"/>
            <a:chExt cx="10572750" cy="6610350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C6F2CED-D237-407F-8E39-2000088E92C8}"/>
                </a:ext>
              </a:extLst>
            </p:cNvPr>
            <p:cNvCxnSpPr>
              <a:stCxn id="30" idx="3"/>
              <a:endCxn id="31" idx="1"/>
            </p:cNvCxnSpPr>
            <p:nvPr/>
          </p:nvCxnSpPr>
          <p:spPr>
            <a:xfrm>
              <a:off x="7459028" y="2515077"/>
              <a:ext cx="55149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0063E535-5902-44B1-9AD2-E93DB32390E8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 flipH="1" flipV="1">
              <a:off x="7458075" y="2515077"/>
              <a:ext cx="953" cy="14573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D17A98EA-8B8E-4707-A364-19D896B75796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>
              <a:off x="7144703" y="3972402"/>
              <a:ext cx="313372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3F93D8F7-6D0C-40C4-AFF5-053D6BC129A3}"/>
                </a:ext>
              </a:extLst>
            </p:cNvPr>
            <p:cNvCxnSpPr>
              <a:stCxn id="21" idx="3"/>
              <a:endCxn id="22" idx="1"/>
            </p:cNvCxnSpPr>
            <p:nvPr/>
          </p:nvCxnSpPr>
          <p:spPr>
            <a:xfrm>
              <a:off x="3944303" y="3972402"/>
              <a:ext cx="341947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5F7C9A7E-AEC2-46A4-866D-86D0E23E0AF1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 flipH="1" flipV="1">
              <a:off x="3943350" y="3972402"/>
              <a:ext cx="953" cy="162877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9CDC5C8-E927-44E6-A451-739E4EB0D0F8}"/>
                </a:ext>
              </a:extLst>
            </p:cNvPr>
            <p:cNvCxnSpPr>
              <a:stCxn id="15" idx="3"/>
              <a:endCxn id="16" idx="1"/>
            </p:cNvCxnSpPr>
            <p:nvPr/>
          </p:nvCxnSpPr>
          <p:spPr>
            <a:xfrm>
              <a:off x="3363278" y="5601177"/>
              <a:ext cx="580072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3B0714DE-F2D7-4ECB-81F6-08C9F49026C1}"/>
                </a:ext>
              </a:extLst>
            </p:cNvPr>
            <p:cNvSpPr>
              <a:spLocks/>
            </p:cNvSpPr>
            <p:nvPr/>
          </p:nvSpPr>
          <p:spPr>
            <a:xfrm>
              <a:off x="428625" y="1352550"/>
              <a:ext cx="3190875" cy="5048250"/>
            </a:xfrm>
            <a:prstGeom prst="roundRect">
              <a:avLst>
                <a:gd name="adj" fmla="val 5373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" name="数据面扩展">
              <a:extLst>
                <a:ext uri="{FF2B5EF4-FFF2-40B4-BE49-F238E27FC236}">
                  <a16:creationId xmlns:a16="http://schemas.microsoft.com/office/drawing/2014/main" id="{32B46C6D-842B-4D8F-B7FA-A2E79FB6AC2A}"/>
                </a:ext>
              </a:extLst>
            </p:cNvPr>
            <p:cNvSpPr>
              <a:spLocks/>
            </p:cNvSpPr>
            <p:nvPr/>
          </p:nvSpPr>
          <p:spPr>
            <a:xfrm>
              <a:off x="600075" y="1447800"/>
              <a:ext cx="2847975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l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数据面扩展</a:t>
              </a:r>
            </a:p>
          </p:txBody>
        </p:sp>
        <p:sp>
          <p:nvSpPr>
            <p:cNvPr id="3" name="Source Connector">
              <a:extLst>
                <a:ext uri="{FF2B5EF4-FFF2-40B4-BE49-F238E27FC236}">
                  <a16:creationId xmlns:a16="http://schemas.microsoft.com/office/drawing/2014/main" id="{B5EF6032-5B1D-430C-ACF0-8CFBF346DE1F}"/>
                </a:ext>
              </a:extLst>
            </p:cNvPr>
            <p:cNvSpPr>
              <a:spLocks/>
            </p:cNvSpPr>
            <p:nvPr/>
          </p:nvSpPr>
          <p:spPr>
            <a:xfrm>
              <a:off x="685800" y="2152650"/>
              <a:ext cx="2676525" cy="647700"/>
            </a:xfrm>
            <a:prstGeom prst="parallelogram">
              <a:avLst/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Source Connector</a:t>
              </a:r>
            </a:p>
          </p:txBody>
        </p:sp>
        <p:sp>
          <p:nvSpPr>
            <p:cNvPr id="4" name="Enricher">
              <a:extLst>
                <a:ext uri="{FF2B5EF4-FFF2-40B4-BE49-F238E27FC236}">
                  <a16:creationId xmlns:a16="http://schemas.microsoft.com/office/drawing/2014/main" id="{E9A328A1-BA48-44CB-93E7-AE3B5E6D39F2}"/>
                </a:ext>
              </a:extLst>
            </p:cNvPr>
            <p:cNvSpPr>
              <a:spLocks/>
            </p:cNvSpPr>
            <p:nvPr/>
          </p:nvSpPr>
          <p:spPr>
            <a:xfrm>
              <a:off x="685800" y="3086100"/>
              <a:ext cx="2676525" cy="647700"/>
            </a:xfrm>
            <a:prstGeom prst="parallelogram">
              <a:avLst/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Enricher</a:t>
              </a:r>
            </a:p>
          </p:txBody>
        </p:sp>
        <p:sp>
          <p:nvSpPr>
            <p:cNvPr id="5" name="Tool / Skill">
              <a:extLst>
                <a:ext uri="{FF2B5EF4-FFF2-40B4-BE49-F238E27FC236}">
                  <a16:creationId xmlns:a16="http://schemas.microsoft.com/office/drawing/2014/main" id="{7348079A-0EE0-4449-BFE0-6D1BF7984C92}"/>
                </a:ext>
              </a:extLst>
            </p:cNvPr>
            <p:cNvSpPr>
              <a:spLocks/>
            </p:cNvSpPr>
            <p:nvPr/>
          </p:nvSpPr>
          <p:spPr>
            <a:xfrm>
              <a:off x="685800" y="4019550"/>
              <a:ext cx="2676525" cy="647700"/>
            </a:xfrm>
            <a:prstGeom prst="parallelogram">
              <a:avLst/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Tool / Skill</a:t>
              </a:r>
            </a:p>
          </p:txBody>
        </p:sp>
        <p:sp>
          <p:nvSpPr>
            <p:cNvPr id="6" name="shaowang-sdk 签名索引">
              <a:extLst>
                <a:ext uri="{FF2B5EF4-FFF2-40B4-BE49-F238E27FC236}">
                  <a16:creationId xmlns:a16="http://schemas.microsoft.com/office/drawing/2014/main" id="{609D40DC-2E55-402D-9DB2-33C71F80B6EE}"/>
                </a:ext>
              </a:extLst>
            </p:cNvPr>
            <p:cNvSpPr>
              <a:spLocks/>
            </p:cNvSpPr>
            <p:nvPr/>
          </p:nvSpPr>
          <p:spPr>
            <a:xfrm>
              <a:off x="685800" y="5153025"/>
              <a:ext cx="2676525" cy="895350"/>
            </a:xfrm>
            <a:prstGeom prst="roundRect">
              <a:avLst>
                <a:gd name="adj" fmla="val 4255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shaowang-sdk</a:t>
              </a:r>
            </a:p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签名索引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A03DA3F4-E2C2-4ED4-B446-0A4C444B458E}"/>
                </a:ext>
              </a:extLst>
            </p:cNvPr>
            <p:cNvSpPr>
              <a:spLocks/>
            </p:cNvSpPr>
            <p:nvPr/>
          </p:nvSpPr>
          <p:spPr>
            <a:xfrm>
              <a:off x="4286250" y="3314700"/>
              <a:ext cx="2857500" cy="1323975"/>
            </a:xfrm>
            <a:prstGeom prst="hexagon">
              <a:avLst/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8" name="intel-core">
              <a:extLst>
                <a:ext uri="{FF2B5EF4-FFF2-40B4-BE49-F238E27FC236}">
                  <a16:creationId xmlns:a16="http://schemas.microsoft.com/office/drawing/2014/main" id="{19A0CF91-ECF1-4E32-855E-F3D6743BF5A6}"/>
                </a:ext>
              </a:extLst>
            </p:cNvPr>
            <p:cNvSpPr>
              <a:spLocks/>
            </p:cNvSpPr>
            <p:nvPr/>
          </p:nvSpPr>
          <p:spPr>
            <a:xfrm>
              <a:off x="4381500" y="3409950"/>
              <a:ext cx="2667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40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2400" b="1">
                  <a:solidFill>
                    <a:srgbClr val="547D45"/>
                  </a:solidFill>
                </a:defRPr>
              </a:pPr>
              <a:r>
                <a:rPr sz="24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intel-core</a:t>
              </a:r>
            </a:p>
          </p:txBody>
        </p:sp>
        <p:sp>
          <p:nvSpPr>
            <p:cNvPr id="9" name="统一服务层">
              <a:extLst>
                <a:ext uri="{FF2B5EF4-FFF2-40B4-BE49-F238E27FC236}">
                  <a16:creationId xmlns:a16="http://schemas.microsoft.com/office/drawing/2014/main" id="{D703A731-9047-47CA-ABA5-16EF960D9CFB}"/>
                </a:ext>
              </a:extLst>
            </p:cNvPr>
            <p:cNvSpPr>
              <a:spLocks/>
            </p:cNvSpPr>
            <p:nvPr/>
          </p:nvSpPr>
          <p:spPr>
            <a:xfrm>
              <a:off x="4400550" y="3838575"/>
              <a:ext cx="2628900" cy="704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统一服务层</a:t>
              </a:r>
            </a:p>
          </p:txBody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99B8B16C-DB04-4092-A7A6-1012B91B2C48}"/>
                </a:ext>
              </a:extLst>
            </p:cNvPr>
            <p:cNvSpPr>
              <a:spLocks/>
            </p:cNvSpPr>
            <p:nvPr/>
          </p:nvSpPr>
          <p:spPr>
            <a:xfrm>
              <a:off x="7810500" y="1352550"/>
              <a:ext cx="3190875" cy="5048250"/>
            </a:xfrm>
            <a:prstGeom prst="roundRect">
              <a:avLst>
                <a:gd name="adj" fmla="val 5373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1" name="智能体接入">
              <a:extLst>
                <a:ext uri="{FF2B5EF4-FFF2-40B4-BE49-F238E27FC236}">
                  <a16:creationId xmlns:a16="http://schemas.microsoft.com/office/drawing/2014/main" id="{318BC424-164B-4C74-A3E5-C4F4AD90AA9A}"/>
                </a:ext>
              </a:extLst>
            </p:cNvPr>
            <p:cNvSpPr>
              <a:spLocks/>
            </p:cNvSpPr>
            <p:nvPr/>
          </p:nvSpPr>
          <p:spPr>
            <a:xfrm>
              <a:off x="7981950" y="1447800"/>
              <a:ext cx="2847975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77DC3"/>
                  </a:solidFill>
                </a:defRPr>
              </a:defPPr>
            </a:lstStyle>
            <a:p>
              <a:pPr algn="l">
                <a:defRPr sz="1800" b="1">
                  <a:solidFill>
                    <a:srgbClr val="277DC3"/>
                  </a:solidFill>
                </a:defRPr>
              </a:pPr>
              <a:r>
                <a:rPr sz="1800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智能体接入</a:t>
              </a:r>
            </a:p>
          </p:txBody>
        </p:sp>
        <p:sp>
          <p:nvSpPr>
            <p:cNvPr id="12" name="MCP / OpenAPI / CLI">
              <a:extLst>
                <a:ext uri="{FF2B5EF4-FFF2-40B4-BE49-F238E27FC236}">
                  <a16:creationId xmlns:a16="http://schemas.microsoft.com/office/drawing/2014/main" id="{A51C1628-0650-4473-9056-54ECB140FF39}"/>
                </a:ext>
              </a:extLst>
            </p:cNvPr>
            <p:cNvSpPr>
              <a:spLocks/>
            </p:cNvSpPr>
            <p:nvPr/>
          </p:nvSpPr>
          <p:spPr>
            <a:xfrm>
              <a:off x="8010525" y="2152650"/>
              <a:ext cx="2790825" cy="7239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MCP / OpenAPI / CLI</a:t>
              </a:r>
            </a:p>
          </p:txBody>
        </p:sp>
        <p:sp>
          <p:nvSpPr>
            <p:cNvPr id="13" name="Agent Plugins 包">
              <a:extLst>
                <a:ext uri="{FF2B5EF4-FFF2-40B4-BE49-F238E27FC236}">
                  <a16:creationId xmlns:a16="http://schemas.microsoft.com/office/drawing/2014/main" id="{B65D5B41-87E6-4751-9154-54965FDF4335}"/>
                </a:ext>
              </a:extLst>
            </p:cNvPr>
            <p:cNvSpPr>
              <a:spLocks/>
            </p:cNvSpPr>
            <p:nvPr/>
          </p:nvSpPr>
          <p:spPr>
            <a:xfrm>
              <a:off x="8010525" y="3333750"/>
              <a:ext cx="2790825" cy="723900"/>
            </a:xfrm>
            <a:prstGeom prst="parallelogram">
              <a:avLst/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Agent Plugins 包</a:t>
              </a:r>
            </a:p>
          </p:txBody>
        </p:sp>
        <p:sp>
          <p:nvSpPr>
            <p:cNvPr id="14" name="Claude Code / Codex Cursor / Gemini CLI Kimi 等：待核实">
              <a:extLst>
                <a:ext uri="{FF2B5EF4-FFF2-40B4-BE49-F238E27FC236}">
                  <a16:creationId xmlns:a16="http://schemas.microsoft.com/office/drawing/2014/main" id="{C633201E-CC91-4B48-B227-18DC74C68857}"/>
                </a:ext>
              </a:extLst>
            </p:cNvPr>
            <p:cNvSpPr>
              <a:spLocks/>
            </p:cNvSpPr>
            <p:nvPr/>
          </p:nvSpPr>
          <p:spPr>
            <a:xfrm>
              <a:off x="8029575" y="4657725"/>
              <a:ext cx="2762250" cy="1362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Claude Code / Codex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Cursor / Gemini CLI</a:t>
              </a:r>
            </a:p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Kimi 等：待核实</a:t>
              </a:r>
            </a:p>
          </p:txBody>
        </p:sp>
        <p:sp>
          <p:nvSpPr>
            <p:cNvPr id="15" name="boundary">
              <a:extLst>
                <a:ext uri="{FF2B5EF4-FFF2-40B4-BE49-F238E27FC236}">
                  <a16:creationId xmlns:a16="http://schemas.microsoft.com/office/drawing/2014/main" id="{CC2E7BB3-E765-49EA-B8CD-183F94745520}"/>
                </a:ext>
              </a:extLst>
            </p:cNvPr>
            <p:cNvSpPr>
              <a:spLocks/>
            </p:cNvSpPr>
            <p:nvPr/>
          </p:nvSpPr>
          <p:spPr>
            <a:xfrm>
              <a:off x="3362325" y="56007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boundary">
              <a:extLst>
                <a:ext uri="{FF2B5EF4-FFF2-40B4-BE49-F238E27FC236}">
                  <a16:creationId xmlns:a16="http://schemas.microsoft.com/office/drawing/2014/main" id="{0EBB50C8-5BB2-46EB-BB4F-34692E9FBE42}"/>
                </a:ext>
              </a:extLst>
            </p:cNvPr>
            <p:cNvSpPr>
              <a:spLocks/>
            </p:cNvSpPr>
            <p:nvPr/>
          </p:nvSpPr>
          <p:spPr>
            <a:xfrm>
              <a:off x="3943350" y="56007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8" name="boundary">
              <a:extLst>
                <a:ext uri="{FF2B5EF4-FFF2-40B4-BE49-F238E27FC236}">
                  <a16:creationId xmlns:a16="http://schemas.microsoft.com/office/drawing/2014/main" id="{DE1F25F2-C899-4801-B892-E84D09ABADAC}"/>
                </a:ext>
              </a:extLst>
            </p:cNvPr>
            <p:cNvSpPr>
              <a:spLocks/>
            </p:cNvSpPr>
            <p:nvPr/>
          </p:nvSpPr>
          <p:spPr>
            <a:xfrm>
              <a:off x="3943350" y="56007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7DFB6484-F618-4F01-8AAB-A2B68E82FA89}"/>
                </a:ext>
              </a:extLst>
            </p:cNvPr>
            <p:cNvSpPr>
              <a:spLocks/>
            </p:cNvSpPr>
            <p:nvPr/>
          </p:nvSpPr>
          <p:spPr>
            <a:xfrm>
              <a:off x="3943350" y="3971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E0D1FE26-537B-42D9-A2F1-9D9B46825CA8}"/>
                </a:ext>
              </a:extLst>
            </p:cNvPr>
            <p:cNvSpPr>
              <a:spLocks/>
            </p:cNvSpPr>
            <p:nvPr/>
          </p:nvSpPr>
          <p:spPr>
            <a:xfrm>
              <a:off x="3943350" y="3971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2" name="boundary">
              <a:extLst>
                <a:ext uri="{FF2B5EF4-FFF2-40B4-BE49-F238E27FC236}">
                  <a16:creationId xmlns:a16="http://schemas.microsoft.com/office/drawing/2014/main" id="{5DA836BD-B138-400E-8247-DAA108BEF54D}"/>
                </a:ext>
              </a:extLst>
            </p:cNvPr>
            <p:cNvSpPr>
              <a:spLocks/>
            </p:cNvSpPr>
            <p:nvPr/>
          </p:nvSpPr>
          <p:spPr>
            <a:xfrm>
              <a:off x="4286250" y="3971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F0A6992A-30CC-41F2-BA47-2B847F48534D}"/>
                </a:ext>
              </a:extLst>
            </p:cNvPr>
            <p:cNvSpPr>
              <a:spLocks/>
            </p:cNvSpPr>
            <p:nvPr/>
          </p:nvSpPr>
          <p:spPr>
            <a:xfrm>
              <a:off x="7143750" y="3971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5" name="boundary">
              <a:extLst>
                <a:ext uri="{FF2B5EF4-FFF2-40B4-BE49-F238E27FC236}">
                  <a16:creationId xmlns:a16="http://schemas.microsoft.com/office/drawing/2014/main" id="{2C240C27-0A67-4794-B47B-98B04276CC44}"/>
                </a:ext>
              </a:extLst>
            </p:cNvPr>
            <p:cNvSpPr>
              <a:spLocks/>
            </p:cNvSpPr>
            <p:nvPr/>
          </p:nvSpPr>
          <p:spPr>
            <a:xfrm>
              <a:off x="7458075" y="3971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279072F9-50D2-4728-8757-B7DC6833070E}"/>
                </a:ext>
              </a:extLst>
            </p:cNvPr>
            <p:cNvSpPr>
              <a:spLocks/>
            </p:cNvSpPr>
            <p:nvPr/>
          </p:nvSpPr>
          <p:spPr>
            <a:xfrm>
              <a:off x="7458075" y="3971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8" name="boundary">
              <a:extLst>
                <a:ext uri="{FF2B5EF4-FFF2-40B4-BE49-F238E27FC236}">
                  <a16:creationId xmlns:a16="http://schemas.microsoft.com/office/drawing/2014/main" id="{2A3762D6-D512-4E4F-88F0-E263FA2CF55E}"/>
                </a:ext>
              </a:extLst>
            </p:cNvPr>
            <p:cNvSpPr>
              <a:spLocks/>
            </p:cNvSpPr>
            <p:nvPr/>
          </p:nvSpPr>
          <p:spPr>
            <a:xfrm>
              <a:off x="7458075" y="2514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0" name="boundary">
              <a:extLst>
                <a:ext uri="{FF2B5EF4-FFF2-40B4-BE49-F238E27FC236}">
                  <a16:creationId xmlns:a16="http://schemas.microsoft.com/office/drawing/2014/main" id="{9A26E786-247B-470C-A493-7D260E2C3FF6}"/>
                </a:ext>
              </a:extLst>
            </p:cNvPr>
            <p:cNvSpPr>
              <a:spLocks/>
            </p:cNvSpPr>
            <p:nvPr/>
          </p:nvSpPr>
          <p:spPr>
            <a:xfrm>
              <a:off x="7458075" y="2514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1" name="boundary">
              <a:extLst>
                <a:ext uri="{FF2B5EF4-FFF2-40B4-BE49-F238E27FC236}">
                  <a16:creationId xmlns:a16="http://schemas.microsoft.com/office/drawing/2014/main" id="{787F7297-46BA-4AEF-B3D3-2167ED371E4D}"/>
                </a:ext>
              </a:extLst>
            </p:cNvPr>
            <p:cNvSpPr>
              <a:spLocks/>
            </p:cNvSpPr>
            <p:nvPr/>
          </p:nvSpPr>
          <p:spPr>
            <a:xfrm>
              <a:off x="8010525" y="2514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3" name="统一鉴权、限流、审计与长任务句柄">
              <a:extLst>
                <a:ext uri="{FF2B5EF4-FFF2-40B4-BE49-F238E27FC236}">
                  <a16:creationId xmlns:a16="http://schemas.microsoft.com/office/drawing/2014/main" id="{E582EEB8-8F65-4664-B0D1-5B32EF84AE14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统一鉴权、限流、审计与长任务句柄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3013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F-20 - whole figure">
            <a:extLst>
              <a:ext uri="{FF2B5EF4-FFF2-40B4-BE49-F238E27FC236}">
                <a16:creationId xmlns:a16="http://schemas.microsoft.com/office/drawing/2014/main" id="{27828C3D-C793-231D-CF80-C99F2EA1CE02}"/>
              </a:ext>
            </a:extLst>
          </p:cNvPr>
          <p:cNvGrpSpPr/>
          <p:nvPr/>
        </p:nvGrpSpPr>
        <p:grpSpPr>
          <a:xfrm>
            <a:off x="666750" y="1466850"/>
            <a:ext cx="10402253" cy="5610225"/>
            <a:chOff x="666750" y="1466850"/>
            <a:chExt cx="10402253" cy="5610225"/>
          </a:xfrm>
        </p:grpSpPr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AECF4AB6-2092-4A9A-9A8A-B36E03237BB1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H="1">
              <a:off x="10763250" y="6763227"/>
              <a:ext cx="305753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  <a:tailEnd type="triangle" w="sm" len="sm"/>
            </a:ln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F946240F-4C50-4106-AA04-D61CDDC821E6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 flipH="1">
              <a:off x="11068050" y="4401027"/>
              <a:ext cx="953" cy="236220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</a:ln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EC1C4093-E575-4674-AF63-38CF5775C142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>
              <a:off x="10764203" y="4401027"/>
              <a:ext cx="303847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dash"/>
            </a:ln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BF456794-0107-4FF5-BFE5-E2785A67A81D}"/>
                </a:ext>
              </a:extLst>
            </p:cNvPr>
            <p:cNvCxnSpPr>
              <a:stCxn id="29" idx="3"/>
              <a:endCxn id="30" idx="1"/>
            </p:cNvCxnSpPr>
            <p:nvPr/>
          </p:nvCxnSpPr>
          <p:spPr>
            <a:xfrm flipH="1" flipV="1">
              <a:off x="5715000" y="4782027"/>
              <a:ext cx="953" cy="82867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  <a:tailEnd type="triangle" w="sm" len="sm"/>
            </a:ln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DF09A5B-7C43-4967-859A-4B4717482C1B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 flipH="1">
              <a:off x="5715000" y="5610702"/>
              <a:ext cx="3763328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0E802EBA-A220-422C-90D5-D09EF06DF3D7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 flipH="1">
              <a:off x="9477375" y="4782027"/>
              <a:ext cx="953" cy="828675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9785BEAB-6D9B-4682-ABAB-34C47F000807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 flipH="1">
              <a:off x="1952625" y="3286602"/>
              <a:ext cx="953" cy="7334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454F07A-58CB-4F92-96B0-89BF30650310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 flipH="1">
              <a:off x="1952625" y="3286602"/>
              <a:ext cx="75257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05B558D6-8F88-4568-9694-FE0C039D91EE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 flipH="1">
              <a:off x="9477375" y="2229327"/>
              <a:ext cx="953" cy="105727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3CA6440-D777-44E9-B94E-4DB2850AFD81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>
              <a:off x="7000875" y="4400550"/>
              <a:ext cx="1190625" cy="0"/>
            </a:xfrm>
            <a:prstGeom prst="straightConnector1">
              <a:avLst/>
            </a:prstGeom>
            <a:ln w="22860">
              <a:solidFill>
                <a:srgbClr val="A67A20"/>
              </a:solidFill>
              <a:prstDash val="solid"/>
              <a:tailEnd type="triangle" w="sm" len="sm"/>
            </a:ln>
          </p:spPr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0D91752-DC8A-41A9-94B2-0DD501358FDB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3238500" y="4400550"/>
              <a:ext cx="1190625" cy="0"/>
            </a:xfrm>
            <a:prstGeom prst="straightConnector1">
              <a:avLst/>
            </a:prstGeom>
            <a:ln w="22860">
              <a:solidFill>
                <a:srgbClr val="547D45"/>
              </a:solidFill>
              <a:prstDash val="solid"/>
              <a:tailEnd type="triangle" w="sm" len="sm"/>
            </a:ln>
          </p:spPr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178F30CD-4D46-47F0-9688-1E9C96C7EAB9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7000875" y="1847850"/>
              <a:ext cx="1190625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F06B4E4C-B42D-41DE-8B37-73DB6D2491D3}"/>
                </a:ext>
              </a:extLst>
            </p:cNvPr>
            <p:cNvCxnSpPr>
              <a:stCxn id="45" idx="3"/>
              <a:endCxn id="2" idx="1"/>
            </p:cNvCxnSpPr>
            <p:nvPr/>
          </p:nvCxnSpPr>
          <p:spPr>
            <a:xfrm>
              <a:off x="3238500" y="1847850"/>
              <a:ext cx="1190625" cy="0"/>
            </a:xfrm>
            <a:prstGeom prst="straightConnector1">
              <a:avLst/>
            </a:prstGeom>
            <a:ln w="22860">
              <a:solidFill>
                <a:srgbClr val="277DC3"/>
              </a:solidFill>
              <a:prstDash val="solid"/>
              <a:tailEnd type="triangle" w="sm" len="sm"/>
            </a:ln>
          </p:spPr>
        </p:cxnSp>
        <p:sp>
          <p:nvSpPr>
            <p:cNvPr id="45" name="Discovered">
              <a:extLst>
                <a:ext uri="{FF2B5EF4-FFF2-40B4-BE49-F238E27FC236}">
                  <a16:creationId xmlns:a16="http://schemas.microsoft.com/office/drawing/2014/main" id="{70DE6FC6-86A7-4629-89F0-415C3B48E6BD}"/>
                </a:ext>
              </a:extLst>
            </p:cNvPr>
            <p:cNvSpPr>
              <a:spLocks/>
            </p:cNvSpPr>
            <p:nvPr/>
          </p:nvSpPr>
          <p:spPr>
            <a:xfrm>
              <a:off x="666750" y="1466850"/>
              <a:ext cx="2571750" cy="762000"/>
            </a:xfrm>
            <a:prstGeom prst="roundRect">
              <a:avLst>
                <a:gd name="adj" fmla="val 50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2100" b="1">
                  <a:solidFill>
                    <a:srgbClr val="233E54"/>
                  </a:solidFill>
                </a:defRPr>
              </a:pPr>
              <a:r>
                <a:rPr sz="21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Discovered</a:t>
              </a:r>
            </a:p>
          </p:txBody>
        </p:sp>
        <p:sp>
          <p:nvSpPr>
            <p:cNvPr id="2" name="Validated">
              <a:extLst>
                <a:ext uri="{FF2B5EF4-FFF2-40B4-BE49-F238E27FC236}">
                  <a16:creationId xmlns:a16="http://schemas.microsoft.com/office/drawing/2014/main" id="{71855AE4-0057-4BF7-87B0-6450F7521CA5}"/>
                </a:ext>
              </a:extLst>
            </p:cNvPr>
            <p:cNvSpPr>
              <a:spLocks/>
            </p:cNvSpPr>
            <p:nvPr/>
          </p:nvSpPr>
          <p:spPr>
            <a:xfrm>
              <a:off x="4429125" y="1466850"/>
              <a:ext cx="2571750" cy="762000"/>
            </a:xfrm>
            <a:prstGeom prst="roundRect">
              <a:avLst>
                <a:gd name="adj" fmla="val 50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2100" b="1">
                  <a:solidFill>
                    <a:srgbClr val="233E54"/>
                  </a:solidFill>
                </a:defRPr>
              </a:pPr>
              <a:r>
                <a:rPr sz="21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Validated</a:t>
              </a:r>
            </a:p>
          </p:txBody>
        </p:sp>
        <p:sp>
          <p:nvSpPr>
            <p:cNvPr id="3" name="Installed">
              <a:extLst>
                <a:ext uri="{FF2B5EF4-FFF2-40B4-BE49-F238E27FC236}">
                  <a16:creationId xmlns:a16="http://schemas.microsoft.com/office/drawing/2014/main" id="{820FEEFC-CD16-4C00-BC44-488A5E8AC779}"/>
                </a:ext>
              </a:extLst>
            </p:cNvPr>
            <p:cNvSpPr>
              <a:spLocks/>
            </p:cNvSpPr>
            <p:nvPr/>
          </p:nvSpPr>
          <p:spPr>
            <a:xfrm>
              <a:off x="8191500" y="1466850"/>
              <a:ext cx="2571750" cy="762000"/>
            </a:xfrm>
            <a:prstGeom prst="roundRect">
              <a:avLst>
                <a:gd name="adj" fmla="val 50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2100" b="1">
                  <a:solidFill>
                    <a:srgbClr val="233E54"/>
                  </a:solidFill>
                </a:defRPr>
              </a:pPr>
              <a:r>
                <a:rPr sz="21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Installed</a:t>
              </a:r>
            </a:p>
          </p:txBody>
        </p:sp>
        <p:sp>
          <p:nvSpPr>
            <p:cNvPr id="6" name="清单 / Schema / 签名">
              <a:extLst>
                <a:ext uri="{FF2B5EF4-FFF2-40B4-BE49-F238E27FC236}">
                  <a16:creationId xmlns:a16="http://schemas.microsoft.com/office/drawing/2014/main" id="{60836376-3D89-45DC-9909-8690174E60E7}"/>
                </a:ext>
              </a:extLst>
            </p:cNvPr>
            <p:cNvSpPr>
              <a:spLocks/>
            </p:cNvSpPr>
            <p:nvPr/>
          </p:nvSpPr>
          <p:spPr>
            <a:xfrm>
              <a:off x="2238375" y="2505075"/>
              <a:ext cx="3143250" cy="5238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清单 / Schema / 签名</a:t>
              </a:r>
            </a:p>
          </p:txBody>
        </p:sp>
        <p:sp>
          <p:nvSpPr>
            <p:cNvPr id="7" name="管理员审批权限">
              <a:extLst>
                <a:ext uri="{FF2B5EF4-FFF2-40B4-BE49-F238E27FC236}">
                  <a16:creationId xmlns:a16="http://schemas.microsoft.com/office/drawing/2014/main" id="{24998EB5-D16D-483A-B0A2-6F6FCC73A960}"/>
                </a:ext>
              </a:extLst>
            </p:cNvPr>
            <p:cNvSpPr>
              <a:spLocks/>
            </p:cNvSpPr>
            <p:nvPr/>
          </p:nvSpPr>
          <p:spPr>
            <a:xfrm>
              <a:off x="6696075" y="2505075"/>
              <a:ext cx="3143250" cy="5238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管理员审批权限</a:t>
              </a:r>
            </a:p>
          </p:txBody>
        </p:sp>
        <p:sp>
          <p:nvSpPr>
            <p:cNvPr id="8" name="Loaded">
              <a:extLst>
                <a:ext uri="{FF2B5EF4-FFF2-40B4-BE49-F238E27FC236}">
                  <a16:creationId xmlns:a16="http://schemas.microsoft.com/office/drawing/2014/main" id="{DFBC35E2-158D-41ED-AAFB-3CFFEF2EF448}"/>
                </a:ext>
              </a:extLst>
            </p:cNvPr>
            <p:cNvSpPr>
              <a:spLocks/>
            </p:cNvSpPr>
            <p:nvPr/>
          </p:nvSpPr>
          <p:spPr>
            <a:xfrm>
              <a:off x="666750" y="4019550"/>
              <a:ext cx="2571750" cy="762000"/>
            </a:xfrm>
            <a:prstGeom prst="roundRect">
              <a:avLst>
                <a:gd name="adj" fmla="val 50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2100" b="1">
                  <a:solidFill>
                    <a:srgbClr val="233E54"/>
                  </a:solidFill>
                </a:defRPr>
              </a:pPr>
              <a:r>
                <a:rPr sz="21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Loaded</a:t>
              </a:r>
            </a:p>
          </p:txBody>
        </p:sp>
        <p:sp>
          <p:nvSpPr>
            <p:cNvPr id="9" name="Running">
              <a:extLst>
                <a:ext uri="{FF2B5EF4-FFF2-40B4-BE49-F238E27FC236}">
                  <a16:creationId xmlns:a16="http://schemas.microsoft.com/office/drawing/2014/main" id="{96834702-E119-4E29-A837-0F5C30539AD4}"/>
                </a:ext>
              </a:extLst>
            </p:cNvPr>
            <p:cNvSpPr>
              <a:spLocks/>
            </p:cNvSpPr>
            <p:nvPr/>
          </p:nvSpPr>
          <p:spPr>
            <a:xfrm>
              <a:off x="4429125" y="4019550"/>
              <a:ext cx="2571750" cy="762000"/>
            </a:xfrm>
            <a:prstGeom prst="roundRect">
              <a:avLst>
                <a:gd name="adj" fmla="val 5000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2100" b="1">
                  <a:solidFill>
                    <a:srgbClr val="547D45"/>
                  </a:solidFill>
                </a:defRPr>
              </a:pPr>
              <a:r>
                <a:rPr sz="21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Running</a:t>
              </a:r>
            </a:p>
          </p:txBody>
        </p:sp>
        <p:sp>
          <p:nvSpPr>
            <p:cNvPr id="10" name="Degraded">
              <a:extLst>
                <a:ext uri="{FF2B5EF4-FFF2-40B4-BE49-F238E27FC236}">
                  <a16:creationId xmlns:a16="http://schemas.microsoft.com/office/drawing/2014/main" id="{CB9FD890-C6D0-49AC-9325-D07E304EB75A}"/>
                </a:ext>
              </a:extLst>
            </p:cNvPr>
            <p:cNvSpPr>
              <a:spLocks/>
            </p:cNvSpPr>
            <p:nvPr/>
          </p:nvSpPr>
          <p:spPr>
            <a:xfrm>
              <a:off x="8191500" y="4019550"/>
              <a:ext cx="2571750" cy="762000"/>
            </a:xfrm>
            <a:prstGeom prst="roundRect">
              <a:avLst>
                <a:gd name="adj" fmla="val 5000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2100" b="1">
                  <a:solidFill>
                    <a:srgbClr val="A67A20"/>
                  </a:solidFill>
                </a:defRPr>
              </a:pPr>
              <a:r>
                <a:rPr sz="21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Degraded</a:t>
              </a:r>
            </a:p>
          </p:txBody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9648061E-50E0-4642-A2C2-A1BBE8D03323}"/>
                </a:ext>
              </a:extLst>
            </p:cNvPr>
            <p:cNvSpPr>
              <a:spLocks/>
            </p:cNvSpPr>
            <p:nvPr/>
          </p:nvSpPr>
          <p:spPr>
            <a:xfrm>
              <a:off x="9477375" y="22288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1684CA45-E22C-4B91-A917-8FDC38E5E7C7}"/>
                </a:ext>
              </a:extLst>
            </p:cNvPr>
            <p:cNvSpPr>
              <a:spLocks/>
            </p:cNvSpPr>
            <p:nvPr/>
          </p:nvSpPr>
          <p:spPr>
            <a:xfrm>
              <a:off x="9477375" y="32861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boundary">
              <a:extLst>
                <a:ext uri="{FF2B5EF4-FFF2-40B4-BE49-F238E27FC236}">
                  <a16:creationId xmlns:a16="http://schemas.microsoft.com/office/drawing/2014/main" id="{BC71FEBD-8640-4BBE-9FD9-22EA78C47A00}"/>
                </a:ext>
              </a:extLst>
            </p:cNvPr>
            <p:cNvSpPr>
              <a:spLocks/>
            </p:cNvSpPr>
            <p:nvPr/>
          </p:nvSpPr>
          <p:spPr>
            <a:xfrm>
              <a:off x="9477375" y="32861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67B6C25C-7563-4795-A2BC-E5B34C720815}"/>
                </a:ext>
              </a:extLst>
            </p:cNvPr>
            <p:cNvSpPr>
              <a:spLocks/>
            </p:cNvSpPr>
            <p:nvPr/>
          </p:nvSpPr>
          <p:spPr>
            <a:xfrm>
              <a:off x="1952625" y="32861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BF774D49-D66E-41F2-9AB3-9F00BA7C05BC}"/>
                </a:ext>
              </a:extLst>
            </p:cNvPr>
            <p:cNvSpPr>
              <a:spLocks/>
            </p:cNvSpPr>
            <p:nvPr/>
          </p:nvSpPr>
          <p:spPr>
            <a:xfrm>
              <a:off x="1952625" y="32861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11AB44B2-DF77-4A4E-A1CA-DA382F3A06D0}"/>
                </a:ext>
              </a:extLst>
            </p:cNvPr>
            <p:cNvSpPr>
              <a:spLocks/>
            </p:cNvSpPr>
            <p:nvPr/>
          </p:nvSpPr>
          <p:spPr>
            <a:xfrm>
              <a:off x="1952625" y="40195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2" name="连续失败 ≥3 或 Schema 违规率 &gt;5%">
              <a:extLst>
                <a:ext uri="{FF2B5EF4-FFF2-40B4-BE49-F238E27FC236}">
                  <a16:creationId xmlns:a16="http://schemas.microsoft.com/office/drawing/2014/main" id="{235C5197-8B1C-4C47-84C4-BF82BFF7018E}"/>
                </a:ext>
              </a:extLst>
            </p:cNvPr>
            <p:cNvSpPr>
              <a:spLocks/>
            </p:cNvSpPr>
            <p:nvPr/>
          </p:nvSpPr>
          <p:spPr>
            <a:xfrm>
              <a:off x="5524500" y="3457575"/>
              <a:ext cx="533400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67A20"/>
                  </a:solidFill>
                </a:defRPr>
              </a:pPr>
              <a:r>
                <a:rPr sz="1725" b="0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连续失败 ≥3 或 Schema 违规率 &gt;5%</a:t>
              </a:r>
            </a:p>
          </p:txBody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7C31A8D9-D38B-41B6-881E-2DFAFD9DE0BB}"/>
                </a:ext>
              </a:extLst>
            </p:cNvPr>
            <p:cNvSpPr>
              <a:spLocks/>
            </p:cNvSpPr>
            <p:nvPr/>
          </p:nvSpPr>
          <p:spPr>
            <a:xfrm>
              <a:off x="9477375" y="47815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62D2ACEB-25E4-4B1D-91E9-764D7E7F4FA7}"/>
                </a:ext>
              </a:extLst>
            </p:cNvPr>
            <p:cNvSpPr>
              <a:spLocks/>
            </p:cNvSpPr>
            <p:nvPr/>
          </p:nvSpPr>
          <p:spPr>
            <a:xfrm>
              <a:off x="9477375" y="56102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BDD0E2A2-F99B-4D46-A011-3BC49061BF4C}"/>
                </a:ext>
              </a:extLst>
            </p:cNvPr>
            <p:cNvSpPr>
              <a:spLocks/>
            </p:cNvSpPr>
            <p:nvPr/>
          </p:nvSpPr>
          <p:spPr>
            <a:xfrm>
              <a:off x="9477375" y="56102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6B1F548E-B62A-4B33-A6FF-9FA2D8D55797}"/>
                </a:ext>
              </a:extLst>
            </p:cNvPr>
            <p:cNvSpPr>
              <a:spLocks/>
            </p:cNvSpPr>
            <p:nvPr/>
          </p:nvSpPr>
          <p:spPr>
            <a:xfrm>
              <a:off x="5715000" y="56102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749B42DB-0DD0-4EE8-B414-F3A235F01BBF}"/>
                </a:ext>
              </a:extLst>
            </p:cNvPr>
            <p:cNvSpPr>
              <a:spLocks/>
            </p:cNvSpPr>
            <p:nvPr/>
          </p:nvSpPr>
          <p:spPr>
            <a:xfrm>
              <a:off x="5715000" y="56102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0" name="boundary">
              <a:extLst>
                <a:ext uri="{FF2B5EF4-FFF2-40B4-BE49-F238E27FC236}">
                  <a16:creationId xmlns:a16="http://schemas.microsoft.com/office/drawing/2014/main" id="{68270B2B-E871-4607-921E-DC4FF1036D41}"/>
                </a:ext>
              </a:extLst>
            </p:cNvPr>
            <p:cNvSpPr>
              <a:spLocks/>
            </p:cNvSpPr>
            <p:nvPr/>
          </p:nvSpPr>
          <p:spPr>
            <a:xfrm>
              <a:off x="5715000" y="47815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healthcheck 恢复">
              <a:extLst>
                <a:ext uri="{FF2B5EF4-FFF2-40B4-BE49-F238E27FC236}">
                  <a16:creationId xmlns:a16="http://schemas.microsoft.com/office/drawing/2014/main" id="{5485EC00-2F32-4B4F-A96E-7BAC41C07B8D}"/>
                </a:ext>
              </a:extLst>
            </p:cNvPr>
            <p:cNvSpPr>
              <a:spLocks/>
            </p:cNvSpPr>
            <p:nvPr/>
          </p:nvSpPr>
          <p:spPr>
            <a:xfrm>
              <a:off x="5524500" y="5724525"/>
              <a:ext cx="2667000" cy="3714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0">
                  <a:solidFill>
                    <a:srgbClr val="547D45"/>
                  </a:solidFill>
                </a:defRPr>
              </a:pPr>
              <a:r>
                <a:rPr sz="1725" b="0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healthcheck 恢复</a:t>
              </a:r>
            </a:p>
          </p:txBody>
        </p:sp>
        <p:sp>
          <p:nvSpPr>
            <p:cNvPr id="33" name="Disabled">
              <a:extLst>
                <a:ext uri="{FF2B5EF4-FFF2-40B4-BE49-F238E27FC236}">
                  <a16:creationId xmlns:a16="http://schemas.microsoft.com/office/drawing/2014/main" id="{8D6F931F-B033-4623-84AC-D03EFBDC7BA2}"/>
                </a:ext>
              </a:extLst>
            </p:cNvPr>
            <p:cNvSpPr>
              <a:spLocks/>
            </p:cNvSpPr>
            <p:nvPr/>
          </p:nvSpPr>
          <p:spPr>
            <a:xfrm>
              <a:off x="8191500" y="6457950"/>
              <a:ext cx="2571750" cy="619125"/>
            </a:xfrm>
            <a:prstGeom prst="roundRect">
              <a:avLst>
                <a:gd name="adj" fmla="val 6154"/>
              </a:avLst>
            </a:prstGeom>
            <a:solidFill>
              <a:srgbClr val="FBE7E2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AB554B"/>
                  </a:solidFill>
                </a:defRPr>
              </a:defPPr>
            </a:lstStyle>
            <a:p>
              <a:pPr algn="ctr">
                <a:defRPr sz="2100" b="1">
                  <a:solidFill>
                    <a:srgbClr val="AB554B"/>
                  </a:solidFill>
                </a:defRPr>
              </a:pPr>
              <a:r>
                <a:rPr sz="2100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Disabled</a:t>
              </a:r>
            </a:p>
          </p:txBody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8BA7F9C8-38E9-47F4-B128-49FB77A7BC23}"/>
                </a:ext>
              </a:extLst>
            </p:cNvPr>
            <p:cNvSpPr>
              <a:spLocks/>
            </p:cNvSpPr>
            <p:nvPr/>
          </p:nvSpPr>
          <p:spPr>
            <a:xfrm>
              <a:off x="10763250" y="44005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boundary">
              <a:extLst>
                <a:ext uri="{FF2B5EF4-FFF2-40B4-BE49-F238E27FC236}">
                  <a16:creationId xmlns:a16="http://schemas.microsoft.com/office/drawing/2014/main" id="{002F6445-A69F-4029-AB34-E20F64A53D80}"/>
                </a:ext>
              </a:extLst>
            </p:cNvPr>
            <p:cNvSpPr>
              <a:spLocks/>
            </p:cNvSpPr>
            <p:nvPr/>
          </p:nvSpPr>
          <p:spPr>
            <a:xfrm>
              <a:off x="11068050" y="44005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7547BF38-AFF7-4681-8036-60A189BC15CD}"/>
                </a:ext>
              </a:extLst>
            </p:cNvPr>
            <p:cNvSpPr>
              <a:spLocks/>
            </p:cNvSpPr>
            <p:nvPr/>
          </p:nvSpPr>
          <p:spPr>
            <a:xfrm>
              <a:off x="11068050" y="44005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boundary">
              <a:extLst>
                <a:ext uri="{FF2B5EF4-FFF2-40B4-BE49-F238E27FC236}">
                  <a16:creationId xmlns:a16="http://schemas.microsoft.com/office/drawing/2014/main" id="{33CE258A-338E-4625-97B9-FC777B4A0D65}"/>
                </a:ext>
              </a:extLst>
            </p:cNvPr>
            <p:cNvSpPr>
              <a:spLocks/>
            </p:cNvSpPr>
            <p:nvPr/>
          </p:nvSpPr>
          <p:spPr>
            <a:xfrm>
              <a:off x="11068050" y="6762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boundary">
              <a:extLst>
                <a:ext uri="{FF2B5EF4-FFF2-40B4-BE49-F238E27FC236}">
                  <a16:creationId xmlns:a16="http://schemas.microsoft.com/office/drawing/2014/main" id="{5FA12FF2-2FF2-4A7C-B5FA-8A9FB0E497C7}"/>
                </a:ext>
              </a:extLst>
            </p:cNvPr>
            <p:cNvSpPr>
              <a:spLocks/>
            </p:cNvSpPr>
            <p:nvPr/>
          </p:nvSpPr>
          <p:spPr>
            <a:xfrm>
              <a:off x="11068050" y="6762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1" name="boundary">
              <a:extLst>
                <a:ext uri="{FF2B5EF4-FFF2-40B4-BE49-F238E27FC236}">
                  <a16:creationId xmlns:a16="http://schemas.microsoft.com/office/drawing/2014/main" id="{3A7F0D16-C9AA-46AD-B196-4050175D2FE0}"/>
                </a:ext>
              </a:extLst>
            </p:cNvPr>
            <p:cNvSpPr>
              <a:spLocks/>
            </p:cNvSpPr>
            <p:nvPr/>
          </p:nvSpPr>
          <p:spPr>
            <a:xfrm>
              <a:off x="10763250" y="6762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3" name="24 h 未恢复 或 Critic 违规">
              <a:extLst>
                <a:ext uri="{FF2B5EF4-FFF2-40B4-BE49-F238E27FC236}">
                  <a16:creationId xmlns:a16="http://schemas.microsoft.com/office/drawing/2014/main" id="{3B47B3FD-9900-47B2-891F-C00E4ACE466A}"/>
                </a:ext>
              </a:extLst>
            </p:cNvPr>
            <p:cNvSpPr>
              <a:spLocks/>
            </p:cNvSpPr>
            <p:nvPr/>
          </p:nvSpPr>
          <p:spPr>
            <a:xfrm>
              <a:off x="7962900" y="5791200"/>
              <a:ext cx="28575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B554B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B554B"/>
                  </a:solidFill>
                </a:defRPr>
              </a:pPr>
              <a:r>
                <a:rPr sz="1725" b="0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24 h 未恢复</a:t>
              </a:r>
            </a:p>
            <a:p>
              <a:pPr algn="ctr">
                <a:defRPr sz="1725" b="0">
                  <a:solidFill>
                    <a:srgbClr val="AB554B"/>
                  </a:solidFill>
                </a:defRPr>
              </a:pPr>
              <a:r>
                <a:rPr sz="1725" b="0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或 Critic 违规</a:t>
              </a:r>
            </a:p>
          </p:txBody>
        </p:sp>
        <p:sp>
          <p:nvSpPr>
            <p:cNvPr id="44" name="升级 MINOR 热升级 / MAJOR 重审">
              <a:extLst>
                <a:ext uri="{FF2B5EF4-FFF2-40B4-BE49-F238E27FC236}">
                  <a16:creationId xmlns:a16="http://schemas.microsoft.com/office/drawing/2014/main" id="{85925D90-41CC-4CDA-9C4F-7ECDAEFF6BD2}"/>
                </a:ext>
              </a:extLst>
            </p:cNvPr>
            <p:cNvSpPr>
              <a:spLocks/>
            </p:cNvSpPr>
            <p:nvPr/>
          </p:nvSpPr>
          <p:spPr>
            <a:xfrm>
              <a:off x="666750" y="6162675"/>
              <a:ext cx="4762500" cy="914400"/>
            </a:xfrm>
            <a:prstGeom prst="roundRect">
              <a:avLst>
                <a:gd name="adj" fmla="val 4167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升级</a:t>
              </a:r>
            </a:p>
            <a:p>
              <a:pPr algn="ctr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MINOR 热升级 / MAJOR 重审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8644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8 类公开 Schema">
            <a:extLst>
              <a:ext uri="{FF2B5EF4-FFF2-40B4-BE49-F238E27FC236}">
                <a16:creationId xmlns:a16="http://schemas.microsoft.com/office/drawing/2014/main" id="{C9441F10-C955-47B2-ADCB-1AEAF9DD07C5}"/>
              </a:ext>
            </a:extLst>
          </p:cNvPr>
          <p:cNvSpPr>
            <a:spLocks/>
          </p:cNvSpPr>
          <p:nvPr/>
        </p:nvSpPr>
        <p:spPr>
          <a:xfrm>
            <a:off x="476250" y="11144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l">
              <a:defRPr sz="2025" b="1">
                <a:solidFill>
                  <a:srgbClr val="277DC3"/>
                </a:solidFill>
              </a:defRPr>
            </a:defPPr>
          </a:lstStyle>
          <a:p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8 类公开 Schema</a:t>
            </a:r>
          </a:p>
        </p:txBody>
      </p:sp>
      <p:sp>
        <p:nvSpPr>
          <p:cNvPr id="2" name="common">
            <a:extLst>
              <a:ext uri="{FF2B5EF4-FFF2-40B4-BE49-F238E27FC236}">
                <a16:creationId xmlns:a16="http://schemas.microsoft.com/office/drawing/2014/main" id="{09A92D77-B95C-442E-9DD4-C3CB7529F09F}"/>
              </a:ext>
            </a:extLst>
          </p:cNvPr>
          <p:cNvSpPr>
            <a:spLocks/>
          </p:cNvSpPr>
          <p:nvPr/>
        </p:nvSpPr>
        <p:spPr>
          <a:xfrm>
            <a:off x="476250" y="1704975"/>
            <a:ext cx="2419350" cy="495300"/>
          </a:xfrm>
          <a:prstGeom prst="roundRect">
            <a:avLst>
              <a:gd name="adj" fmla="val 7692"/>
            </a:avLst>
          </a:prstGeom>
          <a:solidFill>
            <a:srgbClr val="EAF4FC"/>
          </a:solidFill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ctr">
              <a:defRPr sz="1725" b="1">
                <a:solidFill>
                  <a:srgbClr val="233E54"/>
                </a:solidFill>
              </a:defRPr>
            </a:defPPr>
          </a:lstStyle>
          <a:p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3" name="normalized-intel">
            <a:extLst>
              <a:ext uri="{FF2B5EF4-FFF2-40B4-BE49-F238E27FC236}">
                <a16:creationId xmlns:a16="http://schemas.microsoft.com/office/drawing/2014/main" id="{A78CF08F-42E7-4506-BD72-FC8AA86C8C11}"/>
              </a:ext>
            </a:extLst>
          </p:cNvPr>
          <p:cNvSpPr>
            <a:spLocks/>
          </p:cNvSpPr>
          <p:nvPr/>
        </p:nvSpPr>
        <p:spPr>
          <a:xfrm>
            <a:off x="3162300" y="1704975"/>
            <a:ext cx="2419350" cy="495300"/>
          </a:xfrm>
          <a:prstGeom prst="roundRect">
            <a:avLst>
              <a:gd name="adj" fmla="val 7692"/>
            </a:avLst>
          </a:prstGeom>
          <a:solidFill>
            <a:srgbClr val="EAF4FC"/>
          </a:solidFill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ctr">
              <a:defRPr sz="1725" b="1">
                <a:solidFill>
                  <a:srgbClr val="233E54"/>
                </a:solidFill>
              </a:defRPr>
            </a:defPPr>
          </a:lstStyle>
          <a:p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normalized-intel</a:t>
            </a:r>
          </a:p>
        </p:txBody>
      </p:sp>
      <p:sp>
        <p:nvSpPr>
          <p:cNvPr id="4" name="vulnerability">
            <a:extLst>
              <a:ext uri="{FF2B5EF4-FFF2-40B4-BE49-F238E27FC236}">
                <a16:creationId xmlns:a16="http://schemas.microsoft.com/office/drawing/2014/main" id="{47B5FD12-68C5-4A0F-AFDC-90F1163DAB97}"/>
              </a:ext>
            </a:extLst>
          </p:cNvPr>
          <p:cNvSpPr>
            <a:spLocks/>
          </p:cNvSpPr>
          <p:nvPr/>
        </p:nvSpPr>
        <p:spPr>
          <a:xfrm>
            <a:off x="5848350" y="1704975"/>
            <a:ext cx="2419350" cy="495300"/>
          </a:xfrm>
          <a:prstGeom prst="roundRect">
            <a:avLst>
              <a:gd name="adj" fmla="val 7692"/>
            </a:avLst>
          </a:prstGeom>
          <a:solidFill>
            <a:srgbClr val="EAF4FC"/>
          </a:solidFill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ctr">
              <a:defRPr sz="1725" b="1">
                <a:solidFill>
                  <a:srgbClr val="233E54"/>
                </a:solidFill>
              </a:defRPr>
            </a:defPPr>
          </a:lstStyle>
          <a:p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5" name="advisory">
            <a:extLst>
              <a:ext uri="{FF2B5EF4-FFF2-40B4-BE49-F238E27FC236}">
                <a16:creationId xmlns:a16="http://schemas.microsoft.com/office/drawing/2014/main" id="{1FB5E6F5-5345-4353-8E0D-9730F6B2F879}"/>
              </a:ext>
            </a:extLst>
          </p:cNvPr>
          <p:cNvSpPr>
            <a:spLocks/>
          </p:cNvSpPr>
          <p:nvPr/>
        </p:nvSpPr>
        <p:spPr>
          <a:xfrm>
            <a:off x="8534400" y="1704975"/>
            <a:ext cx="2419350" cy="495300"/>
          </a:xfrm>
          <a:prstGeom prst="roundRect">
            <a:avLst>
              <a:gd name="adj" fmla="val 7692"/>
            </a:avLst>
          </a:prstGeom>
          <a:solidFill>
            <a:srgbClr val="EAF4FC"/>
          </a:solidFill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ctr">
              <a:defRPr sz="1725" b="1">
                <a:solidFill>
                  <a:srgbClr val="233E54"/>
                </a:solidFill>
              </a:defRPr>
            </a:defPPr>
          </a:lstStyle>
          <a:p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6" name="component">
            <a:extLst>
              <a:ext uri="{FF2B5EF4-FFF2-40B4-BE49-F238E27FC236}">
                <a16:creationId xmlns:a16="http://schemas.microsoft.com/office/drawing/2014/main" id="{3027BBDE-EDCA-4698-9AE0-5DD83C2CA733}"/>
              </a:ext>
            </a:extLst>
          </p:cNvPr>
          <p:cNvSpPr>
            <a:spLocks/>
          </p:cNvSpPr>
          <p:nvPr/>
        </p:nvSpPr>
        <p:spPr>
          <a:xfrm>
            <a:off x="476250" y="2352675"/>
            <a:ext cx="2419350" cy="495300"/>
          </a:xfrm>
          <a:prstGeom prst="roundRect">
            <a:avLst>
              <a:gd name="adj" fmla="val 7692"/>
            </a:avLst>
          </a:prstGeom>
          <a:solidFill>
            <a:srgbClr val="EAF4FC"/>
          </a:solidFill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ctr">
              <a:defRPr sz="1725" b="1">
                <a:solidFill>
                  <a:srgbClr val="233E54"/>
                </a:solidFill>
              </a:defRPr>
            </a:defPPr>
          </a:lstStyle>
          <a:p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7" name="enrichment">
            <a:extLst>
              <a:ext uri="{FF2B5EF4-FFF2-40B4-BE49-F238E27FC236}">
                <a16:creationId xmlns:a16="http://schemas.microsoft.com/office/drawing/2014/main" id="{5FFDD7D8-EC0F-41B8-98E8-8458C272FA5A}"/>
              </a:ext>
            </a:extLst>
          </p:cNvPr>
          <p:cNvSpPr>
            <a:spLocks/>
          </p:cNvSpPr>
          <p:nvPr/>
        </p:nvSpPr>
        <p:spPr>
          <a:xfrm>
            <a:off x="3162300" y="2352675"/>
            <a:ext cx="2419350" cy="495300"/>
          </a:xfrm>
          <a:prstGeom prst="roundRect">
            <a:avLst>
              <a:gd name="adj" fmla="val 7692"/>
            </a:avLst>
          </a:prstGeom>
          <a:solidFill>
            <a:srgbClr val="EAF4FC"/>
          </a:solidFill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ctr">
              <a:defRPr sz="1725" b="1">
                <a:solidFill>
                  <a:srgbClr val="233E54"/>
                </a:solidFill>
              </a:defRPr>
            </a:defPPr>
          </a:lstStyle>
          <a:p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enrichment</a:t>
            </a:r>
          </a:p>
        </p:txBody>
      </p:sp>
      <p:sp>
        <p:nvSpPr>
          <p:cNvPr id="8" name="relation">
            <a:extLst>
              <a:ext uri="{FF2B5EF4-FFF2-40B4-BE49-F238E27FC236}">
                <a16:creationId xmlns:a16="http://schemas.microsoft.com/office/drawing/2014/main" id="{F66CBE52-CB96-47E9-900E-19D73C974931}"/>
              </a:ext>
            </a:extLst>
          </p:cNvPr>
          <p:cNvSpPr>
            <a:spLocks/>
          </p:cNvSpPr>
          <p:nvPr/>
        </p:nvSpPr>
        <p:spPr>
          <a:xfrm>
            <a:off x="5848350" y="2352675"/>
            <a:ext cx="2419350" cy="495300"/>
          </a:xfrm>
          <a:prstGeom prst="roundRect">
            <a:avLst>
              <a:gd name="adj" fmla="val 7692"/>
            </a:avLst>
          </a:prstGeom>
          <a:solidFill>
            <a:srgbClr val="EAF4FC"/>
          </a:solidFill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ctr">
              <a:defRPr sz="1725" b="1">
                <a:solidFill>
                  <a:srgbClr val="233E54"/>
                </a:solidFill>
              </a:defRPr>
            </a:defPPr>
          </a:lstStyle>
          <a:p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relation</a:t>
            </a:r>
          </a:p>
        </p:txBody>
      </p:sp>
      <p:sp>
        <p:nvSpPr>
          <p:cNvPr id="9" name="qa-answer">
            <a:extLst>
              <a:ext uri="{FF2B5EF4-FFF2-40B4-BE49-F238E27FC236}">
                <a16:creationId xmlns:a16="http://schemas.microsoft.com/office/drawing/2014/main" id="{1D4676B4-C241-4620-886E-A2A5F457962E}"/>
              </a:ext>
            </a:extLst>
          </p:cNvPr>
          <p:cNvSpPr>
            <a:spLocks/>
          </p:cNvSpPr>
          <p:nvPr/>
        </p:nvSpPr>
        <p:spPr>
          <a:xfrm>
            <a:off x="8534400" y="2352675"/>
            <a:ext cx="2419350" cy="495300"/>
          </a:xfrm>
          <a:prstGeom prst="roundRect">
            <a:avLst>
              <a:gd name="adj" fmla="val 7692"/>
            </a:avLst>
          </a:prstGeom>
          <a:solidFill>
            <a:srgbClr val="EAF4FC"/>
          </a:solidFill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ctr">
              <a:defRPr sz="1725" b="1">
                <a:solidFill>
                  <a:srgbClr val="233E54"/>
                </a:solidFill>
              </a:defRPr>
            </a:defPPr>
          </a:lstStyle>
          <a:p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qa-answer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DE4BEE4-DCBF-43E6-AB74-7A2363401129}"/>
              </a:ext>
            </a:extLst>
          </p:cNvPr>
          <p:cNvGraphicFramePr/>
          <p:nvPr/>
        </p:nvGraphicFramePr>
        <p:xfrm>
          <a:off x="476250" y="3333750"/>
          <a:ext cx="10477500" cy="366712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映射对象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OSV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STIX 2.1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CSAF 2.0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 / 别名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/ aliases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cve / ids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ranges.events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+ relation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product_status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处置建议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 引用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course-of-action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remediations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attack-pattern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关系与置信度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relationship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PoC 引用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 链接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references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按映射表保留语义；没有原生字段的内容使用扩展，不能宣称天然无损">
            <a:extLst>
              <a:ext uri="{FF2B5EF4-FFF2-40B4-BE49-F238E27FC236}">
                <a16:creationId xmlns:a16="http://schemas.microsoft.com/office/drawing/2014/main" id="{4F52C1D6-AD51-41B0-8D38-E2EC25FD5866}"/>
              </a:ext>
            </a:extLst>
          </p:cNvPr>
          <p:cNvSpPr>
            <a:spLocks/>
          </p:cNvSpPr>
          <p:nvPr/>
        </p:nvSpPr>
        <p:spPr>
          <a:xfrm>
            <a:off x="428625" y="7334250"/>
            <a:ext cx="1057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l">
              <a:defRPr sz="1725" b="0">
                <a:solidFill>
                  <a:srgbClr val="657D8E"/>
                </a:solidFill>
              </a:defRPr>
            </a:defPPr>
          </a:lstStyle>
          <a:p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按映射表保留语义；没有原生字段的内容使用扩展，不能宣称天然无损</a:t>
            </a:r>
          </a:p>
        </p:txBody>
      </p:sp>
    </p:spTree>
    <p:extLst>
      <p:ext uri="{BB962C8B-B14F-4D97-AF65-F5344CB8AC3E}">
        <p14:creationId xmlns:p14="http://schemas.microsoft.com/office/powerpoint/2010/main" val="1402173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7913B0E-E5C8-4C5B-9FD0-81AB5AD696AC}"/>
              </a:ext>
            </a:extLst>
          </p:cNvPr>
          <p:cNvGraphicFramePr/>
          <p:nvPr/>
        </p:nvGraphicFramePr>
        <p:xfrm>
          <a:off x="476250" y="1219200"/>
          <a:ext cx="10477500" cy="58293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报告方案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/ httpx（建议）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requests / Scrapy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消息调度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Redis Streams / NATS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Kafka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编排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LangGraph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AutoGen / CrewAI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/ DeepSeek（建议）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私有化模型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主存储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 + pgvector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Milvus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图谱与检索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Neo4j / OpenSearch + IK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 / Meilisearch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嵌入与重排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 / bge-reranker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商用嵌入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后端与 MCP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 / 官方 Python SDK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Litestar / FastMCP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 / ECharts / Cytoscape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/ AntV G6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/ Prometheus / Grafana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OpenTelemetry 后端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</a:t>
                      </a:r>
                    </a:p>
                  </a:txBody>
                  <a:tcPr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 compose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Kubernetes / Helm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 cap="flat" cmpd="sng" algn="ctr">
                      <a:solidFill>
                        <a:srgbClr val="A6C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右列为备选；建议项与规划项不等于已经部署">
            <a:extLst>
              <a:ext uri="{FF2B5EF4-FFF2-40B4-BE49-F238E27FC236}">
                <a16:creationId xmlns:a16="http://schemas.microsoft.com/office/drawing/2014/main" id="{5460CAD2-3201-46FE-BD46-F57A0DB2C3F5}"/>
              </a:ext>
            </a:extLst>
          </p:cNvPr>
          <p:cNvSpPr>
            <a:spLocks/>
          </p:cNvSpPr>
          <p:nvPr/>
        </p:nvSpPr>
        <p:spPr>
          <a:xfrm>
            <a:off x="428625" y="7334250"/>
            <a:ext cx="1057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28575" rIns="28575" bIns="28575" anchor="ctr"/>
          <a:lstStyle>
            <a:defPPr algn="l">
              <a:defRPr sz="1725" b="0">
                <a:solidFill>
                  <a:srgbClr val="657D8E"/>
                </a:solidFill>
              </a:defRPr>
            </a:defPPr>
          </a:lstStyle>
          <a:p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右列为备选；建议项与规划项不等于已经部署</a:t>
            </a:r>
          </a:p>
        </p:txBody>
      </p:sp>
    </p:spTree>
    <p:extLst>
      <p:ext uri="{BB962C8B-B14F-4D97-AF65-F5344CB8AC3E}">
        <p14:creationId xmlns:p14="http://schemas.microsoft.com/office/powerpoint/2010/main" val="778301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F-23 - whole figure">
            <a:extLst>
              <a:ext uri="{FF2B5EF4-FFF2-40B4-BE49-F238E27FC236}">
                <a16:creationId xmlns:a16="http://schemas.microsoft.com/office/drawing/2014/main" id="{559BDB65-1DD1-3F1E-3190-E7C6B840CDE3}"/>
              </a:ext>
            </a:extLst>
          </p:cNvPr>
          <p:cNvGrpSpPr/>
          <p:nvPr/>
        </p:nvGrpSpPr>
        <p:grpSpPr>
          <a:xfrm>
            <a:off x="476250" y="1362075"/>
            <a:ext cx="10477500" cy="5829300"/>
            <a:chOff x="476250" y="1362075"/>
            <a:chExt cx="10477500" cy="5829300"/>
          </a:xfrm>
        </p:grpSpPr>
        <p:sp>
          <p:nvSpPr>
            <p:cNvPr id="28" name="layer surface">
              <a:extLst>
                <a:ext uri="{FF2B5EF4-FFF2-40B4-BE49-F238E27FC236}">
                  <a16:creationId xmlns:a16="http://schemas.microsoft.com/office/drawing/2014/main" id="{D4060F77-6A92-4030-9ACD-159D3277DAAB}"/>
                </a:ext>
              </a:extLst>
            </p:cNvPr>
            <p:cNvSpPr>
              <a:spLocks/>
            </p:cNvSpPr>
            <p:nvPr/>
          </p:nvSpPr>
          <p:spPr>
            <a:xfrm>
              <a:off x="476250" y="1362075"/>
              <a:ext cx="10477500" cy="200025"/>
            </a:xfrm>
            <a:custGeom>
              <a:avLst/>
              <a:gdLst/>
              <a:ahLst/>
              <a:cxnLst/>
              <a:rect l="0" t="0" r="0" b="0"/>
              <a:pathLst>
                <a:path w="10477500" h="200025">
                  <a:moveTo>
                    <a:pt x="0" y="0"/>
                  </a:moveTo>
                  <a:lnTo>
                    <a:pt x="10239375" y="0"/>
                  </a:lnTo>
                  <a:lnTo>
                    <a:pt x="10477500" y="200025"/>
                  </a:lnTo>
                  <a:lnTo>
                    <a:pt x="238125" y="200025"/>
                  </a:lnTo>
                  <a:close/>
                </a:path>
              </a:pathLst>
            </a:custGeom>
            <a:solidFill>
              <a:srgbClr val="EAF4FC"/>
            </a:solidFill>
            <a:ln w="9525">
              <a:solidFill>
                <a:srgbClr val="A6C4DB"/>
              </a:solidFill>
            </a:ln>
          </p:spPr>
        </p:sp>
        <p:sp>
          <p:nvSpPr>
            <p:cNvPr id="2" name="boundary">
              <a:extLst>
                <a:ext uri="{FF2B5EF4-FFF2-40B4-BE49-F238E27FC236}">
                  <a16:creationId xmlns:a16="http://schemas.microsoft.com/office/drawing/2014/main" id="{EF27F852-DFF7-4C4C-91A4-CAC22C74104E}"/>
                </a:ext>
              </a:extLst>
            </p:cNvPr>
            <p:cNvSpPr>
              <a:spLocks/>
            </p:cNvSpPr>
            <p:nvPr/>
          </p:nvSpPr>
          <p:spPr>
            <a:xfrm>
              <a:off x="714375" y="1562100"/>
              <a:ext cx="10239375" cy="1333500"/>
            </a:xfrm>
            <a:prstGeom prst="rect">
              <a:avLst/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3" name="layer surface">
              <a:extLst>
                <a:ext uri="{FF2B5EF4-FFF2-40B4-BE49-F238E27FC236}">
                  <a16:creationId xmlns:a16="http://schemas.microsoft.com/office/drawing/2014/main" id="{446F6DFC-376D-420B-82C9-4CC38792195E}"/>
                </a:ext>
              </a:extLst>
            </p:cNvPr>
            <p:cNvSpPr>
              <a:spLocks/>
            </p:cNvSpPr>
            <p:nvPr/>
          </p:nvSpPr>
          <p:spPr>
            <a:xfrm>
              <a:off x="476250" y="1362075"/>
              <a:ext cx="238125" cy="1533525"/>
            </a:xfrm>
            <a:custGeom>
              <a:avLst/>
              <a:gdLst/>
              <a:ahLst/>
              <a:cxnLst/>
              <a:rect l="0" t="0" r="0" b="0"/>
              <a:pathLst>
                <a:path w="238125" h="1533525">
                  <a:moveTo>
                    <a:pt x="0" y="0"/>
                  </a:moveTo>
                  <a:lnTo>
                    <a:pt x="238125" y="200025"/>
                  </a:lnTo>
                  <a:lnTo>
                    <a:pt x="238125" y="1533525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92C5EC"/>
            </a:solidFill>
            <a:ln w="9525">
              <a:solidFill>
                <a:srgbClr val="A6C4DB"/>
              </a:solidFill>
            </a:ln>
          </p:spPr>
        </p:sp>
        <p:sp>
          <p:nvSpPr>
            <p:cNvPr id="4" name="应用容器">
              <a:extLst>
                <a:ext uri="{FF2B5EF4-FFF2-40B4-BE49-F238E27FC236}">
                  <a16:creationId xmlns:a16="http://schemas.microsoft.com/office/drawing/2014/main" id="{8BBAA89D-90F2-44BD-AE73-D5BEEEF2CC34}"/>
                </a:ext>
              </a:extLst>
            </p:cNvPr>
            <p:cNvSpPr>
              <a:spLocks/>
            </p:cNvSpPr>
            <p:nvPr/>
          </p:nvSpPr>
          <p:spPr>
            <a:xfrm>
              <a:off x="819150" y="1685925"/>
              <a:ext cx="1714500" cy="781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02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2025" b="1">
                  <a:solidFill>
                    <a:srgbClr val="277DC3"/>
                  </a:solidFill>
                </a:defRPr>
              </a:pPr>
              <a:r>
                <a:rPr sz="202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应用容器</a:t>
              </a:r>
            </a:p>
          </p:txBody>
        </p:sp>
        <p:sp>
          <p:nvSpPr>
            <p:cNvPr id="5" name="api /api/v1">
              <a:extLst>
                <a:ext uri="{FF2B5EF4-FFF2-40B4-BE49-F238E27FC236}">
                  <a16:creationId xmlns:a16="http://schemas.microsoft.com/office/drawing/2014/main" id="{A0F78896-2A2B-46DE-BE10-509FEE491F5B}"/>
                </a:ext>
              </a:extLst>
            </p:cNvPr>
            <p:cNvSpPr>
              <a:spLocks/>
            </p:cNvSpPr>
            <p:nvPr/>
          </p:nvSpPr>
          <p:spPr>
            <a:xfrm>
              <a:off x="2667000" y="1771650"/>
              <a:ext cx="1476375" cy="866775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api</a:t>
              </a:r>
            </a:p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/api/v1</a:t>
              </a:r>
            </a:p>
          </p:txBody>
        </p:sp>
        <p:sp>
          <p:nvSpPr>
            <p:cNvPr id="6" name="mcp /mcp">
              <a:extLst>
                <a:ext uri="{FF2B5EF4-FFF2-40B4-BE49-F238E27FC236}">
                  <a16:creationId xmlns:a16="http://schemas.microsoft.com/office/drawing/2014/main" id="{D20DC738-4F0C-436D-8E81-95AB053EF872}"/>
                </a:ext>
              </a:extLst>
            </p:cNvPr>
            <p:cNvSpPr>
              <a:spLocks/>
            </p:cNvSpPr>
            <p:nvPr/>
          </p:nvSpPr>
          <p:spPr>
            <a:xfrm>
              <a:off x="4295775" y="1771650"/>
              <a:ext cx="1476375" cy="866775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mcp</a:t>
              </a:r>
            </a:p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/mcp</a:t>
              </a:r>
            </a:p>
          </p:txBody>
        </p:sp>
        <p:sp>
          <p:nvSpPr>
            <p:cNvPr id="7" name="workers 9 个角色">
              <a:extLst>
                <a:ext uri="{FF2B5EF4-FFF2-40B4-BE49-F238E27FC236}">
                  <a16:creationId xmlns:a16="http://schemas.microsoft.com/office/drawing/2014/main" id="{2A0F66F9-0422-405E-9356-1C79DEA5C117}"/>
                </a:ext>
              </a:extLst>
            </p:cNvPr>
            <p:cNvSpPr>
              <a:spLocks/>
            </p:cNvSpPr>
            <p:nvPr/>
          </p:nvSpPr>
          <p:spPr>
            <a:xfrm>
              <a:off x="5924550" y="1771650"/>
              <a:ext cx="1476375" cy="866775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workers</a:t>
              </a:r>
            </a:p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9 个角色</a:t>
              </a:r>
            </a:p>
          </p:txBody>
        </p:sp>
        <p:sp>
          <p:nvSpPr>
            <p:cNvPr id="8" name="scheduler">
              <a:extLst>
                <a:ext uri="{FF2B5EF4-FFF2-40B4-BE49-F238E27FC236}">
                  <a16:creationId xmlns:a16="http://schemas.microsoft.com/office/drawing/2014/main" id="{7E831FDD-6099-483F-9D75-417BB04E42AF}"/>
                </a:ext>
              </a:extLst>
            </p:cNvPr>
            <p:cNvSpPr>
              <a:spLocks/>
            </p:cNvSpPr>
            <p:nvPr/>
          </p:nvSpPr>
          <p:spPr>
            <a:xfrm>
              <a:off x="7553325" y="1771650"/>
              <a:ext cx="1476375" cy="866775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scheduler</a:t>
              </a:r>
            </a:p>
          </p:txBody>
        </p:sp>
        <p:sp>
          <p:nvSpPr>
            <p:cNvPr id="9" name="web">
              <a:extLst>
                <a:ext uri="{FF2B5EF4-FFF2-40B4-BE49-F238E27FC236}">
                  <a16:creationId xmlns:a16="http://schemas.microsoft.com/office/drawing/2014/main" id="{EDA98C9D-84FF-49FA-AD05-A896331FFC6D}"/>
                </a:ext>
              </a:extLst>
            </p:cNvPr>
            <p:cNvSpPr>
              <a:spLocks/>
            </p:cNvSpPr>
            <p:nvPr/>
          </p:nvSpPr>
          <p:spPr>
            <a:xfrm>
              <a:off x="9182100" y="1771650"/>
              <a:ext cx="1476375" cy="866775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web</a:t>
              </a:r>
            </a:p>
          </p:txBody>
        </p:sp>
        <p:sp>
          <p:nvSpPr>
            <p:cNvPr id="10" name="layer surface">
              <a:extLst>
                <a:ext uri="{FF2B5EF4-FFF2-40B4-BE49-F238E27FC236}">
                  <a16:creationId xmlns:a16="http://schemas.microsoft.com/office/drawing/2014/main" id="{8E85014B-59DB-4CD1-AD3C-7A9100F9EEB1}"/>
                </a:ext>
              </a:extLst>
            </p:cNvPr>
            <p:cNvSpPr>
              <a:spLocks/>
            </p:cNvSpPr>
            <p:nvPr/>
          </p:nvSpPr>
          <p:spPr>
            <a:xfrm>
              <a:off x="476250" y="3419475"/>
              <a:ext cx="10477500" cy="200025"/>
            </a:xfrm>
            <a:custGeom>
              <a:avLst/>
              <a:gdLst/>
              <a:ahLst/>
              <a:cxnLst/>
              <a:rect l="0" t="0" r="0" b="0"/>
              <a:pathLst>
                <a:path w="10477500" h="200025">
                  <a:moveTo>
                    <a:pt x="0" y="0"/>
                  </a:moveTo>
                  <a:lnTo>
                    <a:pt x="10239375" y="0"/>
                  </a:lnTo>
                  <a:lnTo>
                    <a:pt x="10477500" y="200025"/>
                  </a:lnTo>
                  <a:lnTo>
                    <a:pt x="238125" y="200025"/>
                  </a:lnTo>
                  <a:close/>
                </a:path>
              </a:pathLst>
            </a:custGeom>
            <a:solidFill>
              <a:srgbClr val="E2EEF7"/>
            </a:solidFill>
            <a:ln w="9525">
              <a:solidFill>
                <a:srgbClr val="A6C4DB"/>
              </a:solidFill>
            </a:ln>
          </p:spPr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0D066A6A-2B43-43F0-85FA-CE8B9B94BD62}"/>
                </a:ext>
              </a:extLst>
            </p:cNvPr>
            <p:cNvSpPr>
              <a:spLocks/>
            </p:cNvSpPr>
            <p:nvPr/>
          </p:nvSpPr>
          <p:spPr>
            <a:xfrm>
              <a:off x="714375" y="3619500"/>
              <a:ext cx="10239375" cy="1333500"/>
            </a:xfrm>
            <a:prstGeom prst="rect">
              <a:avLst/>
            </a:prstGeom>
            <a:solidFill>
              <a:srgbClr val="E2EEF7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2" name="layer surface">
              <a:extLst>
                <a:ext uri="{FF2B5EF4-FFF2-40B4-BE49-F238E27FC236}">
                  <a16:creationId xmlns:a16="http://schemas.microsoft.com/office/drawing/2014/main" id="{5E2BB947-BC36-4B89-9FEA-1D01E91674FB}"/>
                </a:ext>
              </a:extLst>
            </p:cNvPr>
            <p:cNvSpPr>
              <a:spLocks/>
            </p:cNvSpPr>
            <p:nvPr/>
          </p:nvSpPr>
          <p:spPr>
            <a:xfrm>
              <a:off x="476250" y="3419475"/>
              <a:ext cx="238125" cy="1533525"/>
            </a:xfrm>
            <a:custGeom>
              <a:avLst/>
              <a:gdLst/>
              <a:ahLst/>
              <a:cxnLst/>
              <a:rect l="0" t="0" r="0" b="0"/>
              <a:pathLst>
                <a:path w="238125" h="1533525">
                  <a:moveTo>
                    <a:pt x="0" y="0"/>
                  </a:moveTo>
                  <a:lnTo>
                    <a:pt x="238125" y="200025"/>
                  </a:lnTo>
                  <a:lnTo>
                    <a:pt x="238125" y="1533525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92C5EC"/>
            </a:solidFill>
            <a:ln w="9525">
              <a:solidFill>
                <a:srgbClr val="A6C4DB"/>
              </a:solidFill>
            </a:ln>
          </p:spPr>
        </p:sp>
        <p:sp>
          <p:nvSpPr>
            <p:cNvPr id="13" name="数据容器">
              <a:extLst>
                <a:ext uri="{FF2B5EF4-FFF2-40B4-BE49-F238E27FC236}">
                  <a16:creationId xmlns:a16="http://schemas.microsoft.com/office/drawing/2014/main" id="{D4B24D46-1EAA-4226-877A-209F607A04AD}"/>
                </a:ext>
              </a:extLst>
            </p:cNvPr>
            <p:cNvSpPr>
              <a:spLocks/>
            </p:cNvSpPr>
            <p:nvPr/>
          </p:nvSpPr>
          <p:spPr>
            <a:xfrm>
              <a:off x="819150" y="3743325"/>
              <a:ext cx="1714500" cy="781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025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2025" b="1">
                  <a:solidFill>
                    <a:srgbClr val="245D8F"/>
                  </a:solidFill>
                </a:defRPr>
              </a:pPr>
              <a:r>
                <a:rPr sz="2025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数据容器</a:t>
              </a:r>
            </a:p>
          </p:txBody>
        </p:sp>
        <p:sp>
          <p:nvSpPr>
            <p:cNvPr id="14" name="postgres pgvector">
              <a:extLst>
                <a:ext uri="{FF2B5EF4-FFF2-40B4-BE49-F238E27FC236}">
                  <a16:creationId xmlns:a16="http://schemas.microsoft.com/office/drawing/2014/main" id="{D33C11CE-6F54-4AB9-8A1F-B26D7E4565A1}"/>
                </a:ext>
              </a:extLst>
            </p:cNvPr>
            <p:cNvSpPr>
              <a:spLocks/>
            </p:cNvSpPr>
            <p:nvPr/>
          </p:nvSpPr>
          <p:spPr>
            <a:xfrm>
              <a:off x="2667000" y="3829050"/>
              <a:ext cx="1476375" cy="866775"/>
            </a:xfrm>
            <a:prstGeom prst="can">
              <a:avLst/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postgres</a:t>
              </a:r>
            </a:p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pgvector</a:t>
              </a:r>
            </a:p>
          </p:txBody>
        </p:sp>
        <p:sp>
          <p:nvSpPr>
            <p:cNvPr id="15" name="neo4j">
              <a:extLst>
                <a:ext uri="{FF2B5EF4-FFF2-40B4-BE49-F238E27FC236}">
                  <a16:creationId xmlns:a16="http://schemas.microsoft.com/office/drawing/2014/main" id="{4287307C-63C9-4874-87AE-B7BF39BA78EE}"/>
                </a:ext>
              </a:extLst>
            </p:cNvPr>
            <p:cNvSpPr>
              <a:spLocks/>
            </p:cNvSpPr>
            <p:nvPr/>
          </p:nvSpPr>
          <p:spPr>
            <a:xfrm>
              <a:off x="4295775" y="3829050"/>
              <a:ext cx="1476375" cy="866775"/>
            </a:xfrm>
            <a:prstGeom prst="can">
              <a:avLst/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neo4j</a:t>
              </a:r>
            </a:p>
          </p:txBody>
        </p:sp>
        <p:sp>
          <p:nvSpPr>
            <p:cNvPr id="16" name="opensearch IK">
              <a:extLst>
                <a:ext uri="{FF2B5EF4-FFF2-40B4-BE49-F238E27FC236}">
                  <a16:creationId xmlns:a16="http://schemas.microsoft.com/office/drawing/2014/main" id="{FB82E827-CA3F-477D-A403-7CB569E197A3}"/>
                </a:ext>
              </a:extLst>
            </p:cNvPr>
            <p:cNvSpPr>
              <a:spLocks/>
            </p:cNvSpPr>
            <p:nvPr/>
          </p:nvSpPr>
          <p:spPr>
            <a:xfrm>
              <a:off x="5924550" y="3829050"/>
              <a:ext cx="1476375" cy="866775"/>
            </a:xfrm>
            <a:prstGeom prst="can">
              <a:avLst/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opensearch</a:t>
              </a:r>
            </a:p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IK</a:t>
              </a:r>
            </a:p>
          </p:txBody>
        </p:sp>
        <p:sp>
          <p:nvSpPr>
            <p:cNvPr id="17" name="redis / nats">
              <a:extLst>
                <a:ext uri="{FF2B5EF4-FFF2-40B4-BE49-F238E27FC236}">
                  <a16:creationId xmlns:a16="http://schemas.microsoft.com/office/drawing/2014/main" id="{4EA89312-054B-4317-B4FE-1E4799B18693}"/>
                </a:ext>
              </a:extLst>
            </p:cNvPr>
            <p:cNvSpPr>
              <a:spLocks/>
            </p:cNvSpPr>
            <p:nvPr/>
          </p:nvSpPr>
          <p:spPr>
            <a:xfrm>
              <a:off x="7553325" y="3829050"/>
              <a:ext cx="1476375" cy="866775"/>
            </a:xfrm>
            <a:prstGeom prst="can">
              <a:avLst/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redis / nats</a:t>
              </a:r>
            </a:p>
          </p:txBody>
        </p:sp>
        <p:sp>
          <p:nvSpPr>
            <p:cNvPr id="18" name="minio">
              <a:extLst>
                <a:ext uri="{FF2B5EF4-FFF2-40B4-BE49-F238E27FC236}">
                  <a16:creationId xmlns:a16="http://schemas.microsoft.com/office/drawing/2014/main" id="{865AACC7-F028-4A82-BBEB-C4C8D087B7D5}"/>
                </a:ext>
              </a:extLst>
            </p:cNvPr>
            <p:cNvSpPr>
              <a:spLocks/>
            </p:cNvSpPr>
            <p:nvPr/>
          </p:nvSpPr>
          <p:spPr>
            <a:xfrm>
              <a:off x="9182100" y="3829050"/>
              <a:ext cx="1476375" cy="866775"/>
            </a:xfrm>
            <a:prstGeom prst="can">
              <a:avLst/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1">
                  <a:solidFill>
                    <a:srgbClr val="233E54"/>
                  </a:solidFill>
                </a:defRPr>
              </a:pPr>
              <a:r>
                <a:rPr sz="1725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minio</a:t>
              </a:r>
            </a:p>
          </p:txBody>
        </p:sp>
        <p:sp>
          <p:nvSpPr>
            <p:cNvPr id="19" name="layer surface">
              <a:extLst>
                <a:ext uri="{FF2B5EF4-FFF2-40B4-BE49-F238E27FC236}">
                  <a16:creationId xmlns:a16="http://schemas.microsoft.com/office/drawing/2014/main" id="{6BC2FEEC-8AE1-450B-BF81-9F178E527407}"/>
                </a:ext>
              </a:extLst>
            </p:cNvPr>
            <p:cNvSpPr>
              <a:spLocks/>
            </p:cNvSpPr>
            <p:nvPr/>
          </p:nvSpPr>
          <p:spPr>
            <a:xfrm>
              <a:off x="476250" y="5657850"/>
              <a:ext cx="10477500" cy="200025"/>
            </a:xfrm>
            <a:custGeom>
              <a:avLst/>
              <a:gdLst/>
              <a:ahLst/>
              <a:cxnLst/>
              <a:rect l="0" t="0" r="0" b="0"/>
              <a:pathLst>
                <a:path w="10477500" h="200025">
                  <a:moveTo>
                    <a:pt x="0" y="0"/>
                  </a:moveTo>
                  <a:lnTo>
                    <a:pt x="10239375" y="0"/>
                  </a:lnTo>
                  <a:lnTo>
                    <a:pt x="10477500" y="200025"/>
                  </a:lnTo>
                  <a:lnTo>
                    <a:pt x="238125" y="200025"/>
                  </a:lnTo>
                  <a:close/>
                </a:path>
              </a:pathLst>
            </a:custGeom>
            <a:solidFill>
              <a:srgbClr val="E5F0DA"/>
            </a:solidFill>
            <a:ln w="9525">
              <a:solidFill>
                <a:srgbClr val="A6C4DB"/>
              </a:solidFill>
            </a:ln>
          </p:spPr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F73795E0-B925-4B1F-ADE0-90C653397D44}"/>
                </a:ext>
              </a:extLst>
            </p:cNvPr>
            <p:cNvSpPr>
              <a:spLocks/>
            </p:cNvSpPr>
            <p:nvPr/>
          </p:nvSpPr>
          <p:spPr>
            <a:xfrm>
              <a:off x="714375" y="5857875"/>
              <a:ext cx="10239375" cy="1333500"/>
            </a:xfrm>
            <a:prstGeom prst="rect">
              <a:avLst/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1" name="layer surface">
              <a:extLst>
                <a:ext uri="{FF2B5EF4-FFF2-40B4-BE49-F238E27FC236}">
                  <a16:creationId xmlns:a16="http://schemas.microsoft.com/office/drawing/2014/main" id="{EBFB6BB4-5B95-4EE4-93CF-D1644969E303}"/>
                </a:ext>
              </a:extLst>
            </p:cNvPr>
            <p:cNvSpPr>
              <a:spLocks/>
            </p:cNvSpPr>
            <p:nvPr/>
          </p:nvSpPr>
          <p:spPr>
            <a:xfrm>
              <a:off x="476250" y="5657850"/>
              <a:ext cx="238125" cy="1533525"/>
            </a:xfrm>
            <a:custGeom>
              <a:avLst/>
              <a:gdLst/>
              <a:ahLst/>
              <a:cxnLst/>
              <a:rect l="0" t="0" r="0" b="0"/>
              <a:pathLst>
                <a:path w="238125" h="1533525">
                  <a:moveTo>
                    <a:pt x="0" y="0"/>
                  </a:moveTo>
                  <a:lnTo>
                    <a:pt x="238125" y="200025"/>
                  </a:lnTo>
                  <a:lnTo>
                    <a:pt x="238125" y="1533525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BAD6A3"/>
            </a:solidFill>
            <a:ln w="9525">
              <a:solidFill>
                <a:srgbClr val="A6C4DB"/>
              </a:solidFill>
            </a:ln>
          </p:spPr>
        </p:sp>
        <p:sp>
          <p:nvSpPr>
            <p:cNvPr id="22" name="可观测容器">
              <a:extLst>
                <a:ext uri="{FF2B5EF4-FFF2-40B4-BE49-F238E27FC236}">
                  <a16:creationId xmlns:a16="http://schemas.microsoft.com/office/drawing/2014/main" id="{70AC330B-3CD2-4752-8BD3-29A040D97153}"/>
                </a:ext>
              </a:extLst>
            </p:cNvPr>
            <p:cNvSpPr>
              <a:spLocks/>
            </p:cNvSpPr>
            <p:nvPr/>
          </p:nvSpPr>
          <p:spPr>
            <a:xfrm>
              <a:off x="819150" y="5981700"/>
              <a:ext cx="1714500" cy="781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0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2025" b="1">
                  <a:solidFill>
                    <a:srgbClr val="547D45"/>
                  </a:solidFill>
                </a:defRPr>
              </a:pPr>
              <a:r>
                <a:rPr sz="20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可观测容器</a:t>
              </a:r>
            </a:p>
          </p:txBody>
        </p:sp>
        <p:sp>
          <p:nvSpPr>
            <p:cNvPr id="23" name="langfuse">
              <a:extLst>
                <a:ext uri="{FF2B5EF4-FFF2-40B4-BE49-F238E27FC236}">
                  <a16:creationId xmlns:a16="http://schemas.microsoft.com/office/drawing/2014/main" id="{99A8C4E5-48C4-4B09-9CA0-DFB7F475269F}"/>
                </a:ext>
              </a:extLst>
            </p:cNvPr>
            <p:cNvSpPr>
              <a:spLocks/>
            </p:cNvSpPr>
            <p:nvPr/>
          </p:nvSpPr>
          <p:spPr>
            <a:xfrm>
              <a:off x="2667000" y="6067425"/>
              <a:ext cx="2257425" cy="866775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langfuse</a:t>
              </a:r>
            </a:p>
          </p:txBody>
        </p:sp>
        <p:sp>
          <p:nvSpPr>
            <p:cNvPr id="24" name="prometheus">
              <a:extLst>
                <a:ext uri="{FF2B5EF4-FFF2-40B4-BE49-F238E27FC236}">
                  <a16:creationId xmlns:a16="http://schemas.microsoft.com/office/drawing/2014/main" id="{1DEFCE8A-ED9C-4618-848F-ED438B2C3DAA}"/>
                </a:ext>
              </a:extLst>
            </p:cNvPr>
            <p:cNvSpPr>
              <a:spLocks/>
            </p:cNvSpPr>
            <p:nvPr/>
          </p:nvSpPr>
          <p:spPr>
            <a:xfrm>
              <a:off x="5076825" y="6067425"/>
              <a:ext cx="2257425" cy="866775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prometheus</a:t>
              </a:r>
            </a:p>
          </p:txBody>
        </p:sp>
        <p:sp>
          <p:nvSpPr>
            <p:cNvPr id="25" name="grafana">
              <a:extLst>
                <a:ext uri="{FF2B5EF4-FFF2-40B4-BE49-F238E27FC236}">
                  <a16:creationId xmlns:a16="http://schemas.microsoft.com/office/drawing/2014/main" id="{B7DF6BC9-BA6B-4870-A044-0B201D2CCA15}"/>
                </a:ext>
              </a:extLst>
            </p:cNvPr>
            <p:cNvSpPr>
              <a:spLocks/>
            </p:cNvSpPr>
            <p:nvPr/>
          </p:nvSpPr>
          <p:spPr>
            <a:xfrm>
              <a:off x="7486650" y="6067425"/>
              <a:ext cx="2257425" cy="866775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grafana</a:t>
              </a:r>
            </a:p>
          </p:txBody>
        </p:sp>
        <p:sp>
          <p:nvSpPr>
            <p:cNvPr id="26" name="网络与消息队列">
              <a:extLst>
                <a:ext uri="{FF2B5EF4-FFF2-40B4-BE49-F238E27FC236}">
                  <a16:creationId xmlns:a16="http://schemas.microsoft.com/office/drawing/2014/main" id="{352C9AC8-8EF7-4E30-9F28-592B7C937F85}"/>
                </a:ext>
              </a:extLst>
            </p:cNvPr>
            <p:cNvSpPr>
              <a:spLocks/>
            </p:cNvSpPr>
            <p:nvPr/>
          </p:nvSpPr>
          <p:spPr>
            <a:xfrm>
              <a:off x="4095750" y="2943225"/>
              <a:ext cx="49530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网络与消息队列</a:t>
              </a:r>
            </a:p>
          </p:txBody>
        </p:sp>
        <p:sp>
          <p:nvSpPr>
            <p:cNvPr id="27" name="调用追踪 / 任务与时效指标">
              <a:extLst>
                <a:ext uri="{FF2B5EF4-FFF2-40B4-BE49-F238E27FC236}">
                  <a16:creationId xmlns:a16="http://schemas.microsoft.com/office/drawing/2014/main" id="{5784C804-8793-4A8A-A764-0208BE5C40DA}"/>
                </a:ext>
              </a:extLst>
            </p:cNvPr>
            <p:cNvSpPr>
              <a:spLocks/>
            </p:cNvSpPr>
            <p:nvPr/>
          </p:nvSpPr>
          <p:spPr>
            <a:xfrm>
              <a:off x="4048125" y="5048250"/>
              <a:ext cx="51435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0">
                  <a:solidFill>
                    <a:srgbClr val="547D45"/>
                  </a:solidFill>
                </a:defRPr>
              </a:pPr>
              <a:r>
                <a:rPr sz="1725" b="0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调用追踪 / 任务与时效指标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313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F-24 - whole figure">
            <a:extLst>
              <a:ext uri="{FF2B5EF4-FFF2-40B4-BE49-F238E27FC236}">
                <a16:creationId xmlns:a16="http://schemas.microsoft.com/office/drawing/2014/main" id="{36E107A0-9162-8EBD-DCF9-AEAFF50917F9}"/>
              </a:ext>
            </a:extLst>
          </p:cNvPr>
          <p:cNvGrpSpPr/>
          <p:nvPr/>
        </p:nvGrpSpPr>
        <p:grpSpPr>
          <a:xfrm>
            <a:off x="476250" y="1238250"/>
            <a:ext cx="10477500" cy="6667500"/>
            <a:chOff x="476250" y="1238250"/>
            <a:chExt cx="10477500" cy="6667500"/>
          </a:xfrm>
        </p:grpSpPr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024ECAE1-EE30-4366-BAC9-6A81139DF585}"/>
                </a:ext>
              </a:extLst>
            </p:cNvPr>
            <p:cNvCxnSpPr>
              <a:stCxn id="84" idx="3"/>
              <a:endCxn id="85" idx="1"/>
            </p:cNvCxnSpPr>
            <p:nvPr/>
          </p:nvCxnSpPr>
          <p:spPr>
            <a:xfrm flipH="1">
              <a:off x="5715000" y="5382102"/>
              <a:ext cx="953" cy="666750"/>
            </a:xfrm>
            <a:prstGeom prst="straightConnector1">
              <a:avLst/>
            </a:prstGeom>
            <a:ln w="19050">
              <a:solidFill>
                <a:srgbClr val="A67A20"/>
              </a:solidFill>
              <a:prstDash val="solid"/>
              <a:tailEnd type="triangle" w="sm" len="sm"/>
            </a:ln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E94825AA-9F2D-430F-BB90-594829A6C68D}"/>
                </a:ext>
              </a:extLst>
            </p:cNvPr>
            <p:cNvCxnSpPr>
              <a:stCxn id="80" idx="3"/>
              <a:endCxn id="81" idx="1"/>
            </p:cNvCxnSpPr>
            <p:nvPr/>
          </p:nvCxnSpPr>
          <p:spPr>
            <a:xfrm flipH="1">
              <a:off x="5715000" y="4000977"/>
              <a:ext cx="953" cy="809625"/>
            </a:xfrm>
            <a:prstGeom prst="straightConnector1">
              <a:avLst/>
            </a:prstGeom>
            <a:ln w="19050">
              <a:solidFill>
                <a:srgbClr val="A67A20"/>
              </a:solidFill>
              <a:prstDash val="solid"/>
              <a:tailEnd type="triangle" w="sm" len="sm"/>
            </a:ln>
          </p:spPr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921ED015-EDD0-4E22-8E09-31411D2A6316}"/>
                </a:ext>
              </a:extLst>
            </p:cNvPr>
            <p:cNvCxnSpPr>
              <a:stCxn id="76" idx="3"/>
              <a:endCxn id="77" idx="1"/>
            </p:cNvCxnSpPr>
            <p:nvPr/>
          </p:nvCxnSpPr>
          <p:spPr>
            <a:xfrm>
              <a:off x="7668578" y="5286852"/>
              <a:ext cx="808672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  <a:tailEnd type="triangle" w="sm" len="sm"/>
            </a:ln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B3207B9F-BAC1-400C-94AB-059DE05E6D5B}"/>
                </a:ext>
              </a:extLst>
            </p:cNvPr>
            <p:cNvCxnSpPr>
              <a:stCxn id="73" idx="3"/>
              <a:endCxn id="74" idx="1"/>
            </p:cNvCxnSpPr>
            <p:nvPr/>
          </p:nvCxnSpPr>
          <p:spPr>
            <a:xfrm flipH="1">
              <a:off x="7667625" y="3762852"/>
              <a:ext cx="953" cy="152400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117BC2BC-C001-4FAC-8DE8-A4911E07C775}"/>
                </a:ext>
              </a:extLst>
            </p:cNvPr>
            <p:cNvCxnSpPr>
              <a:stCxn id="70" idx="3"/>
              <a:endCxn id="71" idx="1"/>
            </p:cNvCxnSpPr>
            <p:nvPr/>
          </p:nvCxnSpPr>
          <p:spPr>
            <a:xfrm>
              <a:off x="7239953" y="3762852"/>
              <a:ext cx="427672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BB1EB310-616C-4AED-B09A-E0FD68DC01C9}"/>
                </a:ext>
              </a:extLst>
            </p:cNvPr>
            <p:cNvCxnSpPr>
              <a:stCxn id="66" idx="3"/>
              <a:endCxn id="67" idx="1"/>
            </p:cNvCxnSpPr>
            <p:nvPr/>
          </p:nvCxnSpPr>
          <p:spPr>
            <a:xfrm>
              <a:off x="8097203" y="3810477"/>
              <a:ext cx="38004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  <a:tailEnd type="triangle" w="sm" len="sm"/>
            </a:ln>
          </p:spPr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A044ABCE-34F7-4F96-B08C-AEB59886779B}"/>
                </a:ext>
              </a:extLst>
            </p:cNvPr>
            <p:cNvCxnSpPr>
              <a:stCxn id="63" idx="3"/>
              <a:endCxn id="64" idx="1"/>
            </p:cNvCxnSpPr>
            <p:nvPr/>
          </p:nvCxnSpPr>
          <p:spPr>
            <a:xfrm flipH="1">
              <a:off x="8096250" y="3429477"/>
              <a:ext cx="953" cy="38100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4ECBEEB3-5CB5-4377-A352-DB05FDFFF2C2}"/>
                </a:ext>
              </a:extLst>
            </p:cNvPr>
            <p:cNvCxnSpPr>
              <a:stCxn id="60" idx="3"/>
              <a:endCxn id="61" idx="1"/>
            </p:cNvCxnSpPr>
            <p:nvPr/>
          </p:nvCxnSpPr>
          <p:spPr>
            <a:xfrm>
              <a:off x="7239953" y="3429477"/>
              <a:ext cx="856297" cy="0"/>
            </a:xfrm>
            <a:prstGeom prst="straightConnector1">
              <a:avLst/>
            </a:prstGeom>
            <a:ln w="20955">
              <a:solidFill>
                <a:srgbClr val="547D45"/>
              </a:solidFill>
              <a:prstDash val="dash"/>
            </a:ln>
          </p:spPr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23EF4F38-20D3-4740-B39E-B8F544302ED7}"/>
                </a:ext>
              </a:extLst>
            </p:cNvPr>
            <p:cNvCxnSpPr>
              <a:stCxn id="57" idx="3"/>
              <a:endCxn id="58" idx="1"/>
            </p:cNvCxnSpPr>
            <p:nvPr/>
          </p:nvCxnSpPr>
          <p:spPr>
            <a:xfrm flipH="1">
              <a:off x="9715500" y="2191227"/>
              <a:ext cx="953" cy="200025"/>
            </a:xfrm>
            <a:prstGeom prst="straightConnector1">
              <a:avLst/>
            </a:prstGeom>
            <a:ln w="19050">
              <a:solidFill>
                <a:srgbClr val="277DC3"/>
              </a:solidFill>
              <a:prstDash val="solid"/>
            </a:ln>
          </p:spPr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72146E79-38A8-4FDF-8E07-6629AB942D66}"/>
                </a:ext>
              </a:extLst>
            </p:cNvPr>
            <p:cNvCxnSpPr>
              <a:stCxn id="53" idx="3"/>
              <a:endCxn id="54" idx="1"/>
            </p:cNvCxnSpPr>
            <p:nvPr/>
          </p:nvCxnSpPr>
          <p:spPr>
            <a:xfrm>
              <a:off x="7859078" y="1714977"/>
              <a:ext cx="618172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8EF6489F-C6E1-4AE9-9529-E6BDC19DC120}"/>
                </a:ext>
              </a:extLst>
            </p:cNvPr>
            <p:cNvCxnSpPr>
              <a:stCxn id="50" idx="3"/>
              <a:endCxn id="51" idx="1"/>
            </p:cNvCxnSpPr>
            <p:nvPr/>
          </p:nvCxnSpPr>
          <p:spPr>
            <a:xfrm flipH="1" flipV="1">
              <a:off x="7858125" y="1714977"/>
              <a:ext cx="953" cy="13811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E1424ED-F798-406C-8CF0-43CC8AA95A83}"/>
                </a:ext>
              </a:extLst>
            </p:cNvPr>
            <p:cNvCxnSpPr>
              <a:stCxn id="47" idx="3"/>
              <a:endCxn id="48" idx="1"/>
            </p:cNvCxnSpPr>
            <p:nvPr/>
          </p:nvCxnSpPr>
          <p:spPr>
            <a:xfrm>
              <a:off x="7239953" y="3096102"/>
              <a:ext cx="618172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42D52552-062C-4456-9BDC-13F0A7076AAA}"/>
                </a:ext>
              </a:extLst>
            </p:cNvPr>
            <p:cNvCxnSpPr>
              <a:stCxn id="43" idx="3"/>
              <a:endCxn id="44" idx="1"/>
            </p:cNvCxnSpPr>
            <p:nvPr/>
          </p:nvCxnSpPr>
          <p:spPr>
            <a:xfrm flipH="1">
              <a:off x="2952750" y="5239227"/>
              <a:ext cx="620078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56A5938-B25B-4686-9103-F239F6F9F29D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H="1">
              <a:off x="3571875" y="3762852"/>
              <a:ext cx="953" cy="147637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D9958398-369D-4FF5-B28C-4EEF7858597A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 flipH="1">
              <a:off x="3571875" y="3762852"/>
              <a:ext cx="620078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1CD07B67-F63F-46AC-80AE-DCD5E8032FE0}"/>
                </a:ext>
              </a:extLst>
            </p:cNvPr>
            <p:cNvCxnSpPr>
              <a:stCxn id="33" idx="3"/>
              <a:endCxn id="34" idx="1"/>
            </p:cNvCxnSpPr>
            <p:nvPr/>
          </p:nvCxnSpPr>
          <p:spPr>
            <a:xfrm flipH="1">
              <a:off x="2952750" y="3429477"/>
              <a:ext cx="123920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59C38D8-8159-45A5-8E5E-17CCA3772E54}"/>
                </a:ext>
              </a:extLst>
            </p:cNvPr>
            <p:cNvCxnSpPr>
              <a:stCxn id="29" idx="3"/>
              <a:endCxn id="30" idx="1"/>
            </p:cNvCxnSpPr>
            <p:nvPr/>
          </p:nvCxnSpPr>
          <p:spPr>
            <a:xfrm>
              <a:off x="3572828" y="3096102"/>
              <a:ext cx="618172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9C90F4C7-5122-474E-BD95-E2A4F3DFAA55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 flipH="1">
              <a:off x="3571875" y="1714977"/>
              <a:ext cx="953" cy="1381125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1FB4FBB-B4CC-4805-B7B0-DBE15F9C2F12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2953703" y="1714977"/>
              <a:ext cx="618172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sp>
          <p:nvSpPr>
            <p:cNvPr id="91" name="boundary">
              <a:extLst>
                <a:ext uri="{FF2B5EF4-FFF2-40B4-BE49-F238E27FC236}">
                  <a16:creationId xmlns:a16="http://schemas.microsoft.com/office/drawing/2014/main" id="{90F1C68F-0443-4E43-A70F-A1CF31C78A18}"/>
                </a:ext>
              </a:extLst>
            </p:cNvPr>
            <p:cNvSpPr>
              <a:spLocks/>
            </p:cNvSpPr>
            <p:nvPr/>
          </p:nvSpPr>
          <p:spPr>
            <a:xfrm>
              <a:off x="4191000" y="2857500"/>
              <a:ext cx="3048000" cy="1143000"/>
            </a:xfrm>
            <a:prstGeom prst="roundRect">
              <a:avLst>
                <a:gd name="adj" fmla="val 3333"/>
              </a:avLst>
            </a:prstGeom>
            <a:solidFill>
              <a:srgbClr val="277DC3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" name="Vulnerability">
              <a:extLst>
                <a:ext uri="{FF2B5EF4-FFF2-40B4-BE49-F238E27FC236}">
                  <a16:creationId xmlns:a16="http://schemas.microsoft.com/office/drawing/2014/main" id="{10E90BB8-723F-4438-B7AE-9F45047D5614}"/>
                </a:ext>
              </a:extLst>
            </p:cNvPr>
            <p:cNvSpPr>
              <a:spLocks/>
            </p:cNvSpPr>
            <p:nvPr/>
          </p:nvSpPr>
          <p:spPr>
            <a:xfrm>
              <a:off x="4286250" y="2952750"/>
              <a:ext cx="2857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2100" b="1">
                  <a:solidFill>
                    <a:srgbClr val="FFFFFF"/>
                  </a:solidFill>
                </a:defRPr>
              </a:pPr>
              <a:r>
                <a:rPr sz="21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Vulnerability</a:t>
              </a:r>
            </a:p>
          </p:txBody>
        </p:sp>
        <p:sp>
          <p:nvSpPr>
            <p:cNvPr id="3" name="漏洞事实实体">
              <a:extLst>
                <a:ext uri="{FF2B5EF4-FFF2-40B4-BE49-F238E27FC236}">
                  <a16:creationId xmlns:a16="http://schemas.microsoft.com/office/drawing/2014/main" id="{2FC40ED1-0A36-4289-9670-ED1D93AED92C}"/>
                </a:ext>
              </a:extLst>
            </p:cNvPr>
            <p:cNvSpPr>
              <a:spLocks/>
            </p:cNvSpPr>
            <p:nvPr/>
          </p:nvSpPr>
          <p:spPr>
            <a:xfrm>
              <a:off x="4305300" y="3381375"/>
              <a:ext cx="2819400" cy="5238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0">
                  <a:solidFill>
                    <a:srgbClr val="FFFFFF"/>
                  </a:solidFill>
                </a:defRPr>
              </a:pPr>
              <a:r>
                <a:rPr sz="1725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漏洞事实实体</a:t>
              </a:r>
            </a:p>
          </p:txBody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08C6D102-6555-44BF-9FBB-1760B998DC28}"/>
                </a:ext>
              </a:extLst>
            </p:cNvPr>
            <p:cNvSpPr>
              <a:spLocks/>
            </p:cNvSpPr>
            <p:nvPr/>
          </p:nvSpPr>
          <p:spPr>
            <a:xfrm>
              <a:off x="476250" y="1238250"/>
              <a:ext cx="2476500" cy="952500"/>
            </a:xfrm>
            <a:prstGeom prst="roundRect">
              <a:avLst>
                <a:gd name="adj" fmla="val 40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5" name="Advisory">
              <a:extLst>
                <a:ext uri="{FF2B5EF4-FFF2-40B4-BE49-F238E27FC236}">
                  <a16:creationId xmlns:a16="http://schemas.microsoft.com/office/drawing/2014/main" id="{8F6BF528-63E9-470D-9C33-42933F077C77}"/>
                </a:ext>
              </a:extLst>
            </p:cNvPr>
            <p:cNvSpPr>
              <a:spLocks/>
            </p:cNvSpPr>
            <p:nvPr/>
          </p:nvSpPr>
          <p:spPr>
            <a:xfrm>
              <a:off x="571500" y="1333500"/>
              <a:ext cx="2286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Advisory</a:t>
              </a:r>
            </a:p>
          </p:txBody>
        </p:sp>
        <p:sp>
          <p:nvSpPr>
            <p:cNvPr id="6" name="公告">
              <a:extLst>
                <a:ext uri="{FF2B5EF4-FFF2-40B4-BE49-F238E27FC236}">
                  <a16:creationId xmlns:a16="http://schemas.microsoft.com/office/drawing/2014/main" id="{64103113-9624-4A49-B6CF-1F7B0AA00495}"/>
                </a:ext>
              </a:extLst>
            </p:cNvPr>
            <p:cNvSpPr>
              <a:spLocks/>
            </p:cNvSpPr>
            <p:nvPr/>
          </p:nvSpPr>
          <p:spPr>
            <a:xfrm>
              <a:off x="590550" y="1762125"/>
              <a:ext cx="224790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公告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BB4E81B2-D966-4756-9E55-BB2565311EC8}"/>
                </a:ext>
              </a:extLst>
            </p:cNvPr>
            <p:cNvSpPr>
              <a:spLocks/>
            </p:cNvSpPr>
            <p:nvPr/>
          </p:nvSpPr>
          <p:spPr>
            <a:xfrm>
              <a:off x="476250" y="2952750"/>
              <a:ext cx="2476500" cy="952500"/>
            </a:xfrm>
            <a:prstGeom prst="roundRect">
              <a:avLst>
                <a:gd name="adj" fmla="val 40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8" name="CWE">
              <a:extLst>
                <a:ext uri="{FF2B5EF4-FFF2-40B4-BE49-F238E27FC236}">
                  <a16:creationId xmlns:a16="http://schemas.microsoft.com/office/drawing/2014/main" id="{F36C6877-09A6-4621-B9D1-CAD4C6054E16}"/>
                </a:ext>
              </a:extLst>
            </p:cNvPr>
            <p:cNvSpPr>
              <a:spLocks/>
            </p:cNvSpPr>
            <p:nvPr/>
          </p:nvSpPr>
          <p:spPr>
            <a:xfrm>
              <a:off x="571500" y="3048000"/>
              <a:ext cx="2286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CWE</a:t>
              </a:r>
            </a:p>
          </p:txBody>
        </p:sp>
        <p:sp>
          <p:nvSpPr>
            <p:cNvPr id="9" name="弱点分类">
              <a:extLst>
                <a:ext uri="{FF2B5EF4-FFF2-40B4-BE49-F238E27FC236}">
                  <a16:creationId xmlns:a16="http://schemas.microsoft.com/office/drawing/2014/main" id="{5BEB1BBC-44FC-47DC-B080-38447CA1D11C}"/>
                </a:ext>
              </a:extLst>
            </p:cNvPr>
            <p:cNvSpPr>
              <a:spLocks/>
            </p:cNvSpPr>
            <p:nvPr/>
          </p:nvSpPr>
          <p:spPr>
            <a:xfrm>
              <a:off x="590550" y="3476625"/>
              <a:ext cx="224790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弱点分类</a:t>
              </a:r>
            </a:p>
          </p:txBody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BFE5D481-8A8A-4009-A36A-8072E4EAA36C}"/>
                </a:ext>
              </a:extLst>
            </p:cNvPr>
            <p:cNvSpPr>
              <a:spLocks/>
            </p:cNvSpPr>
            <p:nvPr/>
          </p:nvSpPr>
          <p:spPr>
            <a:xfrm>
              <a:off x="476250" y="4762500"/>
              <a:ext cx="2476500" cy="952500"/>
            </a:xfrm>
            <a:prstGeom prst="roundRect">
              <a:avLst>
                <a:gd name="adj" fmla="val 40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1" name="PocRef">
              <a:extLst>
                <a:ext uri="{FF2B5EF4-FFF2-40B4-BE49-F238E27FC236}">
                  <a16:creationId xmlns:a16="http://schemas.microsoft.com/office/drawing/2014/main" id="{0A3F7AED-BA2A-4F34-A34E-06F06902AE62}"/>
                </a:ext>
              </a:extLst>
            </p:cNvPr>
            <p:cNvSpPr>
              <a:spLocks/>
            </p:cNvSpPr>
            <p:nvPr/>
          </p:nvSpPr>
          <p:spPr>
            <a:xfrm>
              <a:off x="571500" y="4857750"/>
              <a:ext cx="2286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PocRef</a:t>
              </a:r>
            </a:p>
          </p:txBody>
        </p:sp>
        <p:sp>
          <p:nvSpPr>
            <p:cNvPr id="12" name="公开 PoC 引用">
              <a:extLst>
                <a:ext uri="{FF2B5EF4-FFF2-40B4-BE49-F238E27FC236}">
                  <a16:creationId xmlns:a16="http://schemas.microsoft.com/office/drawing/2014/main" id="{5C119AB6-91EE-4C0B-A63D-2104DB206B53}"/>
                </a:ext>
              </a:extLst>
            </p:cNvPr>
            <p:cNvSpPr>
              <a:spLocks/>
            </p:cNvSpPr>
            <p:nvPr/>
          </p:nvSpPr>
          <p:spPr>
            <a:xfrm>
              <a:off x="590550" y="5286375"/>
              <a:ext cx="224790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公开 PoC 引用</a:t>
              </a:r>
            </a:p>
          </p:txBody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9AE8F0CC-136A-4926-88EF-9AFA56D5F8A4}"/>
                </a:ext>
              </a:extLst>
            </p:cNvPr>
            <p:cNvSpPr>
              <a:spLocks/>
            </p:cNvSpPr>
            <p:nvPr/>
          </p:nvSpPr>
          <p:spPr>
            <a:xfrm>
              <a:off x="8477250" y="1238250"/>
              <a:ext cx="2476500" cy="952500"/>
            </a:xfrm>
            <a:prstGeom prst="roundRect">
              <a:avLst>
                <a:gd name="adj" fmla="val 4000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4" name="Component">
              <a:extLst>
                <a:ext uri="{FF2B5EF4-FFF2-40B4-BE49-F238E27FC236}">
                  <a16:creationId xmlns:a16="http://schemas.microsoft.com/office/drawing/2014/main" id="{4CBD03BD-6BBB-4881-99FC-334A01287B8C}"/>
                </a:ext>
              </a:extLst>
            </p:cNvPr>
            <p:cNvSpPr>
              <a:spLocks/>
            </p:cNvSpPr>
            <p:nvPr/>
          </p:nvSpPr>
          <p:spPr>
            <a:xfrm>
              <a:off x="8572500" y="1333500"/>
              <a:ext cx="2286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Component</a:t>
              </a:r>
            </a:p>
          </p:txBody>
        </p:sp>
        <p:sp>
          <p:nvSpPr>
            <p:cNvPr id="15" name="受影响组件">
              <a:extLst>
                <a:ext uri="{FF2B5EF4-FFF2-40B4-BE49-F238E27FC236}">
                  <a16:creationId xmlns:a16="http://schemas.microsoft.com/office/drawing/2014/main" id="{9FC229C1-FFB0-4C4F-BA40-4E95957A9A64}"/>
                </a:ext>
              </a:extLst>
            </p:cNvPr>
            <p:cNvSpPr>
              <a:spLocks/>
            </p:cNvSpPr>
            <p:nvPr/>
          </p:nvSpPr>
          <p:spPr>
            <a:xfrm>
              <a:off x="8591550" y="1762125"/>
              <a:ext cx="224790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受影响组件</a:t>
              </a:r>
            </a:p>
          </p:txBody>
        </p:sp>
        <p:sp>
          <p:nvSpPr>
            <p:cNvPr id="16" name="Version 区间 / fixed">
              <a:extLst>
                <a:ext uri="{FF2B5EF4-FFF2-40B4-BE49-F238E27FC236}">
                  <a16:creationId xmlns:a16="http://schemas.microsoft.com/office/drawing/2014/main" id="{1EB2B77D-3ECD-452B-9BB9-D840A2D30250}"/>
                </a:ext>
              </a:extLst>
            </p:cNvPr>
            <p:cNvSpPr>
              <a:spLocks/>
            </p:cNvSpPr>
            <p:nvPr/>
          </p:nvSpPr>
          <p:spPr>
            <a:xfrm>
              <a:off x="8477250" y="2390775"/>
              <a:ext cx="2476500" cy="571500"/>
            </a:xfrm>
            <a:prstGeom prst="roundRect">
              <a:avLst>
                <a:gd name="adj" fmla="val 6667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Version 区间 / fixed</a:t>
              </a:r>
            </a:p>
          </p:txBody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7C5F2056-11C0-48EB-B745-040B792D8730}"/>
                </a:ext>
              </a:extLst>
            </p:cNvPr>
            <p:cNvSpPr>
              <a:spLocks/>
            </p:cNvSpPr>
            <p:nvPr/>
          </p:nvSpPr>
          <p:spPr>
            <a:xfrm>
              <a:off x="8477250" y="3333750"/>
              <a:ext cx="2476500" cy="952500"/>
            </a:xfrm>
            <a:prstGeom prst="roundRect">
              <a:avLst>
                <a:gd name="adj" fmla="val 4000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8" name="AtlasTechnique">
              <a:extLst>
                <a:ext uri="{FF2B5EF4-FFF2-40B4-BE49-F238E27FC236}">
                  <a16:creationId xmlns:a16="http://schemas.microsoft.com/office/drawing/2014/main" id="{EAAA7B53-740D-4D26-ADAD-E2E9E17DDEA7}"/>
                </a:ext>
              </a:extLst>
            </p:cNvPr>
            <p:cNvSpPr>
              <a:spLocks/>
            </p:cNvSpPr>
            <p:nvPr/>
          </p:nvSpPr>
          <p:spPr>
            <a:xfrm>
              <a:off x="8572500" y="3429000"/>
              <a:ext cx="2286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AtlasTechnique</a:t>
              </a:r>
            </a:p>
          </p:txBody>
        </p:sp>
        <p:sp>
          <p:nvSpPr>
            <p:cNvPr id="19" name="攻击技术">
              <a:extLst>
                <a:ext uri="{FF2B5EF4-FFF2-40B4-BE49-F238E27FC236}">
                  <a16:creationId xmlns:a16="http://schemas.microsoft.com/office/drawing/2014/main" id="{BCA8F403-55F2-4170-AFFF-25950C8F87F4}"/>
                </a:ext>
              </a:extLst>
            </p:cNvPr>
            <p:cNvSpPr>
              <a:spLocks/>
            </p:cNvSpPr>
            <p:nvPr/>
          </p:nvSpPr>
          <p:spPr>
            <a:xfrm>
              <a:off x="8591550" y="3857625"/>
              <a:ext cx="224790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攻击技术</a:t>
              </a:r>
            </a:p>
          </p:txBody>
        </p:sp>
        <p:sp>
          <p:nvSpPr>
            <p:cNvPr id="20" name="Paper / Article">
              <a:extLst>
                <a:ext uri="{FF2B5EF4-FFF2-40B4-BE49-F238E27FC236}">
                  <a16:creationId xmlns:a16="http://schemas.microsoft.com/office/drawing/2014/main" id="{ED50648D-F103-4448-8409-E172DFAC1CE1}"/>
                </a:ext>
              </a:extLst>
            </p:cNvPr>
            <p:cNvSpPr>
              <a:spLocks/>
            </p:cNvSpPr>
            <p:nvPr/>
          </p:nvSpPr>
          <p:spPr>
            <a:xfrm>
              <a:off x="8477250" y="4953000"/>
              <a:ext cx="2476500" cy="666750"/>
            </a:xfrm>
            <a:prstGeom prst="roundRect">
              <a:avLst>
                <a:gd name="adj" fmla="val 5714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0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800" b="1">
                  <a:solidFill>
                    <a:srgbClr val="547D45"/>
                  </a:solidFill>
                </a:defRPr>
              </a:pPr>
              <a:r>
                <a:rPr sz="18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Paper / Article</a:t>
              </a:r>
            </a:p>
          </p:txBody>
        </p:sp>
        <p:sp>
          <p:nvSpPr>
            <p:cNvPr id="21" name="RiskCategory">
              <a:extLst>
                <a:ext uri="{FF2B5EF4-FFF2-40B4-BE49-F238E27FC236}">
                  <a16:creationId xmlns:a16="http://schemas.microsoft.com/office/drawing/2014/main" id="{C80706B3-C502-4510-AF2B-EFFE36661C66}"/>
                </a:ext>
              </a:extLst>
            </p:cNvPr>
            <p:cNvSpPr>
              <a:spLocks/>
            </p:cNvSpPr>
            <p:nvPr/>
          </p:nvSpPr>
          <p:spPr>
            <a:xfrm>
              <a:off x="4191000" y="4810125"/>
              <a:ext cx="3048000" cy="571500"/>
            </a:xfrm>
            <a:prstGeom prst="roundRect">
              <a:avLst>
                <a:gd name="adj" fmla="val 6667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RiskCategory</a:t>
              </a:r>
            </a:p>
          </p:txBody>
        </p:sp>
        <p:sp>
          <p:nvSpPr>
            <p:cNvPr id="22" name="Regulation">
              <a:extLst>
                <a:ext uri="{FF2B5EF4-FFF2-40B4-BE49-F238E27FC236}">
                  <a16:creationId xmlns:a16="http://schemas.microsoft.com/office/drawing/2014/main" id="{52288BBA-DAF6-48FA-9F14-F3CE8A3FE5DC}"/>
                </a:ext>
              </a:extLst>
            </p:cNvPr>
            <p:cNvSpPr>
              <a:spLocks/>
            </p:cNvSpPr>
            <p:nvPr/>
          </p:nvSpPr>
          <p:spPr>
            <a:xfrm>
              <a:off x="4191000" y="6048375"/>
              <a:ext cx="3048000" cy="571500"/>
            </a:xfrm>
            <a:prstGeom prst="roundRect">
              <a:avLst>
                <a:gd name="adj" fmla="val 6667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Regulation</a:t>
              </a:r>
            </a:p>
          </p:txBody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9EE46B98-2E2F-4FA6-8FDD-D546136ECAFB}"/>
                </a:ext>
              </a:extLst>
            </p:cNvPr>
            <p:cNvSpPr>
              <a:spLocks/>
            </p:cNvSpPr>
            <p:nvPr/>
          </p:nvSpPr>
          <p:spPr>
            <a:xfrm>
              <a:off x="2952750" y="1714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B99DC9A4-1CF1-42E1-AB28-2428D4A53F35}"/>
                </a:ext>
              </a:extLst>
            </p:cNvPr>
            <p:cNvSpPr>
              <a:spLocks/>
            </p:cNvSpPr>
            <p:nvPr/>
          </p:nvSpPr>
          <p:spPr>
            <a:xfrm>
              <a:off x="3571875" y="1714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B94CF138-9D04-4067-8AD6-B565036AFDE6}"/>
                </a:ext>
              </a:extLst>
            </p:cNvPr>
            <p:cNvSpPr>
              <a:spLocks/>
            </p:cNvSpPr>
            <p:nvPr/>
          </p:nvSpPr>
          <p:spPr>
            <a:xfrm>
              <a:off x="3571875" y="1714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8BE87B46-5DD4-43B7-BF19-5700B8EF1E5E}"/>
                </a:ext>
              </a:extLst>
            </p:cNvPr>
            <p:cNvSpPr>
              <a:spLocks/>
            </p:cNvSpPr>
            <p:nvPr/>
          </p:nvSpPr>
          <p:spPr>
            <a:xfrm>
              <a:off x="3571875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D5082573-C602-4884-A394-EAFADD3872C1}"/>
                </a:ext>
              </a:extLst>
            </p:cNvPr>
            <p:cNvSpPr>
              <a:spLocks/>
            </p:cNvSpPr>
            <p:nvPr/>
          </p:nvSpPr>
          <p:spPr>
            <a:xfrm>
              <a:off x="3571875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0" name="boundary">
              <a:extLst>
                <a:ext uri="{FF2B5EF4-FFF2-40B4-BE49-F238E27FC236}">
                  <a16:creationId xmlns:a16="http://schemas.microsoft.com/office/drawing/2014/main" id="{E1E8DE6E-DF7D-4526-8296-5802AE3941E2}"/>
                </a:ext>
              </a:extLst>
            </p:cNvPr>
            <p:cNvSpPr>
              <a:spLocks/>
            </p:cNvSpPr>
            <p:nvPr/>
          </p:nvSpPr>
          <p:spPr>
            <a:xfrm>
              <a:off x="4191000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描述">
              <a:extLst>
                <a:ext uri="{FF2B5EF4-FFF2-40B4-BE49-F238E27FC236}">
                  <a16:creationId xmlns:a16="http://schemas.microsoft.com/office/drawing/2014/main" id="{31C88CD7-9943-4A72-9EA0-71519742EE70}"/>
                </a:ext>
              </a:extLst>
            </p:cNvPr>
            <p:cNvSpPr>
              <a:spLocks/>
            </p:cNvSpPr>
            <p:nvPr/>
          </p:nvSpPr>
          <p:spPr>
            <a:xfrm>
              <a:off x="3133725" y="2181225"/>
              <a:ext cx="876300" cy="342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描述</a:t>
              </a:r>
            </a:p>
          </p:txBody>
        </p:sp>
        <p:sp>
          <p:nvSpPr>
            <p:cNvPr id="33" name="boundary">
              <a:extLst>
                <a:ext uri="{FF2B5EF4-FFF2-40B4-BE49-F238E27FC236}">
                  <a16:creationId xmlns:a16="http://schemas.microsoft.com/office/drawing/2014/main" id="{328A1CE3-CAB8-4320-96F8-A74335601523}"/>
                </a:ext>
              </a:extLst>
            </p:cNvPr>
            <p:cNvSpPr>
              <a:spLocks/>
            </p:cNvSpPr>
            <p:nvPr/>
          </p:nvSpPr>
          <p:spPr>
            <a:xfrm>
              <a:off x="4191000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0ADEA9D3-7E90-462A-88C1-521C11886021}"/>
                </a:ext>
              </a:extLst>
            </p:cNvPr>
            <p:cNvSpPr>
              <a:spLocks/>
            </p:cNvSpPr>
            <p:nvPr/>
          </p:nvSpPr>
          <p:spPr>
            <a:xfrm>
              <a:off x="2952750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6" name="弱点">
              <a:extLst>
                <a:ext uri="{FF2B5EF4-FFF2-40B4-BE49-F238E27FC236}">
                  <a16:creationId xmlns:a16="http://schemas.microsoft.com/office/drawing/2014/main" id="{1FD6E574-5374-4FAF-AE88-EEF07941204E}"/>
                </a:ext>
              </a:extLst>
            </p:cNvPr>
            <p:cNvSpPr>
              <a:spLocks/>
            </p:cNvSpPr>
            <p:nvPr/>
          </p:nvSpPr>
          <p:spPr>
            <a:xfrm>
              <a:off x="3133725" y="3048000"/>
              <a:ext cx="876300" cy="32385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弱点</a:t>
              </a:r>
            </a:p>
          </p:txBody>
        </p:sp>
        <p:sp>
          <p:nvSpPr>
            <p:cNvPr id="37" name="boundary">
              <a:extLst>
                <a:ext uri="{FF2B5EF4-FFF2-40B4-BE49-F238E27FC236}">
                  <a16:creationId xmlns:a16="http://schemas.microsoft.com/office/drawing/2014/main" id="{0A481027-0770-4DD5-A553-AF2960777C76}"/>
                </a:ext>
              </a:extLst>
            </p:cNvPr>
            <p:cNvSpPr>
              <a:spLocks/>
            </p:cNvSpPr>
            <p:nvPr/>
          </p:nvSpPr>
          <p:spPr>
            <a:xfrm>
              <a:off x="4191000" y="3762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boundary">
              <a:extLst>
                <a:ext uri="{FF2B5EF4-FFF2-40B4-BE49-F238E27FC236}">
                  <a16:creationId xmlns:a16="http://schemas.microsoft.com/office/drawing/2014/main" id="{236E9BE3-BEA7-4C42-B674-D8BCBE1C123A}"/>
                </a:ext>
              </a:extLst>
            </p:cNvPr>
            <p:cNvSpPr>
              <a:spLocks/>
            </p:cNvSpPr>
            <p:nvPr/>
          </p:nvSpPr>
          <p:spPr>
            <a:xfrm>
              <a:off x="3571875" y="3762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boundary">
              <a:extLst>
                <a:ext uri="{FF2B5EF4-FFF2-40B4-BE49-F238E27FC236}">
                  <a16:creationId xmlns:a16="http://schemas.microsoft.com/office/drawing/2014/main" id="{75E6AF22-C854-4282-8ED6-3B9451DCB1AD}"/>
                </a:ext>
              </a:extLst>
            </p:cNvPr>
            <p:cNvSpPr>
              <a:spLocks/>
            </p:cNvSpPr>
            <p:nvPr/>
          </p:nvSpPr>
          <p:spPr>
            <a:xfrm>
              <a:off x="3571875" y="3762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1" name="boundary">
              <a:extLst>
                <a:ext uri="{FF2B5EF4-FFF2-40B4-BE49-F238E27FC236}">
                  <a16:creationId xmlns:a16="http://schemas.microsoft.com/office/drawing/2014/main" id="{ED2C4708-0BFA-4308-BABA-A33D3E0E3B9F}"/>
                </a:ext>
              </a:extLst>
            </p:cNvPr>
            <p:cNvSpPr>
              <a:spLocks/>
            </p:cNvSpPr>
            <p:nvPr/>
          </p:nvSpPr>
          <p:spPr>
            <a:xfrm>
              <a:off x="3571875" y="5238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3" name="boundary">
              <a:extLst>
                <a:ext uri="{FF2B5EF4-FFF2-40B4-BE49-F238E27FC236}">
                  <a16:creationId xmlns:a16="http://schemas.microsoft.com/office/drawing/2014/main" id="{C523C2D7-F195-4CF9-803E-9AD9766AAF38}"/>
                </a:ext>
              </a:extLst>
            </p:cNvPr>
            <p:cNvSpPr>
              <a:spLocks/>
            </p:cNvSpPr>
            <p:nvPr/>
          </p:nvSpPr>
          <p:spPr>
            <a:xfrm>
              <a:off x="3571875" y="5238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4" name="boundary">
              <a:extLst>
                <a:ext uri="{FF2B5EF4-FFF2-40B4-BE49-F238E27FC236}">
                  <a16:creationId xmlns:a16="http://schemas.microsoft.com/office/drawing/2014/main" id="{DF6EF4DE-EE93-4E92-859F-E33A6CF83718}"/>
                </a:ext>
              </a:extLst>
            </p:cNvPr>
            <p:cNvSpPr>
              <a:spLocks/>
            </p:cNvSpPr>
            <p:nvPr/>
          </p:nvSpPr>
          <p:spPr>
            <a:xfrm>
              <a:off x="2952750" y="5238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6" name="引用">
              <a:extLst>
                <a:ext uri="{FF2B5EF4-FFF2-40B4-BE49-F238E27FC236}">
                  <a16:creationId xmlns:a16="http://schemas.microsoft.com/office/drawing/2014/main" id="{61335260-45EC-4D10-8617-195642702739}"/>
                </a:ext>
              </a:extLst>
            </p:cNvPr>
            <p:cNvSpPr>
              <a:spLocks/>
            </p:cNvSpPr>
            <p:nvPr/>
          </p:nvSpPr>
          <p:spPr>
            <a:xfrm>
              <a:off x="3133725" y="4391025"/>
              <a:ext cx="876300" cy="342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引用</a:t>
              </a:r>
            </a:p>
          </p:txBody>
        </p:sp>
        <p:sp>
          <p:nvSpPr>
            <p:cNvPr id="47" name="boundary">
              <a:extLst>
                <a:ext uri="{FF2B5EF4-FFF2-40B4-BE49-F238E27FC236}">
                  <a16:creationId xmlns:a16="http://schemas.microsoft.com/office/drawing/2014/main" id="{623C2665-DBC4-4CD4-8647-E1CE2F5CD87A}"/>
                </a:ext>
              </a:extLst>
            </p:cNvPr>
            <p:cNvSpPr>
              <a:spLocks/>
            </p:cNvSpPr>
            <p:nvPr/>
          </p:nvSpPr>
          <p:spPr>
            <a:xfrm>
              <a:off x="7239000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8" name="boundary">
              <a:extLst>
                <a:ext uri="{FF2B5EF4-FFF2-40B4-BE49-F238E27FC236}">
                  <a16:creationId xmlns:a16="http://schemas.microsoft.com/office/drawing/2014/main" id="{1AB90231-39EF-4B94-8EDD-20A5BA03C5C3}"/>
                </a:ext>
              </a:extLst>
            </p:cNvPr>
            <p:cNvSpPr>
              <a:spLocks/>
            </p:cNvSpPr>
            <p:nvPr/>
          </p:nvSpPr>
          <p:spPr>
            <a:xfrm>
              <a:off x="7858125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0" name="boundary">
              <a:extLst>
                <a:ext uri="{FF2B5EF4-FFF2-40B4-BE49-F238E27FC236}">
                  <a16:creationId xmlns:a16="http://schemas.microsoft.com/office/drawing/2014/main" id="{D31A966F-A5FE-409F-93F2-4746E08D5624}"/>
                </a:ext>
              </a:extLst>
            </p:cNvPr>
            <p:cNvSpPr>
              <a:spLocks/>
            </p:cNvSpPr>
            <p:nvPr/>
          </p:nvSpPr>
          <p:spPr>
            <a:xfrm>
              <a:off x="7858125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1" name="boundary">
              <a:extLst>
                <a:ext uri="{FF2B5EF4-FFF2-40B4-BE49-F238E27FC236}">
                  <a16:creationId xmlns:a16="http://schemas.microsoft.com/office/drawing/2014/main" id="{DBE5D7C3-F2C4-45B5-A751-37C14750A1C5}"/>
                </a:ext>
              </a:extLst>
            </p:cNvPr>
            <p:cNvSpPr>
              <a:spLocks/>
            </p:cNvSpPr>
            <p:nvPr/>
          </p:nvSpPr>
          <p:spPr>
            <a:xfrm>
              <a:off x="7858125" y="1714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3" name="boundary">
              <a:extLst>
                <a:ext uri="{FF2B5EF4-FFF2-40B4-BE49-F238E27FC236}">
                  <a16:creationId xmlns:a16="http://schemas.microsoft.com/office/drawing/2014/main" id="{4866FC48-C66E-49CF-8D54-050DB19401A3}"/>
                </a:ext>
              </a:extLst>
            </p:cNvPr>
            <p:cNvSpPr>
              <a:spLocks/>
            </p:cNvSpPr>
            <p:nvPr/>
          </p:nvSpPr>
          <p:spPr>
            <a:xfrm>
              <a:off x="7858125" y="1714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4" name="boundary">
              <a:extLst>
                <a:ext uri="{FF2B5EF4-FFF2-40B4-BE49-F238E27FC236}">
                  <a16:creationId xmlns:a16="http://schemas.microsoft.com/office/drawing/2014/main" id="{9E4E632B-F093-4871-B6A7-2B24FDE35215}"/>
                </a:ext>
              </a:extLst>
            </p:cNvPr>
            <p:cNvSpPr>
              <a:spLocks/>
            </p:cNvSpPr>
            <p:nvPr/>
          </p:nvSpPr>
          <p:spPr>
            <a:xfrm>
              <a:off x="8477250" y="1714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6" name="影响">
              <a:extLst>
                <a:ext uri="{FF2B5EF4-FFF2-40B4-BE49-F238E27FC236}">
                  <a16:creationId xmlns:a16="http://schemas.microsoft.com/office/drawing/2014/main" id="{D7E24001-8753-44EB-8E54-C0E0F20AD1A7}"/>
                </a:ext>
              </a:extLst>
            </p:cNvPr>
            <p:cNvSpPr>
              <a:spLocks/>
            </p:cNvSpPr>
            <p:nvPr/>
          </p:nvSpPr>
          <p:spPr>
            <a:xfrm>
              <a:off x="7419975" y="2181225"/>
              <a:ext cx="876300" cy="342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77DC3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77DC3"/>
                  </a:solidFill>
                </a:defRPr>
              </a:pPr>
              <a:r>
                <a:rPr sz="1725" b="0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影响</a:t>
              </a:r>
            </a:p>
          </p:txBody>
        </p:sp>
        <p:sp>
          <p:nvSpPr>
            <p:cNvPr id="57" name="boundary">
              <a:extLst>
                <a:ext uri="{FF2B5EF4-FFF2-40B4-BE49-F238E27FC236}">
                  <a16:creationId xmlns:a16="http://schemas.microsoft.com/office/drawing/2014/main" id="{0BC3C8A2-BC7E-4E13-A14C-2739A8BE902A}"/>
                </a:ext>
              </a:extLst>
            </p:cNvPr>
            <p:cNvSpPr>
              <a:spLocks/>
            </p:cNvSpPr>
            <p:nvPr/>
          </p:nvSpPr>
          <p:spPr>
            <a:xfrm>
              <a:off x="9715500" y="2190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8" name="boundary">
              <a:extLst>
                <a:ext uri="{FF2B5EF4-FFF2-40B4-BE49-F238E27FC236}">
                  <a16:creationId xmlns:a16="http://schemas.microsoft.com/office/drawing/2014/main" id="{F6869CEC-CC4D-470C-BA22-9487262B7EAC}"/>
                </a:ext>
              </a:extLst>
            </p:cNvPr>
            <p:cNvSpPr>
              <a:spLocks/>
            </p:cNvSpPr>
            <p:nvPr/>
          </p:nvSpPr>
          <p:spPr>
            <a:xfrm>
              <a:off x="9715500" y="23907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0" name="boundary">
              <a:extLst>
                <a:ext uri="{FF2B5EF4-FFF2-40B4-BE49-F238E27FC236}">
                  <a16:creationId xmlns:a16="http://schemas.microsoft.com/office/drawing/2014/main" id="{2A40374F-B070-4353-869A-BAC26F2318F5}"/>
                </a:ext>
              </a:extLst>
            </p:cNvPr>
            <p:cNvSpPr>
              <a:spLocks/>
            </p:cNvSpPr>
            <p:nvPr/>
          </p:nvSpPr>
          <p:spPr>
            <a:xfrm>
              <a:off x="7239000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1" name="boundary">
              <a:extLst>
                <a:ext uri="{FF2B5EF4-FFF2-40B4-BE49-F238E27FC236}">
                  <a16:creationId xmlns:a16="http://schemas.microsoft.com/office/drawing/2014/main" id="{6142FCDE-7373-4E93-B9D3-AEB6AB314FCF}"/>
                </a:ext>
              </a:extLst>
            </p:cNvPr>
            <p:cNvSpPr>
              <a:spLocks/>
            </p:cNvSpPr>
            <p:nvPr/>
          </p:nvSpPr>
          <p:spPr>
            <a:xfrm>
              <a:off x="8096250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3" name="boundary">
              <a:extLst>
                <a:ext uri="{FF2B5EF4-FFF2-40B4-BE49-F238E27FC236}">
                  <a16:creationId xmlns:a16="http://schemas.microsoft.com/office/drawing/2014/main" id="{0742CD53-4066-4C2E-8A3D-A118CFE59B55}"/>
                </a:ext>
              </a:extLst>
            </p:cNvPr>
            <p:cNvSpPr>
              <a:spLocks/>
            </p:cNvSpPr>
            <p:nvPr/>
          </p:nvSpPr>
          <p:spPr>
            <a:xfrm>
              <a:off x="8096250" y="3429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4" name="boundary">
              <a:extLst>
                <a:ext uri="{FF2B5EF4-FFF2-40B4-BE49-F238E27FC236}">
                  <a16:creationId xmlns:a16="http://schemas.microsoft.com/office/drawing/2014/main" id="{3F465C7D-43B2-4688-A46B-2F063C76E4A5}"/>
                </a:ext>
              </a:extLst>
            </p:cNvPr>
            <p:cNvSpPr>
              <a:spLocks/>
            </p:cNvSpPr>
            <p:nvPr/>
          </p:nvSpPr>
          <p:spPr>
            <a:xfrm>
              <a:off x="8096250" y="3810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6" name="boundary">
              <a:extLst>
                <a:ext uri="{FF2B5EF4-FFF2-40B4-BE49-F238E27FC236}">
                  <a16:creationId xmlns:a16="http://schemas.microsoft.com/office/drawing/2014/main" id="{38FDF89E-984F-4ABD-BFFA-1C2653F16CC1}"/>
                </a:ext>
              </a:extLst>
            </p:cNvPr>
            <p:cNvSpPr>
              <a:spLocks/>
            </p:cNvSpPr>
            <p:nvPr/>
          </p:nvSpPr>
          <p:spPr>
            <a:xfrm>
              <a:off x="8096250" y="3810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7" name="boundary">
              <a:extLst>
                <a:ext uri="{FF2B5EF4-FFF2-40B4-BE49-F238E27FC236}">
                  <a16:creationId xmlns:a16="http://schemas.microsoft.com/office/drawing/2014/main" id="{727F8E21-9EE4-4E4C-8B33-0413186433F8}"/>
                </a:ext>
              </a:extLst>
            </p:cNvPr>
            <p:cNvSpPr>
              <a:spLocks/>
            </p:cNvSpPr>
            <p:nvPr/>
          </p:nvSpPr>
          <p:spPr>
            <a:xfrm>
              <a:off x="8477250" y="38100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69" name="映射">
              <a:extLst>
                <a:ext uri="{FF2B5EF4-FFF2-40B4-BE49-F238E27FC236}">
                  <a16:creationId xmlns:a16="http://schemas.microsoft.com/office/drawing/2014/main" id="{43AE65EB-FD7F-4900-A8F4-06F74C35E3DF}"/>
                </a:ext>
              </a:extLst>
            </p:cNvPr>
            <p:cNvSpPr>
              <a:spLocks/>
            </p:cNvSpPr>
            <p:nvPr/>
          </p:nvSpPr>
          <p:spPr>
            <a:xfrm>
              <a:off x="7419975" y="3048000"/>
              <a:ext cx="876300" cy="32385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0">
                  <a:solidFill>
                    <a:srgbClr val="547D45"/>
                  </a:solidFill>
                </a:defRPr>
              </a:pPr>
              <a:r>
                <a:rPr sz="1725" b="0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映射</a:t>
              </a:r>
            </a:p>
          </p:txBody>
        </p:sp>
        <p:sp>
          <p:nvSpPr>
            <p:cNvPr id="70" name="boundary">
              <a:extLst>
                <a:ext uri="{FF2B5EF4-FFF2-40B4-BE49-F238E27FC236}">
                  <a16:creationId xmlns:a16="http://schemas.microsoft.com/office/drawing/2014/main" id="{CD80A6F9-F359-437D-B4E2-74FD6A7E1CDE}"/>
                </a:ext>
              </a:extLst>
            </p:cNvPr>
            <p:cNvSpPr>
              <a:spLocks/>
            </p:cNvSpPr>
            <p:nvPr/>
          </p:nvSpPr>
          <p:spPr>
            <a:xfrm>
              <a:off x="7239000" y="3762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1" name="boundary">
              <a:extLst>
                <a:ext uri="{FF2B5EF4-FFF2-40B4-BE49-F238E27FC236}">
                  <a16:creationId xmlns:a16="http://schemas.microsoft.com/office/drawing/2014/main" id="{4882F198-30ED-42B5-8CDC-D7D02D0FC5F2}"/>
                </a:ext>
              </a:extLst>
            </p:cNvPr>
            <p:cNvSpPr>
              <a:spLocks/>
            </p:cNvSpPr>
            <p:nvPr/>
          </p:nvSpPr>
          <p:spPr>
            <a:xfrm>
              <a:off x="7667625" y="3762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3" name="boundary">
              <a:extLst>
                <a:ext uri="{FF2B5EF4-FFF2-40B4-BE49-F238E27FC236}">
                  <a16:creationId xmlns:a16="http://schemas.microsoft.com/office/drawing/2014/main" id="{CA71E681-C856-44A4-AA16-EFA0DEBA531A}"/>
                </a:ext>
              </a:extLst>
            </p:cNvPr>
            <p:cNvSpPr>
              <a:spLocks/>
            </p:cNvSpPr>
            <p:nvPr/>
          </p:nvSpPr>
          <p:spPr>
            <a:xfrm>
              <a:off x="7667625" y="3762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4" name="boundary">
              <a:extLst>
                <a:ext uri="{FF2B5EF4-FFF2-40B4-BE49-F238E27FC236}">
                  <a16:creationId xmlns:a16="http://schemas.microsoft.com/office/drawing/2014/main" id="{2815E7BA-8DF2-4028-B80E-0E12FB060B6C}"/>
                </a:ext>
              </a:extLst>
            </p:cNvPr>
            <p:cNvSpPr>
              <a:spLocks/>
            </p:cNvSpPr>
            <p:nvPr/>
          </p:nvSpPr>
          <p:spPr>
            <a:xfrm>
              <a:off x="7667625" y="5286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6" name="boundary">
              <a:extLst>
                <a:ext uri="{FF2B5EF4-FFF2-40B4-BE49-F238E27FC236}">
                  <a16:creationId xmlns:a16="http://schemas.microsoft.com/office/drawing/2014/main" id="{D359B3A3-A5B5-425C-9CB8-826E006B3A46}"/>
                </a:ext>
              </a:extLst>
            </p:cNvPr>
            <p:cNvSpPr>
              <a:spLocks/>
            </p:cNvSpPr>
            <p:nvPr/>
          </p:nvSpPr>
          <p:spPr>
            <a:xfrm>
              <a:off x="7667625" y="5286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7" name="boundary">
              <a:extLst>
                <a:ext uri="{FF2B5EF4-FFF2-40B4-BE49-F238E27FC236}">
                  <a16:creationId xmlns:a16="http://schemas.microsoft.com/office/drawing/2014/main" id="{5F092DC3-BBE8-4804-9C03-7D547203B198}"/>
                </a:ext>
              </a:extLst>
            </p:cNvPr>
            <p:cNvSpPr>
              <a:spLocks/>
            </p:cNvSpPr>
            <p:nvPr/>
          </p:nvSpPr>
          <p:spPr>
            <a:xfrm>
              <a:off x="8477250" y="5286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9" name="讨论">
              <a:extLst>
                <a:ext uri="{FF2B5EF4-FFF2-40B4-BE49-F238E27FC236}">
                  <a16:creationId xmlns:a16="http://schemas.microsoft.com/office/drawing/2014/main" id="{B9CFBDA7-8C34-41B6-A2C5-A51A8306CF92}"/>
                </a:ext>
              </a:extLst>
            </p:cNvPr>
            <p:cNvSpPr>
              <a:spLocks/>
            </p:cNvSpPr>
            <p:nvPr/>
          </p:nvSpPr>
          <p:spPr>
            <a:xfrm>
              <a:off x="7419975" y="4391025"/>
              <a:ext cx="876300" cy="342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0">
                  <a:solidFill>
                    <a:srgbClr val="547D45"/>
                  </a:solidFill>
                </a:defRPr>
              </a:pPr>
              <a:r>
                <a:rPr sz="1725" b="0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讨论</a:t>
              </a:r>
            </a:p>
          </p:txBody>
        </p:sp>
        <p:sp>
          <p:nvSpPr>
            <p:cNvPr id="80" name="boundary">
              <a:extLst>
                <a:ext uri="{FF2B5EF4-FFF2-40B4-BE49-F238E27FC236}">
                  <a16:creationId xmlns:a16="http://schemas.microsoft.com/office/drawing/2014/main" id="{7DEEFF89-0CCC-445E-8084-79E1ED95CEFB}"/>
                </a:ext>
              </a:extLst>
            </p:cNvPr>
            <p:cNvSpPr>
              <a:spLocks/>
            </p:cNvSpPr>
            <p:nvPr/>
          </p:nvSpPr>
          <p:spPr>
            <a:xfrm>
              <a:off x="5715000" y="40005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1" name="boundary">
              <a:extLst>
                <a:ext uri="{FF2B5EF4-FFF2-40B4-BE49-F238E27FC236}">
                  <a16:creationId xmlns:a16="http://schemas.microsoft.com/office/drawing/2014/main" id="{C20B908A-2642-47FD-B4C9-AD3990C16A4B}"/>
                </a:ext>
              </a:extLst>
            </p:cNvPr>
            <p:cNvSpPr>
              <a:spLocks/>
            </p:cNvSpPr>
            <p:nvPr/>
          </p:nvSpPr>
          <p:spPr>
            <a:xfrm>
              <a:off x="5715000" y="48101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3" name="归类">
              <a:extLst>
                <a:ext uri="{FF2B5EF4-FFF2-40B4-BE49-F238E27FC236}">
                  <a16:creationId xmlns:a16="http://schemas.microsoft.com/office/drawing/2014/main" id="{1F68274E-CAD2-42E7-9D24-F1CDA4BD2C86}"/>
                </a:ext>
              </a:extLst>
            </p:cNvPr>
            <p:cNvSpPr>
              <a:spLocks/>
            </p:cNvSpPr>
            <p:nvPr/>
          </p:nvSpPr>
          <p:spPr>
            <a:xfrm>
              <a:off x="5229225" y="4295775"/>
              <a:ext cx="971550" cy="3333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67A20"/>
                  </a:solidFill>
                </a:defRPr>
              </a:pPr>
              <a:r>
                <a:rPr sz="1725" b="0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归类</a:t>
              </a:r>
            </a:p>
          </p:txBody>
        </p:sp>
        <p:sp>
          <p:nvSpPr>
            <p:cNvPr id="84" name="boundary">
              <a:extLst>
                <a:ext uri="{FF2B5EF4-FFF2-40B4-BE49-F238E27FC236}">
                  <a16:creationId xmlns:a16="http://schemas.microsoft.com/office/drawing/2014/main" id="{6F10C6EA-9EE9-46F2-8450-5B515A960597}"/>
                </a:ext>
              </a:extLst>
            </p:cNvPr>
            <p:cNvSpPr>
              <a:spLocks/>
            </p:cNvSpPr>
            <p:nvPr/>
          </p:nvSpPr>
          <p:spPr>
            <a:xfrm>
              <a:off x="5715000" y="5381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5" name="boundary">
              <a:extLst>
                <a:ext uri="{FF2B5EF4-FFF2-40B4-BE49-F238E27FC236}">
                  <a16:creationId xmlns:a16="http://schemas.microsoft.com/office/drawing/2014/main" id="{1F95B27A-32FD-4C00-8FAE-43DC7CD2F41E}"/>
                </a:ext>
              </a:extLst>
            </p:cNvPr>
            <p:cNvSpPr>
              <a:spLocks/>
            </p:cNvSpPr>
            <p:nvPr/>
          </p:nvSpPr>
          <p:spPr>
            <a:xfrm>
              <a:off x="5715000" y="60483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7" name="规制">
              <a:extLst>
                <a:ext uri="{FF2B5EF4-FFF2-40B4-BE49-F238E27FC236}">
                  <a16:creationId xmlns:a16="http://schemas.microsoft.com/office/drawing/2014/main" id="{9C5D6A5C-2027-4B9A-A970-07D2AE1188BD}"/>
                </a:ext>
              </a:extLst>
            </p:cNvPr>
            <p:cNvSpPr>
              <a:spLocks/>
            </p:cNvSpPr>
            <p:nvPr/>
          </p:nvSpPr>
          <p:spPr>
            <a:xfrm>
              <a:off x="5229225" y="5562600"/>
              <a:ext cx="971550" cy="3333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0">
                  <a:solidFill>
                    <a:srgbClr val="A67A20"/>
                  </a:solidFill>
                </a:defRPr>
              </a:pPr>
              <a:r>
                <a:rPr sz="1725" b="0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规制</a:t>
              </a:r>
            </a:p>
          </p:txBody>
        </p:sp>
        <p:sp>
          <p:nvSpPr>
            <p:cNvPr id="88" name="描述 DESCRIBES    影响 AFFECTS    弱点 HAS_CWE    映射 MAPS_TO">
              <a:extLst>
                <a:ext uri="{FF2B5EF4-FFF2-40B4-BE49-F238E27FC236}">
                  <a16:creationId xmlns:a16="http://schemas.microsoft.com/office/drawing/2014/main" id="{185FEAC9-420C-4115-827B-F0C822B53E70}"/>
                </a:ext>
              </a:extLst>
            </p:cNvPr>
            <p:cNvSpPr>
              <a:spLocks/>
            </p:cNvSpPr>
            <p:nvPr/>
          </p:nvSpPr>
          <p:spPr>
            <a:xfrm>
              <a:off x="476250" y="6819900"/>
              <a:ext cx="104775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描述 DESCRIBES    影响 AFFECTS    弱点 HAS_CWE    映射 MAPS_TO</a:t>
              </a:r>
            </a:p>
          </p:txBody>
        </p:sp>
        <p:sp>
          <p:nvSpPr>
            <p:cNvPr id="89" name="引用 HAS_POC_REF    讨论 DISCUSSED_IN    归类 IN_CATEGORY    规制 GOVERNED_BY">
              <a:extLst>
                <a:ext uri="{FF2B5EF4-FFF2-40B4-BE49-F238E27FC236}">
                  <a16:creationId xmlns:a16="http://schemas.microsoft.com/office/drawing/2014/main" id="{6EC6DA18-DE80-4B9C-80F2-8AEC41D17F1F}"/>
                </a:ext>
              </a:extLst>
            </p:cNvPr>
            <p:cNvSpPr>
              <a:spLocks/>
            </p:cNvSpPr>
            <p:nvPr/>
          </p:nvSpPr>
          <p:spPr>
            <a:xfrm>
              <a:off x="476250" y="7162800"/>
              <a:ext cx="104775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l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引用 HAS_POC_REF    讨论 DISCUSSED_IN    归类 IN_CATEGORY    规制 GOVERNED_BY</a:t>
              </a:r>
            </a:p>
          </p:txBody>
        </p:sp>
        <p:sp>
          <p:nvSpPr>
            <p:cNvPr id="90" name="边属性：reason / confidence / method / created_by_agent">
              <a:extLst>
                <a:ext uri="{FF2B5EF4-FFF2-40B4-BE49-F238E27FC236}">
                  <a16:creationId xmlns:a16="http://schemas.microsoft.com/office/drawing/2014/main" id="{9BA2C6DD-712A-433E-8B16-786A6E722B07}"/>
                </a:ext>
              </a:extLst>
            </p:cNvPr>
            <p:cNvSpPr>
              <a:spLocks/>
            </p:cNvSpPr>
            <p:nvPr/>
          </p:nvSpPr>
          <p:spPr>
            <a:xfrm>
              <a:off x="476250" y="7562850"/>
              <a:ext cx="10477500" cy="342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边属性：reason / confidence / method / created_by_agent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6307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F-25 - whole figure">
            <a:extLst>
              <a:ext uri="{FF2B5EF4-FFF2-40B4-BE49-F238E27FC236}">
                <a16:creationId xmlns:a16="http://schemas.microsoft.com/office/drawing/2014/main" id="{F93A2E84-BC8F-FE09-3B8F-68DCBE1DD427}"/>
              </a:ext>
            </a:extLst>
          </p:cNvPr>
          <p:cNvGrpSpPr/>
          <p:nvPr/>
        </p:nvGrpSpPr>
        <p:grpSpPr>
          <a:xfrm>
            <a:off x="428625" y="1181100"/>
            <a:ext cx="10572750" cy="6781800"/>
            <a:chOff x="428625" y="1181100"/>
            <a:chExt cx="10572750" cy="6781800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E649F583-4F65-4DA2-B532-EF905D773809}"/>
                </a:ext>
              </a:extLst>
            </p:cNvPr>
            <p:cNvCxnSpPr>
              <a:stCxn id="35" idx="3"/>
              <a:endCxn id="36" idx="1"/>
            </p:cNvCxnSpPr>
            <p:nvPr/>
          </p:nvCxnSpPr>
          <p:spPr>
            <a:xfrm flipH="1">
              <a:off x="5715000" y="5944077"/>
              <a:ext cx="2858453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</a:ln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A0D02C0-F114-4591-8765-441C92535E1F}"/>
                </a:ext>
              </a:extLst>
            </p:cNvPr>
            <p:cNvCxnSpPr>
              <a:stCxn id="32" idx="3"/>
              <a:endCxn id="33" idx="1"/>
            </p:cNvCxnSpPr>
            <p:nvPr/>
          </p:nvCxnSpPr>
          <p:spPr>
            <a:xfrm flipH="1">
              <a:off x="8572500" y="5639277"/>
              <a:ext cx="953" cy="30480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</a:ln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82388761-633F-4F01-AF7B-33C35FDA7999}"/>
                </a:ext>
              </a:extLst>
            </p:cNvPr>
            <p:cNvCxnSpPr>
              <a:stCxn id="29" idx="3"/>
              <a:endCxn id="30" idx="1"/>
            </p:cNvCxnSpPr>
            <p:nvPr/>
          </p:nvCxnSpPr>
          <p:spPr>
            <a:xfrm flipH="1">
              <a:off x="5715000" y="5944077"/>
              <a:ext cx="953" cy="400050"/>
            </a:xfrm>
            <a:prstGeom prst="straightConnector1">
              <a:avLst/>
            </a:prstGeom>
            <a:ln w="20955">
              <a:solidFill>
                <a:srgbClr val="A67A20"/>
              </a:solidFill>
              <a:prstDash val="solid"/>
              <a:tailEnd type="triangle" w="sm" len="sm"/>
            </a:ln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24B6ECF-9289-443E-90AE-DFEA6B5A2356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>
              <a:off x="2858453" y="5944077"/>
              <a:ext cx="2856547" cy="0"/>
            </a:xfrm>
            <a:prstGeom prst="straightConnector1">
              <a:avLst/>
            </a:prstGeom>
            <a:ln w="20955">
              <a:solidFill>
                <a:srgbClr val="A67A20"/>
              </a:solidFill>
              <a:prstDash val="solid"/>
            </a:ln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77D3F90-9F41-49FF-BAC8-ABB8A131D54C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 flipH="1">
              <a:off x="2857500" y="5639277"/>
              <a:ext cx="953" cy="304800"/>
            </a:xfrm>
            <a:prstGeom prst="straightConnector1">
              <a:avLst/>
            </a:prstGeom>
            <a:ln w="20955">
              <a:solidFill>
                <a:srgbClr val="A67A20"/>
              </a:solidFill>
              <a:prstDash val="solid"/>
            </a:ln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DA5F752A-A2AC-4DE6-87FB-E672FD6049F9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 flipH="1">
              <a:off x="8572500" y="3096102"/>
              <a:ext cx="953" cy="127635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  <a:tailEnd type="triangle" w="sm" len="sm"/>
            </a:ln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11055B2-16E3-465D-B2F7-70653AE3A3F6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>
              <a:off x="7239953" y="3096102"/>
              <a:ext cx="1332547" cy="0"/>
            </a:xfrm>
            <a:prstGeom prst="straightConnector1">
              <a:avLst/>
            </a:prstGeom>
            <a:ln w="20955">
              <a:solidFill>
                <a:srgbClr val="AB554B"/>
              </a:solidFill>
              <a:prstDash val="solid"/>
            </a:ln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8ED11103-EBEC-494F-8ABF-B8184A97C78F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 flipH="1">
              <a:off x="2857500" y="3096102"/>
              <a:ext cx="953" cy="127635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  <a:tailEnd type="triangle" w="sm" len="sm"/>
            </a:ln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83CFD7C-3CDB-4285-84E9-45BBC0C48931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H="1">
              <a:off x="2857500" y="3096102"/>
              <a:ext cx="1334453" cy="0"/>
            </a:xfrm>
            <a:prstGeom prst="straightConnector1">
              <a:avLst/>
            </a:prstGeom>
            <a:ln w="20955">
              <a:solidFill>
                <a:srgbClr val="277DC3"/>
              </a:solidFill>
              <a:prstDash val="solid"/>
            </a:ln>
          </p:spPr>
        </p:cxn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A72B6183-BBD3-4BED-9E4A-0B5A755124EB}"/>
                </a:ext>
              </a:extLst>
            </p:cNvPr>
            <p:cNvCxnSpPr>
              <a:stCxn id="39" idx="2"/>
              <a:endCxn id="2" idx="0"/>
            </p:cNvCxnSpPr>
            <p:nvPr/>
          </p:nvCxnSpPr>
          <p:spPr>
            <a:xfrm>
              <a:off x="5715000" y="1819275"/>
              <a:ext cx="0" cy="657225"/>
            </a:xfrm>
            <a:prstGeom prst="straightConnector1">
              <a:avLst/>
            </a:prstGeom>
            <a:ln w="22860">
              <a:solidFill>
                <a:srgbClr val="AB554B"/>
              </a:solidFill>
              <a:prstDash val="solid"/>
              <a:tailEnd type="triangle" w="sm" len="sm"/>
            </a:ln>
          </p:spPr>
        </p:cxnSp>
        <p:sp>
          <p:nvSpPr>
            <p:cNvPr id="39" name="请求失败">
              <a:extLst>
                <a:ext uri="{FF2B5EF4-FFF2-40B4-BE49-F238E27FC236}">
                  <a16:creationId xmlns:a16="http://schemas.microsoft.com/office/drawing/2014/main" id="{2C805A65-3C8D-4AFB-905D-7D40699C8954}"/>
                </a:ext>
              </a:extLst>
            </p:cNvPr>
            <p:cNvSpPr>
              <a:spLocks/>
            </p:cNvSpPr>
            <p:nvPr/>
          </p:nvSpPr>
          <p:spPr>
            <a:xfrm>
              <a:off x="4191000" y="1181100"/>
              <a:ext cx="3048000" cy="638175"/>
            </a:xfrm>
            <a:prstGeom prst="roundRect">
              <a:avLst>
                <a:gd name="adj" fmla="val 5970"/>
              </a:avLst>
            </a:prstGeom>
            <a:solidFill>
              <a:srgbClr val="FBE7E2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AB554B"/>
                  </a:solidFill>
                </a:defRPr>
              </a:defPPr>
            </a:lstStyle>
            <a:p>
              <a:pPr algn="ctr">
                <a:defRPr sz="2100" b="1">
                  <a:solidFill>
                    <a:srgbClr val="AB554B"/>
                  </a:solidFill>
                </a:defRPr>
              </a:pPr>
              <a:r>
                <a:rPr sz="2100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请求失败</a:t>
              </a:r>
            </a:p>
          </p:txBody>
        </p:sp>
        <p:sp>
          <p:nvSpPr>
            <p:cNvPr id="2" name="错误类型">
              <a:extLst>
                <a:ext uri="{FF2B5EF4-FFF2-40B4-BE49-F238E27FC236}">
                  <a16:creationId xmlns:a16="http://schemas.microsoft.com/office/drawing/2014/main" id="{329BF590-659A-4DEE-A6C3-BB4A46C3D083}"/>
                </a:ext>
              </a:extLst>
            </p:cNvPr>
            <p:cNvSpPr>
              <a:spLocks/>
            </p:cNvSpPr>
            <p:nvPr/>
          </p:nvSpPr>
          <p:spPr>
            <a:xfrm>
              <a:off x="4191000" y="2476500"/>
              <a:ext cx="3048000" cy="1238250"/>
            </a:xfrm>
            <a:prstGeom prst="diamond">
              <a:avLst/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2100" b="1">
                  <a:solidFill>
                    <a:srgbClr val="A67A20"/>
                  </a:solidFill>
                </a:defRPr>
              </a:pPr>
              <a:r>
                <a:rPr sz="2100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错误类型</a:t>
              </a:r>
            </a:p>
          </p:txBody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FDDBB881-F47E-4272-80F7-A2CA24E0813D}"/>
                </a:ext>
              </a:extLst>
            </p:cNvPr>
            <p:cNvSpPr>
              <a:spLocks/>
            </p:cNvSpPr>
            <p:nvPr/>
          </p:nvSpPr>
          <p:spPr>
            <a:xfrm>
              <a:off x="619125" y="4371975"/>
              <a:ext cx="4476750" cy="1266825"/>
            </a:xfrm>
            <a:prstGeom prst="roundRect">
              <a:avLst>
                <a:gd name="adj" fmla="val 3008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5" name="429 / 5xx / 超时">
              <a:extLst>
                <a:ext uri="{FF2B5EF4-FFF2-40B4-BE49-F238E27FC236}">
                  <a16:creationId xmlns:a16="http://schemas.microsoft.com/office/drawing/2014/main" id="{51086C88-59FB-49D1-BD2B-576B5CF06176}"/>
                </a:ext>
              </a:extLst>
            </p:cNvPr>
            <p:cNvSpPr>
              <a:spLocks/>
            </p:cNvSpPr>
            <p:nvPr/>
          </p:nvSpPr>
          <p:spPr>
            <a:xfrm>
              <a:off x="714375" y="4467225"/>
              <a:ext cx="4286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429 / 5xx / 超时</a:t>
              </a:r>
            </a:p>
          </p:txBody>
        </p:sp>
        <p:sp>
          <p:nvSpPr>
            <p:cNvPr id="6" name="退避重试 ≤6 次">
              <a:extLst>
                <a:ext uri="{FF2B5EF4-FFF2-40B4-BE49-F238E27FC236}">
                  <a16:creationId xmlns:a16="http://schemas.microsoft.com/office/drawing/2014/main" id="{C9F9302F-BAB6-424A-A4C9-755472E08389}"/>
                </a:ext>
              </a:extLst>
            </p:cNvPr>
            <p:cNvSpPr>
              <a:spLocks/>
            </p:cNvSpPr>
            <p:nvPr/>
          </p:nvSpPr>
          <p:spPr>
            <a:xfrm>
              <a:off x="733425" y="4895850"/>
              <a:ext cx="4248150" cy="647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退避重试 ≤6 次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9400A192-D0F5-40F0-ACDD-3328025BDF5B}"/>
                </a:ext>
              </a:extLst>
            </p:cNvPr>
            <p:cNvSpPr>
              <a:spLocks/>
            </p:cNvSpPr>
            <p:nvPr/>
          </p:nvSpPr>
          <p:spPr>
            <a:xfrm>
              <a:off x="6334125" y="4371975"/>
              <a:ext cx="4476750" cy="1266825"/>
            </a:xfrm>
            <a:prstGeom prst="roundRect">
              <a:avLst>
                <a:gd name="adj" fmla="val 3008"/>
              </a:avLst>
            </a:prstGeom>
            <a:solidFill>
              <a:srgbClr val="FBE7E2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8" name="4xx（非 429）">
              <a:extLst>
                <a:ext uri="{FF2B5EF4-FFF2-40B4-BE49-F238E27FC236}">
                  <a16:creationId xmlns:a16="http://schemas.microsoft.com/office/drawing/2014/main" id="{5AFD2E49-D41B-453B-9301-5758FEE9AAEA}"/>
                </a:ext>
              </a:extLst>
            </p:cNvPr>
            <p:cNvSpPr>
              <a:spLocks/>
            </p:cNvSpPr>
            <p:nvPr/>
          </p:nvSpPr>
          <p:spPr>
            <a:xfrm>
              <a:off x="6429375" y="4467225"/>
              <a:ext cx="4286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B554B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B554B"/>
                  </a:solidFill>
                </a:defRPr>
              </a:pPr>
              <a:r>
                <a:rPr sz="1875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4xx（非 429）</a:t>
              </a:r>
            </a:p>
          </p:txBody>
        </p:sp>
        <p:sp>
          <p:nvSpPr>
            <p:cNvPr id="9" name="直接死信并告警">
              <a:extLst>
                <a:ext uri="{FF2B5EF4-FFF2-40B4-BE49-F238E27FC236}">
                  <a16:creationId xmlns:a16="http://schemas.microsoft.com/office/drawing/2014/main" id="{3083349F-FA8A-4986-853D-B466C798E996}"/>
                </a:ext>
              </a:extLst>
            </p:cNvPr>
            <p:cNvSpPr>
              <a:spLocks/>
            </p:cNvSpPr>
            <p:nvPr/>
          </p:nvSpPr>
          <p:spPr>
            <a:xfrm>
              <a:off x="6448425" y="4895850"/>
              <a:ext cx="4248150" cy="647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直接死信并告警</a:t>
              </a:r>
            </a:p>
          </p:txBody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D8D6A65F-AC94-462A-8125-EBA84C138D15}"/>
                </a:ext>
              </a:extLst>
            </p:cNvPr>
            <p:cNvSpPr>
              <a:spLocks/>
            </p:cNvSpPr>
            <p:nvPr/>
          </p:nvSpPr>
          <p:spPr>
            <a:xfrm>
              <a:off x="4191000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1E513EEB-E1EF-497E-8373-CE53190F1753}"/>
                </a:ext>
              </a:extLst>
            </p:cNvPr>
            <p:cNvSpPr>
              <a:spLocks/>
            </p:cNvSpPr>
            <p:nvPr/>
          </p:nvSpPr>
          <p:spPr>
            <a:xfrm>
              <a:off x="2857500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785C2157-ADF5-4CE2-8CFA-195C5BEA35C4}"/>
                </a:ext>
              </a:extLst>
            </p:cNvPr>
            <p:cNvSpPr>
              <a:spLocks/>
            </p:cNvSpPr>
            <p:nvPr/>
          </p:nvSpPr>
          <p:spPr>
            <a:xfrm>
              <a:off x="2857500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9A622376-3F62-48ED-9528-55BED4A28664}"/>
                </a:ext>
              </a:extLst>
            </p:cNvPr>
            <p:cNvSpPr>
              <a:spLocks/>
            </p:cNvSpPr>
            <p:nvPr/>
          </p:nvSpPr>
          <p:spPr>
            <a:xfrm>
              <a:off x="2857500" y="43719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6" name="boundary">
              <a:extLst>
                <a:ext uri="{FF2B5EF4-FFF2-40B4-BE49-F238E27FC236}">
                  <a16:creationId xmlns:a16="http://schemas.microsoft.com/office/drawing/2014/main" id="{E004CBAF-F9C8-409E-BB8C-F7BF09BB9F10}"/>
                </a:ext>
              </a:extLst>
            </p:cNvPr>
            <p:cNvSpPr>
              <a:spLocks/>
            </p:cNvSpPr>
            <p:nvPr/>
          </p:nvSpPr>
          <p:spPr>
            <a:xfrm>
              <a:off x="7239000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4F7BC2F0-273F-4169-AEEA-91025E2B7637}"/>
                </a:ext>
              </a:extLst>
            </p:cNvPr>
            <p:cNvSpPr>
              <a:spLocks/>
            </p:cNvSpPr>
            <p:nvPr/>
          </p:nvSpPr>
          <p:spPr>
            <a:xfrm>
              <a:off x="8572500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7BF4E5BB-397F-48C2-9BCF-F6AEBA754674}"/>
                </a:ext>
              </a:extLst>
            </p:cNvPr>
            <p:cNvSpPr>
              <a:spLocks/>
            </p:cNvSpPr>
            <p:nvPr/>
          </p:nvSpPr>
          <p:spPr>
            <a:xfrm>
              <a:off x="8572500" y="30956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C678EA28-FCBD-46AA-88DD-A753D84AD4C9}"/>
                </a:ext>
              </a:extLst>
            </p:cNvPr>
            <p:cNvSpPr>
              <a:spLocks/>
            </p:cNvSpPr>
            <p:nvPr/>
          </p:nvSpPr>
          <p:spPr>
            <a:xfrm>
              <a:off x="8572500" y="437197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2" name="DLQ / 每 15 min 重放">
              <a:extLst>
                <a:ext uri="{FF2B5EF4-FFF2-40B4-BE49-F238E27FC236}">
                  <a16:creationId xmlns:a16="http://schemas.microsoft.com/office/drawing/2014/main" id="{EF69F715-5559-43EE-9BC3-50E9D9100D57}"/>
                </a:ext>
              </a:extLst>
            </p:cNvPr>
            <p:cNvSpPr>
              <a:spLocks/>
            </p:cNvSpPr>
            <p:nvPr/>
          </p:nvSpPr>
          <p:spPr>
            <a:xfrm>
              <a:off x="3381375" y="6343650"/>
              <a:ext cx="4667250" cy="609600"/>
            </a:xfrm>
            <a:prstGeom prst="can">
              <a:avLst/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875" b="1">
                  <a:solidFill>
                    <a:srgbClr val="A67A20"/>
                  </a:solidFill>
                </a:defRPr>
              </a:pPr>
              <a:r>
                <a:rPr sz="18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DLQ / 每 15 min 重放</a:t>
              </a:r>
            </a:p>
          </p:txBody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845DC52E-4997-4978-A48B-2E5C28BA28AA}"/>
                </a:ext>
              </a:extLst>
            </p:cNvPr>
            <p:cNvSpPr>
              <a:spLocks/>
            </p:cNvSpPr>
            <p:nvPr/>
          </p:nvSpPr>
          <p:spPr>
            <a:xfrm>
              <a:off x="2857500" y="56388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A78CF126-F9AD-407A-A49E-C31ABC83CD7A}"/>
                </a:ext>
              </a:extLst>
            </p:cNvPr>
            <p:cNvSpPr>
              <a:spLocks/>
            </p:cNvSpPr>
            <p:nvPr/>
          </p:nvSpPr>
          <p:spPr>
            <a:xfrm>
              <a:off x="2857500" y="5943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8DE754A4-047C-4D2B-B2FD-B9B961E949DF}"/>
                </a:ext>
              </a:extLst>
            </p:cNvPr>
            <p:cNvSpPr>
              <a:spLocks/>
            </p:cNvSpPr>
            <p:nvPr/>
          </p:nvSpPr>
          <p:spPr>
            <a:xfrm>
              <a:off x="2857500" y="5943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boundary">
              <a:extLst>
                <a:ext uri="{FF2B5EF4-FFF2-40B4-BE49-F238E27FC236}">
                  <a16:creationId xmlns:a16="http://schemas.microsoft.com/office/drawing/2014/main" id="{080D0274-21CF-4DFF-BA23-7321F61315DB}"/>
                </a:ext>
              </a:extLst>
            </p:cNvPr>
            <p:cNvSpPr>
              <a:spLocks/>
            </p:cNvSpPr>
            <p:nvPr/>
          </p:nvSpPr>
          <p:spPr>
            <a:xfrm>
              <a:off x="5715000" y="5943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3C7BE64A-D66D-4339-9060-DD3E126D98FC}"/>
                </a:ext>
              </a:extLst>
            </p:cNvPr>
            <p:cNvSpPr>
              <a:spLocks/>
            </p:cNvSpPr>
            <p:nvPr/>
          </p:nvSpPr>
          <p:spPr>
            <a:xfrm>
              <a:off x="5715000" y="5943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0" name="boundary">
              <a:extLst>
                <a:ext uri="{FF2B5EF4-FFF2-40B4-BE49-F238E27FC236}">
                  <a16:creationId xmlns:a16="http://schemas.microsoft.com/office/drawing/2014/main" id="{5B0F065E-6581-4D6A-ADA4-B7CF2A08A6CD}"/>
                </a:ext>
              </a:extLst>
            </p:cNvPr>
            <p:cNvSpPr>
              <a:spLocks/>
            </p:cNvSpPr>
            <p:nvPr/>
          </p:nvSpPr>
          <p:spPr>
            <a:xfrm>
              <a:off x="5715000" y="63436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boundary">
              <a:extLst>
                <a:ext uri="{FF2B5EF4-FFF2-40B4-BE49-F238E27FC236}">
                  <a16:creationId xmlns:a16="http://schemas.microsoft.com/office/drawing/2014/main" id="{947121AA-92B3-4C32-A221-7C402C37F2E8}"/>
                </a:ext>
              </a:extLst>
            </p:cNvPr>
            <p:cNvSpPr>
              <a:spLocks/>
            </p:cNvSpPr>
            <p:nvPr/>
          </p:nvSpPr>
          <p:spPr>
            <a:xfrm>
              <a:off x="8572500" y="56388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3" name="boundary">
              <a:extLst>
                <a:ext uri="{FF2B5EF4-FFF2-40B4-BE49-F238E27FC236}">
                  <a16:creationId xmlns:a16="http://schemas.microsoft.com/office/drawing/2014/main" id="{244E3B99-31D5-4359-812A-7688C01D0A7C}"/>
                </a:ext>
              </a:extLst>
            </p:cNvPr>
            <p:cNvSpPr>
              <a:spLocks/>
            </p:cNvSpPr>
            <p:nvPr/>
          </p:nvSpPr>
          <p:spPr>
            <a:xfrm>
              <a:off x="8572500" y="5943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boundary">
              <a:extLst>
                <a:ext uri="{FF2B5EF4-FFF2-40B4-BE49-F238E27FC236}">
                  <a16:creationId xmlns:a16="http://schemas.microsoft.com/office/drawing/2014/main" id="{9E2D81CC-DF1E-41A3-A5C7-870947599E5F}"/>
                </a:ext>
              </a:extLst>
            </p:cNvPr>
            <p:cNvSpPr>
              <a:spLocks/>
            </p:cNvSpPr>
            <p:nvPr/>
          </p:nvSpPr>
          <p:spPr>
            <a:xfrm>
              <a:off x="8572500" y="5943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6" name="boundary">
              <a:extLst>
                <a:ext uri="{FF2B5EF4-FFF2-40B4-BE49-F238E27FC236}">
                  <a16:creationId xmlns:a16="http://schemas.microsoft.com/office/drawing/2014/main" id="{84A5BC70-B2E3-4A27-A9F4-956027419F23}"/>
                </a:ext>
              </a:extLst>
            </p:cNvPr>
            <p:cNvSpPr>
              <a:spLocks/>
            </p:cNvSpPr>
            <p:nvPr/>
          </p:nvSpPr>
          <p:spPr>
            <a:xfrm>
              <a:off x="5715000" y="5943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Retry-After 优先；否则 1 s 起 ×2，上限 5 min，±20% 抖动；连续 3 周期失败后降级">
              <a:extLst>
                <a:ext uri="{FF2B5EF4-FFF2-40B4-BE49-F238E27FC236}">
                  <a16:creationId xmlns:a16="http://schemas.microsoft.com/office/drawing/2014/main" id="{8ED38ACD-9FBD-4C74-A16E-C56283DB9A2D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Retry-After 优先；否则 1 s 起 ×2，上限 5 min，±20% 抖动；连续 3 周期失败后降级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7299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F-26 - whole figure">
            <a:extLst>
              <a:ext uri="{FF2B5EF4-FFF2-40B4-BE49-F238E27FC236}">
                <a16:creationId xmlns:a16="http://schemas.microsoft.com/office/drawing/2014/main" id="{1DA7B7C9-B8EB-4D2D-2F17-1DB9ABA55C8F}"/>
              </a:ext>
            </a:extLst>
          </p:cNvPr>
          <p:cNvGrpSpPr/>
          <p:nvPr/>
        </p:nvGrpSpPr>
        <p:grpSpPr>
          <a:xfrm>
            <a:off x="428625" y="1409700"/>
            <a:ext cx="10572750" cy="6553200"/>
            <a:chOff x="428625" y="1409700"/>
            <a:chExt cx="10572750" cy="6553200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2BF4ECE-2DE6-40AF-BF95-611CBB40337C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7097078" y="3886677"/>
              <a:ext cx="351472" cy="0"/>
            </a:xfrm>
            <a:prstGeom prst="straightConnector1">
              <a:avLst/>
            </a:prstGeom>
            <a:ln w="19050">
              <a:solidFill>
                <a:srgbClr val="AB554B"/>
              </a:solidFill>
              <a:prstDash val="dash"/>
            </a:ln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91BF05F-E7E3-434E-AFE4-6A5BE38A4D8C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 flipH="1">
              <a:off x="3810000" y="3886677"/>
              <a:ext cx="524828" cy="0"/>
            </a:xfrm>
            <a:prstGeom prst="straightConnector1">
              <a:avLst/>
            </a:prstGeom>
            <a:ln w="19050">
              <a:solidFill>
                <a:srgbClr val="547D45"/>
              </a:solidFill>
              <a:prstDash val="solid"/>
              <a:tailEnd type="triangle" w="sm" len="sm"/>
            </a:ln>
          </p:spPr>
        </p:cxn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C34FEF6F-39B0-4156-8D17-73FFDBE5DFF5}"/>
                </a:ext>
              </a:extLst>
            </p:cNvPr>
            <p:cNvSpPr>
              <a:spLocks/>
            </p:cNvSpPr>
            <p:nvPr/>
          </p:nvSpPr>
          <p:spPr>
            <a:xfrm>
              <a:off x="476250" y="1409700"/>
              <a:ext cx="3333750" cy="5133975"/>
            </a:xfrm>
            <a:prstGeom prst="roundRect">
              <a:avLst>
                <a:gd name="adj" fmla="val 5143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2" name="允许提供">
              <a:extLst>
                <a:ext uri="{FF2B5EF4-FFF2-40B4-BE49-F238E27FC236}">
                  <a16:creationId xmlns:a16="http://schemas.microsoft.com/office/drawing/2014/main" id="{22438EAF-D37E-483E-A629-6D1A34F91A12}"/>
                </a:ext>
              </a:extLst>
            </p:cNvPr>
            <p:cNvSpPr>
              <a:spLocks/>
            </p:cNvSpPr>
            <p:nvPr/>
          </p:nvSpPr>
          <p:spPr>
            <a:xfrm>
              <a:off x="647700" y="1504950"/>
              <a:ext cx="299085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547D45"/>
                  </a:solidFill>
                </a:defRPr>
              </a:defPPr>
            </a:lstStyle>
            <a:p>
              <a:pPr algn="l">
                <a:defRPr sz="1800" b="1">
                  <a:solidFill>
                    <a:srgbClr val="547D45"/>
                  </a:solidFill>
                </a:defRPr>
              </a:pPr>
              <a:r>
                <a:rPr sz="180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允许提供</a:t>
              </a:r>
            </a:p>
          </p:txBody>
        </p:sp>
        <p:sp>
          <p:nvSpPr>
            <p:cNvPr id="3" name="boundary">
              <a:extLst>
                <a:ext uri="{FF2B5EF4-FFF2-40B4-BE49-F238E27FC236}">
                  <a16:creationId xmlns:a16="http://schemas.microsoft.com/office/drawing/2014/main" id="{736BD5C0-A77A-43B3-97C5-F2A5003C2838}"/>
                </a:ext>
              </a:extLst>
            </p:cNvPr>
            <p:cNvSpPr>
              <a:spLocks/>
            </p:cNvSpPr>
            <p:nvPr/>
          </p:nvSpPr>
          <p:spPr>
            <a:xfrm>
              <a:off x="7620000" y="1409700"/>
              <a:ext cx="3333750" cy="5133975"/>
            </a:xfrm>
            <a:prstGeom prst="roundRect">
              <a:avLst>
                <a:gd name="adj" fmla="val 5143"/>
              </a:avLst>
            </a:prstGeom>
            <a:solidFill>
              <a:srgbClr val="FBE7E2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4" name="禁止提供">
              <a:extLst>
                <a:ext uri="{FF2B5EF4-FFF2-40B4-BE49-F238E27FC236}">
                  <a16:creationId xmlns:a16="http://schemas.microsoft.com/office/drawing/2014/main" id="{95A74293-C9B5-45D6-8485-25092E6FABF3}"/>
                </a:ext>
              </a:extLst>
            </p:cNvPr>
            <p:cNvSpPr>
              <a:spLocks/>
            </p:cNvSpPr>
            <p:nvPr/>
          </p:nvSpPr>
          <p:spPr>
            <a:xfrm>
              <a:off x="7791450" y="1504950"/>
              <a:ext cx="299085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AB554B"/>
                  </a:solidFill>
                </a:defRPr>
              </a:defPPr>
            </a:lstStyle>
            <a:p>
              <a:pPr algn="l">
                <a:defRPr sz="1800" b="1">
                  <a:solidFill>
                    <a:srgbClr val="AB554B"/>
                  </a:solidFill>
                </a:defRPr>
              </a:pPr>
              <a:r>
                <a:rPr sz="1800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禁止提供</a:t>
              </a:r>
            </a:p>
          </p:txBody>
        </p:sp>
        <p:sp>
          <p:nvSpPr>
            <p:cNvPr id="5" name="1">
              <a:extLst>
                <a:ext uri="{FF2B5EF4-FFF2-40B4-BE49-F238E27FC236}">
                  <a16:creationId xmlns:a16="http://schemas.microsoft.com/office/drawing/2014/main" id="{B89628AB-7703-4FA7-A93A-133937E39C49}"/>
                </a:ext>
              </a:extLst>
            </p:cNvPr>
            <p:cNvSpPr>
              <a:spLocks/>
            </p:cNvSpPr>
            <p:nvPr/>
          </p:nvSpPr>
          <p:spPr>
            <a:xfrm>
              <a:off x="752475" y="2381250"/>
              <a:ext cx="419100" cy="419100"/>
            </a:xfrm>
            <a:prstGeom prst="ellipse">
              <a:avLst/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6" name="聚合计数与分布">
              <a:extLst>
                <a:ext uri="{FF2B5EF4-FFF2-40B4-BE49-F238E27FC236}">
                  <a16:creationId xmlns:a16="http://schemas.microsoft.com/office/drawing/2014/main" id="{6AE9B288-D58D-4F56-A352-4323AE09DD38}"/>
                </a:ext>
              </a:extLst>
            </p:cNvPr>
            <p:cNvSpPr>
              <a:spLocks/>
            </p:cNvSpPr>
            <p:nvPr/>
          </p:nvSpPr>
          <p:spPr>
            <a:xfrm>
              <a:off x="1352550" y="2324100"/>
              <a:ext cx="2238375" cy="638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l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聚合计数与分布</a:t>
              </a:r>
            </a:p>
          </p:txBody>
        </p:sp>
        <p:sp>
          <p:nvSpPr>
            <p:cNvPr id="7" name="2">
              <a:extLst>
                <a:ext uri="{FF2B5EF4-FFF2-40B4-BE49-F238E27FC236}">
                  <a16:creationId xmlns:a16="http://schemas.microsoft.com/office/drawing/2014/main" id="{336586B1-37D4-4A20-9D36-4B08706F4474}"/>
                </a:ext>
              </a:extLst>
            </p:cNvPr>
            <p:cNvSpPr>
              <a:spLocks/>
            </p:cNvSpPr>
            <p:nvPr/>
          </p:nvSpPr>
          <p:spPr>
            <a:xfrm>
              <a:off x="752475" y="3657600"/>
              <a:ext cx="419100" cy="419100"/>
            </a:xfrm>
            <a:prstGeom prst="ellipse">
              <a:avLst/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8" name="PoC 链接与标题">
              <a:extLst>
                <a:ext uri="{FF2B5EF4-FFF2-40B4-BE49-F238E27FC236}">
                  <a16:creationId xmlns:a16="http://schemas.microsoft.com/office/drawing/2014/main" id="{E281EDC9-D893-4FEC-AE2B-7BDFA8217658}"/>
                </a:ext>
              </a:extLst>
            </p:cNvPr>
            <p:cNvSpPr>
              <a:spLocks/>
            </p:cNvSpPr>
            <p:nvPr/>
          </p:nvSpPr>
          <p:spPr>
            <a:xfrm>
              <a:off x="1352550" y="3600450"/>
              <a:ext cx="2238375" cy="638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l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PoC 链接与标题</a:t>
              </a:r>
            </a:p>
          </p:txBody>
        </p:sp>
        <p:sp>
          <p:nvSpPr>
            <p:cNvPr id="9" name="3">
              <a:extLst>
                <a:ext uri="{FF2B5EF4-FFF2-40B4-BE49-F238E27FC236}">
                  <a16:creationId xmlns:a16="http://schemas.microsoft.com/office/drawing/2014/main" id="{FEA8A9D2-5857-4A80-95DF-0A66B5C5801D}"/>
                </a:ext>
              </a:extLst>
            </p:cNvPr>
            <p:cNvSpPr>
              <a:spLocks/>
            </p:cNvSpPr>
            <p:nvPr/>
          </p:nvSpPr>
          <p:spPr>
            <a:xfrm>
              <a:off x="752475" y="4933950"/>
              <a:ext cx="419100" cy="419100"/>
            </a:xfrm>
            <a:prstGeom prst="ellipse">
              <a:avLst/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10" name="修复版本与缓解">
              <a:extLst>
                <a:ext uri="{FF2B5EF4-FFF2-40B4-BE49-F238E27FC236}">
                  <a16:creationId xmlns:a16="http://schemas.microsoft.com/office/drawing/2014/main" id="{026B38D8-25D5-4EE1-AE5E-0A4EF51B8A04}"/>
                </a:ext>
              </a:extLst>
            </p:cNvPr>
            <p:cNvSpPr>
              <a:spLocks/>
            </p:cNvSpPr>
            <p:nvPr/>
          </p:nvSpPr>
          <p:spPr>
            <a:xfrm>
              <a:off x="1352550" y="4876800"/>
              <a:ext cx="2238375" cy="638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75" b="1">
                  <a:solidFill>
                    <a:srgbClr val="547D45"/>
                  </a:solidFill>
                </a:defRPr>
              </a:defPPr>
            </a:lstStyle>
            <a:p>
              <a:pPr algn="l">
                <a:defRPr sz="1875" b="1">
                  <a:solidFill>
                    <a:srgbClr val="547D45"/>
                  </a:solidFill>
                </a:defRPr>
              </a:pPr>
              <a:r>
                <a:rPr sz="187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修复版本与缓解</a:t>
              </a:r>
            </a:p>
          </p:txBody>
        </p:sp>
        <p:sp>
          <p:nvSpPr>
            <p:cNvPr id="11" name="×">
              <a:extLst>
                <a:ext uri="{FF2B5EF4-FFF2-40B4-BE49-F238E27FC236}">
                  <a16:creationId xmlns:a16="http://schemas.microsoft.com/office/drawing/2014/main" id="{6AC7AADB-EEEC-4F96-ACF5-3EF711DA6CB3}"/>
                </a:ext>
              </a:extLst>
            </p:cNvPr>
            <p:cNvSpPr>
              <a:spLocks/>
            </p:cNvSpPr>
            <p:nvPr/>
          </p:nvSpPr>
          <p:spPr>
            <a:xfrm>
              <a:off x="7877175" y="2381250"/>
              <a:ext cx="419100" cy="419100"/>
            </a:xfrm>
            <a:prstGeom prst="ellipse">
              <a:avLst/>
            </a:prstGeom>
            <a:solidFill>
              <a:srgbClr val="AB554B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2100" b="1">
                  <a:solidFill>
                    <a:srgbClr val="FFFFFF"/>
                  </a:solidFill>
                </a:defRPr>
              </a:pPr>
              <a:r>
                <a:rPr sz="21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</a:p>
          </p:txBody>
        </p:sp>
        <p:sp>
          <p:nvSpPr>
            <p:cNvPr id="12" name="IP / 主机明细">
              <a:extLst>
                <a:ext uri="{FF2B5EF4-FFF2-40B4-BE49-F238E27FC236}">
                  <a16:creationId xmlns:a16="http://schemas.microsoft.com/office/drawing/2014/main" id="{AA51AA31-8147-4F88-A9DE-84AAB3806E52}"/>
                </a:ext>
              </a:extLst>
            </p:cNvPr>
            <p:cNvSpPr>
              <a:spLocks/>
            </p:cNvSpPr>
            <p:nvPr/>
          </p:nvSpPr>
          <p:spPr>
            <a:xfrm>
              <a:off x="8410575" y="2324100"/>
              <a:ext cx="2343150" cy="638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75" b="1">
                  <a:solidFill>
                    <a:srgbClr val="AB554B"/>
                  </a:solidFill>
                </a:defRPr>
              </a:defPPr>
            </a:lstStyle>
            <a:p>
              <a:pPr algn="l">
                <a:defRPr sz="1875" b="1">
                  <a:solidFill>
                    <a:srgbClr val="AB554B"/>
                  </a:solidFill>
                </a:defRPr>
              </a:pPr>
              <a:r>
                <a:rPr sz="1875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IP / 主机明细</a:t>
              </a:r>
            </a:p>
          </p:txBody>
        </p:sp>
        <p:sp>
          <p:nvSpPr>
            <p:cNvPr id="13" name="×">
              <a:extLst>
                <a:ext uri="{FF2B5EF4-FFF2-40B4-BE49-F238E27FC236}">
                  <a16:creationId xmlns:a16="http://schemas.microsoft.com/office/drawing/2014/main" id="{D567B800-DCFB-4345-9E83-F491C259191A}"/>
                </a:ext>
              </a:extLst>
            </p:cNvPr>
            <p:cNvSpPr>
              <a:spLocks/>
            </p:cNvSpPr>
            <p:nvPr/>
          </p:nvSpPr>
          <p:spPr>
            <a:xfrm>
              <a:off x="7877175" y="3657600"/>
              <a:ext cx="419100" cy="419100"/>
            </a:xfrm>
            <a:prstGeom prst="ellipse">
              <a:avLst/>
            </a:prstGeom>
            <a:solidFill>
              <a:srgbClr val="AB554B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2100" b="1">
                  <a:solidFill>
                    <a:srgbClr val="FFFFFF"/>
                  </a:solidFill>
                </a:defRPr>
              </a:pPr>
              <a:r>
                <a:rPr sz="21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</a:p>
          </p:txBody>
        </p:sp>
        <p:sp>
          <p:nvSpPr>
            <p:cNvPr id="14" name="利用代码">
              <a:extLst>
                <a:ext uri="{FF2B5EF4-FFF2-40B4-BE49-F238E27FC236}">
                  <a16:creationId xmlns:a16="http://schemas.microsoft.com/office/drawing/2014/main" id="{18C1DBA9-49E3-4122-A979-DDFBA5B09762}"/>
                </a:ext>
              </a:extLst>
            </p:cNvPr>
            <p:cNvSpPr>
              <a:spLocks/>
            </p:cNvSpPr>
            <p:nvPr/>
          </p:nvSpPr>
          <p:spPr>
            <a:xfrm>
              <a:off x="8410575" y="3600450"/>
              <a:ext cx="2343150" cy="638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75" b="1">
                  <a:solidFill>
                    <a:srgbClr val="AB554B"/>
                  </a:solidFill>
                </a:defRPr>
              </a:defPPr>
            </a:lstStyle>
            <a:p>
              <a:pPr algn="l">
                <a:defRPr sz="1875" b="1">
                  <a:solidFill>
                    <a:srgbClr val="AB554B"/>
                  </a:solidFill>
                </a:defRPr>
              </a:pPr>
              <a:r>
                <a:rPr sz="1875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利用代码</a:t>
              </a:r>
            </a:p>
          </p:txBody>
        </p:sp>
        <p:sp>
          <p:nvSpPr>
            <p:cNvPr id="15" name="×">
              <a:extLst>
                <a:ext uri="{FF2B5EF4-FFF2-40B4-BE49-F238E27FC236}">
                  <a16:creationId xmlns:a16="http://schemas.microsoft.com/office/drawing/2014/main" id="{23A92C3D-2354-407E-87B2-53BFC18633C8}"/>
                </a:ext>
              </a:extLst>
            </p:cNvPr>
            <p:cNvSpPr>
              <a:spLocks/>
            </p:cNvSpPr>
            <p:nvPr/>
          </p:nvSpPr>
          <p:spPr>
            <a:xfrm>
              <a:off x="7877175" y="4933950"/>
              <a:ext cx="419100" cy="419100"/>
            </a:xfrm>
            <a:prstGeom prst="ellipse">
              <a:avLst/>
            </a:prstGeom>
            <a:solidFill>
              <a:srgbClr val="AB554B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00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2100" b="1">
                  <a:solidFill>
                    <a:srgbClr val="FFFFFF"/>
                  </a:solidFill>
                </a:defRPr>
              </a:pPr>
              <a:r>
                <a:rPr sz="21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</a:p>
          </p:txBody>
        </p:sp>
        <p:sp>
          <p:nvSpPr>
            <p:cNvPr id="16" name="执行能力 / 主动扫描">
              <a:extLst>
                <a:ext uri="{FF2B5EF4-FFF2-40B4-BE49-F238E27FC236}">
                  <a16:creationId xmlns:a16="http://schemas.microsoft.com/office/drawing/2014/main" id="{3394562A-E86D-45B3-9077-19720F424FEA}"/>
                </a:ext>
              </a:extLst>
            </p:cNvPr>
            <p:cNvSpPr>
              <a:spLocks/>
            </p:cNvSpPr>
            <p:nvPr/>
          </p:nvSpPr>
          <p:spPr>
            <a:xfrm>
              <a:off x="8410575" y="4876800"/>
              <a:ext cx="2343150" cy="638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75" b="1">
                  <a:solidFill>
                    <a:srgbClr val="AB554B"/>
                  </a:solidFill>
                </a:defRPr>
              </a:defPPr>
            </a:lstStyle>
            <a:p>
              <a:pPr algn="l">
                <a:defRPr sz="1875" b="1">
                  <a:solidFill>
                    <a:srgbClr val="AB554B"/>
                  </a:solidFill>
                </a:defRPr>
              </a:pPr>
              <a:r>
                <a:rPr sz="1875" b="1">
                  <a:solidFill>
                    <a:srgbClr val="AB554B"/>
                  </a:solidFill>
                  <a:latin typeface="Microsoft YaHei"/>
                  <a:ea typeface="Microsoft YaHei"/>
                  <a:cs typeface="Microsoft YaHei"/>
                </a:rPr>
                <a:t>执行能力 / 主动扫描</a:t>
              </a:r>
            </a:p>
          </p:txBody>
        </p:sp>
        <p:sp>
          <p:nvSpPr>
            <p:cNvPr id="17" name="boundary">
              <a:extLst>
                <a:ext uri="{FF2B5EF4-FFF2-40B4-BE49-F238E27FC236}">
                  <a16:creationId xmlns:a16="http://schemas.microsoft.com/office/drawing/2014/main" id="{594BF6BD-2AA4-4E03-9E03-6C8E0D0B9B9B}"/>
                </a:ext>
              </a:extLst>
            </p:cNvPr>
            <p:cNvSpPr>
              <a:spLocks/>
            </p:cNvSpPr>
            <p:nvPr/>
          </p:nvSpPr>
          <p:spPr>
            <a:xfrm>
              <a:off x="4333875" y="2886075"/>
              <a:ext cx="2762250" cy="2000250"/>
            </a:xfrm>
            <a:prstGeom prst="roundRect">
              <a:avLst>
                <a:gd name="adj" fmla="val 1905"/>
              </a:avLst>
            </a:prstGeom>
            <a:solidFill>
              <a:srgbClr val="277DC3"/>
            </a:solidFill>
            <a:ln w="13335">
              <a:solidFill>
                <a:srgbClr val="A6C4DB"/>
              </a:solidFill>
              <a:prstDash val="solid"/>
            </a:ln>
          </p:spPr>
        </p:sp>
        <p:sp>
          <p:nvSpPr>
            <p:cNvPr id="18" name="只读服务层">
              <a:extLst>
                <a:ext uri="{FF2B5EF4-FFF2-40B4-BE49-F238E27FC236}">
                  <a16:creationId xmlns:a16="http://schemas.microsoft.com/office/drawing/2014/main" id="{0EAA6AEF-EDA6-4EF6-A7A7-1F807A582F04}"/>
                </a:ext>
              </a:extLst>
            </p:cNvPr>
            <p:cNvSpPr>
              <a:spLocks/>
            </p:cNvSpPr>
            <p:nvPr/>
          </p:nvSpPr>
          <p:spPr>
            <a:xfrm>
              <a:off x="4429125" y="2981325"/>
              <a:ext cx="25717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2175" b="1">
                  <a:solidFill>
                    <a:srgbClr val="FFFFFF"/>
                  </a:solidFill>
                </a:defRPr>
              </a:pPr>
              <a:r>
                <a:rPr sz="21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只读服务层</a:t>
              </a:r>
            </a:p>
          </p:txBody>
        </p:sp>
        <p:sp>
          <p:nvSpPr>
            <p:cNvPr id="19" name="Critic 输出过滤">
              <a:extLst>
                <a:ext uri="{FF2B5EF4-FFF2-40B4-BE49-F238E27FC236}">
                  <a16:creationId xmlns:a16="http://schemas.microsoft.com/office/drawing/2014/main" id="{6F15A4A8-DB28-43A4-8E83-27F0B7271118}"/>
                </a:ext>
              </a:extLst>
            </p:cNvPr>
            <p:cNvSpPr>
              <a:spLocks/>
            </p:cNvSpPr>
            <p:nvPr/>
          </p:nvSpPr>
          <p:spPr>
            <a:xfrm>
              <a:off x="4448175" y="3409950"/>
              <a:ext cx="2533650" cy="1381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0">
                  <a:solidFill>
                    <a:srgbClr val="FFFFFF"/>
                  </a:solidFill>
                </a:defRPr>
              </a:pPr>
              <a:r>
                <a:rPr sz="1725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Critic</a:t>
              </a:r>
            </a:p>
            <a:p>
              <a:pPr algn="ctr">
                <a:defRPr sz="1725" b="0">
                  <a:solidFill>
                    <a:srgbClr val="FFFFFF"/>
                  </a:solidFill>
                </a:defRPr>
              </a:pPr>
              <a:r>
                <a:rPr sz="1725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输出过滤</a:t>
              </a:r>
            </a:p>
          </p:txBody>
        </p:sp>
        <p:sp>
          <p:nvSpPr>
            <p:cNvPr id="20" name="boundary">
              <a:extLst>
                <a:ext uri="{FF2B5EF4-FFF2-40B4-BE49-F238E27FC236}">
                  <a16:creationId xmlns:a16="http://schemas.microsoft.com/office/drawing/2014/main" id="{5C82C24D-03C7-42A6-AC46-F7B4C3E555E3}"/>
                </a:ext>
              </a:extLst>
            </p:cNvPr>
            <p:cNvSpPr>
              <a:spLocks/>
            </p:cNvSpPr>
            <p:nvPr/>
          </p:nvSpPr>
          <p:spPr>
            <a:xfrm>
              <a:off x="4333875" y="38862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boundary">
              <a:extLst>
                <a:ext uri="{FF2B5EF4-FFF2-40B4-BE49-F238E27FC236}">
                  <a16:creationId xmlns:a16="http://schemas.microsoft.com/office/drawing/2014/main" id="{92321825-EFE6-4E8C-B430-B319A69237E4}"/>
                </a:ext>
              </a:extLst>
            </p:cNvPr>
            <p:cNvSpPr>
              <a:spLocks/>
            </p:cNvSpPr>
            <p:nvPr/>
          </p:nvSpPr>
          <p:spPr>
            <a:xfrm>
              <a:off x="3810000" y="38862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172B01EF-BD93-4433-B641-71CDC88E89A6}"/>
                </a:ext>
              </a:extLst>
            </p:cNvPr>
            <p:cNvSpPr>
              <a:spLocks/>
            </p:cNvSpPr>
            <p:nvPr/>
          </p:nvSpPr>
          <p:spPr>
            <a:xfrm>
              <a:off x="7096125" y="38862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9D5FAF35-4916-4F2F-8BE2-1F112325FC9A}"/>
                </a:ext>
              </a:extLst>
            </p:cNvPr>
            <p:cNvSpPr>
              <a:spLocks/>
            </p:cNvSpPr>
            <p:nvPr/>
          </p:nvSpPr>
          <p:spPr>
            <a:xfrm>
              <a:off x="7448550" y="38862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6" name="boundary">
              <a:extLst>
                <a:ext uri="{FF2B5EF4-FFF2-40B4-BE49-F238E27FC236}">
                  <a16:creationId xmlns:a16="http://schemas.microsoft.com/office/drawing/2014/main" id="{76C3FB7D-FA03-45A4-AEAB-52BA60B5D8B3}"/>
                </a:ext>
              </a:extLst>
            </p:cNvPr>
            <p:cNvSpPr>
              <a:spLocks/>
            </p:cNvSpPr>
            <p:nvPr/>
          </p:nvSpPr>
          <p:spPr>
            <a:xfrm>
              <a:off x="7410450" y="3619500"/>
              <a:ext cx="47625" cy="533400"/>
            </a:xfrm>
            <a:prstGeom prst="rect">
              <a:avLst/>
            </a:prstGeom>
            <a:solidFill>
              <a:srgbClr val="AB554B"/>
            </a:solidFill>
            <a:ln w="0">
              <a:noFill/>
              <a:prstDash val="solid"/>
            </a:ln>
          </p:spPr>
        </p:sp>
        <p:sp>
          <p:nvSpPr>
            <p:cNvPr id="27" name="多层边界执行">
              <a:extLst>
                <a:ext uri="{FF2B5EF4-FFF2-40B4-BE49-F238E27FC236}">
                  <a16:creationId xmlns:a16="http://schemas.microsoft.com/office/drawing/2014/main" id="{C2E27C06-0A41-4C6E-ABB5-2BB6F6729BC3}"/>
                </a:ext>
              </a:extLst>
            </p:cNvPr>
            <p:cNvSpPr>
              <a:spLocks/>
            </p:cNvSpPr>
            <p:nvPr/>
          </p:nvSpPr>
          <p:spPr>
            <a:xfrm>
              <a:off x="3905250" y="5857875"/>
              <a:ext cx="36195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277DC3"/>
                  </a:solidFill>
                </a:defRPr>
              </a:defPPr>
            </a:lstStyle>
            <a:p>
              <a:pPr algn="ctr">
                <a:defRPr sz="1875" b="1">
                  <a:solidFill>
                    <a:srgbClr val="277DC3"/>
                  </a:solidFill>
                </a:defRPr>
              </a:pPr>
              <a:r>
                <a:rPr sz="187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多层边界执行</a:t>
              </a:r>
            </a:p>
          </p:txBody>
        </p:sp>
        <p:sp>
          <p:nvSpPr>
            <p:cNvPr id="28" name="合规限制在采集、存储、服务与校验多个边界执行">
              <a:extLst>
                <a:ext uri="{FF2B5EF4-FFF2-40B4-BE49-F238E27FC236}">
                  <a16:creationId xmlns:a16="http://schemas.microsoft.com/office/drawing/2014/main" id="{094505F2-8B91-4383-8B01-4733F4906DB5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合规限制在采集、存储、服务与校验多个边界执行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6262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F-27 - whole figure">
            <a:extLst>
              <a:ext uri="{FF2B5EF4-FFF2-40B4-BE49-F238E27FC236}">
                <a16:creationId xmlns:a16="http://schemas.microsoft.com/office/drawing/2014/main" id="{5E8A5C01-BFF9-9368-435C-A0E910BF66DB}"/>
              </a:ext>
            </a:extLst>
          </p:cNvPr>
          <p:cNvGrpSpPr/>
          <p:nvPr/>
        </p:nvGrpSpPr>
        <p:grpSpPr>
          <a:xfrm>
            <a:off x="314325" y="1714500"/>
            <a:ext cx="10801350" cy="6248400"/>
            <a:chOff x="314325" y="1714500"/>
            <a:chExt cx="10801350" cy="6248400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FABD915D-4C15-4737-A9C5-611CED6A9D07}"/>
                </a:ext>
              </a:extLst>
            </p:cNvPr>
            <p:cNvCxnSpPr>
              <a:stCxn id="23" idx="3"/>
              <a:endCxn id="2" idx="1"/>
            </p:cNvCxnSpPr>
            <p:nvPr/>
          </p:nvCxnSpPr>
          <p:spPr>
            <a:xfrm>
              <a:off x="1382078" y="2572227"/>
              <a:ext cx="8666797" cy="0"/>
            </a:xfrm>
            <a:prstGeom prst="straightConnector1">
              <a:avLst/>
            </a:prstGeom>
            <a:ln w="38100">
              <a:solidFill>
                <a:srgbClr val="277DC3"/>
              </a:solidFill>
              <a:prstDash val="solid"/>
            </a:ln>
          </p:spPr>
        </p:cxn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AB20361B-DA94-4B61-890E-6D942C171365}"/>
                </a:ext>
              </a:extLst>
            </p:cNvPr>
            <p:cNvSpPr>
              <a:spLocks/>
            </p:cNvSpPr>
            <p:nvPr/>
          </p:nvSpPr>
          <p:spPr>
            <a:xfrm>
              <a:off x="1381125" y="2571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" name="boundary">
              <a:extLst>
                <a:ext uri="{FF2B5EF4-FFF2-40B4-BE49-F238E27FC236}">
                  <a16:creationId xmlns:a16="http://schemas.microsoft.com/office/drawing/2014/main" id="{6F1B02C0-B19E-49A9-A6A0-1F4D4DC582C5}"/>
                </a:ext>
              </a:extLst>
            </p:cNvPr>
            <p:cNvSpPr>
              <a:spLocks/>
            </p:cNvSpPr>
            <p:nvPr/>
          </p:nvSpPr>
          <p:spPr>
            <a:xfrm>
              <a:off x="10048875" y="257175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56832599-1F3C-47BE-A0AA-71CBB3CACB87}"/>
                </a:ext>
              </a:extLst>
            </p:cNvPr>
            <p:cNvSpPr>
              <a:spLocks/>
            </p:cNvSpPr>
            <p:nvPr/>
          </p:nvSpPr>
          <p:spPr>
            <a:xfrm>
              <a:off x="1285875" y="2476500"/>
              <a:ext cx="190500" cy="1905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5" name="来源发布">
              <a:extLst>
                <a:ext uri="{FF2B5EF4-FFF2-40B4-BE49-F238E27FC236}">
                  <a16:creationId xmlns:a16="http://schemas.microsoft.com/office/drawing/2014/main" id="{DD87B397-4B27-4D4C-A051-20B317297A03}"/>
                </a:ext>
              </a:extLst>
            </p:cNvPr>
            <p:cNvSpPr>
              <a:spLocks/>
            </p:cNvSpPr>
            <p:nvPr/>
          </p:nvSpPr>
          <p:spPr>
            <a:xfrm>
              <a:off x="476250" y="1714500"/>
              <a:ext cx="1809750" cy="4857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45D8F"/>
                  </a:solidFill>
                </a:defRPr>
              </a:pPr>
              <a:r>
                <a:rPr sz="195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来源发布</a:t>
              </a:r>
            </a:p>
          </p:txBody>
        </p:sp>
        <p:sp>
          <p:nvSpPr>
            <p:cNvPr id="6" name="source_ published_at">
              <a:extLst>
                <a:ext uri="{FF2B5EF4-FFF2-40B4-BE49-F238E27FC236}">
                  <a16:creationId xmlns:a16="http://schemas.microsoft.com/office/drawing/2014/main" id="{82D3CF87-037D-4B8D-94FC-8E2A38574494}"/>
                </a:ext>
              </a:extLst>
            </p:cNvPr>
            <p:cNvSpPr>
              <a:spLocks/>
            </p:cNvSpPr>
            <p:nvPr/>
          </p:nvSpPr>
          <p:spPr>
            <a:xfrm>
              <a:off x="314325" y="2943225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source_</a:t>
              </a:r>
            </a:p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published_at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66535ED0-32F7-46B5-9617-02528EDAA31A}"/>
                </a:ext>
              </a:extLst>
            </p:cNvPr>
            <p:cNvSpPr>
              <a:spLocks/>
            </p:cNvSpPr>
            <p:nvPr/>
          </p:nvSpPr>
          <p:spPr>
            <a:xfrm>
              <a:off x="3429000" y="2476500"/>
              <a:ext cx="190500" cy="1905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8" name="首次发现">
              <a:extLst>
                <a:ext uri="{FF2B5EF4-FFF2-40B4-BE49-F238E27FC236}">
                  <a16:creationId xmlns:a16="http://schemas.microsoft.com/office/drawing/2014/main" id="{7B59AD61-277B-41FE-A9C8-3F74AC8E22BF}"/>
                </a:ext>
              </a:extLst>
            </p:cNvPr>
            <p:cNvSpPr>
              <a:spLocks/>
            </p:cNvSpPr>
            <p:nvPr/>
          </p:nvSpPr>
          <p:spPr>
            <a:xfrm>
              <a:off x="2619375" y="1714500"/>
              <a:ext cx="1809750" cy="4857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45D8F"/>
                  </a:solidFill>
                </a:defRPr>
              </a:pPr>
              <a:r>
                <a:rPr sz="195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首次发现</a:t>
              </a:r>
            </a:p>
          </p:txBody>
        </p:sp>
        <p:sp>
          <p:nvSpPr>
            <p:cNvPr id="9" name="first_seen_at">
              <a:extLst>
                <a:ext uri="{FF2B5EF4-FFF2-40B4-BE49-F238E27FC236}">
                  <a16:creationId xmlns:a16="http://schemas.microsoft.com/office/drawing/2014/main" id="{D8C55C80-C054-43AE-9DA4-7D6C932E5158}"/>
                </a:ext>
              </a:extLst>
            </p:cNvPr>
            <p:cNvSpPr>
              <a:spLocks/>
            </p:cNvSpPr>
            <p:nvPr/>
          </p:nvSpPr>
          <p:spPr>
            <a:xfrm>
              <a:off x="2457450" y="2943225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first_seen_at</a:t>
              </a:r>
            </a:p>
          </p:txBody>
        </p:sp>
        <p:sp>
          <p:nvSpPr>
            <p:cNvPr id="10" name="boundary">
              <a:extLst>
                <a:ext uri="{FF2B5EF4-FFF2-40B4-BE49-F238E27FC236}">
                  <a16:creationId xmlns:a16="http://schemas.microsoft.com/office/drawing/2014/main" id="{69AD5E89-5118-4C0B-B69A-BFE7D7173F94}"/>
                </a:ext>
              </a:extLst>
            </p:cNvPr>
            <p:cNvSpPr>
              <a:spLocks/>
            </p:cNvSpPr>
            <p:nvPr/>
          </p:nvSpPr>
          <p:spPr>
            <a:xfrm>
              <a:off x="5572125" y="2476500"/>
              <a:ext cx="190500" cy="1905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11" name="完成归一">
              <a:extLst>
                <a:ext uri="{FF2B5EF4-FFF2-40B4-BE49-F238E27FC236}">
                  <a16:creationId xmlns:a16="http://schemas.microsoft.com/office/drawing/2014/main" id="{A80B6872-174E-4FA0-B44C-B040574E7239}"/>
                </a:ext>
              </a:extLst>
            </p:cNvPr>
            <p:cNvSpPr>
              <a:spLocks/>
            </p:cNvSpPr>
            <p:nvPr/>
          </p:nvSpPr>
          <p:spPr>
            <a:xfrm>
              <a:off x="4762500" y="1714500"/>
              <a:ext cx="1809750" cy="4857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45D8F"/>
                  </a:solidFill>
                </a:defRPr>
              </a:pPr>
              <a:r>
                <a:rPr sz="195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完成归一</a:t>
              </a:r>
            </a:p>
          </p:txBody>
        </p:sp>
        <p:sp>
          <p:nvSpPr>
            <p:cNvPr id="12" name="normalized_at">
              <a:extLst>
                <a:ext uri="{FF2B5EF4-FFF2-40B4-BE49-F238E27FC236}">
                  <a16:creationId xmlns:a16="http://schemas.microsoft.com/office/drawing/2014/main" id="{548136E5-D3BC-436D-9F63-C02D96213DB9}"/>
                </a:ext>
              </a:extLst>
            </p:cNvPr>
            <p:cNvSpPr>
              <a:spLocks/>
            </p:cNvSpPr>
            <p:nvPr/>
          </p:nvSpPr>
          <p:spPr>
            <a:xfrm>
              <a:off x="4600575" y="2943225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normalized_at</a:t>
              </a:r>
            </a:p>
          </p:txBody>
        </p:sp>
        <p:sp>
          <p:nvSpPr>
            <p:cNvPr id="13" name="boundary">
              <a:extLst>
                <a:ext uri="{FF2B5EF4-FFF2-40B4-BE49-F238E27FC236}">
                  <a16:creationId xmlns:a16="http://schemas.microsoft.com/office/drawing/2014/main" id="{6CC6A7F5-6C55-4352-87ED-34EBB1B45D09}"/>
                </a:ext>
              </a:extLst>
            </p:cNvPr>
            <p:cNvSpPr>
              <a:spLocks/>
            </p:cNvSpPr>
            <p:nvPr/>
          </p:nvSpPr>
          <p:spPr>
            <a:xfrm>
              <a:off x="7715250" y="2476500"/>
              <a:ext cx="190500" cy="1905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14" name="完成富化">
              <a:extLst>
                <a:ext uri="{FF2B5EF4-FFF2-40B4-BE49-F238E27FC236}">
                  <a16:creationId xmlns:a16="http://schemas.microsoft.com/office/drawing/2014/main" id="{A174DA1F-6301-4AB8-8D15-0CCD899D6CAE}"/>
                </a:ext>
              </a:extLst>
            </p:cNvPr>
            <p:cNvSpPr>
              <a:spLocks/>
            </p:cNvSpPr>
            <p:nvPr/>
          </p:nvSpPr>
          <p:spPr>
            <a:xfrm>
              <a:off x="6905625" y="1714500"/>
              <a:ext cx="1809750" cy="4857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45D8F"/>
                  </a:solidFill>
                </a:defRPr>
              </a:pPr>
              <a:r>
                <a:rPr sz="195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完成富化</a:t>
              </a:r>
            </a:p>
          </p:txBody>
        </p:sp>
        <p:sp>
          <p:nvSpPr>
            <p:cNvPr id="15" name="enriched_at">
              <a:extLst>
                <a:ext uri="{FF2B5EF4-FFF2-40B4-BE49-F238E27FC236}">
                  <a16:creationId xmlns:a16="http://schemas.microsoft.com/office/drawing/2014/main" id="{1B3B7289-0760-4B4F-A558-4C7374A28B35}"/>
                </a:ext>
              </a:extLst>
            </p:cNvPr>
            <p:cNvSpPr>
              <a:spLocks/>
            </p:cNvSpPr>
            <p:nvPr/>
          </p:nvSpPr>
          <p:spPr>
            <a:xfrm>
              <a:off x="6743700" y="2943225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enriched_at</a:t>
              </a:r>
            </a:p>
          </p:txBody>
        </p:sp>
        <p:sp>
          <p:nvSpPr>
            <p:cNvPr id="16" name="boundary">
              <a:extLst>
                <a:ext uri="{FF2B5EF4-FFF2-40B4-BE49-F238E27FC236}">
                  <a16:creationId xmlns:a16="http://schemas.microsoft.com/office/drawing/2014/main" id="{8DAF623C-45DD-4AA8-AD19-985F48985FDE}"/>
                </a:ext>
              </a:extLst>
            </p:cNvPr>
            <p:cNvSpPr>
              <a:spLocks/>
            </p:cNvSpPr>
            <p:nvPr/>
          </p:nvSpPr>
          <p:spPr>
            <a:xfrm>
              <a:off x="9953625" y="2476500"/>
              <a:ext cx="190500" cy="1905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</p:sp>
        <p:sp>
          <p:nvSpPr>
            <p:cNvPr id="17" name="可查询">
              <a:extLst>
                <a:ext uri="{FF2B5EF4-FFF2-40B4-BE49-F238E27FC236}">
                  <a16:creationId xmlns:a16="http://schemas.microsoft.com/office/drawing/2014/main" id="{9F1B9D6F-F9D2-4B58-B4FB-FF3948F6BD09}"/>
                </a:ext>
              </a:extLst>
            </p:cNvPr>
            <p:cNvSpPr>
              <a:spLocks/>
            </p:cNvSpPr>
            <p:nvPr/>
          </p:nvSpPr>
          <p:spPr>
            <a:xfrm>
              <a:off x="9144000" y="1714500"/>
              <a:ext cx="1809750" cy="4857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45D8F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45D8F"/>
                  </a:solidFill>
                </a:defRPr>
              </a:pPr>
              <a:r>
                <a:rPr sz="1950" b="1">
                  <a:solidFill>
                    <a:srgbClr val="245D8F"/>
                  </a:solidFill>
                  <a:latin typeface="Microsoft YaHei"/>
                  <a:ea typeface="Microsoft YaHei"/>
                  <a:cs typeface="Microsoft YaHei"/>
                </a:rPr>
                <a:t>可查询</a:t>
              </a:r>
            </a:p>
          </p:txBody>
        </p:sp>
        <p:sp>
          <p:nvSpPr>
            <p:cNvPr id="18" name="queryable_at">
              <a:extLst>
                <a:ext uri="{FF2B5EF4-FFF2-40B4-BE49-F238E27FC236}">
                  <a16:creationId xmlns:a16="http://schemas.microsoft.com/office/drawing/2014/main" id="{CAD18B93-0CFF-4A37-8444-4DB8CCB188AF}"/>
                </a:ext>
              </a:extLst>
            </p:cNvPr>
            <p:cNvSpPr>
              <a:spLocks/>
            </p:cNvSpPr>
            <p:nvPr/>
          </p:nvSpPr>
          <p:spPr>
            <a:xfrm>
              <a:off x="8982075" y="2943225"/>
              <a:ext cx="2133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queryable_at</a:t>
              </a:r>
            </a:p>
          </p:txBody>
        </p:sp>
        <p:sp>
          <p:nvSpPr>
            <p:cNvPr id="19" name="采集时延 首见 − 发布">
              <a:extLst>
                <a:ext uri="{FF2B5EF4-FFF2-40B4-BE49-F238E27FC236}">
                  <a16:creationId xmlns:a16="http://schemas.microsoft.com/office/drawing/2014/main" id="{BD6D5C06-00B3-4780-95FE-9C9BAF70112D}"/>
                </a:ext>
              </a:extLst>
            </p:cNvPr>
            <p:cNvSpPr>
              <a:spLocks/>
            </p:cNvSpPr>
            <p:nvPr/>
          </p:nvSpPr>
          <p:spPr>
            <a:xfrm>
              <a:off x="666750" y="4133850"/>
              <a:ext cx="2628900" cy="1047750"/>
            </a:xfrm>
            <a:prstGeom prst="roundRect">
              <a:avLst>
                <a:gd name="adj" fmla="val 363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233E54"/>
                  </a:solidFill>
                </a:defRPr>
              </a:defPPr>
            </a:lstStyle>
            <a:p>
              <a:pPr algn="ctr">
                <a:defRPr sz="1950" b="1">
                  <a:solidFill>
                    <a:srgbClr val="233E54"/>
                  </a:solidFill>
                </a:defRPr>
              </a:pPr>
              <a:r>
                <a:rPr sz="195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采集时延</a:t>
              </a:r>
            </a:p>
            <a:p>
              <a:pPr algn="ctr">
                <a:defRPr sz="1950" b="1">
                  <a:solidFill>
                    <a:srgbClr val="233E54"/>
                  </a:solidFill>
                </a:defRPr>
              </a:pPr>
              <a:r>
                <a:rPr sz="195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首见 − 发布</a:t>
              </a:r>
            </a:p>
          </p:txBody>
        </p:sp>
        <p:sp>
          <p:nvSpPr>
            <p:cNvPr id="20" name="处理时延 可查询 − 首见">
              <a:extLst>
                <a:ext uri="{FF2B5EF4-FFF2-40B4-BE49-F238E27FC236}">
                  <a16:creationId xmlns:a16="http://schemas.microsoft.com/office/drawing/2014/main" id="{4E93608C-F213-44D7-83FC-703364353058}"/>
                </a:ext>
              </a:extLst>
            </p:cNvPr>
            <p:cNvSpPr>
              <a:spLocks/>
            </p:cNvSpPr>
            <p:nvPr/>
          </p:nvSpPr>
          <p:spPr>
            <a:xfrm>
              <a:off x="3667125" y="4133850"/>
              <a:ext cx="7096125" cy="1047750"/>
            </a:xfrm>
            <a:prstGeom prst="roundRect">
              <a:avLst>
                <a:gd name="adj" fmla="val 3636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950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950" b="1">
                  <a:solidFill>
                    <a:srgbClr val="547D45"/>
                  </a:solidFill>
                </a:defRPr>
              </a:pPr>
              <a:r>
                <a:rPr sz="195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处理时延</a:t>
              </a:r>
            </a:p>
            <a:p>
              <a:pPr algn="ctr">
                <a:defRPr sz="1950" b="1">
                  <a:solidFill>
                    <a:srgbClr val="547D45"/>
                  </a:solidFill>
                </a:defRPr>
              </a:pPr>
              <a:r>
                <a:rPr sz="1950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可查询 − 首见</a:t>
              </a:r>
            </a:p>
          </p:txBody>
        </p:sp>
        <p:sp>
          <p:nvSpPr>
            <p:cNvPr id="21" name="端到端 = 可查询 − 发布 目标值 ≤6 h（待测）">
              <a:extLst>
                <a:ext uri="{FF2B5EF4-FFF2-40B4-BE49-F238E27FC236}">
                  <a16:creationId xmlns:a16="http://schemas.microsoft.com/office/drawing/2014/main" id="{B2D19089-81D4-4DB9-AE1E-D87576ED5A75}"/>
                </a:ext>
              </a:extLst>
            </p:cNvPr>
            <p:cNvSpPr>
              <a:spLocks/>
            </p:cNvSpPr>
            <p:nvPr/>
          </p:nvSpPr>
          <p:spPr>
            <a:xfrm>
              <a:off x="666750" y="5924550"/>
              <a:ext cx="10096500" cy="1095375"/>
            </a:xfrm>
            <a:prstGeom prst="roundRect">
              <a:avLst>
                <a:gd name="adj" fmla="val 3478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217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2175" b="1">
                  <a:solidFill>
                    <a:srgbClr val="A67A20"/>
                  </a:solidFill>
                </a:defRPr>
              </a:pPr>
              <a:r>
                <a:rPr sz="21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端到端 = 可查询 − 发布</a:t>
              </a:r>
            </a:p>
            <a:p>
              <a:pPr algn="ctr">
                <a:defRPr sz="2175" b="1">
                  <a:solidFill>
                    <a:srgbClr val="A67A20"/>
                  </a:solidFill>
                </a:defRPr>
              </a:pPr>
              <a:r>
                <a:rPr sz="217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目标值 ≤6 h（待测）</a:t>
              </a:r>
            </a:p>
          </p:txBody>
        </p:sp>
        <p:sp>
          <p:nvSpPr>
            <p:cNvPr id="22" name="仅漏洞类首次发现；日更源单列；DEMO 不计；日期精度不足按当日零点计，保守高估">
              <a:extLst>
                <a:ext uri="{FF2B5EF4-FFF2-40B4-BE49-F238E27FC236}">
                  <a16:creationId xmlns:a16="http://schemas.microsoft.com/office/drawing/2014/main" id="{F6B48867-CFD1-43CF-BC53-04401ED674E6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仅漏洞类首次发现；日更源单列；DEMO 不计；日期精度不足按当日零点计，保守高估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0677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F-29 - whole figure">
            <a:extLst>
              <a:ext uri="{FF2B5EF4-FFF2-40B4-BE49-F238E27FC236}">
                <a16:creationId xmlns:a16="http://schemas.microsoft.com/office/drawing/2014/main" id="{C4D3EF4B-C07A-E550-56C3-D6181EA28D95}"/>
              </a:ext>
            </a:extLst>
          </p:cNvPr>
          <p:cNvGrpSpPr/>
          <p:nvPr/>
        </p:nvGrpSpPr>
        <p:grpSpPr>
          <a:xfrm>
            <a:off x="428625" y="1114425"/>
            <a:ext cx="10753725" cy="6848475"/>
            <a:chOff x="428625" y="1114425"/>
            <a:chExt cx="10753725" cy="6848475"/>
          </a:xfrm>
        </p:grpSpPr>
        <p:sp>
          <p:nvSpPr>
            <p:cNvPr id="40" name="创新方向">
              <a:extLst>
                <a:ext uri="{FF2B5EF4-FFF2-40B4-BE49-F238E27FC236}">
                  <a16:creationId xmlns:a16="http://schemas.microsoft.com/office/drawing/2014/main" id="{B8CDC438-EF1D-480F-BE98-30A7FF664176}"/>
                </a:ext>
              </a:extLst>
            </p:cNvPr>
            <p:cNvSpPr>
              <a:spLocks/>
            </p:cNvSpPr>
            <p:nvPr/>
          </p:nvSpPr>
          <p:spPr>
            <a:xfrm>
              <a:off x="1057275" y="1114425"/>
              <a:ext cx="457200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2025" b="1">
                  <a:solidFill>
                    <a:srgbClr val="277DC3"/>
                  </a:solidFill>
                </a:defRPr>
              </a:defPPr>
            </a:lstStyle>
            <a:p>
              <a:pPr algn="l">
                <a:defRPr sz="2025" b="1">
                  <a:solidFill>
                    <a:srgbClr val="277DC3"/>
                  </a:solidFill>
                </a:defRPr>
              </a:pPr>
              <a:r>
                <a:rPr sz="202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创新方向</a:t>
              </a:r>
            </a:p>
          </p:txBody>
        </p:sp>
        <p:sp>
          <p:nvSpPr>
            <p:cNvPr id="2" name="关键机制">
              <a:extLst>
                <a:ext uri="{FF2B5EF4-FFF2-40B4-BE49-F238E27FC236}">
                  <a16:creationId xmlns:a16="http://schemas.microsoft.com/office/drawing/2014/main" id="{266C2CB0-21B8-4133-8FEA-B995CAB42031}"/>
                </a:ext>
              </a:extLst>
            </p:cNvPr>
            <p:cNvSpPr>
              <a:spLocks/>
            </p:cNvSpPr>
            <p:nvPr/>
          </p:nvSpPr>
          <p:spPr>
            <a:xfrm>
              <a:off x="5953125" y="1114425"/>
              <a:ext cx="304800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2025" b="1">
                  <a:solidFill>
                    <a:srgbClr val="277DC3"/>
                  </a:solidFill>
                </a:defRPr>
              </a:defPPr>
            </a:lstStyle>
            <a:p>
              <a:pPr algn="l">
                <a:defRPr sz="2025" b="1">
                  <a:solidFill>
                    <a:srgbClr val="277DC3"/>
                  </a:solidFill>
                </a:defRPr>
              </a:pPr>
              <a:r>
                <a:rPr sz="2025" b="1">
                  <a:solidFill>
                    <a:srgbClr val="277DC3"/>
                  </a:solidFill>
                  <a:latin typeface="Microsoft YaHei"/>
                  <a:ea typeface="Microsoft YaHei"/>
                  <a:cs typeface="Microsoft YaHei"/>
                </a:rPr>
                <a:t>关键机制</a:t>
              </a:r>
            </a:p>
          </p:txBody>
        </p:sp>
        <p:sp>
          <p:nvSpPr>
            <p:cNvPr id="3" name="验证维度">
              <a:extLst>
                <a:ext uri="{FF2B5EF4-FFF2-40B4-BE49-F238E27FC236}">
                  <a16:creationId xmlns:a16="http://schemas.microsoft.com/office/drawing/2014/main" id="{ECE4616F-91ED-4C02-8AF0-7CE1FE52C19F}"/>
                </a:ext>
              </a:extLst>
            </p:cNvPr>
            <p:cNvSpPr>
              <a:spLocks/>
            </p:cNvSpPr>
            <p:nvPr/>
          </p:nvSpPr>
          <p:spPr>
            <a:xfrm>
              <a:off x="9372600" y="1114425"/>
              <a:ext cx="180975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2025" b="1">
                  <a:solidFill>
                    <a:srgbClr val="547D45"/>
                  </a:solidFill>
                </a:defRPr>
              </a:defPPr>
            </a:lstStyle>
            <a:p>
              <a:pPr algn="l">
                <a:defRPr sz="2025" b="1">
                  <a:solidFill>
                    <a:srgbClr val="547D45"/>
                  </a:solidFill>
                </a:defRPr>
              </a:pPr>
              <a:r>
                <a:rPr sz="20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验证维度</a:t>
              </a:r>
            </a:p>
          </p:txBody>
        </p:sp>
        <p:sp>
          <p:nvSpPr>
            <p:cNvPr id="4" name="boundary">
              <a:extLst>
                <a:ext uri="{FF2B5EF4-FFF2-40B4-BE49-F238E27FC236}">
                  <a16:creationId xmlns:a16="http://schemas.microsoft.com/office/drawing/2014/main" id="{0DCC00C7-2A18-4B2D-A1FA-092F5EFA67F7}"/>
                </a:ext>
              </a:extLst>
            </p:cNvPr>
            <p:cNvSpPr>
              <a:spLocks/>
            </p:cNvSpPr>
            <p:nvPr/>
          </p:nvSpPr>
          <p:spPr>
            <a:xfrm>
              <a:off x="476250" y="1762125"/>
              <a:ext cx="10477500" cy="676275"/>
            </a:xfrm>
            <a:prstGeom prst="rect">
              <a:avLst/>
            </a:prstGeom>
            <a:solidFill>
              <a:srgbClr val="F3F6F8"/>
            </a:solidFill>
            <a:ln w="0">
              <a:noFill/>
              <a:prstDash val="solid"/>
            </a:ln>
          </p:spPr>
        </p:sp>
        <p:sp>
          <p:nvSpPr>
            <p:cNvPr id="5" name="1">
              <a:extLst>
                <a:ext uri="{FF2B5EF4-FFF2-40B4-BE49-F238E27FC236}">
                  <a16:creationId xmlns:a16="http://schemas.microsoft.com/office/drawing/2014/main" id="{88DE38EB-34FD-422C-A6E8-6A4FD8F44F04}"/>
                </a:ext>
              </a:extLst>
            </p:cNvPr>
            <p:cNvSpPr>
              <a:spLocks/>
            </p:cNvSpPr>
            <p:nvPr/>
          </p:nvSpPr>
          <p:spPr>
            <a:xfrm>
              <a:off x="590550" y="1885950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6" name="面向 AI 基础设施的垂直多源融合">
              <a:extLst>
                <a:ext uri="{FF2B5EF4-FFF2-40B4-BE49-F238E27FC236}">
                  <a16:creationId xmlns:a16="http://schemas.microsoft.com/office/drawing/2014/main" id="{3415F3C4-210B-4D9B-A6BC-C2FFEB0992BB}"/>
                </a:ext>
              </a:extLst>
            </p:cNvPr>
            <p:cNvSpPr>
              <a:spLocks/>
            </p:cNvSpPr>
            <p:nvPr/>
          </p:nvSpPr>
          <p:spPr>
            <a:xfrm>
              <a:off x="1123950" y="1800225"/>
              <a:ext cx="46482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l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面向 AI 基础设施的垂直多源融合</a:t>
              </a:r>
            </a:p>
          </p:txBody>
        </p:sp>
        <p:sp>
          <p:nvSpPr>
            <p:cNvPr id="7" name="P0 5 min / 无 CVE 入库">
              <a:extLst>
                <a:ext uri="{FF2B5EF4-FFF2-40B4-BE49-F238E27FC236}">
                  <a16:creationId xmlns:a16="http://schemas.microsoft.com/office/drawing/2014/main" id="{8C222161-270A-43BA-AB42-F6940E22B2CB}"/>
                </a:ext>
              </a:extLst>
            </p:cNvPr>
            <p:cNvSpPr>
              <a:spLocks/>
            </p:cNvSpPr>
            <p:nvPr/>
          </p:nvSpPr>
          <p:spPr>
            <a:xfrm>
              <a:off x="5943600" y="1809750"/>
              <a:ext cx="33337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P0 5 min / 无 CVE 入库</a:t>
              </a:r>
            </a:p>
          </p:txBody>
        </p:sp>
        <p:sp>
          <p:nvSpPr>
            <p:cNvPr id="8" name="监测 / 时效">
              <a:extLst>
                <a:ext uri="{FF2B5EF4-FFF2-40B4-BE49-F238E27FC236}">
                  <a16:creationId xmlns:a16="http://schemas.microsoft.com/office/drawing/2014/main" id="{C5B1CF9A-E6D2-437B-85E4-89DF7B563EA8}"/>
                </a:ext>
              </a:extLst>
            </p:cNvPr>
            <p:cNvSpPr>
              <a:spLocks/>
            </p:cNvSpPr>
            <p:nvPr/>
          </p:nvSpPr>
          <p:spPr>
            <a:xfrm>
              <a:off x="9324975" y="1809750"/>
              <a:ext cx="16192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监测 / 时效</a:t>
              </a:r>
            </a:p>
          </p:txBody>
        </p:sp>
        <p:sp>
          <p:nvSpPr>
            <p:cNvPr id="9" name="boundary">
              <a:extLst>
                <a:ext uri="{FF2B5EF4-FFF2-40B4-BE49-F238E27FC236}">
                  <a16:creationId xmlns:a16="http://schemas.microsoft.com/office/drawing/2014/main" id="{77DB6EBB-C5BE-469F-93A7-76FCECF323A2}"/>
                </a:ext>
              </a:extLst>
            </p:cNvPr>
            <p:cNvSpPr>
              <a:spLocks/>
            </p:cNvSpPr>
            <p:nvPr/>
          </p:nvSpPr>
          <p:spPr>
            <a:xfrm>
              <a:off x="476250" y="2524125"/>
              <a:ext cx="10477500" cy="6762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0" name="2">
              <a:extLst>
                <a:ext uri="{FF2B5EF4-FFF2-40B4-BE49-F238E27FC236}">
                  <a16:creationId xmlns:a16="http://schemas.microsoft.com/office/drawing/2014/main" id="{01488360-ABE6-4CB9-97A8-0BA88EB1B0EF}"/>
                </a:ext>
              </a:extLst>
            </p:cNvPr>
            <p:cNvSpPr>
              <a:spLocks/>
            </p:cNvSpPr>
            <p:nvPr/>
          </p:nvSpPr>
          <p:spPr>
            <a:xfrm>
              <a:off x="590550" y="2647950"/>
              <a:ext cx="419100" cy="419100"/>
            </a:xfrm>
            <a:prstGeom prst="ellipse">
              <a:avLst/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1" name="可解释的自动关联推理引擎">
              <a:extLst>
                <a:ext uri="{FF2B5EF4-FFF2-40B4-BE49-F238E27FC236}">
                  <a16:creationId xmlns:a16="http://schemas.microsoft.com/office/drawing/2014/main" id="{4207ED0A-2E07-45B2-B39C-B2FC88B50E5D}"/>
                </a:ext>
              </a:extLst>
            </p:cNvPr>
            <p:cNvSpPr>
              <a:spLocks/>
            </p:cNvSpPr>
            <p:nvPr/>
          </p:nvSpPr>
          <p:spPr>
            <a:xfrm>
              <a:off x="1123950" y="2562225"/>
              <a:ext cx="46482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l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可解释的自动关联推理引擎</a:t>
              </a:r>
            </a:p>
          </p:txBody>
        </p:sp>
        <p:sp>
          <p:nvSpPr>
            <p:cNvPr id="12" name="边带理由 / Critic 门槛">
              <a:extLst>
                <a:ext uri="{FF2B5EF4-FFF2-40B4-BE49-F238E27FC236}">
                  <a16:creationId xmlns:a16="http://schemas.microsoft.com/office/drawing/2014/main" id="{DFE1D3CE-EEB1-42C8-A8E6-3CB758598E87}"/>
                </a:ext>
              </a:extLst>
            </p:cNvPr>
            <p:cNvSpPr>
              <a:spLocks/>
            </p:cNvSpPr>
            <p:nvPr/>
          </p:nvSpPr>
          <p:spPr>
            <a:xfrm>
              <a:off x="5943600" y="2571750"/>
              <a:ext cx="33337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边带理由 / Critic 门槛</a:t>
              </a:r>
            </a:p>
          </p:txBody>
        </p:sp>
        <p:sp>
          <p:nvSpPr>
            <p:cNvPr id="13" name="富化 / 准确">
              <a:extLst>
                <a:ext uri="{FF2B5EF4-FFF2-40B4-BE49-F238E27FC236}">
                  <a16:creationId xmlns:a16="http://schemas.microsoft.com/office/drawing/2014/main" id="{ABFB9B4E-C38E-4EC8-AB19-D9E759FFAB2E}"/>
                </a:ext>
              </a:extLst>
            </p:cNvPr>
            <p:cNvSpPr>
              <a:spLocks/>
            </p:cNvSpPr>
            <p:nvPr/>
          </p:nvSpPr>
          <p:spPr>
            <a:xfrm>
              <a:off x="9324975" y="2571750"/>
              <a:ext cx="16192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富化 / 准确</a:t>
              </a:r>
            </a:p>
          </p:txBody>
        </p:sp>
        <p:sp>
          <p:nvSpPr>
            <p:cNvPr id="14" name="boundary">
              <a:extLst>
                <a:ext uri="{FF2B5EF4-FFF2-40B4-BE49-F238E27FC236}">
                  <a16:creationId xmlns:a16="http://schemas.microsoft.com/office/drawing/2014/main" id="{B25AEA8A-1F46-461F-A534-FCC53549DCFD}"/>
                </a:ext>
              </a:extLst>
            </p:cNvPr>
            <p:cNvSpPr>
              <a:spLocks/>
            </p:cNvSpPr>
            <p:nvPr/>
          </p:nvSpPr>
          <p:spPr>
            <a:xfrm>
              <a:off x="476250" y="3286125"/>
              <a:ext cx="10477500" cy="676275"/>
            </a:xfrm>
            <a:prstGeom prst="rect">
              <a:avLst/>
            </a:prstGeom>
            <a:solidFill>
              <a:srgbClr val="F3F6F8"/>
            </a:solidFill>
            <a:ln w="0">
              <a:noFill/>
              <a:prstDash val="solid"/>
            </a:ln>
          </p:spPr>
        </p:sp>
        <p:sp>
          <p:nvSpPr>
            <p:cNvPr id="15" name="3">
              <a:extLst>
                <a:ext uri="{FF2B5EF4-FFF2-40B4-BE49-F238E27FC236}">
                  <a16:creationId xmlns:a16="http://schemas.microsoft.com/office/drawing/2014/main" id="{44EB01B4-97C5-43A9-9465-0509B77977AA}"/>
                </a:ext>
              </a:extLst>
            </p:cNvPr>
            <p:cNvSpPr>
              <a:spLocks/>
            </p:cNvSpPr>
            <p:nvPr/>
          </p:nvSpPr>
          <p:spPr>
            <a:xfrm>
              <a:off x="590550" y="3409950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16" name="从依赖文件出发的影响自查">
              <a:extLst>
                <a:ext uri="{FF2B5EF4-FFF2-40B4-BE49-F238E27FC236}">
                  <a16:creationId xmlns:a16="http://schemas.microsoft.com/office/drawing/2014/main" id="{A2DC3C63-D026-459A-8D49-BB6D43FF46C2}"/>
                </a:ext>
              </a:extLst>
            </p:cNvPr>
            <p:cNvSpPr>
              <a:spLocks/>
            </p:cNvSpPr>
            <p:nvPr/>
          </p:nvSpPr>
          <p:spPr>
            <a:xfrm>
              <a:off x="1123950" y="3324225"/>
              <a:ext cx="46482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l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从依赖文件出发的影响自查</a:t>
              </a:r>
            </a:p>
          </p:txBody>
        </p:sp>
        <p:sp>
          <p:nvSpPr>
            <p:cNvPr id="17" name="OSV 求解 / 三种结果">
              <a:extLst>
                <a:ext uri="{FF2B5EF4-FFF2-40B4-BE49-F238E27FC236}">
                  <a16:creationId xmlns:a16="http://schemas.microsoft.com/office/drawing/2014/main" id="{2D80609C-8F51-4F17-8237-F51F47341275}"/>
                </a:ext>
              </a:extLst>
            </p:cNvPr>
            <p:cNvSpPr>
              <a:spLocks/>
            </p:cNvSpPr>
            <p:nvPr/>
          </p:nvSpPr>
          <p:spPr>
            <a:xfrm>
              <a:off x="5943600" y="3333750"/>
              <a:ext cx="33337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OSV 求解 / 三种结果</a:t>
              </a:r>
            </a:p>
          </p:txBody>
        </p:sp>
        <p:sp>
          <p:nvSpPr>
            <p:cNvPr id="18" name="富化 / Agent">
              <a:extLst>
                <a:ext uri="{FF2B5EF4-FFF2-40B4-BE49-F238E27FC236}">
                  <a16:creationId xmlns:a16="http://schemas.microsoft.com/office/drawing/2014/main" id="{1D545B4D-56D4-4E75-9D75-AB526B17C986}"/>
                </a:ext>
              </a:extLst>
            </p:cNvPr>
            <p:cNvSpPr>
              <a:spLocks/>
            </p:cNvSpPr>
            <p:nvPr/>
          </p:nvSpPr>
          <p:spPr>
            <a:xfrm>
              <a:off x="9324975" y="3333750"/>
              <a:ext cx="16192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富化 / Agent</a:t>
              </a:r>
            </a:p>
          </p:txBody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7CD665DF-05C0-4FA8-B350-04071D1E2857}"/>
                </a:ext>
              </a:extLst>
            </p:cNvPr>
            <p:cNvSpPr>
              <a:spLocks/>
            </p:cNvSpPr>
            <p:nvPr/>
          </p:nvSpPr>
          <p:spPr>
            <a:xfrm>
              <a:off x="476250" y="4048125"/>
              <a:ext cx="10477500" cy="6762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20" name="4">
              <a:extLst>
                <a:ext uri="{FF2B5EF4-FFF2-40B4-BE49-F238E27FC236}">
                  <a16:creationId xmlns:a16="http://schemas.microsoft.com/office/drawing/2014/main" id="{2740E01E-EADF-4DD4-8AC9-B3B74485881F}"/>
                </a:ext>
              </a:extLst>
            </p:cNvPr>
            <p:cNvSpPr>
              <a:spLocks/>
            </p:cNvSpPr>
            <p:nvPr/>
          </p:nvSpPr>
          <p:spPr>
            <a:xfrm>
              <a:off x="590550" y="4171950"/>
              <a:ext cx="419100" cy="419100"/>
            </a:xfrm>
            <a:prstGeom prst="ellipse">
              <a:avLst/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1" name="可解释 GraphRAG 问答">
              <a:extLst>
                <a:ext uri="{FF2B5EF4-FFF2-40B4-BE49-F238E27FC236}">
                  <a16:creationId xmlns:a16="http://schemas.microsoft.com/office/drawing/2014/main" id="{A6A94635-247D-402A-A160-BD41A06CF616}"/>
                </a:ext>
              </a:extLst>
            </p:cNvPr>
            <p:cNvSpPr>
              <a:spLocks/>
            </p:cNvSpPr>
            <p:nvPr/>
          </p:nvSpPr>
          <p:spPr>
            <a:xfrm>
              <a:off x="1123950" y="4086225"/>
              <a:ext cx="46482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l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可解释 GraphRAG 问答</a:t>
              </a:r>
            </a:p>
          </p:txBody>
        </p:sp>
        <p:sp>
          <p:nvSpPr>
            <p:cNvPr id="22" name="三路检索 / 逐句引用">
              <a:extLst>
                <a:ext uri="{FF2B5EF4-FFF2-40B4-BE49-F238E27FC236}">
                  <a16:creationId xmlns:a16="http://schemas.microsoft.com/office/drawing/2014/main" id="{F4C1E384-A58F-41CF-857C-F6E13E59B388}"/>
                </a:ext>
              </a:extLst>
            </p:cNvPr>
            <p:cNvSpPr>
              <a:spLocks/>
            </p:cNvSpPr>
            <p:nvPr/>
          </p:nvSpPr>
          <p:spPr>
            <a:xfrm>
              <a:off x="5943600" y="4095750"/>
              <a:ext cx="33337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三路检索 / 逐句引用</a:t>
              </a:r>
            </a:p>
          </p:txBody>
        </p:sp>
        <p:sp>
          <p:nvSpPr>
            <p:cNvPr id="23" name="问答 / 准确">
              <a:extLst>
                <a:ext uri="{FF2B5EF4-FFF2-40B4-BE49-F238E27FC236}">
                  <a16:creationId xmlns:a16="http://schemas.microsoft.com/office/drawing/2014/main" id="{A5DE17A3-9987-40FB-ADC7-FC388B1C877E}"/>
                </a:ext>
              </a:extLst>
            </p:cNvPr>
            <p:cNvSpPr>
              <a:spLocks/>
            </p:cNvSpPr>
            <p:nvPr/>
          </p:nvSpPr>
          <p:spPr>
            <a:xfrm>
              <a:off x="9324975" y="4095750"/>
              <a:ext cx="16192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问答 / 准确</a:t>
              </a:r>
            </a:p>
          </p:txBody>
        </p:sp>
        <p:sp>
          <p:nvSpPr>
            <p:cNvPr id="24" name="boundary">
              <a:extLst>
                <a:ext uri="{FF2B5EF4-FFF2-40B4-BE49-F238E27FC236}">
                  <a16:creationId xmlns:a16="http://schemas.microsoft.com/office/drawing/2014/main" id="{1F42A036-BE3E-4F4D-842E-C1FF079464B1}"/>
                </a:ext>
              </a:extLst>
            </p:cNvPr>
            <p:cNvSpPr>
              <a:spLocks/>
            </p:cNvSpPr>
            <p:nvPr/>
          </p:nvSpPr>
          <p:spPr>
            <a:xfrm>
              <a:off x="476250" y="4810125"/>
              <a:ext cx="10477500" cy="676275"/>
            </a:xfrm>
            <a:prstGeom prst="rect">
              <a:avLst/>
            </a:prstGeom>
            <a:solidFill>
              <a:srgbClr val="F3F6F8"/>
            </a:solidFill>
            <a:ln w="0">
              <a:noFill/>
              <a:prstDash val="solid"/>
            </a:ln>
          </p:spPr>
        </p:sp>
        <p:sp>
          <p:nvSpPr>
            <p:cNvPr id="25" name="5">
              <a:extLst>
                <a:ext uri="{FF2B5EF4-FFF2-40B4-BE49-F238E27FC236}">
                  <a16:creationId xmlns:a16="http://schemas.microsoft.com/office/drawing/2014/main" id="{D99E3CD9-AB8B-42EE-B249-B22D8D26F3D0}"/>
                </a:ext>
              </a:extLst>
            </p:cNvPr>
            <p:cNvSpPr>
              <a:spLocks/>
            </p:cNvSpPr>
            <p:nvPr/>
          </p:nvSpPr>
          <p:spPr>
            <a:xfrm>
              <a:off x="590550" y="4933950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26" name="内部多智能体编排与外部 MCP 开放">
              <a:extLst>
                <a:ext uri="{FF2B5EF4-FFF2-40B4-BE49-F238E27FC236}">
                  <a16:creationId xmlns:a16="http://schemas.microsoft.com/office/drawing/2014/main" id="{E5C3DE29-517A-4DBF-87C8-F523D6DCC5D6}"/>
                </a:ext>
              </a:extLst>
            </p:cNvPr>
            <p:cNvSpPr>
              <a:spLocks/>
            </p:cNvSpPr>
            <p:nvPr/>
          </p:nvSpPr>
          <p:spPr>
            <a:xfrm>
              <a:off x="1123950" y="4848225"/>
              <a:ext cx="46482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l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内部多智能体编排与外部 MCP 开放</a:t>
              </a:r>
            </a:p>
          </p:txBody>
        </p:sp>
        <p:sp>
          <p:nvSpPr>
            <p:cNvPr id="27" name="9 角色 / 统一服务层">
              <a:extLst>
                <a:ext uri="{FF2B5EF4-FFF2-40B4-BE49-F238E27FC236}">
                  <a16:creationId xmlns:a16="http://schemas.microsoft.com/office/drawing/2014/main" id="{723F08B8-96E4-40D4-83A5-F9D53F3AA5A8}"/>
                </a:ext>
              </a:extLst>
            </p:cNvPr>
            <p:cNvSpPr>
              <a:spLocks/>
            </p:cNvSpPr>
            <p:nvPr/>
          </p:nvSpPr>
          <p:spPr>
            <a:xfrm>
              <a:off x="5943600" y="4857750"/>
              <a:ext cx="33337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9 角色 / 统一服务层</a:t>
              </a:r>
            </a:p>
          </p:txBody>
        </p:sp>
        <p:sp>
          <p:nvSpPr>
            <p:cNvPr id="28" name="Agent">
              <a:extLst>
                <a:ext uri="{FF2B5EF4-FFF2-40B4-BE49-F238E27FC236}">
                  <a16:creationId xmlns:a16="http://schemas.microsoft.com/office/drawing/2014/main" id="{13E336DD-71DB-43B3-93BA-CD2B4A0D9C28}"/>
                </a:ext>
              </a:extLst>
            </p:cNvPr>
            <p:cNvSpPr>
              <a:spLocks/>
            </p:cNvSpPr>
            <p:nvPr/>
          </p:nvSpPr>
          <p:spPr>
            <a:xfrm>
              <a:off x="9324975" y="4857750"/>
              <a:ext cx="16192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</a:p>
          </p:txBody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7EE6DBBF-C2E8-405E-9485-57D1C5381C2E}"/>
                </a:ext>
              </a:extLst>
            </p:cNvPr>
            <p:cNvSpPr>
              <a:spLocks/>
            </p:cNvSpPr>
            <p:nvPr/>
          </p:nvSpPr>
          <p:spPr>
            <a:xfrm>
              <a:off x="476250" y="5572125"/>
              <a:ext cx="10477500" cy="67627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30" name="6">
              <a:extLst>
                <a:ext uri="{FF2B5EF4-FFF2-40B4-BE49-F238E27FC236}">
                  <a16:creationId xmlns:a16="http://schemas.microsoft.com/office/drawing/2014/main" id="{A1EDDF9A-1870-4BD2-A240-54F2AB8BF849}"/>
                </a:ext>
              </a:extLst>
            </p:cNvPr>
            <p:cNvSpPr>
              <a:spLocks/>
            </p:cNvSpPr>
            <p:nvPr/>
          </p:nvSpPr>
          <p:spPr>
            <a:xfrm>
              <a:off x="590550" y="5695950"/>
              <a:ext cx="419100" cy="419100"/>
            </a:xfrm>
            <a:prstGeom prst="ellipse">
              <a:avLst/>
            </a:prstGeom>
            <a:solidFill>
              <a:srgbClr val="547D45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</a:p>
          </p:txBody>
        </p:sp>
        <p:sp>
          <p:nvSpPr>
            <p:cNvPr id="31" name="时效可观测与故障自愈">
              <a:extLst>
                <a:ext uri="{FF2B5EF4-FFF2-40B4-BE49-F238E27FC236}">
                  <a16:creationId xmlns:a16="http://schemas.microsoft.com/office/drawing/2014/main" id="{27C07655-AE20-4385-B12F-216BAD9FBDAF}"/>
                </a:ext>
              </a:extLst>
            </p:cNvPr>
            <p:cNvSpPr>
              <a:spLocks/>
            </p:cNvSpPr>
            <p:nvPr/>
          </p:nvSpPr>
          <p:spPr>
            <a:xfrm>
              <a:off x="1123950" y="5610225"/>
              <a:ext cx="46482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l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时效可观测与故障自愈</a:t>
              </a:r>
            </a:p>
          </p:txBody>
        </p:sp>
        <p:sp>
          <p:nvSpPr>
            <p:cNvPr id="32" name="五段时间戳 / 故障恢复">
              <a:extLst>
                <a:ext uri="{FF2B5EF4-FFF2-40B4-BE49-F238E27FC236}">
                  <a16:creationId xmlns:a16="http://schemas.microsoft.com/office/drawing/2014/main" id="{7C0FC4D3-D8C9-4207-8FAD-6C0A45A57F96}"/>
                </a:ext>
              </a:extLst>
            </p:cNvPr>
            <p:cNvSpPr>
              <a:spLocks/>
            </p:cNvSpPr>
            <p:nvPr/>
          </p:nvSpPr>
          <p:spPr>
            <a:xfrm>
              <a:off x="5943600" y="5619750"/>
              <a:ext cx="33337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五段时间戳 / 故障恢复</a:t>
              </a:r>
            </a:p>
          </p:txBody>
        </p:sp>
        <p:sp>
          <p:nvSpPr>
            <p:cNvPr id="33" name="时效 / 自动化">
              <a:extLst>
                <a:ext uri="{FF2B5EF4-FFF2-40B4-BE49-F238E27FC236}">
                  <a16:creationId xmlns:a16="http://schemas.microsoft.com/office/drawing/2014/main" id="{9F43CD16-D7F5-4E9C-9DF6-26D3E7F16EBF}"/>
                </a:ext>
              </a:extLst>
            </p:cNvPr>
            <p:cNvSpPr>
              <a:spLocks/>
            </p:cNvSpPr>
            <p:nvPr/>
          </p:nvSpPr>
          <p:spPr>
            <a:xfrm>
              <a:off x="9324975" y="5619750"/>
              <a:ext cx="16192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时效 / 自动化</a:t>
              </a:r>
            </a:p>
          </p:txBody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6299FF58-38C7-4B1F-AF42-CB2C693B3720}"/>
                </a:ext>
              </a:extLst>
            </p:cNvPr>
            <p:cNvSpPr>
              <a:spLocks/>
            </p:cNvSpPr>
            <p:nvPr/>
          </p:nvSpPr>
          <p:spPr>
            <a:xfrm>
              <a:off x="476250" y="6334125"/>
              <a:ext cx="10477500" cy="676275"/>
            </a:xfrm>
            <a:prstGeom prst="rect">
              <a:avLst/>
            </a:prstGeom>
            <a:solidFill>
              <a:srgbClr val="F3F6F8"/>
            </a:solidFill>
            <a:ln w="0">
              <a:noFill/>
              <a:prstDash val="solid"/>
            </a:ln>
          </p:spPr>
        </p:sp>
        <p:sp>
          <p:nvSpPr>
            <p:cNvPr id="35" name="7">
              <a:extLst>
                <a:ext uri="{FF2B5EF4-FFF2-40B4-BE49-F238E27FC236}">
                  <a16:creationId xmlns:a16="http://schemas.microsoft.com/office/drawing/2014/main" id="{8B488DF8-D82F-45BE-9857-AEBC10042D1C}"/>
                </a:ext>
              </a:extLst>
            </p:cNvPr>
            <p:cNvSpPr>
              <a:spLocks/>
            </p:cNvSpPr>
            <p:nvPr/>
          </p:nvSpPr>
          <p:spPr>
            <a:xfrm>
              <a:off x="590550" y="6457950"/>
              <a:ext cx="419100" cy="419100"/>
            </a:xfrm>
            <a:prstGeom prst="ellipse">
              <a:avLst/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</a:defRPr>
              </a:pPr>
              <a:r>
                <a:rPr sz="17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</a:p>
          </p:txBody>
        </p:sp>
        <p:sp>
          <p:nvSpPr>
            <p:cNvPr id="36" name="开放的插件生态">
              <a:extLst>
                <a:ext uri="{FF2B5EF4-FFF2-40B4-BE49-F238E27FC236}">
                  <a16:creationId xmlns:a16="http://schemas.microsoft.com/office/drawing/2014/main" id="{2A78644A-255A-4CD4-83BA-F39838E3E54F}"/>
                </a:ext>
              </a:extLst>
            </p:cNvPr>
            <p:cNvSpPr>
              <a:spLocks/>
            </p:cNvSpPr>
            <p:nvPr/>
          </p:nvSpPr>
          <p:spPr>
            <a:xfrm>
              <a:off x="1123950" y="6372225"/>
              <a:ext cx="46482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800" b="1">
                  <a:solidFill>
                    <a:srgbClr val="233E54"/>
                  </a:solidFill>
                </a:defRPr>
              </a:defPPr>
            </a:lstStyle>
            <a:p>
              <a:pPr algn="l">
                <a:defRPr sz="1800" b="1">
                  <a:solidFill>
                    <a:srgbClr val="233E54"/>
                  </a:solidFill>
                </a:defRPr>
              </a:pPr>
              <a:r>
                <a:rPr sz="1800" b="1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开放的插件生态</a:t>
              </a:r>
            </a:p>
          </p:txBody>
        </p:sp>
        <p:sp>
          <p:nvSpPr>
            <p:cNvPr id="37" name="8 Schema / 三类扩展点">
              <a:extLst>
                <a:ext uri="{FF2B5EF4-FFF2-40B4-BE49-F238E27FC236}">
                  <a16:creationId xmlns:a16="http://schemas.microsoft.com/office/drawing/2014/main" id="{54270D50-C619-4DF5-94EE-F4E96B83D5AB}"/>
                </a:ext>
              </a:extLst>
            </p:cNvPr>
            <p:cNvSpPr>
              <a:spLocks/>
            </p:cNvSpPr>
            <p:nvPr/>
          </p:nvSpPr>
          <p:spPr>
            <a:xfrm>
              <a:off x="5943600" y="6381750"/>
              <a:ext cx="33337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8 Schema / 三类扩展点</a:t>
              </a:r>
            </a:p>
          </p:txBody>
        </p:sp>
        <p:sp>
          <p:nvSpPr>
            <p:cNvPr id="38" name="Agent / 文档">
              <a:extLst>
                <a:ext uri="{FF2B5EF4-FFF2-40B4-BE49-F238E27FC236}">
                  <a16:creationId xmlns:a16="http://schemas.microsoft.com/office/drawing/2014/main" id="{4F18A6BF-B974-4D5C-859B-B307231FEA74}"/>
                </a:ext>
              </a:extLst>
            </p:cNvPr>
            <p:cNvSpPr>
              <a:spLocks/>
            </p:cNvSpPr>
            <p:nvPr/>
          </p:nvSpPr>
          <p:spPr>
            <a:xfrm>
              <a:off x="9324975" y="6381750"/>
              <a:ext cx="1619250" cy="600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Agent / 文档</a:t>
              </a:r>
            </a:p>
          </p:txBody>
        </p:sp>
        <p:sp>
          <p:nvSpPr>
            <p:cNvPr id="39" name="七项创新均需第四章评测验证；当前未测结果保持占位">
              <a:extLst>
                <a:ext uri="{FF2B5EF4-FFF2-40B4-BE49-F238E27FC236}">
                  <a16:creationId xmlns:a16="http://schemas.microsoft.com/office/drawing/2014/main" id="{BF6FCE9C-A436-4AEA-8767-35CD7FD19A42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七项创新均需第四章评测验证；当前未测结果保持占位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725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F-30 - whole figure">
            <a:extLst>
              <a:ext uri="{FF2B5EF4-FFF2-40B4-BE49-F238E27FC236}">
                <a16:creationId xmlns:a16="http://schemas.microsoft.com/office/drawing/2014/main" id="{B27ABC49-796F-785E-969F-D99D0BC1C0CB}"/>
              </a:ext>
            </a:extLst>
          </p:cNvPr>
          <p:cNvGrpSpPr/>
          <p:nvPr/>
        </p:nvGrpSpPr>
        <p:grpSpPr>
          <a:xfrm>
            <a:off x="276225" y="1533525"/>
            <a:ext cx="10848975" cy="6429375"/>
            <a:chOff x="276225" y="1533525"/>
            <a:chExt cx="10848975" cy="6429375"/>
          </a:xfrm>
        </p:grpSpPr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F55224B4-ED87-4F7B-A289-F7E2C4F489D1}"/>
                </a:ext>
              </a:extLst>
            </p:cNvPr>
            <p:cNvCxnSpPr>
              <a:stCxn id="55" idx="3"/>
              <a:endCxn id="56" idx="1"/>
            </p:cNvCxnSpPr>
            <p:nvPr/>
          </p:nvCxnSpPr>
          <p:spPr>
            <a:xfrm flipH="1">
              <a:off x="10248900" y="44200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A2291972-31EA-48A5-A82D-F284D5153F3E}"/>
                </a:ext>
              </a:extLst>
            </p:cNvPr>
            <p:cNvCxnSpPr>
              <a:stCxn id="51" idx="3"/>
              <a:endCxn id="52" idx="1"/>
            </p:cNvCxnSpPr>
            <p:nvPr/>
          </p:nvCxnSpPr>
          <p:spPr>
            <a:xfrm flipH="1">
              <a:off x="10248900" y="33532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65467A43-C46D-4679-A7C9-F9DE1979A22F}"/>
                </a:ext>
              </a:extLst>
            </p:cNvPr>
            <p:cNvCxnSpPr>
              <a:stCxn id="44" idx="3"/>
              <a:endCxn id="45" idx="1"/>
            </p:cNvCxnSpPr>
            <p:nvPr/>
          </p:nvCxnSpPr>
          <p:spPr>
            <a:xfrm flipH="1">
              <a:off x="8362950" y="44200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00100D2-C04E-4665-817A-756CD8A88816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H="1">
              <a:off x="8362950" y="33532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4564310D-DB6D-4C4D-B618-C6263CDA1EA0}"/>
                </a:ext>
              </a:extLst>
            </p:cNvPr>
            <p:cNvCxnSpPr>
              <a:stCxn id="33" idx="3"/>
              <a:endCxn id="34" idx="1"/>
            </p:cNvCxnSpPr>
            <p:nvPr/>
          </p:nvCxnSpPr>
          <p:spPr>
            <a:xfrm flipH="1">
              <a:off x="6477000" y="44200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14A875B-4151-4CBB-A894-A9BDF4C38E56}"/>
                </a:ext>
              </a:extLst>
            </p:cNvPr>
            <p:cNvCxnSpPr>
              <a:stCxn id="29" idx="3"/>
              <a:endCxn id="30" idx="1"/>
            </p:cNvCxnSpPr>
            <p:nvPr/>
          </p:nvCxnSpPr>
          <p:spPr>
            <a:xfrm flipH="1">
              <a:off x="6477000" y="33532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E119C006-A5F2-4458-A2AE-76F4B389E6E3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 flipH="1">
              <a:off x="4591050" y="44200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78341E4-B204-4905-94B4-9DE643A1099F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 flipH="1">
              <a:off x="4591050" y="33532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8B96059D-20E1-487C-B0C3-10F2B6575067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H="1">
              <a:off x="2705100" y="44200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1880A1C7-87BB-4283-A6D9-9A01103202FE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 flipH="1">
              <a:off x="2705100" y="3353277"/>
              <a:ext cx="953" cy="238125"/>
            </a:xfrm>
            <a:prstGeom prst="straightConnector1">
              <a:avLst/>
            </a:prstGeom>
            <a:ln w="19050">
              <a:solidFill>
                <a:srgbClr val="A6C4DB"/>
              </a:solidFill>
              <a:prstDash val="solid"/>
              <a:tailEnd type="triangle" w="sm" len="sm"/>
            </a:ln>
          </p:spPr>
        </p:cxnSp>
        <p:sp>
          <p:nvSpPr>
            <p:cNvPr id="61" name="输入">
              <a:extLst>
                <a:ext uri="{FF2B5EF4-FFF2-40B4-BE49-F238E27FC236}">
                  <a16:creationId xmlns:a16="http://schemas.microsoft.com/office/drawing/2014/main" id="{453AAB3B-CB20-4165-A8F4-F6AC977F3C26}"/>
                </a:ext>
              </a:extLst>
            </p:cNvPr>
            <p:cNvSpPr>
              <a:spLocks/>
            </p:cNvSpPr>
            <p:nvPr/>
          </p:nvSpPr>
          <p:spPr>
            <a:xfrm>
              <a:off x="276225" y="2676525"/>
              <a:ext cx="1428750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1">
                  <a:solidFill>
                    <a:srgbClr val="657D8E"/>
                  </a:solidFill>
                </a:defRPr>
              </a:pPr>
              <a:r>
                <a:rPr sz="1725" b="1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输入</a:t>
              </a:r>
            </a:p>
          </p:txBody>
        </p:sp>
        <p:sp>
          <p:nvSpPr>
            <p:cNvPr id="2" name="对照 / 方法">
              <a:extLst>
                <a:ext uri="{FF2B5EF4-FFF2-40B4-BE49-F238E27FC236}">
                  <a16:creationId xmlns:a16="http://schemas.microsoft.com/office/drawing/2014/main" id="{AEE3BEE1-34EB-4DA9-9497-80F4EAFFE660}"/>
                </a:ext>
              </a:extLst>
            </p:cNvPr>
            <p:cNvSpPr>
              <a:spLocks/>
            </p:cNvSpPr>
            <p:nvPr/>
          </p:nvSpPr>
          <p:spPr>
            <a:xfrm>
              <a:off x="276225" y="3743325"/>
              <a:ext cx="1428750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1">
                  <a:solidFill>
                    <a:srgbClr val="657D8E"/>
                  </a:solidFill>
                </a:defRPr>
              </a:pPr>
              <a:r>
                <a:rPr sz="1725" b="1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对照 / 方法</a:t>
              </a:r>
            </a:p>
          </p:txBody>
        </p:sp>
        <p:sp>
          <p:nvSpPr>
            <p:cNvPr id="3" name="观测指标">
              <a:extLst>
                <a:ext uri="{FF2B5EF4-FFF2-40B4-BE49-F238E27FC236}">
                  <a16:creationId xmlns:a16="http://schemas.microsoft.com/office/drawing/2014/main" id="{21810B6B-ADBF-47DC-9763-33B48486257C}"/>
                </a:ext>
              </a:extLst>
            </p:cNvPr>
            <p:cNvSpPr>
              <a:spLocks/>
            </p:cNvSpPr>
            <p:nvPr/>
          </p:nvSpPr>
          <p:spPr>
            <a:xfrm>
              <a:off x="276225" y="4810125"/>
              <a:ext cx="1428750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1">
                  <a:solidFill>
                    <a:srgbClr val="657D8E"/>
                  </a:solidFill>
                </a:defRPr>
              </a:pPr>
              <a:r>
                <a:rPr sz="1725" b="1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观测指标</a:t>
              </a:r>
            </a:p>
          </p:txBody>
        </p:sp>
        <p:sp>
          <p:nvSpPr>
            <p:cNvPr id="4" name="验收目标">
              <a:extLst>
                <a:ext uri="{FF2B5EF4-FFF2-40B4-BE49-F238E27FC236}">
                  <a16:creationId xmlns:a16="http://schemas.microsoft.com/office/drawing/2014/main" id="{61C6B4C5-3BAD-43BC-9126-D3B52FF007B9}"/>
                </a:ext>
              </a:extLst>
            </p:cNvPr>
            <p:cNvSpPr>
              <a:spLocks/>
            </p:cNvSpPr>
            <p:nvPr/>
          </p:nvSpPr>
          <p:spPr>
            <a:xfrm>
              <a:off x="276225" y="5876925"/>
              <a:ext cx="1428750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657D8E"/>
                  </a:solidFill>
                </a:defRPr>
              </a:defPPr>
            </a:lstStyle>
            <a:p>
              <a:pPr algn="ctr">
                <a:defRPr sz="1725" b="1">
                  <a:solidFill>
                    <a:srgbClr val="657D8E"/>
                  </a:solidFill>
                </a:defRPr>
              </a:pPr>
              <a:r>
                <a:rPr sz="1725" b="1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验收目标</a:t>
              </a:r>
            </a:p>
          </p:txBody>
        </p:sp>
        <p:sp>
          <p:nvSpPr>
            <p:cNvPr id="5" name="时效">
              <a:extLst>
                <a:ext uri="{FF2B5EF4-FFF2-40B4-BE49-F238E27FC236}">
                  <a16:creationId xmlns:a16="http://schemas.microsoft.com/office/drawing/2014/main" id="{43CCE31E-8BC4-4EAB-964C-602911167E95}"/>
                </a:ext>
              </a:extLst>
            </p:cNvPr>
            <p:cNvSpPr>
              <a:spLocks/>
            </p:cNvSpPr>
            <p:nvPr/>
          </p:nvSpPr>
          <p:spPr>
            <a:xfrm>
              <a:off x="1828800" y="1533525"/>
              <a:ext cx="1752600" cy="495300"/>
            </a:xfrm>
            <a:prstGeom prst="roundRect">
              <a:avLst>
                <a:gd name="adj" fmla="val 7692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时效</a:t>
              </a:r>
            </a:p>
          </p:txBody>
        </p:sp>
        <p:sp>
          <p:nvSpPr>
            <p:cNvPr id="6" name="五段时间戳">
              <a:extLst>
                <a:ext uri="{FF2B5EF4-FFF2-40B4-BE49-F238E27FC236}">
                  <a16:creationId xmlns:a16="http://schemas.microsoft.com/office/drawing/2014/main" id="{E531AC4F-A591-45EC-A28D-1505ECE2A119}"/>
                </a:ext>
              </a:extLst>
            </p:cNvPr>
            <p:cNvSpPr>
              <a:spLocks/>
            </p:cNvSpPr>
            <p:nvPr/>
          </p:nvSpPr>
          <p:spPr>
            <a:xfrm>
              <a:off x="1828800" y="25431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五段时间戳</a:t>
              </a:r>
            </a:p>
          </p:txBody>
        </p:sp>
        <p:sp>
          <p:nvSpPr>
            <p:cNvPr id="7" name="boundary">
              <a:extLst>
                <a:ext uri="{FF2B5EF4-FFF2-40B4-BE49-F238E27FC236}">
                  <a16:creationId xmlns:a16="http://schemas.microsoft.com/office/drawing/2014/main" id="{7E892022-89E7-4AD7-BFD1-9ABB68AFE8C2}"/>
                </a:ext>
              </a:extLst>
            </p:cNvPr>
            <p:cNvSpPr>
              <a:spLocks/>
            </p:cNvSpPr>
            <p:nvPr/>
          </p:nvSpPr>
          <p:spPr>
            <a:xfrm>
              <a:off x="2705100" y="33528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8" name="boundary">
              <a:extLst>
                <a:ext uri="{FF2B5EF4-FFF2-40B4-BE49-F238E27FC236}">
                  <a16:creationId xmlns:a16="http://schemas.microsoft.com/office/drawing/2014/main" id="{BD03FEE6-262D-423D-8D0F-67CD4A47D33D}"/>
                </a:ext>
              </a:extLst>
            </p:cNvPr>
            <p:cNvSpPr>
              <a:spLocks/>
            </p:cNvSpPr>
            <p:nvPr/>
          </p:nvSpPr>
          <p:spPr>
            <a:xfrm>
              <a:off x="2705100" y="3590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0" name="按源分项">
              <a:extLst>
                <a:ext uri="{FF2B5EF4-FFF2-40B4-BE49-F238E27FC236}">
                  <a16:creationId xmlns:a16="http://schemas.microsoft.com/office/drawing/2014/main" id="{D1CB5345-228E-4755-8C1C-35075E13C96F}"/>
                </a:ext>
              </a:extLst>
            </p:cNvPr>
            <p:cNvSpPr>
              <a:spLocks/>
            </p:cNvSpPr>
            <p:nvPr/>
          </p:nvSpPr>
          <p:spPr>
            <a:xfrm>
              <a:off x="1828800" y="36099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按源分项</a:t>
              </a:r>
            </a:p>
          </p:txBody>
        </p:sp>
        <p:sp>
          <p:nvSpPr>
            <p:cNvPr id="11" name="boundary">
              <a:extLst>
                <a:ext uri="{FF2B5EF4-FFF2-40B4-BE49-F238E27FC236}">
                  <a16:creationId xmlns:a16="http://schemas.microsoft.com/office/drawing/2014/main" id="{875C5A69-A132-4715-83F9-0178E8EF831D}"/>
                </a:ext>
              </a:extLst>
            </p:cNvPr>
            <p:cNvSpPr>
              <a:spLocks/>
            </p:cNvSpPr>
            <p:nvPr/>
          </p:nvSpPr>
          <p:spPr>
            <a:xfrm>
              <a:off x="2705100" y="4419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2" name="boundary">
              <a:extLst>
                <a:ext uri="{FF2B5EF4-FFF2-40B4-BE49-F238E27FC236}">
                  <a16:creationId xmlns:a16="http://schemas.microsoft.com/office/drawing/2014/main" id="{4A74E215-B38F-4CFA-94C8-9D6845827535}"/>
                </a:ext>
              </a:extLst>
            </p:cNvPr>
            <p:cNvSpPr>
              <a:spLocks/>
            </p:cNvSpPr>
            <p:nvPr/>
          </p:nvSpPr>
          <p:spPr>
            <a:xfrm>
              <a:off x="2705100" y="46577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4" name="P50 / P95">
              <a:extLst>
                <a:ext uri="{FF2B5EF4-FFF2-40B4-BE49-F238E27FC236}">
                  <a16:creationId xmlns:a16="http://schemas.microsoft.com/office/drawing/2014/main" id="{E3FAF596-6FA1-44AC-89D3-213F874B4EB5}"/>
                </a:ext>
              </a:extLst>
            </p:cNvPr>
            <p:cNvSpPr>
              <a:spLocks/>
            </p:cNvSpPr>
            <p:nvPr/>
          </p:nvSpPr>
          <p:spPr>
            <a:xfrm>
              <a:off x="1828800" y="46767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P50 / P95</a:t>
              </a:r>
            </a:p>
          </p:txBody>
        </p:sp>
        <p:sp>
          <p:nvSpPr>
            <p:cNvPr id="15" name="目标值 ≤6 h （待测）">
              <a:extLst>
                <a:ext uri="{FF2B5EF4-FFF2-40B4-BE49-F238E27FC236}">
                  <a16:creationId xmlns:a16="http://schemas.microsoft.com/office/drawing/2014/main" id="{24B4E001-918A-41BB-B32E-F857EAC7DC39}"/>
                </a:ext>
              </a:extLst>
            </p:cNvPr>
            <p:cNvSpPr>
              <a:spLocks/>
            </p:cNvSpPr>
            <p:nvPr/>
          </p:nvSpPr>
          <p:spPr>
            <a:xfrm>
              <a:off x="1828800" y="5838825"/>
              <a:ext cx="1752600" cy="962025"/>
            </a:xfrm>
            <a:prstGeom prst="roundRect">
              <a:avLst>
                <a:gd name="adj" fmla="val 3960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目标值 ≤6 h</a:t>
              </a:r>
            </a:p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（待测）</a:t>
              </a:r>
            </a:p>
          </p:txBody>
        </p:sp>
        <p:sp>
          <p:nvSpPr>
            <p:cNvPr id="16" name="富化">
              <a:extLst>
                <a:ext uri="{FF2B5EF4-FFF2-40B4-BE49-F238E27FC236}">
                  <a16:creationId xmlns:a16="http://schemas.microsoft.com/office/drawing/2014/main" id="{F378BF33-A180-4902-B46F-75CDBDBEC13D}"/>
                </a:ext>
              </a:extLst>
            </p:cNvPr>
            <p:cNvSpPr>
              <a:spLocks/>
            </p:cNvSpPr>
            <p:nvPr/>
          </p:nvSpPr>
          <p:spPr>
            <a:xfrm>
              <a:off x="3714750" y="1533525"/>
              <a:ext cx="1752600" cy="495300"/>
            </a:xfrm>
            <a:prstGeom prst="roundRect">
              <a:avLst>
                <a:gd name="adj" fmla="val 7692"/>
              </a:avLst>
            </a:prstGeom>
            <a:solidFill>
              <a:srgbClr val="245D8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富化</a:t>
              </a:r>
            </a:p>
          </p:txBody>
        </p:sp>
        <p:sp>
          <p:nvSpPr>
            <p:cNvPr id="17" name="200 条金标">
              <a:extLst>
                <a:ext uri="{FF2B5EF4-FFF2-40B4-BE49-F238E27FC236}">
                  <a16:creationId xmlns:a16="http://schemas.microsoft.com/office/drawing/2014/main" id="{CC4E11C6-FAE5-48F9-A9ED-E2EA0061FA59}"/>
                </a:ext>
              </a:extLst>
            </p:cNvPr>
            <p:cNvSpPr>
              <a:spLocks/>
            </p:cNvSpPr>
            <p:nvPr/>
          </p:nvSpPr>
          <p:spPr>
            <a:xfrm>
              <a:off x="3714750" y="25431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200 条金标</a:t>
              </a:r>
            </a:p>
          </p:txBody>
        </p:sp>
        <p:sp>
          <p:nvSpPr>
            <p:cNvPr id="18" name="boundary">
              <a:extLst>
                <a:ext uri="{FF2B5EF4-FFF2-40B4-BE49-F238E27FC236}">
                  <a16:creationId xmlns:a16="http://schemas.microsoft.com/office/drawing/2014/main" id="{9660B9A4-7899-4186-B3A3-DA4E050CCFDE}"/>
                </a:ext>
              </a:extLst>
            </p:cNvPr>
            <p:cNvSpPr>
              <a:spLocks/>
            </p:cNvSpPr>
            <p:nvPr/>
          </p:nvSpPr>
          <p:spPr>
            <a:xfrm>
              <a:off x="4591050" y="33528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boundary">
              <a:extLst>
                <a:ext uri="{FF2B5EF4-FFF2-40B4-BE49-F238E27FC236}">
                  <a16:creationId xmlns:a16="http://schemas.microsoft.com/office/drawing/2014/main" id="{6C2B42D0-BDAD-4056-88EE-39B410AAD1C5}"/>
                </a:ext>
              </a:extLst>
            </p:cNvPr>
            <p:cNvSpPr>
              <a:spLocks/>
            </p:cNvSpPr>
            <p:nvPr/>
          </p:nvSpPr>
          <p:spPr>
            <a:xfrm>
              <a:off x="4591050" y="3590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Critic 前后">
              <a:extLst>
                <a:ext uri="{FF2B5EF4-FFF2-40B4-BE49-F238E27FC236}">
                  <a16:creationId xmlns:a16="http://schemas.microsoft.com/office/drawing/2014/main" id="{EF19348A-4E50-4C6B-818A-47509E75B68E}"/>
                </a:ext>
              </a:extLst>
            </p:cNvPr>
            <p:cNvSpPr>
              <a:spLocks/>
            </p:cNvSpPr>
            <p:nvPr/>
          </p:nvSpPr>
          <p:spPr>
            <a:xfrm>
              <a:off x="3714750" y="36099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Critic 前后</a:t>
              </a:r>
            </a:p>
          </p:txBody>
        </p:sp>
        <p:sp>
          <p:nvSpPr>
            <p:cNvPr id="22" name="boundary">
              <a:extLst>
                <a:ext uri="{FF2B5EF4-FFF2-40B4-BE49-F238E27FC236}">
                  <a16:creationId xmlns:a16="http://schemas.microsoft.com/office/drawing/2014/main" id="{86B97528-8829-402E-A50A-2D903DCAFA60}"/>
                </a:ext>
              </a:extLst>
            </p:cNvPr>
            <p:cNvSpPr>
              <a:spLocks/>
            </p:cNvSpPr>
            <p:nvPr/>
          </p:nvSpPr>
          <p:spPr>
            <a:xfrm>
              <a:off x="4591050" y="4419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boundary">
              <a:extLst>
                <a:ext uri="{FF2B5EF4-FFF2-40B4-BE49-F238E27FC236}">
                  <a16:creationId xmlns:a16="http://schemas.microsoft.com/office/drawing/2014/main" id="{B0D96F93-2678-4E82-AAE2-77231C1CB664}"/>
                </a:ext>
              </a:extLst>
            </p:cNvPr>
            <p:cNvSpPr>
              <a:spLocks/>
            </p:cNvSpPr>
            <p:nvPr/>
          </p:nvSpPr>
          <p:spPr>
            <a:xfrm>
              <a:off x="4591050" y="46577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5" name="准确率 / κ">
              <a:extLst>
                <a:ext uri="{FF2B5EF4-FFF2-40B4-BE49-F238E27FC236}">
                  <a16:creationId xmlns:a16="http://schemas.microsoft.com/office/drawing/2014/main" id="{26D38A76-A344-45B8-BB90-06C4B07A3FB6}"/>
                </a:ext>
              </a:extLst>
            </p:cNvPr>
            <p:cNvSpPr>
              <a:spLocks/>
            </p:cNvSpPr>
            <p:nvPr/>
          </p:nvSpPr>
          <p:spPr>
            <a:xfrm>
              <a:off x="3714750" y="46767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准确率 / κ</a:t>
              </a:r>
            </a:p>
          </p:txBody>
        </p:sp>
        <p:sp>
          <p:nvSpPr>
            <p:cNvPr id="26" name="目标值 ≥95% （待测）">
              <a:extLst>
                <a:ext uri="{FF2B5EF4-FFF2-40B4-BE49-F238E27FC236}">
                  <a16:creationId xmlns:a16="http://schemas.microsoft.com/office/drawing/2014/main" id="{1FDA557A-2B6E-429B-A015-570C45008671}"/>
                </a:ext>
              </a:extLst>
            </p:cNvPr>
            <p:cNvSpPr>
              <a:spLocks/>
            </p:cNvSpPr>
            <p:nvPr/>
          </p:nvSpPr>
          <p:spPr>
            <a:xfrm>
              <a:off x="3714750" y="5838825"/>
              <a:ext cx="1752600" cy="962025"/>
            </a:xfrm>
            <a:prstGeom prst="roundRect">
              <a:avLst>
                <a:gd name="adj" fmla="val 3960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目标值 ≥95%</a:t>
              </a:r>
            </a:p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（待测）</a:t>
              </a:r>
            </a:p>
          </p:txBody>
        </p:sp>
        <p:sp>
          <p:nvSpPr>
            <p:cNvPr id="27" name="问答">
              <a:extLst>
                <a:ext uri="{FF2B5EF4-FFF2-40B4-BE49-F238E27FC236}">
                  <a16:creationId xmlns:a16="http://schemas.microsoft.com/office/drawing/2014/main" id="{67741B14-F53E-4511-9A91-3BBF922E2BD0}"/>
                </a:ext>
              </a:extLst>
            </p:cNvPr>
            <p:cNvSpPr>
              <a:spLocks/>
            </p:cNvSpPr>
            <p:nvPr/>
          </p:nvSpPr>
          <p:spPr>
            <a:xfrm>
              <a:off x="5600700" y="1533525"/>
              <a:ext cx="1752600" cy="495300"/>
            </a:xfrm>
            <a:prstGeom prst="roundRect">
              <a:avLst>
                <a:gd name="adj" fmla="val 7692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问答</a:t>
              </a:r>
            </a:p>
          </p:txBody>
        </p:sp>
        <p:sp>
          <p:nvSpPr>
            <p:cNvPr id="28" name="约 100 题">
              <a:extLst>
                <a:ext uri="{FF2B5EF4-FFF2-40B4-BE49-F238E27FC236}">
                  <a16:creationId xmlns:a16="http://schemas.microsoft.com/office/drawing/2014/main" id="{47C9E9F4-2E54-4D75-BA16-F625B952DB77}"/>
                </a:ext>
              </a:extLst>
            </p:cNvPr>
            <p:cNvSpPr>
              <a:spLocks/>
            </p:cNvSpPr>
            <p:nvPr/>
          </p:nvSpPr>
          <p:spPr>
            <a:xfrm>
              <a:off x="5600700" y="25431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约 100 题</a:t>
              </a:r>
            </a:p>
          </p:txBody>
        </p:sp>
        <p:sp>
          <p:nvSpPr>
            <p:cNvPr id="29" name="boundary">
              <a:extLst>
                <a:ext uri="{FF2B5EF4-FFF2-40B4-BE49-F238E27FC236}">
                  <a16:creationId xmlns:a16="http://schemas.microsoft.com/office/drawing/2014/main" id="{39445410-D51E-4593-8920-18B094646D5D}"/>
                </a:ext>
              </a:extLst>
            </p:cNvPr>
            <p:cNvSpPr>
              <a:spLocks/>
            </p:cNvSpPr>
            <p:nvPr/>
          </p:nvSpPr>
          <p:spPr>
            <a:xfrm>
              <a:off x="6477000" y="33528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0" name="boundary">
              <a:extLst>
                <a:ext uri="{FF2B5EF4-FFF2-40B4-BE49-F238E27FC236}">
                  <a16:creationId xmlns:a16="http://schemas.microsoft.com/office/drawing/2014/main" id="{6E1C2983-753C-4567-BF3C-4FAB0071FBFE}"/>
                </a:ext>
              </a:extLst>
            </p:cNvPr>
            <p:cNvSpPr>
              <a:spLocks/>
            </p:cNvSpPr>
            <p:nvPr/>
          </p:nvSpPr>
          <p:spPr>
            <a:xfrm>
              <a:off x="6477000" y="3590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2" name="三组对照">
              <a:extLst>
                <a:ext uri="{FF2B5EF4-FFF2-40B4-BE49-F238E27FC236}">
                  <a16:creationId xmlns:a16="http://schemas.microsoft.com/office/drawing/2014/main" id="{A735AF63-B5EA-4EA5-A321-92B5933C4EA0}"/>
                </a:ext>
              </a:extLst>
            </p:cNvPr>
            <p:cNvSpPr>
              <a:spLocks/>
            </p:cNvSpPr>
            <p:nvPr/>
          </p:nvSpPr>
          <p:spPr>
            <a:xfrm>
              <a:off x="5600700" y="36099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三组对照</a:t>
              </a:r>
            </a:p>
          </p:txBody>
        </p:sp>
        <p:sp>
          <p:nvSpPr>
            <p:cNvPr id="33" name="boundary">
              <a:extLst>
                <a:ext uri="{FF2B5EF4-FFF2-40B4-BE49-F238E27FC236}">
                  <a16:creationId xmlns:a16="http://schemas.microsoft.com/office/drawing/2014/main" id="{E16E86AB-4528-4519-BC91-A5700ABFBE32}"/>
                </a:ext>
              </a:extLst>
            </p:cNvPr>
            <p:cNvSpPr>
              <a:spLocks/>
            </p:cNvSpPr>
            <p:nvPr/>
          </p:nvSpPr>
          <p:spPr>
            <a:xfrm>
              <a:off x="6477000" y="4419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4" name="boundary">
              <a:extLst>
                <a:ext uri="{FF2B5EF4-FFF2-40B4-BE49-F238E27FC236}">
                  <a16:creationId xmlns:a16="http://schemas.microsoft.com/office/drawing/2014/main" id="{2FCA1859-65B2-4892-BCE5-E1B38BF0C911}"/>
                </a:ext>
              </a:extLst>
            </p:cNvPr>
            <p:cNvSpPr>
              <a:spLocks/>
            </p:cNvSpPr>
            <p:nvPr/>
          </p:nvSpPr>
          <p:spPr>
            <a:xfrm>
              <a:off x="6477000" y="46577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6" name="答案 / 引用">
              <a:extLst>
                <a:ext uri="{FF2B5EF4-FFF2-40B4-BE49-F238E27FC236}">
                  <a16:creationId xmlns:a16="http://schemas.microsoft.com/office/drawing/2014/main" id="{1EFE1967-2F2A-48DB-B302-5FB18888A3AC}"/>
                </a:ext>
              </a:extLst>
            </p:cNvPr>
            <p:cNvSpPr>
              <a:spLocks/>
            </p:cNvSpPr>
            <p:nvPr/>
          </p:nvSpPr>
          <p:spPr>
            <a:xfrm>
              <a:off x="5600700" y="46767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答案 / 引用</a:t>
              </a:r>
            </a:p>
          </p:txBody>
        </p:sp>
        <p:sp>
          <p:nvSpPr>
            <p:cNvPr id="37" name="目标值待定 （待测）">
              <a:extLst>
                <a:ext uri="{FF2B5EF4-FFF2-40B4-BE49-F238E27FC236}">
                  <a16:creationId xmlns:a16="http://schemas.microsoft.com/office/drawing/2014/main" id="{531E0B9A-7344-4F63-91AB-DDC12D85F710}"/>
                </a:ext>
              </a:extLst>
            </p:cNvPr>
            <p:cNvSpPr>
              <a:spLocks/>
            </p:cNvSpPr>
            <p:nvPr/>
          </p:nvSpPr>
          <p:spPr>
            <a:xfrm>
              <a:off x="5600700" y="5838825"/>
              <a:ext cx="1752600" cy="962025"/>
            </a:xfrm>
            <a:prstGeom prst="roundRect">
              <a:avLst>
                <a:gd name="adj" fmla="val 3960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目标值待定</a:t>
              </a:r>
            </a:p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（待测）</a:t>
              </a:r>
            </a:p>
          </p:txBody>
        </p:sp>
        <p:sp>
          <p:nvSpPr>
            <p:cNvPr id="38" name="自愈">
              <a:extLst>
                <a:ext uri="{FF2B5EF4-FFF2-40B4-BE49-F238E27FC236}">
                  <a16:creationId xmlns:a16="http://schemas.microsoft.com/office/drawing/2014/main" id="{D9467A96-BD91-4664-9775-18E52FABFB71}"/>
                </a:ext>
              </a:extLst>
            </p:cNvPr>
            <p:cNvSpPr>
              <a:spLocks/>
            </p:cNvSpPr>
            <p:nvPr/>
          </p:nvSpPr>
          <p:spPr>
            <a:xfrm>
              <a:off x="7486650" y="1533525"/>
              <a:ext cx="1752600" cy="495300"/>
            </a:xfrm>
            <a:prstGeom prst="roundRect">
              <a:avLst>
                <a:gd name="adj" fmla="val 7692"/>
              </a:avLst>
            </a:prstGeom>
            <a:solidFill>
              <a:srgbClr val="245D8F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自愈</a:t>
              </a:r>
            </a:p>
          </p:txBody>
        </p:sp>
        <p:sp>
          <p:nvSpPr>
            <p:cNvPr id="39" name="6 个场景">
              <a:extLst>
                <a:ext uri="{FF2B5EF4-FFF2-40B4-BE49-F238E27FC236}">
                  <a16:creationId xmlns:a16="http://schemas.microsoft.com/office/drawing/2014/main" id="{815EF535-FF22-4D88-B90A-C6B0873DD7A6}"/>
                </a:ext>
              </a:extLst>
            </p:cNvPr>
            <p:cNvSpPr>
              <a:spLocks/>
            </p:cNvSpPr>
            <p:nvPr/>
          </p:nvSpPr>
          <p:spPr>
            <a:xfrm>
              <a:off x="7486650" y="25431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6 个场景</a:t>
              </a:r>
            </a:p>
          </p:txBody>
        </p:sp>
        <p:sp>
          <p:nvSpPr>
            <p:cNvPr id="40" name="boundary">
              <a:extLst>
                <a:ext uri="{FF2B5EF4-FFF2-40B4-BE49-F238E27FC236}">
                  <a16:creationId xmlns:a16="http://schemas.microsoft.com/office/drawing/2014/main" id="{9CD55361-9132-4344-B3BE-B78F47C1C1D6}"/>
                </a:ext>
              </a:extLst>
            </p:cNvPr>
            <p:cNvSpPr>
              <a:spLocks/>
            </p:cNvSpPr>
            <p:nvPr/>
          </p:nvSpPr>
          <p:spPr>
            <a:xfrm>
              <a:off x="8362950" y="33528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1" name="boundary">
              <a:extLst>
                <a:ext uri="{FF2B5EF4-FFF2-40B4-BE49-F238E27FC236}">
                  <a16:creationId xmlns:a16="http://schemas.microsoft.com/office/drawing/2014/main" id="{E8CF50F4-DE83-488E-9FDB-E454C799DA32}"/>
                </a:ext>
              </a:extLst>
            </p:cNvPr>
            <p:cNvSpPr>
              <a:spLocks/>
            </p:cNvSpPr>
            <p:nvPr/>
          </p:nvSpPr>
          <p:spPr>
            <a:xfrm>
              <a:off x="8362950" y="3590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3" name="故障注入">
              <a:extLst>
                <a:ext uri="{FF2B5EF4-FFF2-40B4-BE49-F238E27FC236}">
                  <a16:creationId xmlns:a16="http://schemas.microsoft.com/office/drawing/2014/main" id="{B7203CD6-B2D7-4009-8650-682FD30CFE68}"/>
                </a:ext>
              </a:extLst>
            </p:cNvPr>
            <p:cNvSpPr>
              <a:spLocks/>
            </p:cNvSpPr>
            <p:nvPr/>
          </p:nvSpPr>
          <p:spPr>
            <a:xfrm>
              <a:off x="7486650" y="36099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故障注入</a:t>
              </a:r>
            </a:p>
          </p:txBody>
        </p:sp>
        <p:sp>
          <p:nvSpPr>
            <p:cNvPr id="44" name="boundary">
              <a:extLst>
                <a:ext uri="{FF2B5EF4-FFF2-40B4-BE49-F238E27FC236}">
                  <a16:creationId xmlns:a16="http://schemas.microsoft.com/office/drawing/2014/main" id="{F7169339-BE23-4DD0-A725-8E8AC363A500}"/>
                </a:ext>
              </a:extLst>
            </p:cNvPr>
            <p:cNvSpPr>
              <a:spLocks/>
            </p:cNvSpPr>
            <p:nvPr/>
          </p:nvSpPr>
          <p:spPr>
            <a:xfrm>
              <a:off x="8362950" y="4419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5" name="boundary">
              <a:extLst>
                <a:ext uri="{FF2B5EF4-FFF2-40B4-BE49-F238E27FC236}">
                  <a16:creationId xmlns:a16="http://schemas.microsoft.com/office/drawing/2014/main" id="{697D625C-5C5F-4EC8-BDBB-9DA4B4FC7316}"/>
                </a:ext>
              </a:extLst>
            </p:cNvPr>
            <p:cNvSpPr>
              <a:spLocks/>
            </p:cNvSpPr>
            <p:nvPr/>
          </p:nvSpPr>
          <p:spPr>
            <a:xfrm>
              <a:off x="8362950" y="46577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成功率 / 恢复">
              <a:extLst>
                <a:ext uri="{FF2B5EF4-FFF2-40B4-BE49-F238E27FC236}">
                  <a16:creationId xmlns:a16="http://schemas.microsoft.com/office/drawing/2014/main" id="{307FD022-70C0-4A36-83A6-C16EDEF1CB8F}"/>
                </a:ext>
              </a:extLst>
            </p:cNvPr>
            <p:cNvSpPr>
              <a:spLocks/>
            </p:cNvSpPr>
            <p:nvPr/>
          </p:nvSpPr>
          <p:spPr>
            <a:xfrm>
              <a:off x="7486650" y="46767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成功率 / 恢复</a:t>
              </a:r>
            </a:p>
          </p:txBody>
        </p:sp>
        <p:sp>
          <p:nvSpPr>
            <p:cNvPr id="48" name="目标值待定 （待测）">
              <a:extLst>
                <a:ext uri="{FF2B5EF4-FFF2-40B4-BE49-F238E27FC236}">
                  <a16:creationId xmlns:a16="http://schemas.microsoft.com/office/drawing/2014/main" id="{68F73EF1-68BB-49EC-B462-25C19B8578FE}"/>
                </a:ext>
              </a:extLst>
            </p:cNvPr>
            <p:cNvSpPr>
              <a:spLocks/>
            </p:cNvSpPr>
            <p:nvPr/>
          </p:nvSpPr>
          <p:spPr>
            <a:xfrm>
              <a:off x="7486650" y="5838825"/>
              <a:ext cx="1752600" cy="962025"/>
            </a:xfrm>
            <a:prstGeom prst="roundRect">
              <a:avLst>
                <a:gd name="adj" fmla="val 3960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目标值待定</a:t>
              </a:r>
            </a:p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（待测）</a:t>
              </a:r>
            </a:p>
          </p:txBody>
        </p:sp>
        <p:sp>
          <p:nvSpPr>
            <p:cNvPr id="49" name="兼容">
              <a:extLst>
                <a:ext uri="{FF2B5EF4-FFF2-40B4-BE49-F238E27FC236}">
                  <a16:creationId xmlns:a16="http://schemas.microsoft.com/office/drawing/2014/main" id="{C395427B-4CBD-4ED3-AB75-FCD44A9A618E}"/>
                </a:ext>
              </a:extLst>
            </p:cNvPr>
            <p:cNvSpPr>
              <a:spLocks/>
            </p:cNvSpPr>
            <p:nvPr/>
          </p:nvSpPr>
          <p:spPr>
            <a:xfrm>
              <a:off x="9372600" y="1533525"/>
              <a:ext cx="1752600" cy="495300"/>
            </a:xfrm>
            <a:prstGeom prst="roundRect">
              <a:avLst>
                <a:gd name="adj" fmla="val 7692"/>
              </a:avLst>
            </a:prstGeom>
            <a:solidFill>
              <a:srgbClr val="277DC3"/>
            </a:solidFill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875" b="1">
                  <a:solidFill>
                    <a:srgbClr val="FFFFFF"/>
                  </a:solidFill>
                </a:defRPr>
              </a:defPPr>
            </a:lstStyle>
            <a:p>
              <a:pPr algn="ctr">
                <a:defRPr sz="1875" b="1">
                  <a:solidFill>
                    <a:srgbClr val="FFFFFF"/>
                  </a:solidFill>
                </a:defRPr>
              </a:pPr>
              <a:r>
                <a: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兼容</a:t>
              </a:r>
            </a:p>
          </p:txBody>
        </p:sp>
        <p:sp>
          <p:nvSpPr>
            <p:cNvPr id="50" name="4 类客户端">
              <a:extLst>
                <a:ext uri="{FF2B5EF4-FFF2-40B4-BE49-F238E27FC236}">
                  <a16:creationId xmlns:a16="http://schemas.microsoft.com/office/drawing/2014/main" id="{039E7E98-5E0C-46F7-882C-223930CC901F}"/>
                </a:ext>
              </a:extLst>
            </p:cNvPr>
            <p:cNvSpPr>
              <a:spLocks/>
            </p:cNvSpPr>
            <p:nvPr/>
          </p:nvSpPr>
          <p:spPr>
            <a:xfrm>
              <a:off x="9372600" y="25431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4 类客户端</a:t>
              </a:r>
            </a:p>
          </p:txBody>
        </p:sp>
        <p:sp>
          <p:nvSpPr>
            <p:cNvPr id="51" name="boundary">
              <a:extLst>
                <a:ext uri="{FF2B5EF4-FFF2-40B4-BE49-F238E27FC236}">
                  <a16:creationId xmlns:a16="http://schemas.microsoft.com/office/drawing/2014/main" id="{942168B7-A883-4610-B471-16613067DAFD}"/>
                </a:ext>
              </a:extLst>
            </p:cNvPr>
            <p:cNvSpPr>
              <a:spLocks/>
            </p:cNvSpPr>
            <p:nvPr/>
          </p:nvSpPr>
          <p:spPr>
            <a:xfrm>
              <a:off x="10248900" y="33528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2" name="boundary">
              <a:extLst>
                <a:ext uri="{FF2B5EF4-FFF2-40B4-BE49-F238E27FC236}">
                  <a16:creationId xmlns:a16="http://schemas.microsoft.com/office/drawing/2014/main" id="{16506D89-2472-482F-8BFC-292CEFC41991}"/>
                </a:ext>
              </a:extLst>
            </p:cNvPr>
            <p:cNvSpPr>
              <a:spLocks/>
            </p:cNvSpPr>
            <p:nvPr/>
          </p:nvSpPr>
          <p:spPr>
            <a:xfrm>
              <a:off x="10248900" y="35909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4" name="远程 / stdio">
              <a:extLst>
                <a:ext uri="{FF2B5EF4-FFF2-40B4-BE49-F238E27FC236}">
                  <a16:creationId xmlns:a16="http://schemas.microsoft.com/office/drawing/2014/main" id="{EDE001A7-D205-46DB-B0CB-F7951AAA7347}"/>
                </a:ext>
              </a:extLst>
            </p:cNvPr>
            <p:cNvSpPr>
              <a:spLocks/>
            </p:cNvSpPr>
            <p:nvPr/>
          </p:nvSpPr>
          <p:spPr>
            <a:xfrm>
              <a:off x="9372600" y="36099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AF4FC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0">
                  <a:solidFill>
                    <a:srgbClr val="233E54"/>
                  </a:solidFill>
                </a:defRPr>
              </a:defPPr>
            </a:lstStyle>
            <a:p>
              <a:pPr algn="ctr">
                <a:defRPr sz="1725" b="0">
                  <a:solidFill>
                    <a:srgbClr val="233E54"/>
                  </a:solidFill>
                </a:defRPr>
              </a:pPr>
              <a:r>
                <a:rPr sz="1725" b="0">
                  <a:solidFill>
                    <a:srgbClr val="233E54"/>
                  </a:solidFill>
                  <a:latin typeface="Microsoft YaHei"/>
                  <a:ea typeface="Microsoft YaHei"/>
                  <a:cs typeface="Microsoft YaHei"/>
                </a:rPr>
                <a:t>远程 / stdio</a:t>
              </a:r>
            </a:p>
          </p:txBody>
        </p:sp>
        <p:sp>
          <p:nvSpPr>
            <p:cNvPr id="55" name="boundary">
              <a:extLst>
                <a:ext uri="{FF2B5EF4-FFF2-40B4-BE49-F238E27FC236}">
                  <a16:creationId xmlns:a16="http://schemas.microsoft.com/office/drawing/2014/main" id="{26A9B7D6-B748-4536-8D2A-29261A36A808}"/>
                </a:ext>
              </a:extLst>
            </p:cNvPr>
            <p:cNvSpPr>
              <a:spLocks/>
            </p:cNvSpPr>
            <p:nvPr/>
          </p:nvSpPr>
          <p:spPr>
            <a:xfrm>
              <a:off x="10248900" y="4419600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6" name="boundary">
              <a:extLst>
                <a:ext uri="{FF2B5EF4-FFF2-40B4-BE49-F238E27FC236}">
                  <a16:creationId xmlns:a16="http://schemas.microsoft.com/office/drawing/2014/main" id="{0EE85B17-FFF8-422A-BA8C-AD457345BCE2}"/>
                </a:ext>
              </a:extLst>
            </p:cNvPr>
            <p:cNvSpPr>
              <a:spLocks/>
            </p:cNvSpPr>
            <p:nvPr/>
          </p:nvSpPr>
          <p:spPr>
            <a:xfrm>
              <a:off x="10248900" y="4657725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8" name="加载 / 续取">
              <a:extLst>
                <a:ext uri="{FF2B5EF4-FFF2-40B4-BE49-F238E27FC236}">
                  <a16:creationId xmlns:a16="http://schemas.microsoft.com/office/drawing/2014/main" id="{11B9CF96-DCCE-4FC3-AE39-838899C8D94F}"/>
                </a:ext>
              </a:extLst>
            </p:cNvPr>
            <p:cNvSpPr>
              <a:spLocks/>
            </p:cNvSpPr>
            <p:nvPr/>
          </p:nvSpPr>
          <p:spPr>
            <a:xfrm>
              <a:off x="9372600" y="4676775"/>
              <a:ext cx="1752600" cy="809625"/>
            </a:xfrm>
            <a:prstGeom prst="roundRect">
              <a:avLst>
                <a:gd name="adj" fmla="val 4706"/>
              </a:avLst>
            </a:prstGeom>
            <a:solidFill>
              <a:srgbClr val="E5F0DA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547D45"/>
                  </a:solidFill>
                </a:defRPr>
              </a:defPPr>
            </a:lstStyle>
            <a:p>
              <a:pPr algn="ctr">
                <a:defRPr sz="1725" b="1">
                  <a:solidFill>
                    <a:srgbClr val="547D45"/>
                  </a:solidFill>
                </a:defRPr>
              </a:pPr>
              <a:r>
                <a:rPr sz="1725" b="1">
                  <a:solidFill>
                    <a:srgbClr val="547D45"/>
                  </a:solidFill>
                  <a:latin typeface="Microsoft YaHei"/>
                  <a:ea typeface="Microsoft YaHei"/>
                  <a:cs typeface="Microsoft YaHei"/>
                </a:rPr>
                <a:t>加载 / 续取</a:t>
              </a:r>
            </a:p>
          </p:txBody>
        </p:sp>
        <p:sp>
          <p:nvSpPr>
            <p:cNvPr id="59" name="目标值待定 （待测）">
              <a:extLst>
                <a:ext uri="{FF2B5EF4-FFF2-40B4-BE49-F238E27FC236}">
                  <a16:creationId xmlns:a16="http://schemas.microsoft.com/office/drawing/2014/main" id="{4FD2E809-3A7A-4FF4-B3A1-C90580D80977}"/>
                </a:ext>
              </a:extLst>
            </p:cNvPr>
            <p:cNvSpPr>
              <a:spLocks/>
            </p:cNvSpPr>
            <p:nvPr/>
          </p:nvSpPr>
          <p:spPr>
            <a:xfrm>
              <a:off x="9372600" y="5838825"/>
              <a:ext cx="1752600" cy="962025"/>
            </a:xfrm>
            <a:prstGeom prst="roundRect">
              <a:avLst>
                <a:gd name="adj" fmla="val 3960"/>
              </a:avLst>
            </a:prstGeom>
            <a:solidFill>
              <a:srgbClr val="FFF1CB"/>
            </a:solidFill>
            <a:ln w="13335">
              <a:solidFill>
                <a:srgbClr val="A6C4DB"/>
              </a:solidFill>
              <a:prstDash val="solid"/>
            </a:ln>
          </p:spPr>
          <p:txBody>
            <a:bodyPr lIns="28575" tIns="28575" rIns="28575" bIns="28575" anchor="ctr"/>
            <a:lstStyle>
              <a:defPPr algn="ctr">
                <a:defRPr sz="1725" b="1">
                  <a:solidFill>
                    <a:srgbClr val="A67A20"/>
                  </a:solidFill>
                </a:defRPr>
              </a:defPPr>
            </a:lstStyle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目标值待定</a:t>
              </a:r>
            </a:p>
            <a:p>
              <a:pPr algn="ctr">
                <a:defRPr sz="1725" b="1">
                  <a:solidFill>
                    <a:srgbClr val="A67A20"/>
                  </a:solidFill>
                </a:defRPr>
              </a:pPr>
              <a:r>
                <a:rPr sz="1725" b="1">
                  <a:solidFill>
                    <a:srgbClr val="A67A20"/>
                  </a:solidFill>
                  <a:latin typeface="Microsoft YaHei"/>
                  <a:ea typeface="Microsoft YaHei"/>
                  <a:cs typeface="Microsoft YaHei"/>
                </a:rPr>
                <a:t>（待测）</a:t>
              </a:r>
            </a:p>
          </p:txBody>
        </p:sp>
        <p:sp>
          <p:nvSpPr>
            <p:cNvPr id="60" name="同模型同提示；保存原始结果；未执行不计为通过">
              <a:extLst>
                <a:ext uri="{FF2B5EF4-FFF2-40B4-BE49-F238E27FC236}">
                  <a16:creationId xmlns:a16="http://schemas.microsoft.com/office/drawing/2014/main" id="{BA39965D-C2D1-4393-B587-3CB280AE8FC3}"/>
                </a:ext>
              </a:extLst>
            </p:cNvPr>
            <p:cNvSpPr>
              <a:spLocks/>
            </p:cNvSpPr>
            <p:nvPr/>
          </p:nvSpPr>
          <p:spPr>
            <a:xfrm>
              <a:off x="428625" y="7334250"/>
              <a:ext cx="10572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28575" tIns="28575" rIns="28575" bIns="28575" anchor="ctr"/>
            <a:lstStyle>
              <a:defPPr algn="l">
                <a:defRPr sz="1725" b="0">
                  <a:solidFill>
                    <a:srgbClr val="657D8E"/>
                  </a:solidFill>
                </a:defRPr>
              </a:defPPr>
            </a:lstStyle>
            <a:p>
              <a:pPr algn="l">
                <a:defRPr sz="1725" b="0">
                  <a:solidFill>
                    <a:srgbClr val="657D8E"/>
                  </a:solidFill>
                </a:defRPr>
              </a:pPr>
              <a:r>
                <a:rPr sz="1725" b="0">
                  <a:solidFill>
                    <a:srgbClr val="657D8E"/>
                  </a:solidFill>
                  <a:latin typeface="Microsoft YaHei"/>
                  <a:ea typeface="Microsoft YaHei"/>
                  <a:cs typeface="Microsoft YaHei"/>
                </a:rPr>
                <a:t>同模型同提示；保存原始结果；未执行不计为通过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7808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2738</Words>
  <Application>Microsoft Office PowerPoint</Application>
  <DocSecurity>0</DocSecurity>
  <PresentationFormat>自定义</PresentationFormat>
  <Paragraphs>715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2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a38529</cp:lastModifiedBy>
  <cp:revision>1</cp:revision>
  <dcterms:created xsi:type="dcterms:W3CDTF">2026-10-16T05:16:51Z</dcterms:created>
  <dcterms:modified xsi:type="dcterms:W3CDTF">2026-10-16T05:17:09Z</dcterms:modified>
</cp:coreProperties>
</file>