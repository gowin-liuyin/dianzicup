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6a9182aea341c5" /><Relationship Type="http://schemas.openxmlformats.org/officeDocument/2006/relationships/extended-properties" Target="/docProps/app.xml" Id="Rd93eda2220fe4b3f" /><Relationship Type="http://schemas.openxmlformats.org/officeDocument/2006/relationships/officeDocument" Target="/ppt/presentation.xml" Id="R9732c64671c249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4783dc0c14adf"/>
  </p:sldMasterIdLst>
  <p:notesMasterIdLst>
    <p:notesMasterId xmlns:r="http://schemas.openxmlformats.org/officeDocument/2006/relationships" r:id="R54ae5b388a0e4a0f"/>
  </p:notesMasterIdLst>
  <p:sldIdLst>
    <p:sldId xmlns:r="http://schemas.openxmlformats.org/officeDocument/2006/relationships" id="256" r:id="R13f80b4b3d9f44ab"/>
    <p:sldId xmlns:r="http://schemas.openxmlformats.org/officeDocument/2006/relationships" id="257" r:id="R2d1ddceec893487a"/>
    <p:sldId xmlns:r="http://schemas.openxmlformats.org/officeDocument/2006/relationships" id="258" r:id="R973db77627ad4717"/>
    <p:sldId xmlns:r="http://schemas.openxmlformats.org/officeDocument/2006/relationships" id="259" r:id="Raac346ae5b6f4cf1"/>
    <p:sldId xmlns:r="http://schemas.openxmlformats.org/officeDocument/2006/relationships" id="260" r:id="R4122c161a0b54852"/>
    <p:sldId xmlns:r="http://schemas.openxmlformats.org/officeDocument/2006/relationships" id="261" r:id="Rd4d23ed2fc074f3c"/>
    <p:sldId xmlns:r="http://schemas.openxmlformats.org/officeDocument/2006/relationships" id="262" r:id="R045c2e47c58e42f4"/>
    <p:sldId xmlns:r="http://schemas.openxmlformats.org/officeDocument/2006/relationships" id="263" r:id="Ref42d22cd4ba4d18"/>
    <p:sldId xmlns:r="http://schemas.openxmlformats.org/officeDocument/2006/relationships" id="264" r:id="R390669a10e7847cb"/>
    <p:sldId xmlns:r="http://schemas.openxmlformats.org/officeDocument/2006/relationships" id="265" r:id="R65ed9bf84d0542b8"/>
    <p:sldId xmlns:r="http://schemas.openxmlformats.org/officeDocument/2006/relationships" id="266" r:id="R0cb8802c73214f21"/>
    <p:sldId xmlns:r="http://schemas.openxmlformats.org/officeDocument/2006/relationships" id="267" r:id="Re9fc74bc2fd044e6"/>
    <p:sldId xmlns:r="http://schemas.openxmlformats.org/officeDocument/2006/relationships" id="268" r:id="R21f0c6a1914d41b8"/>
    <p:sldId xmlns:r="http://schemas.openxmlformats.org/officeDocument/2006/relationships" id="269" r:id="R7e6affae113e4349"/>
    <p:sldId xmlns:r="http://schemas.openxmlformats.org/officeDocument/2006/relationships" id="270" r:id="R7037c1e2f3f94946"/>
    <p:sldId xmlns:r="http://schemas.openxmlformats.org/officeDocument/2006/relationships" id="271" r:id="R663a7af050ba4168"/>
    <p:sldId xmlns:r="http://schemas.openxmlformats.org/officeDocument/2006/relationships" id="272" r:id="R0ad1b1082b0c42f6"/>
    <p:sldId xmlns:r="http://schemas.openxmlformats.org/officeDocument/2006/relationships" id="273" r:id="R5584bc2b6c3d4e69"/>
    <p:sldId xmlns:r="http://schemas.openxmlformats.org/officeDocument/2006/relationships" id="274" r:id="R5070dca024b04ad2"/>
    <p:sldId xmlns:r="http://schemas.openxmlformats.org/officeDocument/2006/relationships" id="275" r:id="R0f1c1175894a423d"/>
    <p:sldId xmlns:r="http://schemas.openxmlformats.org/officeDocument/2006/relationships" id="276" r:id="R6fa1f8d32daf4bf9"/>
    <p:sldId xmlns:r="http://schemas.openxmlformats.org/officeDocument/2006/relationships" id="277" r:id="Rbf8d63701d444ffa"/>
    <p:sldId xmlns:r="http://schemas.openxmlformats.org/officeDocument/2006/relationships" id="278" r:id="Ra09acc8550784736"/>
    <p:sldId xmlns:r="http://schemas.openxmlformats.org/officeDocument/2006/relationships" id="279" r:id="Rba6a349c839c4908"/>
    <p:sldId xmlns:r="http://schemas.openxmlformats.org/officeDocument/2006/relationships" id="280" r:id="R03a0906fa68546c1"/>
    <p:sldId xmlns:r="http://schemas.openxmlformats.org/officeDocument/2006/relationships" id="281" r:id="Rc764a314dede40e0"/>
    <p:sldId xmlns:r="http://schemas.openxmlformats.org/officeDocument/2006/relationships" id="282" r:id="Rdfd1718463cb4e0b"/>
    <p:sldId xmlns:r="http://schemas.openxmlformats.org/officeDocument/2006/relationships" id="283" r:id="R6f9ca631da2b421b"/>
    <p:sldId xmlns:r="http://schemas.openxmlformats.org/officeDocument/2006/relationships" id="284" r:id="R28031cba8b8840e0"/>
  </p:sldIdLst>
  <p:sldSz cx="1143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1508d89b84a98" /><Relationship Type="http://schemas.openxmlformats.org/officeDocument/2006/relationships/slideMaster" Target="/ppt/slideMasters/slideMaster1.xml" Id="Rf4e4783dc0c14adf" /><Relationship Type="http://schemas.openxmlformats.org/officeDocument/2006/relationships/notesMaster" Target="/ppt/notesMasters/notesMaster1.xml" Id="R54ae5b388a0e4a0f" /><Relationship Type="http://schemas.openxmlformats.org/officeDocument/2006/relationships/presProps" Target="/ppt/presProps.xml" Id="Ra8e2af7a715c43b1" /><Relationship Type="http://schemas.openxmlformats.org/officeDocument/2006/relationships/tableStyles" Target="/ppt/tableStyles.xml" Id="Rb2019655dee64493" /><Relationship Type="http://schemas.openxmlformats.org/officeDocument/2006/relationships/slide" Target="/ppt/slides/slide1.xml" Id="R13f80b4b3d9f44ab" /><Relationship Type="http://schemas.openxmlformats.org/officeDocument/2006/relationships/slide" Target="/ppt/slides/slide2.xml" Id="R2d1ddceec893487a" /><Relationship Type="http://schemas.openxmlformats.org/officeDocument/2006/relationships/slide" Target="/ppt/slides/slide3.xml" Id="R973db77627ad4717" /><Relationship Type="http://schemas.openxmlformats.org/officeDocument/2006/relationships/slide" Target="/ppt/slides/slide4.xml" Id="Raac346ae5b6f4cf1" /><Relationship Type="http://schemas.openxmlformats.org/officeDocument/2006/relationships/slide" Target="/ppt/slides/slide5.xml" Id="R4122c161a0b54852" /><Relationship Type="http://schemas.openxmlformats.org/officeDocument/2006/relationships/slide" Target="/ppt/slides/slide6.xml" Id="Rd4d23ed2fc074f3c" /><Relationship Type="http://schemas.openxmlformats.org/officeDocument/2006/relationships/slide" Target="/ppt/slides/slide7.xml" Id="R045c2e47c58e42f4" /><Relationship Type="http://schemas.openxmlformats.org/officeDocument/2006/relationships/slide" Target="/ppt/slides/slide8.xml" Id="Ref42d22cd4ba4d18" /><Relationship Type="http://schemas.openxmlformats.org/officeDocument/2006/relationships/slide" Target="/ppt/slides/slide9.xml" Id="R390669a10e7847cb" /><Relationship Type="http://schemas.openxmlformats.org/officeDocument/2006/relationships/slide" Target="/ppt/slides/slide10.xml" Id="R65ed9bf84d0542b8" /><Relationship Type="http://schemas.openxmlformats.org/officeDocument/2006/relationships/slide" Target="/ppt/slides/slide11.xml" Id="R0cb8802c73214f21" /><Relationship Type="http://schemas.openxmlformats.org/officeDocument/2006/relationships/slide" Target="/ppt/slides/slide12.xml" Id="Re9fc74bc2fd044e6" /><Relationship Type="http://schemas.openxmlformats.org/officeDocument/2006/relationships/slide" Target="/ppt/slides/slide13.xml" Id="R21f0c6a1914d41b8" /><Relationship Type="http://schemas.openxmlformats.org/officeDocument/2006/relationships/slide" Target="/ppt/slides/slide14.xml" Id="R7e6affae113e4349" /><Relationship Type="http://schemas.openxmlformats.org/officeDocument/2006/relationships/slide" Target="/ppt/slides/slide15.xml" Id="R7037c1e2f3f94946" /><Relationship Type="http://schemas.openxmlformats.org/officeDocument/2006/relationships/slide" Target="/ppt/slides/slide16.xml" Id="R663a7af050ba4168" /><Relationship Type="http://schemas.openxmlformats.org/officeDocument/2006/relationships/slide" Target="/ppt/slides/slide17.xml" Id="R0ad1b1082b0c42f6" /><Relationship Type="http://schemas.openxmlformats.org/officeDocument/2006/relationships/slide" Target="/ppt/slides/slide18.xml" Id="R5584bc2b6c3d4e69" /><Relationship Type="http://schemas.openxmlformats.org/officeDocument/2006/relationships/slide" Target="/ppt/slides/slide19.xml" Id="R5070dca024b04ad2" /><Relationship Type="http://schemas.openxmlformats.org/officeDocument/2006/relationships/slide" Target="/ppt/slides/slide20.xml" Id="R0f1c1175894a423d" /><Relationship Type="http://schemas.openxmlformats.org/officeDocument/2006/relationships/slide" Target="/ppt/slides/slide21.xml" Id="R6fa1f8d32daf4bf9" /><Relationship Type="http://schemas.openxmlformats.org/officeDocument/2006/relationships/slide" Target="/ppt/slides/slide22.xml" Id="Rbf8d63701d444ffa" /><Relationship Type="http://schemas.openxmlformats.org/officeDocument/2006/relationships/slide" Target="/ppt/slides/slide23.xml" Id="Ra09acc8550784736" /><Relationship Type="http://schemas.openxmlformats.org/officeDocument/2006/relationships/slide" Target="/ppt/slides/slide24.xml" Id="Rba6a349c839c4908" /><Relationship Type="http://schemas.openxmlformats.org/officeDocument/2006/relationships/slide" Target="/ppt/slides/slide25.xml" Id="R03a0906fa68546c1" /><Relationship Type="http://schemas.openxmlformats.org/officeDocument/2006/relationships/slide" Target="/ppt/slides/slide26.xml" Id="Rc764a314dede40e0" /><Relationship Type="http://schemas.openxmlformats.org/officeDocument/2006/relationships/slide" Target="/ppt/slides/slide27.xml" Id="Rdfd1718463cb4e0b" /><Relationship Type="http://schemas.openxmlformats.org/officeDocument/2006/relationships/slide" Target="/ppt/slides/slide28.xml" Id="R6f9ca631da2b421b" /><Relationship Type="http://schemas.openxmlformats.org/officeDocument/2006/relationships/slide" Target="/ppt/slides/slide29.xml" Id="R28031cba8b88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400689c6449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81fc2a2e04cf1" /><Relationship Type="http://schemas.openxmlformats.org/officeDocument/2006/relationships/notesMaster" Target="/ppt/notesMasters/notesMaster1.xml" Id="Rc19fbea77f43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e659848061477a" /><Relationship Type="http://schemas.openxmlformats.org/officeDocument/2006/relationships/notesMaster" Target="/ppt/notesMasters/notesMaster1.xml" Id="Rcbf61032727c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7754138454eb9" /><Relationship Type="http://schemas.openxmlformats.org/officeDocument/2006/relationships/notesMaster" Target="/ppt/notesMasters/notesMaster1.xml" Id="R2abc0c283b1d43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d340e468f4a36" /><Relationship Type="http://schemas.openxmlformats.org/officeDocument/2006/relationships/notesMaster" Target="/ppt/notesMasters/notesMaster1.xml" Id="R44d43de4d4a842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67981853e34311" /><Relationship Type="http://schemas.openxmlformats.org/officeDocument/2006/relationships/notesMaster" Target="/ppt/notesMasters/notesMaster1.xml" Id="Rab0fd88b4d1d4c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9a3e49a544138" /><Relationship Type="http://schemas.openxmlformats.org/officeDocument/2006/relationships/notesMaster" Target="/ppt/notesMasters/notesMaster1.xml" Id="R20e221db1db0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67c636bc3e4101" /><Relationship Type="http://schemas.openxmlformats.org/officeDocument/2006/relationships/notesMaster" Target="/ppt/notesMasters/notesMaster1.xml" Id="R9f80bc60298641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b8e0d6e5f443cb" /><Relationship Type="http://schemas.openxmlformats.org/officeDocument/2006/relationships/notesMaster" Target="/ppt/notesMasters/notesMaster1.xml" Id="Rb230ac5a91c341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2e89ec918447cf" /><Relationship Type="http://schemas.openxmlformats.org/officeDocument/2006/relationships/notesMaster" Target="/ppt/notesMasters/notesMaster1.xml" Id="R0b5a198bae2249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6725140d274c16" /><Relationship Type="http://schemas.openxmlformats.org/officeDocument/2006/relationships/notesMaster" Target="/ppt/notesMasters/notesMaster1.xml" Id="R7dbba7a8380348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1efbab3aef434d" /><Relationship Type="http://schemas.openxmlformats.org/officeDocument/2006/relationships/notesMaster" Target="/ppt/notesMasters/notesMaster1.xml" Id="Rf0584b4ed4a948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88cc7b6c84965" /><Relationship Type="http://schemas.openxmlformats.org/officeDocument/2006/relationships/notesMaster" Target="/ppt/notesMasters/notesMaster1.xml" Id="Rf95bce72e25b42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b643e437149e1" /><Relationship Type="http://schemas.openxmlformats.org/officeDocument/2006/relationships/notesMaster" Target="/ppt/notesMasters/notesMaster1.xml" Id="R3d8b062c0c9d42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0f74e3819c46f0" /><Relationship Type="http://schemas.openxmlformats.org/officeDocument/2006/relationships/notesMaster" Target="/ppt/notesMasters/notesMaster1.xml" Id="R54c878d729284b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dc261366994a48" /><Relationship Type="http://schemas.openxmlformats.org/officeDocument/2006/relationships/notesMaster" Target="/ppt/notesMasters/notesMaster1.xml" Id="Rf5187d5b69f64a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4355ad59d143c4" /><Relationship Type="http://schemas.openxmlformats.org/officeDocument/2006/relationships/notesMaster" Target="/ppt/notesMasters/notesMaster1.xml" Id="R076f759fd97740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8acaf454704b51" /><Relationship Type="http://schemas.openxmlformats.org/officeDocument/2006/relationships/notesMaster" Target="/ppt/notesMasters/notesMaster1.xml" Id="R1fec85260a764a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3310707a7a43d1" /><Relationship Type="http://schemas.openxmlformats.org/officeDocument/2006/relationships/notesMaster" Target="/ppt/notesMasters/notesMaster1.xml" Id="R07a9bd047b114e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55870939524a8a" /><Relationship Type="http://schemas.openxmlformats.org/officeDocument/2006/relationships/notesMaster" Target="/ppt/notesMasters/notesMaster1.xml" Id="R48d87379c83147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7427c7becd47fd" /><Relationship Type="http://schemas.openxmlformats.org/officeDocument/2006/relationships/notesMaster" Target="/ppt/notesMasters/notesMaster1.xml" Id="R3474fe76b81d45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6c0fc239a54dd6" /><Relationship Type="http://schemas.openxmlformats.org/officeDocument/2006/relationships/notesMaster" Target="/ppt/notesMasters/notesMaster1.xml" Id="R1396b6d8f7e340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ad2104f6c14e79" /><Relationship Type="http://schemas.openxmlformats.org/officeDocument/2006/relationships/notesMaster" Target="/ppt/notesMasters/notesMaster1.xml" Id="Ra8d4c60fa3cc46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c0f5f989094321" /><Relationship Type="http://schemas.openxmlformats.org/officeDocument/2006/relationships/notesMaster" Target="/ppt/notesMasters/notesMaster1.xml" Id="R7105435894684d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d4428611c74037" /><Relationship Type="http://schemas.openxmlformats.org/officeDocument/2006/relationships/notesMaster" Target="/ppt/notesMasters/notesMaster1.xml" Id="R38434a61faa443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6ca4d656e94291" /><Relationship Type="http://schemas.openxmlformats.org/officeDocument/2006/relationships/notesMaster" Target="/ppt/notesMasters/notesMaster1.xml" Id="R4da0bd75ecf54bc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ba78fdb8fb4deb" /><Relationship Type="http://schemas.openxmlformats.org/officeDocument/2006/relationships/notesMaster" Target="/ppt/notesMasters/notesMaster1.xml" Id="R5002a54d72904f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dccc24eec54128" /><Relationship Type="http://schemas.openxmlformats.org/officeDocument/2006/relationships/notesMaster" Target="/ppt/notesMasters/notesMaster1.xml" Id="R9c2a054a55ee4f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5a23fcede194cb7" /><Relationship Type="http://schemas.openxmlformats.org/officeDocument/2006/relationships/notesMaster" Target="/ppt/notesMasters/notesMaster1.xml" Id="Rfbff36a9d27e422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56802a0afc4137" /><Relationship Type="http://schemas.openxmlformats.org/officeDocument/2006/relationships/notesMaster" Target="/ppt/notesMasters/notesMaster1.xml" Id="R1721f140c4fa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技术内容沿用 ShaoWang-技术报告.docx 与原图源，依据 design-dossier.md D3.1。设计参数不代表已测或已部署。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技术内容沿用 ShaoWang-技术报告.docx 与原图源，依据 design-dossier.md D1.1、D3.2。设计参数不代表已测或已部署。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技术内容沿用 ShaoWang-技术报告.docx 与原图源，依据 design-dossier.md D3.2、D2.8。设计参数不代表已测或已部署。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技术内容沿用 ShaoWang-技术报告.docx 与原图源，依据 design-dossier.md D3.2、D5.3。设计参数不代表已测或已部署。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技术内容沿用 ShaoWang-技术报告.docx 与原图源，依据 design-dossier.md D3.3、D3.4。设计参数不代表已测或已部署。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技术内容沿用 ShaoWang-技术报告.docx 与原图源，依据 design-dossier.md D4.1、D4.2。设计参数不代表已测或已部署。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技术内容沿用 ShaoWang-技术报告.docx 与原图源，依据 design-dossier.md D4.3。设计参数不代表已测或已部署。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技术内容沿用 ShaoWang-技术报告.docx 与原图源，依据 design-dossier.md D4.4。设计参数不代表已测或已部署。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技术内容沿用 ShaoWang-技术报告.docx 与原图源，依据 design-dossier.md D5.1。设计参数不代表已测或已部署。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技术内容沿用 ShaoWang-技术报告.docx 与原图源，依据 design-dossier.md D5.2。设计参数不代表已测或已部署。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技术内容沿用 ShaoWang-技术报告.docx 与原图源，依据 design-dossier.md D5.4。设计参数不代表已测或已部署。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技术内容沿用 ShaoWang-技术报告.docx 与原图源，依据 design-dossier.md D6.1。设计参数不代表已测或已部署。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技术内容沿用 ShaoWang-技术报告.docx 与原图源，依据 design-dossier.md D18.2。设计参数不代表已测或已部署。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技术内容沿用 ShaoWang-技术报告.docx 与原图源，依据 design-dossier.md D6.3。设计参数不代表已测或已部署。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技术内容沿用 ShaoWang-技术报告.docx 与原图源，依据 design-dossier.md D6.4。设计参数不代表已测或已部署。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技术内容沿用 ShaoWang-技术报告.docx 与原图源，依据 design-dossier.md D6.5。设计参数不代表已测或已部署。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技术内容沿用 ShaoWang-技术报告.docx 与原图源，依据 design-dossier.md D7.1–D7.3。设计参数不代表已测或已部署。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技术内容沿用 ShaoWang-技术报告.docx 与原图源，依据 design-dossier.md D7.2。设计参数不代表已测或已部署。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技术内容沿用 ShaoWang-技术报告.docx 与原图源，依据 design-dossier.md D8、D9.3。设计参数不代表已测或已部署。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D9.1、D9.2。设计参数不代表已测或已部署。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技术内容沿用 ShaoWang-技术报告.docx 与原图源，依据 design-dossier.md D10。设计参数不代表已测或已部署。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技术内容沿用 ShaoWang-技术报告.docx 与原图源，依据 design-dossier.md D3.5。设计参数不代表已测或已部署。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技术内容沿用 ShaoWang-技术报告.docx 与原图源，依据 design-dossier.md D11.2、D2.7。设计参数不代表已测或已部署。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技术内容沿用 ShaoWang-技术报告.docx 与原图源，依据 design-dossier.md D12.1、D12.2。设计参数不代表已测或已部署。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技术内容沿用 ShaoWang-技术报告.docx 与原图源，依据 design-dossier.md D13。设计参数不代表已测或已部署。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技术内容沿用 ShaoWang-技术报告.docx 与原图源，依据 design-dossier.md D2.8、D16.3。设计参数不代表已测或已部署。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技术内容沿用 ShaoWang-技术报告.docx 与原图源，依据 design-dossier.md D17。设计参数不代表已测或已部署。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技术内容沿用 ShaoWang-技术报告.docx 与原图源，依据 design-dossier.md D16。设计参数不代表已测或已部署。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33ddd11374e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680a5fe0f43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8f78d928f46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7c9d413b441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2d1ba7fff49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bc3942685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B7E6C8-7507-478C-A7A5-7AFF6909D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40500C-634A-4172-BE08-00EACDB92C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A3A94B-D679-4D88-85C4-C34FC5CD6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61A95D-FF5D-4DB4-B31C-99C4F8B03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34AB44-E874-4AED-B386-480240C1D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00F8FF-ECCF-4C0B-87F1-1A010CE5B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336312-38CE-4448-B13A-16B571C28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312DFD-413E-4461-A42C-2377E3C938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1DF06D-C2AD-43D3-9F6C-05D0FAA7D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DDF5D8-88F0-4300-A2AA-A1BA5AC41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c7fcd0a2414a3c" /><Relationship Type="http://schemas.openxmlformats.org/officeDocument/2006/relationships/slideLayout" Target="/ppt/slideLayouts/slideLayout1.xml" Id="R86142388403444dd" /><Relationship Type="http://schemas.openxmlformats.org/officeDocument/2006/relationships/slideLayout" Target="/ppt/slideLayouts/slideLayout2.xml" Id="R56a8f0bec56841df" /><Relationship Type="http://schemas.openxmlformats.org/officeDocument/2006/relationships/slideLayout" Target="/ppt/slideLayouts/slideLayout3.xml" Id="R1b694cba9a7541de" /><Relationship Type="http://schemas.openxmlformats.org/officeDocument/2006/relationships/slideLayout" Target="/ppt/slideLayouts/slideLayout4.xml" Id="Rd31c805c6b574f1a" /><Relationship Type="http://schemas.openxmlformats.org/officeDocument/2006/relationships/slideLayout" Target="/ppt/slideLayouts/slideLayout5.xml" Id="R600712249c5248ce" /><Relationship Type="http://schemas.openxmlformats.org/officeDocument/2006/relationships/slideLayout" Target="/ppt/slideLayouts/slideLayout6.xml" Id="R4e02e765ec26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142388403444dd"/>
    <p:sldLayoutId xmlns:r="http://schemas.openxmlformats.org/officeDocument/2006/relationships" id="2147483650" r:id="R56a8f0bec56841df"/>
    <p:sldLayoutId xmlns:r="http://schemas.openxmlformats.org/officeDocument/2006/relationships" id="2147483651" r:id="R1b694cba9a7541de"/>
    <p:sldLayoutId xmlns:r="http://schemas.openxmlformats.org/officeDocument/2006/relationships" id="2147483652" r:id="Rd31c805c6b574f1a"/>
    <p:sldLayoutId xmlns:r="http://schemas.openxmlformats.org/officeDocument/2006/relationships" id="2147483653" r:id="R600712249c5248ce"/>
    <p:sldLayoutId xmlns:r="http://schemas.openxmlformats.org/officeDocument/2006/relationships" id="2147483654" r:id="R4e02e765ec26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9722233ab48bd" /><Relationship Type="http://schemas.openxmlformats.org/officeDocument/2006/relationships/notesSlide" Target="/ppt/notesSlides/notesSlide1.xml" Id="Rca402dcfc3584e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860c457c4425c" /><Relationship Type="http://schemas.openxmlformats.org/officeDocument/2006/relationships/notesSlide" Target="/ppt/notesSlides/notesSlide2.xml" Id="Rf94e9d6c1b0a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607b725804401" /><Relationship Type="http://schemas.openxmlformats.org/officeDocument/2006/relationships/notesSlide" Target="/ppt/notesSlides/notesSlide3.xml" Id="R2fc3cdbe8da840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3213573e9415d" /><Relationship Type="http://schemas.openxmlformats.org/officeDocument/2006/relationships/notesSlide" Target="/ppt/notesSlides/notesSlide4.xml" Id="R6a2b4c4a148242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a795f707b417d" /><Relationship Type="http://schemas.openxmlformats.org/officeDocument/2006/relationships/notesSlide" Target="/ppt/notesSlides/notesSlide5.xml" Id="R9d7054be4a14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89d910d7340d8" /><Relationship Type="http://schemas.openxmlformats.org/officeDocument/2006/relationships/notesSlide" Target="/ppt/notesSlides/notesSlide6.xml" Id="Rf326e8dfe8de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b053771444925" /><Relationship Type="http://schemas.openxmlformats.org/officeDocument/2006/relationships/notesSlide" Target="/ppt/notesSlides/notesSlide7.xml" Id="R779dd2e31812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14fef53304a60" /><Relationship Type="http://schemas.openxmlformats.org/officeDocument/2006/relationships/notesSlide" Target="/ppt/notesSlides/notesSlide8.xml" Id="R4df892a7e4aa4b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ef1509f5a47a1" /><Relationship Type="http://schemas.openxmlformats.org/officeDocument/2006/relationships/notesSlide" Target="/ppt/notesSlides/notesSlide9.xml" Id="Rad403b6d825e48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d38bbfe9f4a31" /><Relationship Type="http://schemas.openxmlformats.org/officeDocument/2006/relationships/notesSlide" Target="/ppt/notesSlides/notesSlide10.xml" Id="R0fc36e328b3a49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b900793c44f40" /><Relationship Type="http://schemas.openxmlformats.org/officeDocument/2006/relationships/notesSlide" Target="/ppt/notesSlides/notesSlide11.xml" Id="Rb9154dcf44d14c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b1f4c61f443c3" /><Relationship Type="http://schemas.openxmlformats.org/officeDocument/2006/relationships/notesSlide" Target="/ppt/notesSlides/notesSlide12.xml" Id="R0e836ffcd72b43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f3605563f40e7" /><Relationship Type="http://schemas.openxmlformats.org/officeDocument/2006/relationships/notesSlide" Target="/ppt/notesSlides/notesSlide13.xml" Id="R1ebbc88ac08a4b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071b4de1f4818" /><Relationship Type="http://schemas.openxmlformats.org/officeDocument/2006/relationships/notesSlide" Target="/ppt/notesSlides/notesSlide14.xml" Id="R5c9fcadfb12f48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6eacd274b40ad" /><Relationship Type="http://schemas.openxmlformats.org/officeDocument/2006/relationships/notesSlide" Target="/ppt/notesSlides/notesSlide15.xml" Id="R3b11bf43312f41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f895dcf0d4c94" /><Relationship Type="http://schemas.openxmlformats.org/officeDocument/2006/relationships/notesSlide" Target="/ppt/notesSlides/notesSlide16.xml" Id="R8cee678167534b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7be5b0a8e44ad" /><Relationship Type="http://schemas.openxmlformats.org/officeDocument/2006/relationships/notesSlide" Target="/ppt/notesSlides/notesSlide17.xml" Id="R763376b874cf42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d2a375cc74797" /><Relationship Type="http://schemas.openxmlformats.org/officeDocument/2006/relationships/notesSlide" Target="/ppt/notesSlides/notesSlide18.xml" Id="R93325c4f7d754e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64179e7de404e" /><Relationship Type="http://schemas.openxmlformats.org/officeDocument/2006/relationships/notesSlide" Target="/ppt/notesSlides/notesSlide19.xml" Id="R5bb379fd18d44f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8b47e430a4a0c" /><Relationship Type="http://schemas.openxmlformats.org/officeDocument/2006/relationships/notesSlide" Target="/ppt/notesSlides/notesSlide20.xml" Id="R510d01fca07b43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6092dba194074" /><Relationship Type="http://schemas.openxmlformats.org/officeDocument/2006/relationships/notesSlide" Target="/ppt/notesSlides/notesSlide21.xml" Id="R24b44846e89648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ecd73930f4eeb" /><Relationship Type="http://schemas.openxmlformats.org/officeDocument/2006/relationships/notesSlide" Target="/ppt/notesSlides/notesSlide22.xml" Id="R4e896e9354134a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06765bd814cc9" /><Relationship Type="http://schemas.openxmlformats.org/officeDocument/2006/relationships/notesSlide" Target="/ppt/notesSlides/notesSlide23.xml" Id="Ra44f8b4a4ccf48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a9e34087545b8" /><Relationship Type="http://schemas.openxmlformats.org/officeDocument/2006/relationships/notesSlide" Target="/ppt/notesSlides/notesSlide24.xml" Id="R4e5089398f3d46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42585cc644c76" /><Relationship Type="http://schemas.openxmlformats.org/officeDocument/2006/relationships/notesSlide" Target="/ppt/notesSlides/notesSlide25.xml" Id="R1292ba1b6cf845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8491d3af64c0f" /><Relationship Type="http://schemas.openxmlformats.org/officeDocument/2006/relationships/notesSlide" Target="/ppt/notesSlides/notesSlide26.xml" Id="R1a437588541d4c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e20c451f649ac" /><Relationship Type="http://schemas.openxmlformats.org/officeDocument/2006/relationships/notesSlide" Target="/ppt/notesSlides/notesSlide27.xml" Id="Re823209ce7b044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2c77af6984293" /><Relationship Type="http://schemas.openxmlformats.org/officeDocument/2006/relationships/notesSlide" Target="/ppt/notesSlides/notesSlide28.xml" Id="R2f98c96a6ce740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08a24b08f4222" /><Relationship Type="http://schemas.openxmlformats.org/officeDocument/2006/relationships/notesSlide" Target="/ppt/notesSlides/notesSlide29.xml" Id="R169d33dd967c4d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46CD20-0F68-4B7C-BFAD-B3DDE0B4946D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 flipV="1">
            <a:off x="295275" y="1648302"/>
            <a:ext cx="953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ADD675-82EB-4CEB-A0FD-DBF072AF76A5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8772525" y="1457802"/>
            <a:ext cx="953" cy="528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</a:ln>
        </p:spPr>
      </p:cxnSp>
      <p:sp>
        <p:nvSpPr>
          <p:cNvPr id="4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A741FC08-698E-462F-B2D7-FB5D62E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54680BF3-2EFE-4F81-A608-2616CA4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DC7AFAF-49E3-423C-B906-38B033D1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4" name="接入层">
            <a:extLst xmlns:a="http://schemas.openxmlformats.org/drawingml/2006/main">
              <a:ext uri="{FF2B5EF4-FFF2-40B4-BE49-F238E27FC236}">
                <a16:creationId xmlns:a16="http://schemas.microsoft.com/office/drawing/2014/main" id="{D2891CD8-1C02-41D7-9126-7E7F01F7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430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5" name="Web / MCP 7 工具 / OpenAPI CLI / Agent Plugins">
            <a:extLst xmlns:a="http://schemas.openxmlformats.org/drawingml/2006/main">
              <a:ext uri="{FF2B5EF4-FFF2-40B4-BE49-F238E27FC236}">
                <a16:creationId xmlns:a16="http://schemas.microsoft.com/office/drawing/2014/main" id="{1DBF02A5-31C0-4C55-954B-7B764FF7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 / MCP 7 工具 / OpenAPI</a:t>
            </a:r>
          </a:p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CLI / Agent Plugins</a:t>
            </a:r>
          </a:p>
        </p:txBody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182FD59-8E73-4CED-96AE-E7889904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4BEB08A5-BA76-42BF-BEC4-E504983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360E796-100B-4A5F-BC5D-29F2CED8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9" name="服务层">
            <a:extLst xmlns:a="http://schemas.openxmlformats.org/drawingml/2006/main">
              <a:ext uri="{FF2B5EF4-FFF2-40B4-BE49-F238E27FC236}">
                <a16:creationId xmlns:a16="http://schemas.microsoft.com/office/drawing/2014/main" id="{41D4EA43-0F21-4747-A7EC-AAF5374F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860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0" name="intel-core    GraphRAG   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168A7C08-678B-4E4C-9D7F-AF820F88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    GraphRAG    鉴权与结果裁剪</a:t>
            </a:r>
          </a:p>
        </p:txBody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170168FF-FD79-42F5-8C31-17C4507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AA1D8480-EAA0-4DFE-9B8D-8705B9E3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F4D5EEE-EFB5-4A82-A714-364384B4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4082FF12-F2ED-4489-876A-92E0C5A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智能体编排层</a:t>
            </a:r>
          </a:p>
        </p:txBody>
      </p:sp>
      <p:sp>
        <p:nvSpPr>
          <p:cNvPr id="15" name="Orchestrator + 8 个角色    LangGraph">
            <a:extLst xmlns:a="http://schemas.openxmlformats.org/drawingml/2006/main">
              <a:ext uri="{FF2B5EF4-FFF2-40B4-BE49-F238E27FC236}">
                <a16:creationId xmlns:a16="http://schemas.microsoft.com/office/drawing/2014/main" id="{F30E221F-AF6F-4A68-AC66-8F71CA0A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 + 8 个角色    LangGraph</a:t>
            </a:r>
          </a:p>
        </p:txBody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7C432C97-1754-42C7-A24E-E7C76777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21E04B75-62E5-4FAD-811A-56F29699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C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E5E254E-BC61-4AC6-ACF1-8A64435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9" name="知识层">
            <a:extLst xmlns:a="http://schemas.openxmlformats.org/drawingml/2006/main">
              <a:ext uri="{FF2B5EF4-FFF2-40B4-BE49-F238E27FC236}">
                <a16:creationId xmlns:a16="http://schemas.microsoft.com/office/drawing/2014/main" id="{1FF7B8D7-DE59-43D0-AA76-3187FCA9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7197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0" name="PostgreSQL + pgvector    Neo4j    OpenSearch MinIO    Redis Streams 或 NATS JetStream">
            <a:extLst xmlns:a="http://schemas.openxmlformats.org/drawingml/2006/main">
              <a:ext uri="{FF2B5EF4-FFF2-40B4-BE49-F238E27FC236}">
                <a16:creationId xmlns:a16="http://schemas.microsoft.com/office/drawing/2014/main" id="{3154F97E-6136-45D9-A1A4-17B88DB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9577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PostgreSQL + pgvector    Neo4j    OpenSearch</a:t>
            </a:r>
          </a:p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    Redis Streams 或 NATS JetStream</a:t>
            </a:r>
          </a:p>
        </p:txBody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DCAF821-02DA-4B78-A336-A8BE016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C75EEF06-7FF2-4589-A8D4-77B42552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FC62075-AFF1-47D5-9677-91FE014E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4" name="采集层">
            <a:extLst xmlns:a="http://schemas.openxmlformats.org/drawingml/2006/main">
              <a:ext uri="{FF2B5EF4-FFF2-40B4-BE49-F238E27FC236}">
                <a16:creationId xmlns:a16="http://schemas.microsoft.com/office/drawing/2014/main" id="{41F13174-27A6-451A-823A-C44CE93C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149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25" name="Connector × N   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0CCB844C-A4B2-4C5F-B8B9-20B6635A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Connector × N    自有仓库 webhook</a:t>
            </a:r>
          </a:p>
        </p:txBody>
      </p:sp>
      <p:sp>
        <p:nvSpPr>
          <p:cNvPr id="2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CB13995-091F-4FF4-A7F4-9FEBA01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622AE6E5-E806-481F-B9B5-EC15C3F7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4F65D23-08B1-463C-837E-208E661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9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584ACB85-509F-454B-9F9A-17D864A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2579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数据源层</a:t>
            </a:r>
          </a:p>
        </p:txBody>
      </p:sp>
      <p:sp>
        <p:nvSpPr>
          <p:cNvPr id="30" name="9 类来源    三级可信度    分级轮询">
            <a:extLst xmlns:a="http://schemas.openxmlformats.org/drawingml/2006/main">
              <a:ext uri="{FF2B5EF4-FFF2-40B4-BE49-F238E27FC236}">
                <a16:creationId xmlns:a16="http://schemas.microsoft.com/office/drawing/2014/main" id="{41A67165-97F6-4C6E-9FCB-2CE8BFA2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817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    三级可信度    分级轮询</a:t>
            </a:r>
          </a:p>
        </p:txBody>
      </p:sp>
      <p:sp>
        <p:nvSpPr>
          <p:cNvPr id="31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DC4741C8-BA73-4607-88A8-12A649F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</a:t>
            </a:r>
          </a:p>
        </p:txBody>
      </p:sp>
      <p:sp>
        <p:nvSpPr>
          <p:cNvPr id="32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CB7E9C89-D705-4623-86A1-18607D5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可信与裁决</a:t>
            </a:r>
          </a:p>
        </p:txBody>
      </p:sp>
      <p:sp>
        <p:nvSpPr>
          <p:cNvPr id="33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0EF3A6AC-759D-4AD4-BEBB-0B7E4B3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  <p:sp>
        <p:nvSpPr>
          <p:cNvPr id="34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5A6AAF34-4EC0-4FE6-826C-64A85D10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14975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开放生态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B7F882C2-1A90-43D1-A3CF-9CEEE21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DD47DF7B-F767-4DEC-AA5A-51196C7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674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9E602BBB-EB30-4D52-B872-83B327D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6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AD9E0914-8FDD-40E2-9496-5E7590B0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FDE54AA7-FE5A-4A46-9C41-9C9F2873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PostgreSQL 是事实源；outbox 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337317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33FB8-DAC5-4942-B8FF-8591EF48E18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715000" y="46101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2A4C3-CAB4-4C75-B1FF-A766C3E165D1}"/>
              </a:ext>
            </a:extLst>
          </p:cNvPr>
          <p:cNvCxnSpPr>
            <a:stCxn xmlns:a="http://schemas.openxmlformats.org/drawingml/2006/main" id="10" idx="4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7381875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39189-B8BA-4008-9215-23D41C0BEA79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3333750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60A61-331C-43E4-BC6D-5EBC5CB4CB73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 flipV="1">
            <a:off x="204787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CEF44-2F78-4018-8851-A4543C0AA5FF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047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32DBD-327D-4974-8122-8FB13A558E8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7000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E42E3-826E-427A-8E61-73652819495A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938212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45F50-95C0-491B-BE19-E18565F67B9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4703" y="2286477"/>
            <a:ext cx="4761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E1063764-EE31-4CCD-B9DB-8DE71AB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571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监测">
            <a:extLst xmlns:a="http://schemas.openxmlformats.org/drawingml/2006/main">
              <a:ext uri="{FF2B5EF4-FFF2-40B4-BE49-F238E27FC236}">
                <a16:creationId xmlns:a16="http://schemas.microsoft.com/office/drawing/2014/main" id="{F6897AE9-65DF-42BB-851D-FD3CE98B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监测</a:t>
            </a:r>
          </a:p>
        </p:txBody>
      </p:sp>
      <p:sp>
        <p:nvSpPr>
          <p:cNvPr id="3" name="9 类来源 持续发现与归一">
            <a:extLst xmlns:a="http://schemas.openxmlformats.org/drawingml/2006/main">
              <a:ext uri="{FF2B5EF4-FFF2-40B4-BE49-F238E27FC236}">
                <a16:creationId xmlns:a16="http://schemas.microsoft.com/office/drawing/2014/main" id="{3D5D1D6F-46DF-4FBE-9BD4-020334C2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持续发现与归一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45FFC935-3B78-43D3-B404-67293ED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571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富化">
            <a:extLst xmlns:a="http://schemas.openxmlformats.org/drawingml/2006/main">
              <a:ext uri="{FF2B5EF4-FFF2-40B4-BE49-F238E27FC236}">
                <a16:creationId xmlns:a16="http://schemas.microsoft.com/office/drawing/2014/main" id="{74018A57-FA91-4BC6-BCB0-26AF4BF7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6" name="9 个维度 实体、关系与证据">
            <a:extLst xmlns:a="http://schemas.openxmlformats.org/drawingml/2006/main">
              <a:ext uri="{FF2B5EF4-FFF2-40B4-BE49-F238E27FC236}">
                <a16:creationId xmlns:a16="http://schemas.microsoft.com/office/drawing/2014/main" id="{0C1EFD6A-A8AB-4C3A-A62B-4DF89867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个维度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实体、关系与证据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6E783B9-37D6-4E80-B8F0-6AE87F39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34025"/>
            <a:ext cx="2571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问答">
            <a:extLst xmlns:a="http://schemas.openxmlformats.org/drawingml/2006/main">
              <a:ext uri="{FF2B5EF4-FFF2-40B4-BE49-F238E27FC236}">
                <a16:creationId xmlns:a16="http://schemas.microsoft.com/office/drawing/2014/main" id="{6391CBB7-B47F-41BA-9807-D3A6A9F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292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9" name="逐句引用 回答与版本自查">
            <a:extLst xmlns:a="http://schemas.openxmlformats.org/drawingml/2006/main">
              <a:ext uri="{FF2B5EF4-FFF2-40B4-BE49-F238E27FC236}">
                <a16:creationId xmlns:a16="http://schemas.microsoft.com/office/drawing/2014/main" id="{97537567-B677-4054-86A4-AB06050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057900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逐句引用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回答与版本自查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D9E6BC6-33D6-4595-81B0-04808EBB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86100"/>
            <a:ext cx="3333750" cy="1524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知识图谱与事实库">
            <a:extLst xmlns:a="http://schemas.openxmlformats.org/drawingml/2006/main">
              <a:ext uri="{FF2B5EF4-FFF2-40B4-BE49-F238E27FC236}">
                <a16:creationId xmlns:a16="http://schemas.microsoft.com/office/drawing/2014/main" id="{D697FC79-752A-4FDA-807C-8A7BC21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知识图谱与事实库</a:t>
            </a:r>
          </a:p>
        </p:txBody>
      </p:sp>
      <p:sp>
        <p:nvSpPr>
          <p:cNvPr id="12" name="事实版本与可追溯证据">
            <a:extLst xmlns:a="http://schemas.openxmlformats.org/drawingml/2006/main">
              <a:ext uri="{FF2B5EF4-FFF2-40B4-BE49-F238E27FC236}">
                <a16:creationId xmlns:a16="http://schemas.microsoft.com/office/drawing/2014/main" id="{65CAAF43-441D-4F4B-9FDB-435CA30C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0047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事实版本与可追溯证据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4CBF5DD9-6CAE-4815-8AC2-68E876FD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AF4B77D7-360A-4594-91F3-D1500664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归并后的事件">
            <a:extLst xmlns:a="http://schemas.openxmlformats.org/drawingml/2006/main">
              <a:ext uri="{FF2B5EF4-FFF2-40B4-BE49-F238E27FC236}">
                <a16:creationId xmlns:a16="http://schemas.microsoft.com/office/drawing/2014/main" id="{E2067BC6-0D6C-4179-8F94-A8C08BE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19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归并后的事件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5A68D63-39AC-4CE4-98B6-F0F9469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B29984CF-92D2-40ED-97F8-68D9475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70277A4-7A43-4092-BA34-3E430C69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35811D3-E285-40D6-A75A-3BB66E75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F9BB3AFE-8BC0-4879-BCC8-702FA0E6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DDB9665-59C8-4452-A72B-274C134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81A872EF-3B60-49A5-8153-87061097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18CF85BB-23FE-4A50-93DB-3CA411CD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32B05D82-FC3F-45E4-858B-121B83A0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9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33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97E4A3FE-B4A6-4A24-A1B4-B602643D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版本自查</a:t>
            </a:r>
          </a:p>
        </p:txBody>
      </p:sp>
      <p:sp>
        <p:nvSpPr>
          <p:cNvPr id="34" name="MCP 开放">
            <a:extLst xmlns:a="http://schemas.openxmlformats.org/drawingml/2006/main">
              <a:ext uri="{FF2B5EF4-FFF2-40B4-BE49-F238E27FC236}">
                <a16:creationId xmlns:a16="http://schemas.microsoft.com/office/drawing/2014/main" id="{51967CC6-FE38-464A-9593-8D8A68F4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MCP 开放</a:t>
            </a:r>
          </a:p>
        </p:txBody>
      </p:sp>
      <p:sp>
        <p:nvSpPr>
          <p:cNvPr id="35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AF9C39B8-CBFB-4B8D-9BAD-487952A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2061197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77891-07FB-4EE3-B470-E0841C4D07C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382078" y="4096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D829C-E904-42F7-A731-A527FB4ACE8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1662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E1173-D734-435B-B74D-032EC57A975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7870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7E228-1181-4E74-B5FD-3833CC3C2CD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59117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5774A-7CD4-41A2-9125-C31D3EB1276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80365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E6F62-E7FA-4695-A7FE-0E5F11088BC1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0161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4" name="采集">
            <a:extLst xmlns:a="http://schemas.openxmlformats.org/drawingml/2006/main">
              <a:ext uri="{FF2B5EF4-FFF2-40B4-BE49-F238E27FC236}">
                <a16:creationId xmlns:a16="http://schemas.microsoft.com/office/drawing/2014/main" id="{56486CF0-9D11-4A9F-89C9-AF6DEA5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2" name="归一">
            <a:extLst xmlns:a="http://schemas.openxmlformats.org/drawingml/2006/main">
              <a:ext uri="{FF2B5EF4-FFF2-40B4-BE49-F238E27FC236}">
                <a16:creationId xmlns:a16="http://schemas.microsoft.com/office/drawing/2014/main" id="{B2F32FA9-E263-4AD4-980E-6B7C918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</a:t>
            </a:r>
          </a:p>
        </p:txBody>
      </p:sp>
      <p:sp>
        <p:nvSpPr>
          <p:cNvPr id="3" name="富化">
            <a:extLst xmlns:a="http://schemas.openxmlformats.org/drawingml/2006/main">
              <a:ext uri="{FF2B5EF4-FFF2-40B4-BE49-F238E27FC236}">
                <a16:creationId xmlns:a16="http://schemas.microsoft.com/office/drawing/2014/main" id="{0C6D0E27-2754-4D0A-8CF9-B03F1E2C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4" name="校验">
            <a:extLst xmlns:a="http://schemas.openxmlformats.org/drawingml/2006/main">
              <a:ext uri="{FF2B5EF4-FFF2-40B4-BE49-F238E27FC236}">
                <a16:creationId xmlns:a16="http://schemas.microsoft.com/office/drawing/2014/main" id="{20A8A07C-38D7-4737-A66E-E4F4F73A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5" name="存储">
            <a:extLst xmlns:a="http://schemas.openxmlformats.org/drawingml/2006/main">
              <a:ext uri="{FF2B5EF4-FFF2-40B4-BE49-F238E27FC236}">
                <a16:creationId xmlns:a16="http://schemas.microsoft.com/office/drawing/2014/main" id="{3BAE67F4-7DCE-4FDB-A9D7-BFF1F577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6" name="服务">
            <a:extLst xmlns:a="http://schemas.openxmlformats.org/drawingml/2006/main">
              <a:ext uri="{FF2B5EF4-FFF2-40B4-BE49-F238E27FC236}">
                <a16:creationId xmlns:a16="http://schemas.microsoft.com/office/drawing/2014/main" id="{F35E5D6C-ED8B-4D82-B102-8D287090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2F456E2B-02AB-4948-A4AF-EA2F3FD4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1935026-7DC5-4308-8872-4E99882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1C2F19AD-1BE9-4FA2-8B1A-E62E8F63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5C7853B8-68B2-400D-A7C4-0ADEF606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B7072B0-ACD4-467B-A8A6-78B3E0A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39A2C648-A8F2-426D-99D5-3B6569BD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9067BB5E-6793-4750-A4F6-D821B7A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8D67245F-2A46-493F-B536-89503117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D4CF12B9-D7BC-4080-9895-37146E4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26503562-47E6-4561-8917-2F6E4047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A4AA1B70-09F3-441C-9203-F4E0C061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可查询">
            <a:extLst xmlns:a="http://schemas.openxmlformats.org/drawingml/2006/main">
              <a:ext uri="{FF2B5EF4-FFF2-40B4-BE49-F238E27FC236}">
                <a16:creationId xmlns:a16="http://schemas.microsoft.com/office/drawing/2014/main" id="{137CE21C-556D-4C1F-853F-2A8178D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5" name="source_ published_at">
            <a:extLst xmlns:a="http://schemas.openxmlformats.org/drawingml/2006/main">
              <a:ext uri="{FF2B5EF4-FFF2-40B4-BE49-F238E27FC236}">
                <a16:creationId xmlns:a16="http://schemas.microsoft.com/office/drawing/2014/main" id="{A5752155-8EF9-4E7C-A7D0-55CF5DDD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</a:t>
            </a:r>
          </a:p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published_at</a:t>
            </a:r>
          </a:p>
        </p:txBody>
      </p:sp>
      <p:sp>
        <p:nvSpPr>
          <p:cNvPr id="26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74F24DB2-B96A-4148-B1F5-89A36C9D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27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C52435DB-FA7F-43CE-A03B-C6E7D44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28" name="enriched_at">
            <a:extLst xmlns:a="http://schemas.openxmlformats.org/drawingml/2006/main">
              <a:ext uri="{FF2B5EF4-FFF2-40B4-BE49-F238E27FC236}">
                <a16:creationId xmlns:a16="http://schemas.microsoft.com/office/drawing/2014/main" id="{F290BA74-7294-44F1-B479-A0A8EF0F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29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91166F0E-F235-451D-8492-DE13DEA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30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F459D2BF-6883-4BE1-982D-10545B5F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286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</p:txBody>
      </p:sp>
      <p:sp>
        <p:nvSpPr>
          <p:cNvPr id="31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18853BCC-82B5-4876-A10C-2B6DF362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62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</p:txBody>
      </p:sp>
      <p:sp>
        <p:nvSpPr>
          <p:cNvPr id="32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EF01E988-4C6F-43B8-9CED-1CC3767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端到端时延目标值 ≤6 h（待测）</a:t>
            </a:r>
          </a:p>
        </p:txBody>
      </p:sp>
      <p:sp>
        <p:nvSpPr>
          <p:cNvPr id="33" name="漏洞类首次发现纳入统计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5BBA86DC-AB8B-48C0-8C45-CD7E02E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漏洞类首次发现纳入统计；日更源单列；DEMO 不计</a:t>
            </a:r>
          </a:p>
        </p:txBody>
      </p:sp>
    </p:spTree>
    <p:extLst>
      <p:ext uri="{BB962C8B-B14F-4D97-AF65-F5344CB8AC3E}">
        <p14:creationId xmlns:p14="http://schemas.microsoft.com/office/powerpoint/2010/main" val="1133507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BCB245-DE93-4610-90D0-81340D07C134}"/>
              </a:ext>
            </a:extLst>
          </p:cNvPr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9473566" y="61536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2817CC-B74E-430A-B361-64D07DEED87E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8221028" y="5658327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3F3E24-42D8-4187-BD0C-8F1CC5176518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968491" y="51630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6F5C28-961D-4D4A-812F-B59857CF723B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5715953" y="4667727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5C5F61-4A0C-4CEF-B02E-1C236A243DDC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4463416" y="4172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DCD174-29D7-46F3-8DC2-7199A78A77F6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210878" y="3677127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77DDB-9BAA-4D1D-8850-257E597EE0F5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05803" y="3181827"/>
            <a:ext cx="25041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79CD1A-F0AD-4B75-BF49-A71E9CE71E8A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704850" y="2686527"/>
            <a:ext cx="25060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09021F-7C98-45E7-8142-05FB879C10C6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958341" y="21912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46388-2864-40E6-8BBB-62CE5755AEB7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10725150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FA32D-A384-4521-9829-11D91B661EB3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>
            <a:off x="9472613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BB9C6-4F39-43FD-8BE8-79E4891A92AC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8220075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8046C-1D83-4C10-9088-B62D289703EA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6967538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C9B7B-1B1D-461D-BB70-AC8959331F0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5715000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FF316-0CDF-4F70-8130-06BD788A507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4462463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D5302-1AFC-47E6-85AB-1E6D42F5234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3209925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04801-2D70-4A60-B17A-DA4F9B16939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957388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0E95B-9AB2-4BB8-8A21-182D1F58DF58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704850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sp>
        <p:nvSpPr>
          <p:cNvPr id="76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A184F7BF-32C1-4FDA-98C5-5BD8A73A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厂商仓库</a:t>
            </a:r>
          </a:p>
        </p:txBody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E5740A66-A89D-4C26-AEE3-29C3F11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A2B35C6-0FC1-4D5A-B97B-FC22C12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编排器">
            <a:extLst xmlns:a="http://schemas.openxmlformats.org/drawingml/2006/main">
              <a:ext uri="{FF2B5EF4-FFF2-40B4-BE49-F238E27FC236}">
                <a16:creationId xmlns:a16="http://schemas.microsoft.com/office/drawing/2014/main" id="{2D4EDF5B-C912-4228-8173-9BEFFF61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8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编排器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424ACDE6-2B6B-4BDE-9DB7-98D9B94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28DB9C1-07E0-4606-A6D7-D758E52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采集器">
            <a:extLst xmlns:a="http://schemas.openxmlformats.org/drawingml/2006/main">
              <a:ext uri="{FF2B5EF4-FFF2-40B4-BE49-F238E27FC236}">
                <a16:creationId xmlns:a16="http://schemas.microsoft.com/office/drawing/2014/main" id="{E7AE178E-C64F-4736-8B96-D9A932B0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采集器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FA6C5450-D22E-4F68-AD76-233388B9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2B1F2B1B-29C5-4590-9A68-AD6DE3A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归一器">
            <a:extLst xmlns:a="http://schemas.openxmlformats.org/drawingml/2006/main">
              <a:ext uri="{FF2B5EF4-FFF2-40B4-BE49-F238E27FC236}">
                <a16:creationId xmlns:a16="http://schemas.microsoft.com/office/drawing/2014/main" id="{5EB57D89-A9A5-432E-B9D7-19B21C7D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归一器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1B922A70-3923-45E2-A0B3-025DEDA4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D5E00247-AE47-4769-9796-595A7808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富化器">
            <a:extLst xmlns:a="http://schemas.openxmlformats.org/drawingml/2006/main">
              <a:ext uri="{FF2B5EF4-FFF2-40B4-BE49-F238E27FC236}">
                <a16:creationId xmlns:a16="http://schemas.microsoft.com/office/drawing/2014/main" id="{D836BDAE-BF05-4C8C-A4B7-BFBFDDCD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富化器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79D6D257-6101-47B4-958A-7D3F1261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52DADA12-89CD-44D0-A4B6-CE3B5BB0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校验器">
            <a:extLst xmlns:a="http://schemas.openxmlformats.org/drawingml/2006/main">
              <a:ext uri="{FF2B5EF4-FFF2-40B4-BE49-F238E27FC236}">
                <a16:creationId xmlns:a16="http://schemas.microsoft.com/office/drawing/2014/main" id="{43CE4C2E-6089-4FD1-A5BB-554BBBA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校验器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1DFC6F85-2245-4348-97D5-077F5568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E690172-A611-43AB-A761-D0295FBD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图写入器">
            <a:extLst xmlns:a="http://schemas.openxmlformats.org/drawingml/2006/main">
              <a:ext uri="{FF2B5EF4-FFF2-40B4-BE49-F238E27FC236}">
                <a16:creationId xmlns:a16="http://schemas.microsoft.com/office/drawing/2014/main" id="{63FD085E-FC69-47AB-A17E-146F8DC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图写入器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39993A2-21A6-43EF-95A9-F62E3A20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F60BE0A4-768E-4FDB-8425-DF8488A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评估器">
            <a:extLst xmlns:a="http://schemas.openxmlformats.org/drawingml/2006/main">
              <a:ext uri="{FF2B5EF4-FFF2-40B4-BE49-F238E27FC236}">
                <a16:creationId xmlns:a16="http://schemas.microsoft.com/office/drawing/2014/main" id="{4B6E1262-0992-494A-8622-F14661BC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评估器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BD22E017-C57E-4A7F-94DE-8276024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4F3E0453-FDFE-45A9-B302-A2D728E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编码 智能体">
            <a:extLst xmlns:a="http://schemas.openxmlformats.org/drawingml/2006/main">
              <a:ext uri="{FF2B5EF4-FFF2-40B4-BE49-F238E27FC236}">
                <a16:creationId xmlns:a16="http://schemas.microsoft.com/office/drawing/2014/main" id="{AAAEF429-55AC-49F6-8342-BC519C0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70705005-D001-4ACF-845A-3CED70B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D533EBCA-64B0-4DCA-B0D6-9AB9FA56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F3A7F684-6086-4B31-8A61-0C1E5AC3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8F6F5B7F-0F0A-4206-BCB4-B4B21E71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A5EED14C-D256-4F60-A457-DBA46B3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18669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定时派发</a:t>
            </a:r>
          </a:p>
        </p:txBody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765A3F28-08C1-4AB2-B37C-447EA8C4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90075CEE-5B25-4696-8CFE-9F73436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2B247A96-DA5E-4DD2-BD93-B2DD69C8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62200"/>
            <a:ext cx="2790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增量轮询</a:t>
            </a:r>
          </a:p>
        </p:txBody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B3B9A497-9B0D-4DCB-964C-EA352CB5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D20FD490-EAE6-47DF-AC7E-AEBC1176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81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8BC9BC12-4FA6-45E2-88F5-E79DDED7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57500"/>
            <a:ext cx="2790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公告内容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088B4B40-9D2D-43A4-A926-4219224C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EF8BD40B-C5F3-48D1-87B0-B525B50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RawEvent">
            <a:extLst xmlns:a="http://schemas.openxmlformats.org/drawingml/2006/main">
              <a:ext uri="{FF2B5EF4-FFF2-40B4-BE49-F238E27FC236}">
                <a16:creationId xmlns:a16="http://schemas.microsoft.com/office/drawing/2014/main" id="{0C82A4AB-3A44-4C63-9939-0ADA087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RawEvent</a:t>
            </a:r>
          </a:p>
        </p:txBody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C586A9A9-CFE8-4484-811D-DEA868E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C9573D08-448C-4D7F-8D0E-E00D1113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1C7ED266-570F-4B40-B65D-5185016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88" y="38481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归一结果</a:t>
            </a:r>
          </a:p>
        </p:txBody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9DECDF05-5562-426D-BD1A-EEC6A633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4213CAA0-0D70-4896-9B68-C25EE89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BED7CF8D-408C-4EE4-9F12-F103888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434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富化产出</a:t>
            </a:r>
          </a:p>
        </p:txBody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4F19AA0A-44DF-49AD-9842-C7383BA5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516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5E6B6B45-B5EB-4893-AD6B-A3FC28E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16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61660B87-686D-46A6-9670-C1BA9FD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48387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校验通过</a:t>
            </a:r>
          </a:p>
        </p:txBody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A38416EF-493E-446C-8A2A-245D048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57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EC38903F-9841-4166-BA59-44B631C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5657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A692612F-D1DC-4B19-B58C-84C67D8E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FA2334B0-0A21-44EF-9935-A648FA0D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15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D8FB2886-B59F-4717-A4A1-AA0795A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15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2" name="经校验返回">
            <a:extLst xmlns:a="http://schemas.openxmlformats.org/drawingml/2006/main">
              <a:ext uri="{FF2B5EF4-FFF2-40B4-BE49-F238E27FC236}">
                <a16:creationId xmlns:a16="http://schemas.microsoft.com/office/drawing/2014/main" id="{CD6F95EF-93E6-4DF4-9063-CDA4F08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58293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经校验返回</a:t>
            </a:r>
          </a:p>
        </p:txBody>
      </p:sp>
      <p:sp>
        <p:nvSpPr>
          <p:cNvPr id="73" name="编排器 Orchestrator    采集器 Collector    归一器 Triage">
            <a:extLst xmlns:a="http://schemas.openxmlformats.org/drawingml/2006/main">
              <a:ext uri="{FF2B5EF4-FFF2-40B4-BE49-F238E27FC236}">
                <a16:creationId xmlns:a16="http://schemas.microsoft.com/office/drawing/2014/main" id="{B82EB76E-8B4F-421A-994E-8558909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编排器 Orchestrator    采集器 Collector    归一器 Triage</a:t>
            </a:r>
          </a:p>
        </p:txBody>
      </p:sp>
      <p:sp>
        <p:nvSpPr>
          <p:cNvPr id="74" name="富化器 Enricher    校验器 Critic    图写入器 GraphWriter    评估器 Assessor">
            <a:extLst xmlns:a="http://schemas.openxmlformats.org/drawingml/2006/main">
              <a:ext uri="{FF2B5EF4-FFF2-40B4-BE49-F238E27FC236}">
                <a16:creationId xmlns:a16="http://schemas.microsoft.com/office/drawing/2014/main" id="{351F52A3-A6D0-459D-8A73-8DB4593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15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富化器 Enricher    校验器 Critic    图写入器 GraphWriter    评估器 Assessor</a:t>
            </a:r>
          </a:p>
        </p:txBody>
      </p:sp>
      <p:sp>
        <p:nvSpPr>
          <p:cNvPr id="75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2FB71973-3FEA-479A-B67B-967300C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演示注入 / 自有仓库 webhook 验签后触发立即 poll；DEMO 单列</a:t>
            </a:r>
          </a:p>
        </p:txBody>
      </p:sp>
    </p:spTree>
    <p:extLst>
      <p:ext uri="{BB962C8B-B14F-4D97-AF65-F5344CB8AC3E}">
        <p14:creationId xmlns:p14="http://schemas.microsoft.com/office/powerpoint/2010/main" val="1781365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CDF5B-F53B-4A65-BFD9-6DACFC3A189F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872038" y="5857875"/>
            <a:ext cx="852488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97763-3047-4311-9EAB-86C0531F7F11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6038850" y="5248275"/>
            <a:ext cx="1057275" cy="20478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E52DC-66E1-4511-A0D8-ECDD1E63C5FA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876550" y="54530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6C179-836A-4A82-BB3D-10D1208D7D17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1781175" y="4305300"/>
            <a:ext cx="6191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848C6-D185-4362-8199-D8E97D17DAB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429625" y="38862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D9E0E-D5C1-49A2-BB37-95B86684504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114800" y="3286125"/>
            <a:ext cx="29813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42778-E446-4613-89EA-53CDF9994DC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8429625" y="238172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22FDC-E4E6-4BDE-855E-39C767ACD79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8429625" y="2381727"/>
            <a:ext cx="1039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39B6C-2141-4E65-911C-C7F22CD96EA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9467850" y="1905477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CD439-C1F0-46D4-A1BF-2056D0066E5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15962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4B84A-A599-4FB7-95F6-346AD0B673D7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50837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4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DF88FB1D-C98F-487F-9B31-EF69AA5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2889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2" name="/mcp">
            <a:extLst xmlns:a="http://schemas.openxmlformats.org/drawingml/2006/main">
              <a:ext uri="{FF2B5EF4-FFF2-40B4-BE49-F238E27FC236}">
                <a16:creationId xmlns:a16="http://schemas.microsoft.com/office/drawing/2014/main" id="{6568B321-1F67-4203-AB61-6652A8C4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1257300"/>
            <a:ext cx="2889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3" name="intel-core">
            <a:extLst xmlns:a="http://schemas.openxmlformats.org/drawingml/2006/main">
              <a:ext uri="{FF2B5EF4-FFF2-40B4-BE49-F238E27FC236}">
                <a16:creationId xmlns:a16="http://schemas.microsoft.com/office/drawing/2014/main" id="{51491D9D-FB04-4142-8DB9-3F85CC2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257300"/>
            <a:ext cx="2889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6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C0164754-7CAC-41C8-B72B-C05B4680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9775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凭据 / scope / 限流 / 审计</a:t>
            </a:r>
          </a:p>
        </p:txBody>
      </p:sp>
      <p:sp>
        <p:nvSpPr>
          <p:cNvPr id="7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97CCC02B-236F-4E2C-BAB2-DF3A279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266700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67A20"/>
                </a:solidFill>
              </a:defRPr>
            </a:pPr>
            <a:r>
              <a:rPr sz="19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耗时估计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0FF74445-DF6D-4332-BFB1-AA243B93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E55533B-7B71-40DA-94A6-AB05E923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C5CD3E0-1E71-4857-B914-F19F26E2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269819A4-384D-4B41-A025-67CBBA0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CEDED7A-B2C7-4544-99D0-2ADD5251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621D78B7-10C2-4495-A800-49D39D0D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EC0088B-8393-40DE-840F-16A7DAEE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同步求解">
            <a:extLst xmlns:a="http://schemas.openxmlformats.org/drawingml/2006/main">
              <a:ext uri="{FF2B5EF4-FFF2-40B4-BE49-F238E27FC236}">
                <a16:creationId xmlns:a16="http://schemas.microsoft.com/office/drawing/2014/main" id="{0521569A-DAB6-43B5-87EB-30C1E492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同步求解</a:t>
            </a:r>
          </a:p>
        </p:txBody>
      </p:sp>
      <p:sp>
        <p:nvSpPr>
          <p:cNvPr id="19" name="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873D8337-60BF-4593-9E59-946B5BB9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20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 / QA + Critic</a:t>
            </a:r>
          </a:p>
        </p:txBody>
      </p:sp>
      <p:sp>
        <p:nvSpPr>
          <p:cNvPr id="21" name="≤60 s">
            <a:extLst xmlns:a="http://schemas.openxmlformats.org/drawingml/2006/main">
              <a:ext uri="{FF2B5EF4-FFF2-40B4-BE49-F238E27FC236}">
                <a16:creationId xmlns:a16="http://schemas.microsoft.com/office/drawing/2014/main" id="{2B7ABAF5-D2E7-4967-9156-F42971FA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≤60 s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CF7ED303-F327-4114-80A9-A15B660D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48200"/>
            <a:ext cx="2667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3" name="TaskHandle">
            <a:extLst xmlns:a="http://schemas.openxmlformats.org/drawingml/2006/main">
              <a:ext uri="{FF2B5EF4-FFF2-40B4-BE49-F238E27FC236}">
                <a16:creationId xmlns:a16="http://schemas.microsoft.com/office/drawing/2014/main" id="{D9FD5F14-7677-4F47-AA63-8F4B3118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TaskHandle</a:t>
            </a:r>
          </a:p>
        </p:txBody>
      </p:sp>
      <p:sp>
        <p:nvSpPr>
          <p:cNvPr id="24" name="get_task_result">
            <a:extLst xmlns:a="http://schemas.openxmlformats.org/drawingml/2006/main">
              <a:ext uri="{FF2B5EF4-FFF2-40B4-BE49-F238E27FC236}">
                <a16:creationId xmlns:a16="http://schemas.microsoft.com/office/drawing/2014/main" id="{6D38EB4D-8F4D-435F-866C-8E0D3C5E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72075"/>
            <a:ext cx="2438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get_task_result</a:t>
            </a:r>
          </a:p>
        </p:txBody>
      </p:sp>
      <p:sp>
        <p:nvSpPr>
          <p:cNvPr id="26" name="&gt;60 s">
            <a:extLst xmlns:a="http://schemas.openxmlformats.org/drawingml/2006/main">
              <a:ext uri="{FF2B5EF4-FFF2-40B4-BE49-F238E27FC236}">
                <a16:creationId xmlns:a16="http://schemas.microsoft.com/office/drawing/2014/main" id="{AA3B029B-A45D-4264-991A-5F7F2D13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00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&gt;60 s</a:t>
            </a:r>
          </a:p>
        </p:txBody>
      </p:sp>
      <p:sp>
        <p:nvSpPr>
          <p:cNvPr id="27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1D8F1D80-FA42-4E24-A523-F3E8791C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19075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合规过滤</a:t>
            </a:r>
          </a:p>
        </p:txBody>
      </p:sp>
      <p:sp>
        <p:nvSpPr>
          <p:cNvPr id="29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EE352BE9-2EF6-41FF-946A-7AC00CD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48250"/>
            <a:ext cx="2333625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结果裁剪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≤8k tokens</a:t>
            </a:r>
          </a:p>
        </p:txBody>
      </p:sp>
      <p:sp>
        <p:nvSpPr>
          <p:cNvPr id="32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C633F094-9A9B-4F64-B74F-2A09673E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419850"/>
            <a:ext cx="40386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 / 分页续取</a:t>
            </a:r>
          </a:p>
        </p:txBody>
      </p:sp>
    </p:spTree>
    <p:extLst>
      <p:ext uri="{BB962C8B-B14F-4D97-AF65-F5344CB8AC3E}">
        <p14:creationId xmlns:p14="http://schemas.microsoft.com/office/powerpoint/2010/main" val="1277666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3370A1-5140-4F1C-A688-2D345926F43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>
            <a:off x="7915275" y="4439127"/>
            <a:ext cx="1420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05F66A-5700-4C8D-8C0C-F60542334D3F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 flipV="1">
            <a:off x="933450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ED8BAD-3590-4347-AEA6-F10730850587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569595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BE3418-615D-4773-911F-82A4ADD02572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7915275" y="3839052"/>
            <a:ext cx="953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A7B69E-BACC-4CD6-95B4-C7BD0987CF08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067878" y="4439127"/>
            <a:ext cx="5847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DF1E1-718E-43A0-A2CB-3B6E02C2D292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 flipV="1">
            <a:off x="2066925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D6D90-2792-4B65-9AEE-49397F949C1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9329738" y="3838575"/>
            <a:ext cx="7286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0376B-2BF8-4351-9D42-1B8C4ACB6B5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1428750" y="2467452"/>
            <a:ext cx="953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E4FA9-F469-4FC5-9746-53E629FFEE7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1428750" y="2467452"/>
            <a:ext cx="428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64963-DFB8-4CCB-9788-A17F402F80D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5715000" y="1962627"/>
            <a:ext cx="95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45000-DFD8-46F8-8E36-F124EE4D18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8296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FCBE9-E86D-4769-9E3B-51CCF61478B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6579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70E66-1CE8-4BF0-BC23-44E7AE55BD8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4862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D642A-C5EE-43C1-8B13-AD5C050A301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3145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53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C22889F8-C2F0-4CEB-8F70-42CEF600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2" name="Collector">
            <a:extLst xmlns:a="http://schemas.openxmlformats.org/drawingml/2006/main">
              <a:ext uri="{FF2B5EF4-FFF2-40B4-BE49-F238E27FC236}">
                <a16:creationId xmlns:a16="http://schemas.microsoft.com/office/drawing/2014/main" id="{EBF6EA3D-C043-4AE4-AC06-78846B6A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3" name="Triage">
            <a:extLst xmlns:a="http://schemas.openxmlformats.org/drawingml/2006/main">
              <a:ext uri="{FF2B5EF4-FFF2-40B4-BE49-F238E27FC236}">
                <a16:creationId xmlns:a16="http://schemas.microsoft.com/office/drawing/2014/main" id="{38D75419-2AB8-4C1B-A55C-06A2009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4" name="Enricher">
            <a:extLst xmlns:a="http://schemas.openxmlformats.org/drawingml/2006/main">
              <a:ext uri="{FF2B5EF4-FFF2-40B4-BE49-F238E27FC236}">
                <a16:creationId xmlns:a16="http://schemas.microsoft.com/office/drawing/2014/main" id="{060D08E9-8FE5-439E-9869-AD92E685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5" name="Critic">
            <a:extLst xmlns:a="http://schemas.openxmlformats.org/drawingml/2006/main">
              <a:ext uri="{FF2B5EF4-FFF2-40B4-BE49-F238E27FC236}">
                <a16:creationId xmlns:a16="http://schemas.microsoft.com/office/drawing/2014/main" id="{DEEC8BF7-6ED5-4BB2-90EB-BB4F61C9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GraphWriter">
            <a:extLst xmlns:a="http://schemas.openxmlformats.org/drawingml/2006/main">
              <a:ext uri="{FF2B5EF4-FFF2-40B4-BE49-F238E27FC236}">
                <a16:creationId xmlns:a16="http://schemas.microsoft.com/office/drawing/2014/main" id="{4AF7B957-32E0-4268-BB93-DFBA284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D21FFECC-1861-4CBC-A8D9-3C9EF1F4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739BE15A-EE29-44BE-ABB2-A93DE2E8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F90F19C-EC4A-449F-80D0-5AB24D67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97D979BD-EF32-46C1-897A-6E1991F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093E112E-D2CE-485A-9592-44E1FC3D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04982D47-5B40-4C5A-AE77-EC1ECD1B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任务调度">
            <a:extLst xmlns:a="http://schemas.openxmlformats.org/drawingml/2006/main">
              <a:ext uri="{FF2B5EF4-FFF2-40B4-BE49-F238E27FC236}">
                <a16:creationId xmlns:a16="http://schemas.microsoft.com/office/drawing/2014/main" id="{F7DDEB07-48AE-42CD-B71E-FAD65DB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C2554BFB-FE34-4C7B-B676-6EF0811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238375" cy="10096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2" name="QA">
            <a:extLst xmlns:a="http://schemas.openxmlformats.org/drawingml/2006/main">
              <a:ext uri="{FF2B5EF4-FFF2-40B4-BE49-F238E27FC236}">
                <a16:creationId xmlns:a16="http://schemas.microsoft.com/office/drawing/2014/main" id="{02D4D104-EA3E-415A-8D1D-C0F1EC57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23" name="问答产出">
            <a:extLst xmlns:a="http://schemas.openxmlformats.org/drawingml/2006/main">
              <a:ext uri="{FF2B5EF4-FFF2-40B4-BE49-F238E27FC236}">
                <a16:creationId xmlns:a16="http://schemas.microsoft.com/office/drawing/2014/main" id="{A19094B2-9FE3-4F28-9656-AB8F30EE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问答产出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567DF89A-7B80-4D0E-9E7E-2BF5111A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05375"/>
            <a:ext cx="2238375" cy="10096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Reporter">
            <a:extLst xmlns:a="http://schemas.openxmlformats.org/drawingml/2006/main">
              <a:ext uri="{FF2B5EF4-FFF2-40B4-BE49-F238E27FC236}">
                <a16:creationId xmlns:a16="http://schemas.microsoft.com/office/drawing/2014/main" id="{49F39F4C-8301-4E73-966C-2B9D51C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Reporter</a:t>
            </a:r>
          </a:p>
        </p:txBody>
      </p:sp>
      <p:sp>
        <p:nvSpPr>
          <p:cNvPr id="26" name="报告产出">
            <a:extLst xmlns:a="http://schemas.openxmlformats.org/drawingml/2006/main">
              <a:ext uri="{FF2B5EF4-FFF2-40B4-BE49-F238E27FC236}">
                <a16:creationId xmlns:a16="http://schemas.microsoft.com/office/drawing/2014/main" id="{302BEAB0-A61E-4AC6-9F42-423EABE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报告产出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4506A1C5-BD4E-45F3-9D1A-5C8C9AF5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05375"/>
            <a:ext cx="2238375" cy="10096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Assessor">
            <a:extLst xmlns:a="http://schemas.openxmlformats.org/drawingml/2006/main">
              <a:ext uri="{FF2B5EF4-FFF2-40B4-BE49-F238E27FC236}">
                <a16:creationId xmlns:a16="http://schemas.microsoft.com/office/drawing/2014/main" id="{40359916-8577-4854-A3E7-60F6248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29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65AA3FA0-7931-400C-8226-A0A04C51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9C48B4DE-3CE7-4D42-9DD5-A9D78FA1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53FD837A-D3FF-4A3E-8EDF-65FB502E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4D70A75F-643E-4604-8DDB-F5B1515B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1702506C-084F-47B1-8D0E-70EE9879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C57451D6-B12B-4CEB-A7CF-23296D0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C995635C-8867-4A88-AD1E-4636A1BE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61BFAB19-D09D-42C7-91E1-62A4B61E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5564C3F9-15CB-41D4-8BA7-893BA6F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A4C77AF9-24DF-4942-B7DA-F6488D2E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BE4F0D61-DCF5-4360-AA52-F0BB34C1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B62AA121-DB0A-4F9E-8120-0026D6E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6CF480C2-6D89-4B8E-B3CD-BEEAF7C6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D71F6526-9FF6-4B9E-9E01-CC30DB56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86525"/>
            <a:ext cx="2238375" cy="5429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 失败任务</a:t>
            </a:r>
          </a:p>
        </p:txBody>
      </p:sp>
      <p:sp>
        <p:nvSpPr>
          <p:cNvPr id="50" name="调度器重放">
            <a:extLst xmlns:a="http://schemas.openxmlformats.org/drawingml/2006/main">
              <a:ext uri="{FF2B5EF4-FFF2-40B4-BE49-F238E27FC236}">
                <a16:creationId xmlns:a16="http://schemas.microsoft.com/office/drawing/2014/main" id="{87D61592-2AA7-4351-BD15-D8A78509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24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调度器重放</a:t>
            </a:r>
          </a:p>
        </p:txBody>
      </p:sp>
      <p:sp>
        <p:nvSpPr>
          <p:cNvPr id="51" name="所有对外产出均经 Critic 校验">
            <a:extLst xmlns:a="http://schemas.openxmlformats.org/drawingml/2006/main">
              <a:ext uri="{FF2B5EF4-FFF2-40B4-BE49-F238E27FC236}">
                <a16:creationId xmlns:a16="http://schemas.microsoft.com/office/drawing/2014/main" id="{9B10F6AA-8429-4455-868D-CE91C08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493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所有对外产出均经 Critic 校验</a:t>
            </a:r>
          </a:p>
        </p:txBody>
      </p:sp>
      <p:sp>
        <p:nvSpPr>
          <p:cNvPr id="52" name="9 个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2178FE1E-330B-4533-ADA7-2E3FD5E7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个角色通过数据与任务状态交接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1832971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625F76-D6C2-4A65-8F63-4BA5BECBCDB4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6324600" y="23245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66BE9C-E2D1-47A8-9CD2-37531BC11BCA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6324600" y="2648427"/>
            <a:ext cx="13725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870AC-1D20-4507-97B8-3F5C30693F1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 flipV="1">
            <a:off x="7696200" y="2648427"/>
            <a:ext cx="953" cy="3648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3B281-0AB2-49BB-90D6-8DFDBAD64625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954203" y="6296502"/>
            <a:ext cx="741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C2221-B31C-4EBD-B913-1918F912822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38813" y="45720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47F05-A4E0-4107-8000-46881DD3B780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644063" y="23241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57D8E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75370-8E38-4211-B4F1-74590CBAEB59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3048000" y="4048602"/>
            <a:ext cx="686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761C4-80EF-4375-B91B-8335BE8BDA1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3733800" y="2181702"/>
            <a:ext cx="953" cy="1866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93D25-170B-479D-BF6B-0DCB0877703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H="1">
            <a:off x="3733800" y="2181702"/>
            <a:ext cx="7915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CA175-AE33-422C-85BD-77BDF0E52834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738813" y="23241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dash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0EB50-B8E3-4892-9299-D68312B9048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695325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FCB15-C1EB-4AF6-B189-713B4B65DE31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04800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2" name="queued">
            <a:extLst xmlns:a="http://schemas.openxmlformats.org/drawingml/2006/main">
              <a:ext uri="{FF2B5EF4-FFF2-40B4-BE49-F238E27FC236}">
                <a16:creationId xmlns:a16="http://schemas.microsoft.com/office/drawing/2014/main" id="{8F4673E0-B584-43F2-929D-4F2B4D4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06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2" name="running">
            <a:extLst xmlns:a="http://schemas.openxmlformats.org/drawingml/2006/main">
              <a:ext uri="{FF2B5EF4-FFF2-40B4-BE49-F238E27FC236}">
                <a16:creationId xmlns:a16="http://schemas.microsoft.com/office/drawing/2014/main" id="{47819771-DB40-41D8-85D6-34034971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906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3" name="succeeded">
            <a:extLst xmlns:a="http://schemas.openxmlformats.org/drawingml/2006/main">
              <a:ext uri="{FF2B5EF4-FFF2-40B4-BE49-F238E27FC236}">
                <a16:creationId xmlns:a16="http://schemas.microsoft.com/office/drawing/2014/main" id="{F70C8B8E-3EDF-43BC-B5E4-87EA073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906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succeeded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CB3F2D65-159E-469D-9C7B-8F0C9B75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428875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" name="retrying">
            <a:extLst xmlns:a="http://schemas.openxmlformats.org/drawingml/2006/main">
              <a:ext uri="{FF2B5EF4-FFF2-40B4-BE49-F238E27FC236}">
                <a16:creationId xmlns:a16="http://schemas.microsoft.com/office/drawing/2014/main" id="{04B0753E-814E-427D-8BB3-479D265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retrying</a:t>
            </a:r>
          </a:p>
        </p:txBody>
      </p:sp>
      <p:sp>
        <p:nvSpPr>
          <p:cNvPr id="8" name="内部状态">
            <a:extLst xmlns:a="http://schemas.openxmlformats.org/drawingml/2006/main">
              <a:ext uri="{FF2B5EF4-FFF2-40B4-BE49-F238E27FC236}">
                <a16:creationId xmlns:a16="http://schemas.microsoft.com/office/drawing/2014/main" id="{13402C38-CDC5-4D93-96A1-8F3D39C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4812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内部状态</a:t>
            </a:r>
          </a:p>
        </p:txBody>
      </p:sp>
      <p:sp>
        <p:nvSpPr>
          <p:cNvPr id="10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F72A250E-6DC2-45D0-9E7B-1A7C34E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2809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11" name="failed">
            <a:extLst xmlns:a="http://schemas.openxmlformats.org/drawingml/2006/main">
              <a:ext uri="{FF2B5EF4-FFF2-40B4-BE49-F238E27FC236}">
                <a16:creationId xmlns:a16="http://schemas.microsoft.com/office/drawing/2014/main" id="{F6820B69-12E9-4E54-8DF8-CD9E4A96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9E922222-8DE3-4A5D-89C1-E5BD671D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61537039-1E05-48C7-971E-95282CB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E2A6ED96-2678-4877-901C-CD69F130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5A7562FE-01CF-4622-91BA-8A64BD1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FD9543D8-1B56-41DE-AE66-94EBEA8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68EF2A9E-A9D3-48F5-9A1E-52F7CF4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E473B622-DD8E-49FD-BAC3-A2B25B1F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22" name="expired">
            <a:extLst xmlns:a="http://schemas.openxmlformats.org/drawingml/2006/main">
              <a:ext uri="{FF2B5EF4-FFF2-40B4-BE49-F238E27FC236}">
                <a16:creationId xmlns:a16="http://schemas.microsoft.com/office/drawing/2014/main" id="{4F12A382-4F62-47BB-ADBB-63B552CA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861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expired</a:t>
            </a:r>
          </a:p>
        </p:txBody>
      </p:sp>
      <p:sp>
        <p:nvSpPr>
          <p:cNvPr id="24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ACE7774F-D7D9-4AE6-A1E3-3DCD0B74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结果保留 24 h</a:t>
            </a:r>
          </a:p>
        </p:txBody>
      </p:sp>
      <p:sp>
        <p:nvSpPr>
          <p:cNvPr id="25" name="DLQ">
            <a:extLst xmlns:a="http://schemas.openxmlformats.org/drawingml/2006/main">
              <a:ext uri="{FF2B5EF4-FFF2-40B4-BE49-F238E27FC236}">
                <a16:creationId xmlns:a16="http://schemas.microsoft.com/office/drawing/2014/main" id="{A5B45B0D-B596-4764-BC60-C9CA4D44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34075"/>
            <a:ext cx="2428875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</a:t>
            </a:r>
          </a:p>
        </p:txBody>
      </p:sp>
      <p:sp>
        <p:nvSpPr>
          <p:cNvPr id="27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D27660E4-4DB0-4323-B675-6387CC5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149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超过 6 次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8EBD433D-F36F-49F3-87E5-854E31AE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FA82B01A-3F49-4CD9-9FEC-14C804F8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D7D9FFBB-9234-4E42-A451-41A056DC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23CB8C8F-D976-4671-A76C-2F6DF6A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BD2B77B5-E7AA-48BB-BD7A-AA4F54B4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520D097B-63B3-421E-89E3-61743BD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DB7A8E1E-C83F-45C6-8092-AAA4481C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F4AC5E20-EC5D-436E-A87E-5F2C1D08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B6655880-1114-4482-B890-C82B66B2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292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每 15 min 重放</a:t>
            </a:r>
          </a:p>
        </p:txBody>
      </p:sp>
      <p:sp>
        <p:nvSpPr>
          <p:cNvPr id="41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D9298B3E-2339-4C18-B343-749723C2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retrying 与死信对外均显示为 running</a:t>
            </a:r>
          </a:p>
        </p:txBody>
      </p:sp>
    </p:spTree>
    <p:extLst>
      <p:ext uri="{BB962C8B-B14F-4D97-AF65-F5344CB8AC3E}">
        <p14:creationId xmlns:p14="http://schemas.microsoft.com/office/powerpoint/2010/main" val="908183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5F111C-B3F1-43C0-AE6C-FD44DA54B793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938212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2AFCD3-1AC6-482A-A862-2A1E3A1075C3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715953" y="521065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E79113-91F6-4246-A805-731E5EF4589E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CB970E-D2B6-4CAA-852B-C48E43D6A9DD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>
            <a:off x="5715000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56FD5C-D1B0-41F3-A9DD-7D7BB3B3C60A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715000" y="521065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060D07-E888-4E82-95E0-7512B54FD318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AF386A-DF20-4C11-9513-441A22680FFA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204787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2645F2-0111-424B-9258-B6FBE2328190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2047875" y="521065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748D6-A7D2-4557-8E47-A55612FF881E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92840-FC8A-4BFE-99AB-EAE6A7FEB28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5715000" y="3839052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F4719-F630-4F74-B597-B12EF5C806C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5715000" y="3839052"/>
            <a:ext cx="32680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C2C13-6DEA-4E84-BDDC-CA0DB6FD54D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8982075" y="3467577"/>
            <a:ext cx="953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5C205-381F-4342-B78D-44AA3DC331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457450" y="2200752"/>
            <a:ext cx="953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7DF08-28C1-4AFC-A2C8-0D451228091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457450" y="2200752"/>
            <a:ext cx="32585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3852F-4D97-40AA-90AC-B735FF2735F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5715000" y="1857852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C1D1A-282C-4B4F-83C1-66747F335B8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080250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A376-EE46-4C20-90C8-B887233E8695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825875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63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8F9147C6-B5B4-4C5A-9AB3-ADED2A8C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38250"/>
            <a:ext cx="66675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 / 评估 / 问答 / 报告</a:t>
            </a:r>
          </a:p>
        </p:txBody>
      </p:sp>
      <p:sp>
        <p:nvSpPr>
          <p:cNvPr id="2" name="引用可回溯">
            <a:extLst xmlns:a="http://schemas.openxmlformats.org/drawingml/2006/main">
              <a:ext uri="{FF2B5EF4-FFF2-40B4-BE49-F238E27FC236}">
                <a16:creationId xmlns:a16="http://schemas.microsoft.com/office/drawing/2014/main" id="{A2AF7705-C4B8-4FB6-B4FB-872566D6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2730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引用可回溯</a:t>
            </a:r>
          </a:p>
        </p:txBody>
      </p:sp>
      <p:sp>
        <p:nvSpPr>
          <p:cNvPr id="3" name="置信度达门槛">
            <a:extLst xmlns:a="http://schemas.openxmlformats.org/drawingml/2006/main">
              <a:ext uri="{FF2B5EF4-FFF2-40B4-BE49-F238E27FC236}">
                <a16:creationId xmlns:a16="http://schemas.microsoft.com/office/drawing/2014/main" id="{E24E8050-6D94-4670-BBE3-335C2D05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09850"/>
            <a:ext cx="2730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置信度达门槛</a:t>
            </a:r>
          </a:p>
        </p:txBody>
      </p:sp>
      <p:sp>
        <p:nvSpPr>
          <p:cNvPr id="4" name="无违规内容">
            <a:extLst xmlns:a="http://schemas.openxmlformats.org/drawingml/2006/main">
              <a:ext uri="{FF2B5EF4-FFF2-40B4-BE49-F238E27FC236}">
                <a16:creationId xmlns:a16="http://schemas.microsoft.com/office/drawing/2014/main" id="{5AE9E160-8E65-4739-89DF-5EFC2630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09850"/>
            <a:ext cx="2730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无违规内容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693F01B5-9C4A-4A1E-B66A-A3B5AA6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8B2047ED-6DC6-4A82-8125-BD91CE6E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D409B7D6-4273-4F9A-9A70-09855770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C1FA2545-17D6-4B10-BA22-3649E30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E3F6C5DA-86F1-403F-9F87-AA2C1EAA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08F4466C-77E7-4F84-B3A3-230B48BE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5E0AEFCE-AFC9-4D5E-B8E7-E9A7CD66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30480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综合校验结论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1B67CB5-FC96-40A8-8D26-DFE427BC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B8274D5-ACAC-41FE-AC22-BCB98519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24B70F7B-1547-4993-92C6-C706441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6E7F0206-B0B6-4FCA-931F-9CCB849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60789B87-6102-4846-8A39-65E3ED01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E3A654B9-E7A5-434A-BD7D-487C69D0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368CDC84-EDCD-4E58-BEA1-198EEF61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24525"/>
            <a:ext cx="314325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7" name="pass">
            <a:extLst xmlns:a="http://schemas.openxmlformats.org/drawingml/2006/main">
              <a:ext uri="{FF2B5EF4-FFF2-40B4-BE49-F238E27FC236}">
                <a16:creationId xmlns:a16="http://schemas.microsoft.com/office/drawing/2014/main" id="{DEA87EE0-AC3D-4D91-8471-491E2E1A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8" name="写入或返回">
            <a:extLst xmlns:a="http://schemas.openxmlformats.org/drawingml/2006/main">
              <a:ext uri="{FF2B5EF4-FFF2-40B4-BE49-F238E27FC236}">
                <a16:creationId xmlns:a16="http://schemas.microsoft.com/office/drawing/2014/main" id="{B75389FA-EFEE-41BD-8934-A449EF31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写入或返回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218D056B-5508-492C-9355-DE1D5FD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4525"/>
            <a:ext cx="314325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partial">
            <a:extLst xmlns:a="http://schemas.openxmlformats.org/drawingml/2006/main">
              <a:ext uri="{FF2B5EF4-FFF2-40B4-BE49-F238E27FC236}">
                <a16:creationId xmlns:a16="http://schemas.microsoft.com/office/drawing/2014/main" id="{683AD252-247B-4776-B745-255A0E2E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31" name="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BC071152-568C-462A-AA31-BEBD008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标明不受支持句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68C49388-28BD-4061-B541-A2EE0F66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24525"/>
            <a:ext cx="314325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reject / fail">
            <a:extLst xmlns:a="http://schemas.openxmlformats.org/drawingml/2006/main">
              <a:ext uri="{FF2B5EF4-FFF2-40B4-BE49-F238E27FC236}">
                <a16:creationId xmlns:a16="http://schemas.microsoft.com/office/drawing/2014/main" id="{2E1F4A6D-2253-4C7B-AC82-0CB4B347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reject / fail</a:t>
            </a:r>
          </a:p>
        </p:txBody>
      </p:sp>
      <p:sp>
        <p:nvSpPr>
          <p:cNvPr id="34" name="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123F351C-74A4-4EFD-AF1F-37CBE61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重新检索或富化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95E03A80-6334-4BB1-BD66-383FDF28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22558CD5-00A2-471A-B80F-43E4DFD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C4A40DD3-0F54-4155-9B30-EE5B24F8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0B2113BF-B3C0-437D-9E35-10F10DC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78924D79-796A-434D-94D2-CFC3E71A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84610DB2-8754-4481-80B8-91514A4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6225957F-EAFE-494B-8CCE-95B59BF7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4B0FB533-DE13-4E93-8577-84004673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E3F53D96-A7B5-4838-8DC8-12FDDDAA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87B0F48A-D480-4552-B700-E76AD7B1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5C2DE4D7-B604-454F-88D5-338C5CFC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0845913E-6086-4FC6-8B98-1C006EC7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86F2C802-5E03-475D-8DEA-ED22B99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086484D0-C211-4214-93B2-0935B528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A3D7C015-0729-47C5-AA29-CD492D7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EEE04475-E780-4563-A764-9689710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EFC93E46-77E4-4A5B-B82C-CA8D1E0D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99E804F9-C9A7-489C-91CC-12B25287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B611E4D9-97F3-4801-9245-08E99D29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关系边门槛 0.6；问答 partial 比例 ≤30%；LLM 产出 20% 抽检</a:t>
            </a:r>
          </a:p>
        </p:txBody>
      </p:sp>
    </p:spTree>
    <p:extLst>
      <p:ext uri="{BB962C8B-B14F-4D97-AF65-F5344CB8AC3E}">
        <p14:creationId xmlns:p14="http://schemas.microsoft.com/office/powerpoint/2010/main" val="36161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659ADC8-623A-4E88-932E-A05E0D8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一级 官方">
            <a:extLst xmlns:a="http://schemas.openxmlformats.org/drawingml/2006/main">
              <a:ext uri="{FF2B5EF4-FFF2-40B4-BE49-F238E27FC236}">
                <a16:creationId xmlns:a16="http://schemas.microsoft.com/office/drawing/2014/main" id="{A3EFF4FE-605B-4EEE-89F2-4FDA7D9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952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 官方</a:t>
            </a:r>
          </a:p>
        </p:txBody>
      </p:sp>
      <p:sp>
        <p:nvSpPr>
          <p:cNvPr id="3" name="1.0">
            <a:extLst xmlns:a="http://schemas.openxmlformats.org/drawingml/2006/main">
              <a:ext uri="{FF2B5EF4-FFF2-40B4-BE49-F238E27FC236}">
                <a16:creationId xmlns:a16="http://schemas.microsoft.com/office/drawing/2014/main" id="{F699B01D-CA92-4953-B867-0D228B72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4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277DC3"/>
                </a:solidFill>
              </a:defRPr>
            </a:pPr>
            <a:r>
              <a:rPr sz="4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4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76726C14-E321-4260-97ED-411138F7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5" name="NVD / GHSA reviewed OSV / KEV / EPSS ATLAS / 厂商公告 CNNVD / 标准法规 CNVD：人工导入">
            <a:extLst xmlns:a="http://schemas.openxmlformats.org/drawingml/2006/main">
              <a:ext uri="{FF2B5EF4-FFF2-40B4-BE49-F238E27FC236}">
                <a16:creationId xmlns:a16="http://schemas.microsoft.com/office/drawing/2014/main" id="{A0FEA74B-ACCE-427E-B5A9-4060AA1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 reviewed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/ KEV / EPSS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ATLAS / 厂商公告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CNNVD / 标准法规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CNVD：人工导入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7758EDF8-DA1C-4655-BB07-45123BAF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二级 专业平台">
            <a:extLst xmlns:a="http://schemas.openxmlformats.org/drawingml/2006/main">
              <a:ext uri="{FF2B5EF4-FFF2-40B4-BE49-F238E27FC236}">
                <a16:creationId xmlns:a16="http://schemas.microsoft.com/office/drawing/2014/main" id="{6E8932E3-35AE-4F64-95EF-FD4A2B66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71650"/>
            <a:ext cx="2952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 专业平台</a:t>
            </a:r>
          </a:p>
        </p:txBody>
      </p:sp>
      <p:sp>
        <p:nvSpPr>
          <p:cNvPr id="8" name="0.7">
            <a:extLst xmlns:a="http://schemas.openxmlformats.org/drawingml/2006/main">
              <a:ext uri="{FF2B5EF4-FFF2-40B4-BE49-F238E27FC236}">
                <a16:creationId xmlns:a16="http://schemas.microsoft.com/office/drawing/2014/main" id="{8A1031D8-3131-4114-85DC-33B5D6D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4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547D45"/>
                </a:solidFill>
              </a:defRPr>
            </a:pPr>
            <a:r>
              <a:rPr sz="4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0.7</a:t>
            </a:r>
          </a:p>
        </p:txBody>
      </p:sp>
      <p:sp>
        <p:nvSpPr>
          <p:cNvPr id="9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7EE57EE3-CE65-493C-B38F-AD12B14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0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9DDDEB86-322F-452C-B5C4-B968E7E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AVID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unreviewed</a:t>
            </a:r>
          </a:p>
          <a:p xmlns:a="http://schemas.openxmlformats.org/drawingml/2006/main">
            <a:r>
              <a:rPr sz="1725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测绘平台仅供暴露面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不增加来源类别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F2FA8DE9-CF46-4878-9333-F66D7F0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三级 研究资讯">
            <a:extLst xmlns:a="http://schemas.openxmlformats.org/drawingml/2006/main">
              <a:ext uri="{FF2B5EF4-FFF2-40B4-BE49-F238E27FC236}">
                <a16:creationId xmlns:a16="http://schemas.microsoft.com/office/drawing/2014/main" id="{F8E347F2-AA3F-4412-9011-42EAA46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2952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三级 研究资讯</a:t>
            </a:r>
          </a:p>
        </p:txBody>
      </p:sp>
      <p:sp>
        <p:nvSpPr>
          <p:cNvPr id="13" name="0.4">
            <a:extLst xmlns:a="http://schemas.openxmlformats.org/drawingml/2006/main">
              <a:ext uri="{FF2B5EF4-FFF2-40B4-BE49-F238E27FC236}">
                <a16:creationId xmlns:a16="http://schemas.microsoft.com/office/drawing/2014/main" id="{2EA1301F-344C-4BFB-B687-2832768D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4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A67A20"/>
                </a:solidFill>
              </a:defRPr>
            </a:pPr>
            <a:r>
              <a:rPr sz="4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14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2728C348-6FFB-4042-A700-9169C832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5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E8FC8CDF-DC6E-4888-8BCE-FDB8D71A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arXiv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安全博客 RSS</a:t>
            </a:r>
          </a:p>
          <a:p xmlns:a="http://schemas.openxmlformats.org/drawingml/2006/main">
            <a:r>
              <a:rPr sz="1725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仅三级支撑：unconfirmed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不进入高危告警</a:t>
            </a:r>
          </a:p>
        </p:txBody>
      </p:sp>
      <p:sp>
        <p:nvSpPr>
          <p:cNvPr id="16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706AFB43-2D2B-4E8B-9696-700CF953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平台审核只可下调可信度；CNNVD 主力，CNVD 加分项</a:t>
            </a:r>
          </a:p>
        </p:txBody>
      </p:sp>
    </p:spTree>
    <p:extLst>
      <p:ext uri="{BB962C8B-B14F-4D97-AF65-F5344CB8AC3E}">
        <p14:creationId xmlns:p14="http://schemas.microsoft.com/office/powerpoint/2010/main" val="1178925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轮询频率">
            <a:extLst xmlns:a="http://schemas.openxmlformats.org/drawingml/2006/main">
              <a:ext uri="{FF2B5EF4-FFF2-40B4-BE49-F238E27FC236}">
                <a16:creationId xmlns:a16="http://schemas.microsoft.com/office/drawing/2014/main" id="{8F6357F7-88AF-41FE-BF6F-559B12D1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52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轮询频率</a:t>
            </a:r>
          </a:p>
        </p:txBody>
      </p:sp>
      <p:sp>
        <p:nvSpPr>
          <p:cNvPr id="2" name="来源与触发方式">
            <a:extLst xmlns:a="http://schemas.openxmlformats.org/drawingml/2006/main">
              <a:ext uri="{FF2B5EF4-FFF2-40B4-BE49-F238E27FC236}">
                <a16:creationId xmlns:a16="http://schemas.microsoft.com/office/drawing/2014/main" id="{05E2C301-38CA-4E56-A2F4-E29FA1D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525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来源与触发方式</a:t>
            </a:r>
          </a:p>
        </p:txBody>
      </p:sp>
      <p:sp>
        <p:nvSpPr>
          <p:cNvPr id="3" name="发现时延目标（待测）">
            <a:extLst xmlns:a="http://schemas.openxmlformats.org/drawingml/2006/main">
              <a:ext uri="{FF2B5EF4-FFF2-40B4-BE49-F238E27FC236}">
                <a16:creationId xmlns:a16="http://schemas.microsoft.com/office/drawing/2014/main" id="{D46B8A87-0C42-443D-A3C8-324ECDC3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152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发现时延目标（待测）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ACF7BC11-9731-4ADC-8661-AB56F16A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事件">
            <a:extLst xmlns:a="http://schemas.openxmlformats.org/drawingml/2006/main">
              <a:ext uri="{FF2B5EF4-FFF2-40B4-BE49-F238E27FC236}">
                <a16:creationId xmlns:a16="http://schemas.microsoft.com/office/drawing/2014/main" id="{1978D44A-B780-4B59-A4BC-988F372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6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03F37D00-2949-4681-96CF-D56C35EA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02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自有仓库 / DEMO</a:t>
            </a:r>
          </a:p>
        </p:txBody>
      </p:sp>
      <p:sp>
        <p:nvSpPr>
          <p:cNvPr id="7" name="≤1 min">
            <a:extLst xmlns:a="http://schemas.openxmlformats.org/drawingml/2006/main">
              <a:ext uri="{FF2B5EF4-FFF2-40B4-BE49-F238E27FC236}">
                <a16:creationId xmlns:a16="http://schemas.microsoft.com/office/drawing/2014/main" id="{F8CC0123-2B17-4BAA-BC9F-48C20F4B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 min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7C2D861C-A321-4730-A2E1-A406A9B1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5 min">
            <a:extLst xmlns:a="http://schemas.openxmlformats.org/drawingml/2006/main">
              <a:ext uri="{FF2B5EF4-FFF2-40B4-BE49-F238E27FC236}">
                <a16:creationId xmlns:a16="http://schemas.microsoft.com/office/drawing/2014/main" id="{ECB2F019-4A2C-4E6D-8AF2-080A9E6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min</a:t>
            </a:r>
          </a:p>
        </p:txBody>
      </p:sp>
      <p:sp>
        <p:nvSpPr>
          <p:cNvPr id="10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44872DE0-4FA0-49CA-97D5-12D0765F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P0 厂商公告</a:t>
            </a:r>
          </a:p>
        </p:txBody>
      </p:sp>
      <p:sp>
        <p:nvSpPr>
          <p:cNvPr id="11" name="≤10 min">
            <a:extLst xmlns:a="http://schemas.openxmlformats.org/drawingml/2006/main">
              <a:ext uri="{FF2B5EF4-FFF2-40B4-BE49-F238E27FC236}">
                <a16:creationId xmlns:a16="http://schemas.microsoft.com/office/drawing/2014/main" id="{64D85E9F-1690-4209-A05F-B16E414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≤10 min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FC521C2B-25C6-4BF2-988F-A8E0DA5D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10 min">
            <a:extLst xmlns:a="http://schemas.openxmlformats.org/drawingml/2006/main">
              <a:ext uri="{FF2B5EF4-FFF2-40B4-BE49-F238E27FC236}">
                <a16:creationId xmlns:a16="http://schemas.microsoft.com/office/drawing/2014/main" id="{A8B56BA3-BFAF-4725-9EF8-31CE4A6D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861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14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29DA57E0-7C20-4D5B-ADE3-EEC24C13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/ NVD / RSS</a:t>
            </a:r>
          </a:p>
        </p:txBody>
      </p:sp>
      <p:sp>
        <p:nvSpPr>
          <p:cNvPr id="15" name="≤15 / 30 / 30 min">
            <a:extLst xmlns:a="http://schemas.openxmlformats.org/drawingml/2006/main">
              <a:ext uri="{FF2B5EF4-FFF2-40B4-BE49-F238E27FC236}">
                <a16:creationId xmlns:a16="http://schemas.microsoft.com/office/drawing/2014/main" id="{8A7658D5-8F34-468E-AD66-7C0B818D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≤15 / 30 / 30 min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6D543BF4-EDD5-4F8D-87D7-C4ACF9AC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5 min">
            <a:extLst xmlns:a="http://schemas.openxmlformats.org/drawingml/2006/main">
              <a:ext uri="{FF2B5EF4-FFF2-40B4-BE49-F238E27FC236}">
                <a16:creationId xmlns:a16="http://schemas.microsoft.com/office/drawing/2014/main" id="{76F733F9-9D74-4BA9-82A5-201CDBD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min</a:t>
            </a:r>
          </a:p>
        </p:txBody>
      </p:sp>
      <p:sp>
        <p:nvSpPr>
          <p:cNvPr id="18" name="OSV">
            <a:extLst xmlns:a="http://schemas.openxmlformats.org/drawingml/2006/main">
              <a:ext uri="{FF2B5EF4-FFF2-40B4-BE49-F238E27FC236}">
                <a16:creationId xmlns:a16="http://schemas.microsoft.com/office/drawing/2014/main" id="{927892A5-6D59-4588-8343-429D3D5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</a:t>
            </a:r>
          </a:p>
        </p:txBody>
      </p:sp>
      <p:sp>
        <p:nvSpPr>
          <p:cNvPr id="19" name="≤30 min">
            <a:extLst xmlns:a="http://schemas.openxmlformats.org/drawingml/2006/main">
              <a:ext uri="{FF2B5EF4-FFF2-40B4-BE49-F238E27FC236}">
                <a16:creationId xmlns:a16="http://schemas.microsoft.com/office/drawing/2014/main" id="{74B6B01C-842F-4482-B6B3-E62B213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≤30 min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4550517D-28C4-42F3-840F-FC60BE6E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1 h">
            <a:extLst xmlns:a="http://schemas.openxmlformats.org/drawingml/2006/main">
              <a:ext uri="{FF2B5EF4-FFF2-40B4-BE49-F238E27FC236}">
                <a16:creationId xmlns:a16="http://schemas.microsoft.com/office/drawing/2014/main" id="{C78031F1-2D9E-4254-A968-97D617A2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h</a:t>
            </a:r>
          </a:p>
        </p:txBody>
      </p:sp>
      <p:sp>
        <p:nvSpPr>
          <p:cNvPr id="22" name="huntr / KEV">
            <a:extLst xmlns:a="http://schemas.openxmlformats.org/drawingml/2006/main">
              <a:ext uri="{FF2B5EF4-FFF2-40B4-BE49-F238E27FC236}">
                <a16:creationId xmlns:a16="http://schemas.microsoft.com/office/drawing/2014/main" id="{64C89512-82C0-44F2-BAA7-0B50925E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KEV</a:t>
            </a:r>
          </a:p>
        </p:txBody>
      </p:sp>
      <p:sp>
        <p:nvSpPr>
          <p:cNvPr id="23" name="≤2 h">
            <a:extLst xmlns:a="http://schemas.openxmlformats.org/drawingml/2006/main">
              <a:ext uri="{FF2B5EF4-FFF2-40B4-BE49-F238E27FC236}">
                <a16:creationId xmlns:a16="http://schemas.microsoft.com/office/drawing/2014/main" id="{3E585188-750D-47A2-B0DB-ECE24C0E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 h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1FC65991-15FE-4288-ADED-A040A044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6 h">
            <a:extLst xmlns:a="http://schemas.openxmlformats.org/drawingml/2006/main">
              <a:ext uri="{FF2B5EF4-FFF2-40B4-BE49-F238E27FC236}">
                <a16:creationId xmlns:a16="http://schemas.microsoft.com/office/drawing/2014/main" id="{7714D9D9-D0A8-43A5-A98A-00001E0F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6 h</a:t>
            </a:r>
          </a:p>
        </p:txBody>
      </p:sp>
      <p:sp>
        <p:nvSpPr>
          <p:cNvPr id="26" name="AVID">
            <a:extLst xmlns:a="http://schemas.openxmlformats.org/drawingml/2006/main">
              <a:ext uri="{FF2B5EF4-FFF2-40B4-BE49-F238E27FC236}">
                <a16:creationId xmlns:a16="http://schemas.microsoft.com/office/drawing/2014/main" id="{6C77A6B1-7752-4ED7-8D34-8C2D83B7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387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AVID</a:t>
            </a:r>
          </a:p>
        </p:txBody>
      </p:sp>
      <p:sp>
        <p:nvSpPr>
          <p:cNvPr id="27" name="≤6 h">
            <a:extLst xmlns:a="http://schemas.openxmlformats.org/drawingml/2006/main">
              <a:ext uri="{FF2B5EF4-FFF2-40B4-BE49-F238E27FC236}">
                <a16:creationId xmlns:a16="http://schemas.microsoft.com/office/drawing/2014/main" id="{E35C8B57-179A-4968-AA20-94E5439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387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≤6 h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CE6B77A5-9CF6-4E6F-A65D-544A1BD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1 d">
            <a:extLst xmlns:a="http://schemas.openxmlformats.org/drawingml/2006/main">
              <a:ext uri="{FF2B5EF4-FFF2-40B4-BE49-F238E27FC236}">
                <a16:creationId xmlns:a16="http://schemas.microsoft.com/office/drawing/2014/main" id="{08279C1B-A8A3-4459-8966-83532E0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d</a:t>
            </a:r>
          </a:p>
        </p:txBody>
      </p:sp>
      <p:sp>
        <p:nvSpPr>
          <p:cNvPr id="30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63004120-099A-4470-A50E-D9D01398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864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EPSS / arXiv / CNNVD</a:t>
            </a:r>
          </a:p>
        </p:txBody>
      </p:sp>
      <p:sp>
        <p:nvSpPr>
          <p:cNvPr id="31" name="≤24 h">
            <a:extLst xmlns:a="http://schemas.openxmlformats.org/drawingml/2006/main">
              <a:ext uri="{FF2B5EF4-FFF2-40B4-BE49-F238E27FC236}">
                <a16:creationId xmlns:a16="http://schemas.microsoft.com/office/drawing/2014/main" id="{F1644BF1-2F57-4F05-8256-642B5167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864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≤24 h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4F93C4A7-21BB-4686-A4EE-C79E499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1 周">
            <a:extLst xmlns:a="http://schemas.openxmlformats.org/drawingml/2006/main">
              <a:ext uri="{FF2B5EF4-FFF2-40B4-BE49-F238E27FC236}">
                <a16:creationId xmlns:a16="http://schemas.microsoft.com/office/drawing/2014/main" id="{24097823-5F51-4ED1-97AF-D3F73B51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周</a:t>
            </a:r>
          </a:p>
        </p:txBody>
      </p:sp>
      <p:sp>
        <p:nvSpPr>
          <p:cNvPr id="34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30CD763F-6935-4255-9BB1-07CBFEB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341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标准法规 / CNVD</a:t>
            </a:r>
          </a:p>
        </p:txBody>
      </p:sp>
      <p:sp>
        <p:nvSpPr>
          <p:cNvPr id="35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EDB16448-8709-4AB5-8BC8-E973C1B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341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57D8E"/>
                </a:solidFill>
              </a:defRPr>
            </a:pPr>
            <a:r>
              <a:rPr sz="180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版本监测 / 人工</a:t>
            </a:r>
          </a:p>
        </p:txBody>
      </p:sp>
      <p:sp>
        <p:nvSpPr>
          <p:cNvPr id="36" name="6 h 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44048243-A3AB-4F35-8004-E0076CB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6 h 口径：NVD、GHSA、OSV、厂商公告、huntr 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1974983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707F6-64E5-45BC-A7AC-CF889497B315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572500" y="603932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E8F16-387B-47A2-A0CC-4CF10F129F9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715953" y="603932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72588-69E6-415E-9B22-6A3B6B59BA04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5715000" y="579167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CD84A-FA3F-4B27-BDB0-711C7B7216E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5715000" y="41819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9B58-DF7A-4173-92EC-C0D6790E625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5715000" y="25436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F0F6869-719D-4CB3-9486-E4CD5BA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52550"/>
            <a:ext cx="8763000" cy="1162050"/>
          </a:xfrm>
          <a:custGeom xmlns:a="http://schemas.openxmlformats.org/drawingml/2006/main">
            <a:pathLst>
              <a:path w="8763000" h="1162050">
                <a:moveTo>
                  <a:pt x="0" y="0"/>
                </a:moveTo>
                <a:lnTo>
                  <a:pt x="8763000" y="0"/>
                </a:lnTo>
                <a:lnTo>
                  <a:pt x="84201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" name="同源幂等">
            <a:extLst xmlns:a="http://schemas.openxmlformats.org/drawingml/2006/main">
              <a:ext uri="{FF2B5EF4-FFF2-40B4-BE49-F238E27FC236}">
                <a16:creationId xmlns:a16="http://schemas.microsoft.com/office/drawing/2014/main" id="{EC6672E5-286A-47CB-B6FA-90508FD5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8590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同源幂等</a:t>
            </a:r>
          </a:p>
        </p:txBody>
      </p:sp>
      <p:sp>
        <p:nvSpPr>
          <p:cNvPr id="3" name="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CAF858CB-FA2D-4902-A376-35AEFD7C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(source, external_id)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A2DFB8CC-540D-423D-90C9-9629599D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10C5A3D4-2CD5-4565-9171-C75BF48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4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3D5BEC1-4E23-42B8-8AD4-D1D7321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7524750" cy="1162050"/>
          </a:xfrm>
          <a:custGeom xmlns:a="http://schemas.openxmlformats.org/drawingml/2006/main">
            <a:pathLst>
              <a:path w="7524750" h="1162050">
                <a:moveTo>
                  <a:pt x="0" y="0"/>
                </a:moveTo>
                <a:lnTo>
                  <a:pt x="7524750" y="0"/>
                </a:lnTo>
                <a:lnTo>
                  <a:pt x="718185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8" name="跨源别名并查集">
            <a:extLst xmlns:a="http://schemas.openxmlformats.org/drawingml/2006/main">
              <a:ext uri="{FF2B5EF4-FFF2-40B4-BE49-F238E27FC236}">
                <a16:creationId xmlns:a16="http://schemas.microsoft.com/office/drawing/2014/main" id="{F316EF97-238D-4A6F-BBC1-731BDA88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跨源别名并查集</a:t>
            </a:r>
          </a:p>
        </p:txBody>
      </p:sp>
      <p:sp>
        <p:nvSpPr>
          <p:cNvPr id="9" name="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5DC1FBF0-10FB-4427-BD0A-D11E5F63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99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CVE &gt; GHSA &gt; OSV &gt; huntr &gt; SW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15667E03-5DD5-421C-A3F1-48877CC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A209FEA-EB74-4BED-BD49-4FF98180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00DD1F0-06B0-4637-A25D-268E7E83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6286500" cy="1162050"/>
          </a:xfrm>
          <a:custGeom xmlns:a="http://schemas.openxmlformats.org/drawingml/2006/main">
            <a:pathLst>
              <a:path w="6286500" h="1162050">
                <a:moveTo>
                  <a:pt x="0" y="0"/>
                </a:moveTo>
                <a:lnTo>
                  <a:pt x="6286500" y="0"/>
                </a:lnTo>
                <a:lnTo>
                  <a:pt x="59436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无编号相似候选">
            <a:extLst xmlns:a="http://schemas.openxmlformats.org/drawingml/2006/main">
              <a:ext uri="{FF2B5EF4-FFF2-40B4-BE49-F238E27FC236}">
                <a16:creationId xmlns:a16="http://schemas.microsoft.com/office/drawing/2014/main" id="{932D6581-290A-4AE9-B55C-2C24ABF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547D45"/>
                </a:solidFill>
              </a:defRPr>
            </a:pPr>
            <a:r>
              <a:rPr sz="21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无编号相似候选</a:t>
            </a:r>
          </a:p>
        </p:txBody>
      </p:sp>
      <p:sp>
        <p:nvSpPr>
          <p:cNvPr id="15" name="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3B1F7EB7-C74E-49A0-8808-8BA5B4D7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purl + SimHash ≥0.9 + 日期 ±3 天</a:t>
            </a:r>
          </a:p>
        </p:txBody>
      </p:sp>
      <p:sp>
        <p:nvSpPr>
          <p:cNvPr id="16" name="双 CVE 不合并 保留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507722BF-05E9-48A7-9561-5EE6FF4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4476750" cy="7524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 不合并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保留 DUPLICATE_OF 候选</a:t>
            </a:r>
          </a:p>
        </p:txBody>
      </p:sp>
      <p:sp>
        <p:nvSpPr>
          <p:cNvPr id="17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0F0A283D-891A-48A1-AFE2-227C3555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286500"/>
            <a:ext cx="4476750" cy="7524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复核</a:t>
            </a:r>
          </a:p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候选不自动合并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1D24C0F-CACE-483B-890B-D145649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1AAF46D0-C5C7-4D1F-B848-FA4C243B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2518292-1B8E-4B9E-80BA-A9434134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4A90664E-29E9-43B7-A12C-205B8BC2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E325544A-8312-4032-8179-069D9887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E8A342BC-E4C3-4F87-9237-0EDF9638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407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35BCE-1A01-495A-83D3-22880CB20AE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5715000" y="17054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2" name="漏洞实体">
            <a:extLst xmlns:a="http://schemas.openxmlformats.org/drawingml/2006/main">
              <a:ext uri="{FF2B5EF4-FFF2-40B4-BE49-F238E27FC236}">
                <a16:creationId xmlns:a16="http://schemas.microsoft.com/office/drawing/2014/main" id="{BD18F041-7756-4AB9-9B5F-A3068DA6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09675"/>
            <a:ext cx="30480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漏洞实体</a:t>
            </a:r>
          </a:p>
        </p:txBody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D3E87A49-6342-4504-B37F-6FDDA3A4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15BBF90F-200B-446E-ABFC-F0D6CDC0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5C78E229-EC29-4C49-84BE-369C740E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CVSS">
            <a:extLst xmlns:a="http://schemas.openxmlformats.org/drawingml/2006/main">
              <a:ext uri="{FF2B5EF4-FFF2-40B4-BE49-F238E27FC236}">
                <a16:creationId xmlns:a16="http://schemas.microsoft.com/office/drawing/2014/main" id="{AD874603-F617-4FB9-84CF-417520DD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CVSS</a:t>
            </a:r>
          </a:p>
        </p:txBody>
      </p:sp>
      <p:sp>
        <p:nvSpPr>
          <p:cNvPr id="7" name="NVD / GHSA 保留分歧">
            <a:extLst xmlns:a="http://schemas.openxmlformats.org/drawingml/2006/main">
              <a:ext uri="{FF2B5EF4-FFF2-40B4-BE49-F238E27FC236}">
                <a16:creationId xmlns:a16="http://schemas.microsoft.com/office/drawing/2014/main" id="{5294B082-53A1-40E1-9166-2B2C8DFB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保留分歧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28E6BC96-925D-4B55-8994-6964DBD1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E4CE3CDF-54E2-48C5-ADF8-FAA93183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0" name="EPSS">
            <a:extLst xmlns:a="http://schemas.openxmlformats.org/drawingml/2006/main">
              <a:ext uri="{FF2B5EF4-FFF2-40B4-BE49-F238E27FC236}">
                <a16:creationId xmlns:a16="http://schemas.microsoft.com/office/drawing/2014/main" id="{88210D93-603E-478F-9FC2-43AC7F7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EPSS</a:t>
            </a:r>
          </a:p>
        </p:txBody>
      </p:sp>
      <p:sp>
        <p:nvSpPr>
          <p:cNvPr id="11" name="FIRST 每日更新">
            <a:extLst xmlns:a="http://schemas.openxmlformats.org/drawingml/2006/main">
              <a:ext uri="{FF2B5EF4-FFF2-40B4-BE49-F238E27FC236}">
                <a16:creationId xmlns:a16="http://schemas.microsoft.com/office/drawing/2014/main" id="{92AB92A6-FDC9-48FF-B7BE-176F1409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每日更新</a:t>
            </a:r>
          </a:p>
        </p:txBody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D3398DF0-E9E8-40A6-B091-1C1E725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C640C76D-7E3E-4389-9F35-0667F503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KEV">
            <a:extLst xmlns:a="http://schemas.openxmlformats.org/drawingml/2006/main">
              <a:ext uri="{FF2B5EF4-FFF2-40B4-BE49-F238E27FC236}">
                <a16:creationId xmlns:a16="http://schemas.microsoft.com/office/drawing/2014/main" id="{072A9094-37DC-4A7D-BECC-8EF5318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KEV</a:t>
            </a:r>
          </a:p>
        </p:txBody>
      </p:sp>
      <p:sp>
        <p:nvSpPr>
          <p:cNvPr id="15" name="仅 KEV 置位">
            <a:extLst xmlns:a="http://schemas.openxmlformats.org/drawingml/2006/main">
              <a:ext uri="{FF2B5EF4-FFF2-40B4-BE49-F238E27FC236}">
                <a16:creationId xmlns:a16="http://schemas.microsoft.com/office/drawing/2014/main" id="{E61FCD95-018D-4A0D-9A7D-6DEC1C19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 KEV 置位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F9B1319F-6F91-47E3-804E-0C0267B3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C6C3867-2A57-44A0-8C0C-9F20DCD5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CWE">
            <a:extLst xmlns:a="http://schemas.openxmlformats.org/drawingml/2006/main">
              <a:ext uri="{FF2B5EF4-FFF2-40B4-BE49-F238E27FC236}">
                <a16:creationId xmlns:a16="http://schemas.microsoft.com/office/drawing/2014/main" id="{F3268FC8-0D7F-4AB2-896B-8BED4D60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19" name="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AE6683EE-AAE2-40FC-B2FF-4D4F296F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来源字段与规则</a:t>
            </a:r>
          </a:p>
        </p:txBody>
      </p:sp>
      <p:sp>
        <p:nvSpPr>
          <p:cNvPr id="20" name="4">
            <a:extLst xmlns:a="http://schemas.openxmlformats.org/drawingml/2006/main">
              <a:ext uri="{FF2B5EF4-FFF2-40B4-BE49-F238E27FC236}">
                <a16:creationId xmlns:a16="http://schemas.microsoft.com/office/drawing/2014/main" id="{1C5ED6B3-EE62-42EE-8CAF-0E02BA7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5FF61DB9-BEEE-4A86-B620-1E2C964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6715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2" name="ATLAS">
            <a:extLst xmlns:a="http://schemas.openxmlformats.org/drawingml/2006/main">
              <a:ext uri="{FF2B5EF4-FFF2-40B4-BE49-F238E27FC236}">
                <a16:creationId xmlns:a16="http://schemas.microsoft.com/office/drawing/2014/main" id="{89F9225B-B687-48FB-B7AB-1DD56A8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3" name="规则召回 + LLM">
            <a:extLst xmlns:a="http://schemas.openxmlformats.org/drawingml/2006/main">
              <a:ext uri="{FF2B5EF4-FFF2-40B4-BE49-F238E27FC236}">
                <a16:creationId xmlns:a16="http://schemas.microsoft.com/office/drawing/2014/main" id="{3AEDC1C9-C227-43BC-849D-C4BEFF75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规则召回 + LLM</a:t>
            </a:r>
          </a:p>
        </p:txBody>
      </p:sp>
      <p:sp>
        <p:nvSpPr>
          <p:cNvPr id="24" name="5">
            <a:extLst xmlns:a="http://schemas.openxmlformats.org/drawingml/2006/main">
              <a:ext uri="{FF2B5EF4-FFF2-40B4-BE49-F238E27FC236}">
                <a16:creationId xmlns:a16="http://schemas.microsoft.com/office/drawing/2014/main" id="{D7C72E72-B414-4F3C-B504-5CC03D5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51BA5ACE-77EF-4265-9E1A-C7B4DAE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受影响与修复版本">
            <a:extLst xmlns:a="http://schemas.openxmlformats.org/drawingml/2006/main">
              <a:ext uri="{FF2B5EF4-FFF2-40B4-BE49-F238E27FC236}">
                <a16:creationId xmlns:a16="http://schemas.microsoft.com/office/drawing/2014/main" id="{E0266669-F999-42F6-A073-BCDA1809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受影响与修复版本</a:t>
            </a:r>
          </a:p>
        </p:txBody>
      </p:sp>
      <p:sp>
        <p:nvSpPr>
          <p:cNvPr id="27" name="OSV 区间语义">
            <a:extLst xmlns:a="http://schemas.openxmlformats.org/drawingml/2006/main">
              <a:ext uri="{FF2B5EF4-FFF2-40B4-BE49-F238E27FC236}">
                <a16:creationId xmlns:a16="http://schemas.microsoft.com/office/drawing/2014/main" id="{93A78FF2-7F23-4032-9C26-F91F953C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区间语义</a:t>
            </a:r>
          </a:p>
        </p:txBody>
      </p:sp>
      <p:sp>
        <p:nvSpPr>
          <p:cNvPr id="28" name="6">
            <a:extLst xmlns:a="http://schemas.openxmlformats.org/drawingml/2006/main">
              <a:ext uri="{FF2B5EF4-FFF2-40B4-BE49-F238E27FC236}">
                <a16:creationId xmlns:a16="http://schemas.microsoft.com/office/drawing/2014/main" id="{B0FA8E11-8ECF-4F71-A02A-C0D6142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8C703FC8-738E-4256-B952-1AB141BF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B3386713-AC84-47F6-A465-022FEDB1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31" name="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19502479-7854-4CB3-85F8-AE88BE25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嵌入 + 组件共现</a:t>
            </a:r>
          </a:p>
        </p:txBody>
      </p:sp>
      <p:sp>
        <p:nvSpPr>
          <p:cNvPr id="32" name="7">
            <a:extLst xmlns:a="http://schemas.openxmlformats.org/drawingml/2006/main">
              <a:ext uri="{FF2B5EF4-FFF2-40B4-BE49-F238E27FC236}">
                <a16:creationId xmlns:a16="http://schemas.microsoft.com/office/drawing/2014/main" id="{EB44A7EE-3960-4150-85F9-0F787ACD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C388322D-4A69-414A-B3B4-8C4B00D2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483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4" name="PoC 存在性">
            <a:extLst xmlns:a="http://schemas.openxmlformats.org/drawingml/2006/main">
              <a:ext uri="{FF2B5EF4-FFF2-40B4-BE49-F238E27FC236}">
                <a16:creationId xmlns:a16="http://schemas.microsoft.com/office/drawing/2014/main" id="{11DFD171-20D3-4961-B213-E5F9AC4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PoC 存在性</a:t>
            </a:r>
          </a:p>
        </p:txBody>
      </p:sp>
      <p:sp>
        <p:nvSpPr>
          <p:cNvPr id="35" name="仅链接与标题">
            <a:extLst xmlns:a="http://schemas.openxmlformats.org/drawingml/2006/main">
              <a:ext uri="{FF2B5EF4-FFF2-40B4-BE49-F238E27FC236}">
                <a16:creationId xmlns:a16="http://schemas.microsoft.com/office/drawing/2014/main" id="{968D6D52-1199-4F94-854C-EC8801F3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仅链接与标题</a:t>
            </a:r>
          </a:p>
        </p:txBody>
      </p:sp>
      <p:sp>
        <p:nvSpPr>
          <p:cNvPr id="36" name="8">
            <a:extLst xmlns:a="http://schemas.openxmlformats.org/drawingml/2006/main">
              <a:ext uri="{FF2B5EF4-FFF2-40B4-BE49-F238E27FC236}">
                <a16:creationId xmlns:a16="http://schemas.microsoft.com/office/drawing/2014/main" id="{EBD228E1-6407-427D-9C0E-BACD2760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2C7960EC-EFB8-4201-9DF0-18042513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8" name="公网暴露面">
            <a:extLst xmlns:a="http://schemas.openxmlformats.org/drawingml/2006/main">
              <a:ext uri="{FF2B5EF4-FFF2-40B4-BE49-F238E27FC236}">
                <a16:creationId xmlns:a16="http://schemas.microsoft.com/office/drawing/2014/main" id="{98C3C697-DE91-440D-9A73-52AAFC0A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公网暴露面</a:t>
            </a:r>
          </a:p>
        </p:txBody>
      </p:sp>
      <p:sp>
        <p:nvSpPr>
          <p:cNvPr id="39" name="仅聚合计数">
            <a:extLst xmlns:a="http://schemas.openxmlformats.org/drawingml/2006/main">
              <a:ext uri="{FF2B5EF4-FFF2-40B4-BE49-F238E27FC236}">
                <a16:creationId xmlns:a16="http://schemas.microsoft.com/office/drawing/2014/main" id="{ECBF0C80-5412-4C1B-B819-630EA27A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仅聚合计数</a:t>
            </a:r>
          </a:p>
        </p:txBody>
      </p:sp>
      <p:sp>
        <p:nvSpPr>
          <p:cNvPr id="40" name="9">
            <a:extLst xmlns:a="http://schemas.openxmlformats.org/drawingml/2006/main">
              <a:ext uri="{FF2B5EF4-FFF2-40B4-BE49-F238E27FC236}">
                <a16:creationId xmlns:a16="http://schemas.microsoft.com/office/drawing/2014/main" id="{13CE264E-A2C2-463D-99D3-5EAE84D7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1" name="蓝色：规则与确定性信息；绿色：弱关联须 Critic 校验；黄色：合规边界">
            <a:extLst xmlns:a="http://schemas.openxmlformats.org/drawingml/2006/main">
              <a:ext uri="{FF2B5EF4-FFF2-40B4-BE49-F238E27FC236}">
                <a16:creationId xmlns:a16="http://schemas.microsoft.com/office/drawing/2014/main" id="{09147A4B-9BB8-44EE-B8DE-CD6C7AE9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蓝色：规则与确定性信息；绿色：弱关联须 Critic 校验；黄色：合规边界</a:t>
            </a:r>
          </a:p>
        </p:txBody>
      </p:sp>
    </p:spTree>
    <p:extLst>
      <p:ext uri="{BB962C8B-B14F-4D97-AF65-F5344CB8AC3E}">
        <p14:creationId xmlns:p14="http://schemas.microsoft.com/office/powerpoint/2010/main" val="1368737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24F35-3FF1-40A2-9A20-8C2DAA157A3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3762375" y="49153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A4E35-6E1F-41C2-931C-05E5223675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3762375" y="3210402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4" name="Quake 暴露面口径收窄">
            <a:extLst xmlns:a="http://schemas.openxmlformats.org/drawingml/2006/main">
              <a:ext uri="{FF2B5EF4-FFF2-40B4-BE49-F238E27FC236}">
                <a16:creationId xmlns:a16="http://schemas.microsoft.com/office/drawing/2014/main" id="{9D2AC8AF-741D-4473-9B09-4DD6332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52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1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7DC3"/>
                </a:solidFill>
              </a:defRPr>
            </a:pPr>
            <a:r>
              <a:rPr sz="21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Quake 暴露面口径收窄</a:t>
            </a:r>
          </a:p>
        </p:txBody>
      </p:sp>
      <p:sp>
        <p:nvSpPr>
          <p:cNvPr id="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BC2C301-0D44-4B4A-A510-F8E2C69E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6286500" cy="1266825"/>
          </a:xfrm>
          <a:custGeom xmlns:a="http://schemas.openxmlformats.org/drawingml/2006/main">
            <a:pathLst>
              <a:path w="6286500" h="1266825">
                <a:moveTo>
                  <a:pt x="0" y="0"/>
                </a:moveTo>
                <a:lnTo>
                  <a:pt x="6286500" y="0"/>
                </a:lnTo>
                <a:lnTo>
                  <a:pt x="58578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" name="823 690">
            <a:extLst xmlns:a="http://schemas.openxmlformats.org/drawingml/2006/main">
              <a:ext uri="{FF2B5EF4-FFF2-40B4-BE49-F238E27FC236}">
                <a16:creationId xmlns:a16="http://schemas.microsoft.com/office/drawing/2014/main" id="{6D2077FD-90EA-40B5-95FF-6CCDC4EA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907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4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657D8E"/>
                </a:solidFill>
              </a:defRPr>
            </a:pPr>
            <a:r>
              <a:rPr sz="34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823 690</a:t>
            </a:r>
          </a:p>
        </p:txBody>
      </p:sp>
      <p:sp>
        <p:nvSpPr>
          <p:cNvPr id="4" name="宽口径，仅作上限参考">
            <a:extLst xmlns:a="http://schemas.openxmlformats.org/drawingml/2006/main">
              <a:ext uri="{FF2B5EF4-FFF2-40B4-BE49-F238E27FC236}">
                <a16:creationId xmlns:a16="http://schemas.microsoft.com/office/drawing/2014/main" id="{DEC7E7F9-6C47-4B0B-9552-176A120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宽口径，仅作上限参考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4104A7FD-3EB6-4798-BF7A-11B473E9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9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E4C5A498-C13F-4FC3-8EAD-99015E5E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33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AFD81E92-81F8-44EA-9D11-AB8153EA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5334000" cy="1266825"/>
          </a:xfrm>
          <a:custGeom xmlns:a="http://schemas.openxmlformats.org/drawingml/2006/main">
            <a:pathLst>
              <a:path w="5334000" h="1266825">
                <a:moveTo>
                  <a:pt x="0" y="0"/>
                </a:moveTo>
                <a:lnTo>
                  <a:pt x="5334000" y="0"/>
                </a:lnTo>
                <a:lnTo>
                  <a:pt x="4905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9" name="172 411">
            <a:extLst xmlns:a="http://schemas.openxmlformats.org/drawingml/2006/main">
              <a:ext uri="{FF2B5EF4-FFF2-40B4-BE49-F238E27FC236}">
                <a16:creationId xmlns:a16="http://schemas.microsoft.com/office/drawing/2014/main" id="{FD4D1315-ACC6-4E0A-9E14-DD93D34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4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277DC3"/>
                </a:solidFill>
              </a:defRPr>
            </a:pPr>
            <a:r>
              <a:rPr sz="34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172 411</a:t>
            </a:r>
          </a:p>
        </p:txBody>
      </p:sp>
      <p:sp>
        <p:nvSpPr>
          <p:cNvPr id="10" name="收窄全球：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E85276C5-EEB0-4824-9A53-3E6042D8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收窄全球：端口 + 响应特征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5CA61438-57AC-41CF-B6AD-9303FCE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AA261F25-AB65-47B2-8C47-EC9CA0E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9DAD829-07E4-4D3D-A211-0A9EE04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05425"/>
            <a:ext cx="4191000" cy="1266825"/>
          </a:xfrm>
          <a:custGeom xmlns:a="http://schemas.openxmlformats.org/drawingml/2006/main">
            <a:pathLst>
              <a:path w="4191000" h="1266825">
                <a:moveTo>
                  <a:pt x="0" y="0"/>
                </a:moveTo>
                <a:lnTo>
                  <a:pt x="4191000" y="0"/>
                </a:lnTo>
                <a:lnTo>
                  <a:pt x="3762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5" name="51 612">
            <a:extLst xmlns:a="http://schemas.openxmlformats.org/drawingml/2006/main">
              <a:ext uri="{FF2B5EF4-FFF2-40B4-BE49-F238E27FC236}">
                <a16:creationId xmlns:a16="http://schemas.microsoft.com/office/drawing/2014/main" id="{0E17B303-4967-4AB5-B04F-C79EB314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006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4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547D45"/>
                </a:solidFill>
              </a:defRPr>
            </a:pPr>
            <a:r>
              <a:rPr sz="34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51 612</a:t>
            </a:r>
          </a:p>
        </p:txBody>
      </p:sp>
      <p:sp>
        <p:nvSpPr>
          <p:cNvPr id="16" name="国内：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759AEEAC-87DA-4490-8A6E-089C3ED6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38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国内：按平台国家字段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9508868D-3E8E-4838-9652-D2A8B02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95475"/>
            <a:ext cx="3286125" cy="46767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元数据抽样验证">
            <a:extLst xmlns:a="http://schemas.openxmlformats.org/drawingml/2006/main">
              <a:ext uri="{FF2B5EF4-FFF2-40B4-BE49-F238E27FC236}">
                <a16:creationId xmlns:a16="http://schemas.microsoft.com/office/drawing/2014/main" id="{4681974F-08AE-4E7F-8EE9-9B02118D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99072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元数据抽样验证</a:t>
            </a:r>
          </a:p>
        </p:txBody>
      </p:sp>
      <p:sp>
        <p:nvSpPr>
          <p:cNvPr id="19" name="44 / 50">
            <a:extLst xmlns:a="http://schemas.openxmlformats.org/drawingml/2006/main">
              <a:ext uri="{FF2B5EF4-FFF2-40B4-BE49-F238E27FC236}">
                <a16:creationId xmlns:a16="http://schemas.microsoft.com/office/drawing/2014/main" id="{B86FF975-6078-4921-96F9-ECDD163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2924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6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A67A20"/>
                </a:solidFill>
              </a:defRPr>
            </a:pPr>
            <a:r>
              <a:rPr sz="36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44 / 50</a:t>
            </a:r>
          </a:p>
        </p:txBody>
      </p:sp>
      <p:sp>
        <p:nvSpPr>
          <p:cNvPr id="20" name="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B202E9F5-B3D2-428B-886F-E3CCD09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05225"/>
            <a:ext cx="2924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精确率 88% ≥80%</a:t>
            </a:r>
          </a:p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21" name="抽样时间 19:55 当时总数 172 401">
            <a:extLst xmlns:a="http://schemas.openxmlformats.org/drawingml/2006/main">
              <a:ext uri="{FF2B5EF4-FFF2-40B4-BE49-F238E27FC236}">
                <a16:creationId xmlns:a16="http://schemas.microsoft.com/office/drawing/2014/main" id="{184B0ED4-F499-4C6A-8A37-AF9A98C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72050"/>
            <a:ext cx="2981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抽样时间 19:55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当时总数 172 401</a:t>
            </a:r>
          </a:p>
        </p:txBody>
      </p:sp>
      <p:sp>
        <p:nvSpPr>
          <p:cNvPr id="22" name="计数时间 15:57">
            <a:extLst xmlns:a="http://schemas.openxmlformats.org/drawingml/2006/main">
              <a:ext uri="{FF2B5EF4-FFF2-40B4-BE49-F238E27FC236}">
                <a16:creationId xmlns:a16="http://schemas.microsoft.com/office/drawing/2014/main" id="{4681E6F9-E533-4D3E-98C3-3F32F19A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24650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计数时间 15:57</a:t>
            </a:r>
          </a:p>
        </p:txBody>
      </p:sp>
      <p:sp>
        <p:nvSpPr>
          <p:cNvPr id="23" name="2026-10-15，仅计数；Talos / Shodan 文献为 1139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1BE7B1F1-3D6E-41FB-8360-5A84BC3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2026-10-15，仅计数；Talos / Shodan 文献为 1139，覆盖口径不同，不直接比较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100625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2BFF496-FEF0-450D-A0F6-2D6DA6353931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7859078" y="57631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055AC4-1CA8-4064-A670-9DA6DE8197BF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H="1">
            <a:off x="7858125" y="4134327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D97934-EC17-45E6-B0ED-70D7DD688241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7382828" y="413432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4AC4A2-6F1A-48B0-97B7-D9F00A07C4AF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3095625" y="5763102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32F817-C991-4346-9DC0-ACC865D8011F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3571875" y="4134327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0411FD-6321-44DB-BC08-F8DE71B51764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3571875" y="4134327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435D13-465D-4B24-B616-535E831F4310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7859078" y="375332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55355D-C711-4F68-ADC1-987D24211A5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 flipV="1">
            <a:off x="7858125" y="3753327"/>
            <a:ext cx="953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4777F6-7B91-44A2-9618-5A2ECDC9552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382828" y="37819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793205-90B8-4CFF-A8B8-7A6567928976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095625" y="3753327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E59530-DBC4-475B-AF0C-10B5FA17186A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 flipV="1">
            <a:off x="3571875" y="3753327"/>
            <a:ext cx="953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6525CF-12A1-4301-99FB-A02B03D75FB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3571875" y="3781902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32C76F-CC10-4275-9458-C2ACB7C0C84E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59078" y="178165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E2086-B48C-4023-AF09-9F154077243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 flipV="1">
            <a:off x="7858125" y="1781652"/>
            <a:ext cx="953" cy="1647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43D60-7FDF-4B3F-BA5D-63789CFC47D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82828" y="342947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18835-ED2E-450E-A303-BB54859A87E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72828" y="342947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4AEA4-3FF3-4312-9A26-EA896EEF305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3571875" y="1781652"/>
            <a:ext cx="953" cy="1647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9F68-7805-47C2-BB27-98C55482028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96578" y="178165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8" name="boundary">
            <a:extLst xmlns:a="http://schemas.openxmlformats.org/drawingml/2006/main">
              <a:ext uri="{FF2B5EF4-FFF2-40B4-BE49-F238E27FC236}">
                <a16:creationId xmlns:a16="http://schemas.microsoft.com/office/drawing/2014/main" id="{A05E1D42-8719-4E7C-A12D-BFE7C482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09925"/>
            <a:ext cx="33337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D6727F3F-E6DD-43D2-9A77-5F5DF808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051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3" name="漏洞事实">
            <a:extLst xmlns:a="http://schemas.openxmlformats.org/drawingml/2006/main">
              <a:ext uri="{FF2B5EF4-FFF2-40B4-BE49-F238E27FC236}">
                <a16:creationId xmlns:a16="http://schemas.microsoft.com/office/drawing/2014/main" id="{777F0FE7-71C8-4056-AF7D-E770F9A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33800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6665313-82AE-484E-8A27-C8BD8CB0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2F3E4762-84D6-4020-94E7-3580358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公告">
            <a:extLst xmlns:a="http://schemas.openxmlformats.org/drawingml/2006/main">
              <a:ext uri="{FF2B5EF4-FFF2-40B4-BE49-F238E27FC236}">
                <a16:creationId xmlns:a16="http://schemas.microsoft.com/office/drawing/2014/main" id="{6D09D978-B703-46AB-A81C-DB27B2B1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6212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EF9E4914-F709-45AF-8103-C17304ED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8B7BC13F-86C9-485F-9F26-EC6BC29F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95E92984-FDA3-4B74-A595-54EAA239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DDB62565-09FE-4260-9215-AED13FC8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2053A9EB-BA81-4F01-ABE8-9D02CE89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A34A4FE-A75D-4024-9015-98DE0C26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描述">
            <a:extLst xmlns:a="http://schemas.openxmlformats.org/drawingml/2006/main">
              <a:ext uri="{FF2B5EF4-FFF2-40B4-BE49-F238E27FC236}">
                <a16:creationId xmlns:a16="http://schemas.microsoft.com/office/drawing/2014/main" id="{6D392C72-7E3D-4234-8FC0-04D2FDC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40017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FA3B43B-3D34-4F78-B6A9-34161ED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3825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Component">
            <a:extLst xmlns:a="http://schemas.openxmlformats.org/drawingml/2006/main">
              <a:ext uri="{FF2B5EF4-FFF2-40B4-BE49-F238E27FC236}">
                <a16:creationId xmlns:a16="http://schemas.microsoft.com/office/drawing/2014/main" id="{A43721BE-E9D5-4709-A7FE-EE0ABCA3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33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9" name="组件">
            <a:extLst xmlns:a="http://schemas.openxmlformats.org/drawingml/2006/main">
              <a:ext uri="{FF2B5EF4-FFF2-40B4-BE49-F238E27FC236}">
                <a16:creationId xmlns:a16="http://schemas.microsoft.com/office/drawing/2014/main" id="{1B119EEA-9817-4FA9-898E-730F25F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6212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13D0D1FA-AB30-4956-81DF-C27576B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FD243939-EA14-4DB4-9EED-02BA7F8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0B6BB115-5BB4-45E7-B925-7F1C57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99FA7B7-90F6-4971-9C35-5F223213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7763C5F-F270-4977-9D4C-BF6B9BC7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B92E1B0F-9D9D-4B2D-98D2-DA670AB1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影响">
            <a:extLst xmlns:a="http://schemas.openxmlformats.org/drawingml/2006/main">
              <a:ext uri="{FF2B5EF4-FFF2-40B4-BE49-F238E27FC236}">
                <a16:creationId xmlns:a16="http://schemas.microsoft.com/office/drawing/2014/main" id="{5D329DC2-1FB6-4187-A85B-80A284B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40017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14444864-DF89-4B67-8021-F72CD49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CWE">
            <a:extLst xmlns:a="http://schemas.openxmlformats.org/drawingml/2006/main">
              <a:ext uri="{FF2B5EF4-FFF2-40B4-BE49-F238E27FC236}">
                <a16:creationId xmlns:a16="http://schemas.microsoft.com/office/drawing/2014/main" id="{95E5DA8F-F7F7-4773-9F5E-1F43B7A6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32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88C65066-63A8-4E26-9C0A-98A87A5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33800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5F186D0-223B-45AC-93B9-30B2FA9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0A9332DA-3D28-4E79-B37C-2F9328FD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85A4FFAD-0F5D-4654-B513-015F332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5114A74B-8EAB-49FB-91D4-67F052F5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8777919B-8D70-4B75-9A52-64187954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7760EFF4-3F6F-4F6F-8F3B-1102EE6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弱点">
            <a:extLst xmlns:a="http://schemas.openxmlformats.org/drawingml/2006/main">
              <a:ext uri="{FF2B5EF4-FFF2-40B4-BE49-F238E27FC236}">
                <a16:creationId xmlns:a16="http://schemas.microsoft.com/office/drawing/2014/main" id="{B2F959E2-DD23-4434-A6F3-E3350D0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718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F6F166BB-0838-44E1-9580-2B8FBF97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9925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4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6A6C4CCB-7D1B-4DDC-AE0C-57CD65C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45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89DF6FD5-EF1A-4C8D-BCFA-D6F65056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33800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BDFB4B88-4813-4CF8-8550-B155962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80F909D9-F09E-4A24-98FA-354C317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B155970F-15CB-428E-995C-264EF2F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C7C1FA14-F13E-4B8E-9283-0633D4D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C0E0FE24-6E25-413B-8853-1F519A8D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DDC3593A-1495-4DF8-88C1-3E65F66D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映射">
            <a:extLst xmlns:a="http://schemas.openxmlformats.org/drawingml/2006/main">
              <a:ext uri="{FF2B5EF4-FFF2-40B4-BE49-F238E27FC236}">
                <a16:creationId xmlns:a16="http://schemas.microsoft.com/office/drawing/2014/main" id="{FC6EE018-26EA-40E2-B3D4-7CB04690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718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0DEFF492-4602-42C9-8403-A94FE64B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7" name="PocRef">
            <a:extLst xmlns:a="http://schemas.openxmlformats.org/drawingml/2006/main">
              <a:ext uri="{FF2B5EF4-FFF2-40B4-BE49-F238E27FC236}">
                <a16:creationId xmlns:a16="http://schemas.microsoft.com/office/drawing/2014/main" id="{54F56B4F-3ECF-4E31-A790-9EDF2D18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58" name="公开引用">
            <a:extLst xmlns:a="http://schemas.openxmlformats.org/drawingml/2006/main">
              <a:ext uri="{FF2B5EF4-FFF2-40B4-BE49-F238E27FC236}">
                <a16:creationId xmlns:a16="http://schemas.microsoft.com/office/drawing/2014/main" id="{407D5E79-36C6-42F5-895E-45B036A8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4357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公开引用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D85B2736-83C5-4E0B-963A-6BA585D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F063D299-6164-4159-8139-4FE44BA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A5AF907F-059B-451C-8216-C135CC4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0AC3D24B-F8C5-4B65-9470-6ECBE349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9A4B453A-6FA6-40D9-B594-ED09B998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E7D4E7E3-A762-4832-9B74-1E17CBC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引用">
            <a:extLst xmlns:a="http://schemas.openxmlformats.org/drawingml/2006/main">
              <a:ext uri="{FF2B5EF4-FFF2-40B4-BE49-F238E27FC236}">
                <a16:creationId xmlns:a16="http://schemas.microsoft.com/office/drawing/2014/main" id="{9C372004-7E63-4CC7-94DE-0FFED00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8162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CAABA4F6-3F0C-4648-AAC4-EF01B8A1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1970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0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6F16257B-93C2-43D8-A759-DA58FAA4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71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69062D3B-69CF-41CC-B09C-CF408D6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74357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B000D381-0316-490C-96BA-203FA52B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9E9CDA70-4CBD-4465-B0A9-E2F15631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F88A5EB2-99C2-415B-8E30-576DF36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C75BBB90-2A4C-4E14-A1DC-80E4AF6C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76DD75B3-0D0A-4FFA-AEDC-D5406698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9A53A075-DAC2-4C32-9C77-51675B2C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讨论">
            <a:extLst xmlns:a="http://schemas.openxmlformats.org/drawingml/2006/main">
              <a:ext uri="{FF2B5EF4-FFF2-40B4-BE49-F238E27FC236}">
                <a16:creationId xmlns:a16="http://schemas.microsoft.com/office/drawing/2014/main" id="{1FA82D20-93EA-46D2-914D-C539AED0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8162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82" name="规则理由：aliases 含 CVE">
            <a:extLst xmlns:a="http://schemas.openxmlformats.org/drawingml/2006/main">
              <a:ext uri="{FF2B5EF4-FFF2-40B4-BE49-F238E27FC236}">
                <a16:creationId xmlns:a16="http://schemas.microsoft.com/office/drawing/2014/main" id="{326A85C5-038D-4183-B572-2FCE7FB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33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77DC3"/>
                </a:solidFill>
              </a:defRPr>
            </a:pPr>
            <a:r>
              <a:rPr sz="180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规则理由：aliases 含 CVE</a:t>
            </a:r>
          </a:p>
        </p:txBody>
      </p:sp>
      <p:sp>
        <p:nvSpPr>
          <p:cNvPr id="83" name="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C9939FCC-B56D-47D8-9C05-19DF0E5B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弱关联：摘要相似 + 组件共现</a:t>
            </a:r>
          </a:p>
        </p:txBody>
      </p:sp>
      <p:sp>
        <p:nvSpPr>
          <p:cNvPr id="84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AA0C8ABE-14B9-4F87-BB6C-277C1EE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4191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33E54"/>
                </a:solidFill>
              </a:defRPr>
            </a:pPr>
            <a:r>
              <a:rPr sz="180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处置关联：修复 + 缓解模板</a:t>
            </a:r>
          </a:p>
          <a:p xmlns:a="http://schemas.openxmlformats.org/drawingml/2006/main">
            <a:pPr algn="ctr">
              <a:defRPr sz="1800" b="0">
                <a:solidFill>
                  <a:srgbClr val="233E54"/>
                </a:solidFill>
              </a:defRPr>
            </a:pPr>
            <a:r>
              <a:rPr sz="180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版本求解：清单 × 影响区间</a:t>
            </a:r>
          </a:p>
        </p:txBody>
      </p:sp>
      <p:sp>
        <p:nvSpPr>
          <p:cNvPr id="85" name="描述 DESCRIBES    影响 AFFECTS    弱点 HAS_CWE">
            <a:extLst xmlns:a="http://schemas.openxmlformats.org/drawingml/2006/main">
              <a:ext uri="{FF2B5EF4-FFF2-40B4-BE49-F238E27FC236}">
                <a16:creationId xmlns:a16="http://schemas.microsoft.com/office/drawing/2014/main" id="{5DA9211E-ACE2-4BE9-AF82-5768FF3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描述 DESCRIBES    影响 AFFECTS    弱点 HAS_CWE</a:t>
            </a:r>
          </a:p>
        </p:txBody>
      </p:sp>
      <p:sp>
        <p:nvSpPr>
          <p:cNvPr id="86" name="映射 MAPS_TO    引用 HAS_POC_REF    讨论 DISCUSSED_IN">
            <a:extLst xmlns:a="http://schemas.openxmlformats.org/drawingml/2006/main">
              <a:ext uri="{FF2B5EF4-FFF2-40B4-BE49-F238E27FC236}">
                <a16:creationId xmlns:a16="http://schemas.microsoft.com/office/drawing/2014/main" id="{079A3A17-9738-4465-8DAF-052E5F6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映射 MAPS_TO    引用 HAS_POC_REF    讨论 DISCUSSED_IN</a:t>
            </a:r>
          </a:p>
        </p:txBody>
      </p:sp>
      <p:sp>
        <p:nvSpPr>
          <p:cNvPr id="87" name="实线：确定性关联；虚线：须经 Critic 校验的弱关联">
            <a:extLst xmlns:a="http://schemas.openxmlformats.org/drawingml/2006/main">
              <a:ext uri="{FF2B5EF4-FFF2-40B4-BE49-F238E27FC236}">
                <a16:creationId xmlns:a16="http://schemas.microsoft.com/office/drawing/2014/main" id="{14EC53C4-5AF2-4385-A795-8DB9F2E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实线：确定性关联；虚线：须经 Critic 校验的弱关联</a:t>
            </a:r>
          </a:p>
        </p:txBody>
      </p:sp>
    </p:spTree>
    <p:extLst>
      <p:ext uri="{BB962C8B-B14F-4D97-AF65-F5344CB8AC3E}">
        <p14:creationId xmlns:p14="http://schemas.microsoft.com/office/powerpoint/2010/main" val="115947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901035-891E-4A89-8338-26719753B563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4772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32C275-D26C-4A3F-8582-F78CAD223507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8477250" y="5839302"/>
            <a:ext cx="5343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A5A80C-2374-4654-84B0-715A6EB08586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9527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6F9A2-C9C5-4774-944A-5123751D1D94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2952750" y="5839302"/>
            <a:ext cx="60588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435359-1E6F-426E-8B7F-8BBD2870D6D7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9010650" y="53630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8A659-1873-4771-B859-C18C884ECDD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419350" y="4515327"/>
            <a:ext cx="95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CA00A-2598-48D3-B4E1-11CB93BEB4B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2419350" y="4515327"/>
            <a:ext cx="32966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4CFC1-1E11-4C40-95A3-4A066B7DCA7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5715000" y="4324827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86D6C-6684-486C-BDFE-2332893792B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3105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79D41-9F97-4743-94B5-86597A8E5F0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8460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FAE5A-395E-4B88-878E-6C796729AA8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5715000" y="1705452"/>
            <a:ext cx="953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4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E71EDFAF-DEA3-41BD-8B9C-808B1FC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09675"/>
            <a:ext cx="285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字段候选</a:t>
            </a:r>
          </a:p>
        </p:txBody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CB0E00BE-6CF7-43A9-AAB8-DF7D398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4377CAB-6BBD-49EC-99EA-61199521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9353FF5C-9DA8-4686-9BA2-74020B8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10477500" cy="1647825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优先处理特例">
            <a:extLst xmlns:a="http://schemas.openxmlformats.org/drawingml/2006/main">
              <a:ext uri="{FF2B5EF4-FFF2-40B4-BE49-F238E27FC236}">
                <a16:creationId xmlns:a16="http://schemas.microsoft.com/office/drawing/2014/main" id="{D168F340-AED0-4B20-9EDE-9CACE7EF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优先处理特例</a:t>
            </a:r>
          </a:p>
        </p:txBody>
      </p:sp>
      <p:sp>
        <p:nvSpPr>
          <p:cNvPr id="7" name="KEV 专属">
            <a:extLst xmlns:a="http://schemas.openxmlformats.org/drawingml/2006/main">
              <a:ext uri="{FF2B5EF4-FFF2-40B4-BE49-F238E27FC236}">
                <a16:creationId xmlns:a16="http://schemas.microsoft.com/office/drawing/2014/main" id="{28348369-F19B-45DB-89D9-663BBF28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KEV 专属</a:t>
            </a:r>
          </a:p>
        </p:txBody>
      </p:sp>
      <p:sp>
        <p:nvSpPr>
          <p:cNvPr id="8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EE40F2E6-0E55-4F38-AF69-98D7EBD2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一级撤回</a:t>
            </a:r>
          </a:p>
        </p:txBody>
      </p:sp>
      <p:sp>
        <p:nvSpPr>
          <p:cNvPr id="9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8C6561D1-6E8F-4103-AFB5-6B9A0F9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区间互斥</a:t>
            </a:r>
          </a:p>
        </p:txBody>
      </p:sp>
      <p:sp>
        <p:nvSpPr>
          <p:cNvPr id="10" name="双 CVE">
            <a:extLst xmlns:a="http://schemas.openxmlformats.org/drawingml/2006/main">
              <a:ext uri="{FF2B5EF4-FFF2-40B4-BE49-F238E27FC236}">
                <a16:creationId xmlns:a16="http://schemas.microsoft.com/office/drawing/2014/main" id="{5E22CB96-1999-4ED1-BBBF-F7AAD327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</a:t>
            </a:r>
          </a:p>
        </p:txBody>
      </p:sp>
      <p:sp>
        <p:nvSpPr>
          <p:cNvPr id="11" name="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F8926F0E-30DE-490E-B15E-B909D5C1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24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67A20"/>
                </a:solidFill>
              </a:defRPr>
            </a:pPr>
            <a:r>
              <a:rPr sz="18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并集、撤回、保留候选</a:t>
            </a:r>
          </a:p>
        </p:txBody>
      </p:sp>
      <p:sp>
        <p:nvSpPr>
          <p:cNvPr id="12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63294ECF-E33A-4B2B-9E0E-63A363A6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2832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可信度等级</a:t>
            </a:r>
          </a:p>
        </p:txBody>
      </p:sp>
      <p:sp>
        <p:nvSpPr>
          <p:cNvPr id="13" name="置信度">
            <a:extLst xmlns:a="http://schemas.openxmlformats.org/drawingml/2006/main">
              <a:ext uri="{FF2B5EF4-FFF2-40B4-BE49-F238E27FC236}">
                <a16:creationId xmlns:a16="http://schemas.microsoft.com/office/drawing/2014/main" id="{4B0E52B8-43FC-4754-83D3-80CB3D67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676775"/>
            <a:ext cx="2832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4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341FC4C6-2A37-4868-9C2B-52183CA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4676775"/>
            <a:ext cx="2832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更新时间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44BC738-1A08-4675-A363-E197B66F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F34F364B-BDDA-4BD9-A9C6-5D2974C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35CF300-D0C9-49D9-865D-CA7A9891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FC0629F-440A-4E4A-A778-B9DBCAD2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CED4FB7-5A0E-44DA-89D4-354C6174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CA2EA1B1-5B8C-441E-95FD-32732344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76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AF936281-D6E8-442E-8C3E-28FC79E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44767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主值 + provenance</a:t>
            </a:r>
          </a:p>
        </p:txBody>
      </p:sp>
      <p:sp>
        <p:nvSpPr>
          <p:cNvPr id="27" name="落选值保留在 conflicts[]">
            <a:extLst xmlns:a="http://schemas.openxmlformats.org/drawingml/2006/main">
              <a:ext uri="{FF2B5EF4-FFF2-40B4-BE49-F238E27FC236}">
                <a16:creationId xmlns:a16="http://schemas.microsoft.com/office/drawing/2014/main" id="{75C76D0D-37C4-4EED-9533-4CB7424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15075"/>
            <a:ext cx="44767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落选值保留在 conflicts[]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59AE0E41-66CD-4834-A675-2CE26F5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62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2C86B8E6-EBB6-42CD-B711-E4ECD49C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CB216FE8-3839-4B75-9EFF-11BDF15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1F56974A-04B9-407E-982A-59A7EF8D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B811B905-A7BA-4C79-9301-02380515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12325E59-39DF-448D-9E4D-7FEA360C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63F82810-C3E3-48B8-80AE-DA161EA1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125480C-4CC0-41BE-85CD-9B1F8E15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C8C33E19-B92F-418A-B2F8-A1D7AD1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21CD624D-E74E-4373-8927-A6EA78F7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4350D7AC-639E-46A5-85BF-5ED9E10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CVSS 10.0 与 9.8 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646952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FE5319-D8AC-4314-B354-0DB4EF843C7E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>
            <a:off x="938212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238E2B-F04C-4B8D-91B6-7119ECEC11BB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715953" y="515350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155A78-541F-41C6-850E-09229C12622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4C196-7DD9-4EB4-ADC6-F349358C945F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5715000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5BAE4-5483-496B-915F-C87AFE7A40BE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5715000" y="515350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F6A5DC-4850-454E-A85F-17F87CEA2C68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A61E1-8B40-44AA-BD0E-E6209E094520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204787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82F8D-FADA-4BA0-8F7A-E9E2D87BCC0B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2047875" y="515350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74F02-0F8D-4097-B0A8-5BD5A97A877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929ED-0A82-472B-AC14-F1A0EF48CD8C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5715000" y="3000852"/>
            <a:ext cx="2667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DF569-B3FA-4D33-A2CB-8335236A9B7A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8382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71BA6-B878-430A-94D5-47B27366AAB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5715000" y="30008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08650-626B-41FA-9768-11563813F59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48953" y="300085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63F05-CC7A-40EC-96DE-C60DDFFA0B9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3048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6BA49F19-D7E6-42B1-AE92-45FBA02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4191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06699F22-C389-4601-B451-DDA179AE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依赖文件 / 清单</a:t>
            </a:r>
          </a:p>
        </p:txBody>
      </p:sp>
      <p:sp>
        <p:nvSpPr>
          <p:cNvPr id="3" name="组件与版本">
            <a:extLst xmlns:a="http://schemas.openxmlformats.org/drawingml/2006/main">
              <a:ext uri="{FF2B5EF4-FFF2-40B4-BE49-F238E27FC236}">
                <a16:creationId xmlns:a16="http://schemas.microsoft.com/office/drawing/2014/main" id="{36BAA9A2-7BE4-4192-B478-A5F532B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组件与版本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C9293626-44DB-4D6B-806D-226FF9EF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191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7CEE165F-D3F4-4EE3-A137-F244917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purl 与生态</a:t>
            </a:r>
          </a:p>
        </p:txBody>
      </p:sp>
      <p:sp>
        <p:nvSpPr>
          <p:cNvPr id="6" name="规范化输入">
            <a:extLst xmlns:a="http://schemas.openxmlformats.org/drawingml/2006/main">
              <a:ext uri="{FF2B5EF4-FFF2-40B4-BE49-F238E27FC236}">
                <a16:creationId xmlns:a16="http://schemas.microsoft.com/office/drawing/2014/main" id="{DDCBDEAC-5276-4ADB-A87F-B3661935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规范化输入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08F0DBD0-741D-4637-A723-27C2C3B0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6858000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205B3327-50ED-4EC8-8115-1734CB85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71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OSV 区间求解</a:t>
            </a:r>
          </a:p>
        </p:txBody>
      </p:sp>
      <p:sp>
        <p:nvSpPr>
          <p:cNvPr id="9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C8D5C226-59D1-4716-9B0C-FBB0D60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662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introduced / fixed / last_affected / limit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381AF5EB-FE3B-4610-963F-45E3BE7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F5CD37B4-37FA-44FA-8E83-20E40F4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57FE6B41-3A1F-4478-98D0-EF5E9A6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C89C7434-F44E-4BB2-AF36-25881677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BE1943FD-47C3-47BC-A4D7-AFC8777F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8491DFF-807E-433F-B550-FD2F23C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281224FD-1AD6-42E0-98E9-58D0D471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65E94535-8F28-43EE-BCA6-5E537BB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62A89236-3044-4633-8E06-0CD25A6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D0B2BA0C-0265-464D-B6B7-DB0FAEC8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受影响">
            <a:extLst xmlns:a="http://schemas.openxmlformats.org/drawingml/2006/main">
              <a:ext uri="{FF2B5EF4-FFF2-40B4-BE49-F238E27FC236}">
                <a16:creationId xmlns:a16="http://schemas.microsoft.com/office/drawing/2014/main" id="{58C02ADF-90DA-457F-AFB9-3CACCE6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00700"/>
            <a:ext cx="3143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受影响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0F8689C-E256-4A38-9A02-96E486A8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5AA34EFC-C2C3-440B-8F8C-4C836B9B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89414745-4CC9-4EB7-A81D-38096743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351C2A92-AD56-48A0-A178-DB9E5E4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EE205A4-761F-4B10-825A-0930A551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6D5F082B-F7F2-4AFE-BA9C-06E4A16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F56436B0-5ECC-4307-BF32-F3A22F1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00700"/>
            <a:ext cx="3143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未发现已知影响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BC8902DB-2977-4288-B71B-6AF87E8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658453D9-D05E-4FE4-94DA-6F293C01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ED65E8F0-1607-4E76-8011-3AB6E644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432724A9-0F70-4E89-9FDE-7431ADDE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E4AA7AED-D08C-4D1D-94FA-6CF2BE47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5152897B-C781-4519-880E-4E7EF3D7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1BED48E1-5FD9-4B43-9FE7-8C54E1F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143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组件未收录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E1FDCBAA-7B7F-4FD1-A34B-8D4B8F05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465CCBCF-3598-4718-A991-DC97549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3A404546-6450-452C-A69B-C14827E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996EEAF2-63B6-4AA6-898C-89DB291F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ED55773D-94E8-4191-B7DA-77E3B005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8C50D9CC-3063-4AD8-BF27-90EC66F8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共享入口：Web / check_stack / shaowang check">
            <a:extLst xmlns:a="http://schemas.openxmlformats.org/drawingml/2006/main">
              <a:ext uri="{FF2B5EF4-FFF2-40B4-BE49-F238E27FC236}">
                <a16:creationId xmlns:a16="http://schemas.microsoft.com/office/drawing/2014/main" id="{C00BFB8D-D5B5-4A48-84F4-93D85823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57975"/>
            <a:ext cx="1000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77DC3"/>
                </a:solidFill>
              </a:defRPr>
            </a:pPr>
            <a:r>
              <a:rPr sz="19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共享入口：Web / check_stack / shaowang check</a:t>
            </a:r>
          </a:p>
        </p:txBody>
      </p:sp>
      <p:sp>
        <p:nvSpPr>
          <p:cNvPr id="56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36E853F6-9B77-43E9-86FD-C609F0B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区间有分歧时提示；高危退出码 1 可接 CI；未知不等于安全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12371100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AEA765-CE58-447A-AE36-3D90E5FA3C24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 flipV="1">
            <a:off x="1476375" y="4343877"/>
            <a:ext cx="953" cy="2181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5C548FC-4849-4DFD-B399-FD7BDB6520A0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 flipH="1">
            <a:off x="1476375" y="6525102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A2A677-A710-4404-BD7E-CA8AF638F45D}"/>
              </a:ext>
            </a:extLst>
          </p:cNvPr>
          <p:cNvCxnSpPr>
            <a:stCxn xmlns:a="http://schemas.openxmlformats.org/drawingml/2006/main" id="74" idx="1"/>
            <a:endCxn xmlns:a="http://schemas.openxmlformats.org/drawingml/2006/main" id="76" idx="3"/>
          </p:cNvCxnSpPr>
          <p:nvPr/>
        </p:nvCxnSpPr>
        <p:spPr>
          <a:xfrm xmlns:a="http://schemas.openxmlformats.org/drawingml/2006/main" flipH="1">
            <a:off x="6353175" y="6524625"/>
            <a:ext cx="1533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EB7FBD-38FA-4AFA-99FF-25B1DD6E9BC5}"/>
              </a:ext>
            </a:extLst>
          </p:cNvPr>
          <p:cNvCxnSpPr>
            <a:stCxn xmlns:a="http://schemas.openxmlformats.org/drawingml/2006/main" id="70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9444038" y="4343400"/>
            <a:ext cx="509588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AFAC12-657E-4621-AB98-F0A3D84D8E3C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324850" y="37480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AED77F-B910-46B5-9762-217F7B84264A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6F3FF3-4BCD-46A3-8D01-750EC15DCF14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 flipH="1" flipV="1">
            <a:off x="621982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BF7340-FB02-4856-AA18-A5C4CA5AABB4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811203" y="559165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1B8D0B-DE13-4AA5-907F-4F210333FD59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354C11-F7F9-4D35-8470-9518DDD77290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621982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D7C21D-7B4F-47F3-84A8-78C08A120BB6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811203" y="3753327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D1074C-B57D-4814-852E-9FD55DAC72A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331A03-B9F7-47E2-93DA-470D392B8175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>
            <a:off x="621982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0E5644-E6D3-4F79-AC57-8424B0EF3D64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811203" y="191500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366491-8C3B-43FC-A1A6-52EED17C34CD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887028" y="55916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3D4E7-3F53-497B-92C7-FCAE8743FD1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88607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8D4D04-B15E-49B1-A4ED-9F3E4447D449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FE166-BC70-4BDD-A717-FD9C00B15395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887028" y="375332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68F6D-CF80-46AB-A847-5F475D644383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288607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349B2-6B83-4B4A-8128-AE8D142C088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BDF0A-967B-4952-BE79-31632F4144D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887028" y="19150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872CA-0BAF-4066-8AFA-768448FC8DC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 flipV="1">
            <a:off x="288607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76D70-CB4C-4F23-B286-777E90E37D7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6" name="boundary">
            <a:extLst xmlns:a="http://schemas.openxmlformats.org/drawingml/2006/main">
              <a:ext uri="{FF2B5EF4-FFF2-40B4-BE49-F238E27FC236}">
                <a16:creationId xmlns:a16="http://schemas.microsoft.com/office/drawing/2014/main" id="{57D99D17-4805-4E4A-A60B-BF0507C1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52775"/>
            <a:ext cx="209550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47A4E76F-372D-4856-A4FE-3986613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问题与规划器</a:t>
            </a:r>
          </a:p>
        </p:txBody>
      </p:sp>
      <p:sp>
        <p:nvSpPr>
          <p:cNvPr id="3" name="检索计划">
            <a:extLst xmlns:a="http://schemas.openxmlformats.org/drawingml/2006/main">
              <a:ext uri="{FF2B5EF4-FFF2-40B4-BE49-F238E27FC236}">
                <a16:creationId xmlns:a16="http://schemas.microsoft.com/office/drawing/2014/main" id="{4207E8FB-FB98-4638-8ABE-E67935F6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检索计划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526B8D12-EEEE-4540-9311-535777A1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00175"/>
            <a:ext cx="25241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BM25">
            <a:extLst xmlns:a="http://schemas.openxmlformats.org/drawingml/2006/main">
              <a:ext uri="{FF2B5EF4-FFF2-40B4-BE49-F238E27FC236}">
                <a16:creationId xmlns:a16="http://schemas.microsoft.com/office/drawing/2014/main" id="{8892A135-52BA-4912-9F02-FAD0EEB1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6" name="关键词召回">
            <a:extLst xmlns:a="http://schemas.openxmlformats.org/drawingml/2006/main">
              <a:ext uri="{FF2B5EF4-FFF2-40B4-BE49-F238E27FC236}">
                <a16:creationId xmlns:a16="http://schemas.microsoft.com/office/drawing/2014/main" id="{FFEEAC0A-AAF5-4915-A7F8-7FCDD37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关键词召回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AC2F7A3-D51C-4F29-8FA9-914C205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38500"/>
            <a:ext cx="25241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0F3ECD07-BB58-4459-9486-4BFFD47D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向量 top-50</a:t>
            </a:r>
          </a:p>
        </p:txBody>
      </p:sp>
      <p:sp>
        <p:nvSpPr>
          <p:cNvPr id="9" name="语义召回">
            <a:extLst xmlns:a="http://schemas.openxmlformats.org/drawingml/2006/main">
              <a:ext uri="{FF2B5EF4-FFF2-40B4-BE49-F238E27FC236}">
                <a16:creationId xmlns:a16="http://schemas.microsoft.com/office/drawing/2014/main" id="{75AB825E-895B-46A3-8D99-63CE394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623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语义召回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EBABCAF-3339-4EBE-B9AE-A7875425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76825"/>
            <a:ext cx="25241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7CBB7F97-14F8-42AE-ACB7-18938EF5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720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图扩展 1–2 跳</a:t>
            </a:r>
          </a:p>
        </p:txBody>
      </p:sp>
      <p:sp>
        <p:nvSpPr>
          <p:cNvPr id="12" name="关系召回">
            <a:extLst xmlns:a="http://schemas.openxmlformats.org/drawingml/2006/main">
              <a:ext uri="{FF2B5EF4-FFF2-40B4-BE49-F238E27FC236}">
                <a16:creationId xmlns:a16="http://schemas.microsoft.com/office/drawing/2014/main" id="{175BC6D1-50EB-4A05-BFFE-3AB8D1BD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0070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关系召回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C9130854-FCF9-46C0-9F7F-809C22D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A416D68F-9DE5-4607-85F8-1DA0DC16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1C8E84F0-2189-43D7-8389-31703FD4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70EAB67-1F97-4C7B-AEC3-910A9BAF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27F65226-51B0-49F4-9F46-751AC1DB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E18C9244-EE3F-48B6-BCB4-3BA35680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252C849A-5CEF-4052-9DC8-69C11F1B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7A9282C4-CE0E-4F0C-A05D-493246D8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25BF13D-BDCC-4C7B-87DE-407E456F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AD61374D-7516-4E18-8129-CED40BC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AE3E7836-BD06-4D26-BC14-CB7B2CE8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0E928365-0CD5-44F3-8E57-839CDF47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F2F40A03-87E3-4F15-BF88-10E5E93E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EED269A8-A2FA-487B-AD4B-D36B82C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4A731411-7DD5-4AF3-8196-8BBA42D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AA618198-ED34-4476-B344-484EF1C9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8C4335C3-618F-4A50-8457-A6A7407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719672DD-3F68-4184-AF8D-43B47AF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3F7CF09-3281-458E-A47F-0F8C310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52775"/>
            <a:ext cx="1666875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1" name="RRF">
            <a:extLst xmlns:a="http://schemas.openxmlformats.org/drawingml/2006/main">
              <a:ext uri="{FF2B5EF4-FFF2-40B4-BE49-F238E27FC236}">
                <a16:creationId xmlns:a16="http://schemas.microsoft.com/office/drawing/2014/main" id="{AF051BA3-B6B7-4930-9906-754F9E7A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RRF</a:t>
            </a:r>
          </a:p>
        </p:txBody>
      </p:sp>
      <p:sp>
        <p:nvSpPr>
          <p:cNvPr id="42" name="k=60">
            <a:extLst xmlns:a="http://schemas.openxmlformats.org/drawingml/2006/main">
              <a:ext uri="{FF2B5EF4-FFF2-40B4-BE49-F238E27FC236}">
                <a16:creationId xmlns:a16="http://schemas.microsoft.com/office/drawing/2014/main" id="{B17C061A-7869-4256-B613-F75E3295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76650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k=60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1313BF20-8ADC-4BDE-9B68-00F36C30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E2BE18A-4091-422A-97FA-CB2A6DC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119582C8-4C1E-4844-B2F3-D1FA766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AA09CF10-5D61-45B6-B355-B989BB1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171753C1-A064-4FC4-9868-FC288D55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FA6C28C3-EF41-48E4-81BD-E0A75F84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5514FF65-9370-4D71-9CEF-2DA42CD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2C170760-5C58-48A1-8BDB-817E9D28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2F89ED27-1410-47B2-B06D-9146F2A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FAE1AD02-9B02-440A-8B6A-D757B02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05DF99B3-A7B6-448E-B0ED-BD42E28B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43AAD2D6-49C1-4888-A717-A136007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EB3E9415-A98F-4429-8612-271483A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41ACCE8F-16AB-456E-A3FE-FCB49AF2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F9B8A737-0691-4147-918A-16B55822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87208670-D489-4337-B67D-865C83F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44014671-8BCA-4565-AD8A-CA6F62F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6C489656-61D6-494C-95FB-8B37A12B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AAEC6480-CBBA-4792-83FF-9389312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52775"/>
            <a:ext cx="209550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1" name="前 50 重排">
            <a:extLst xmlns:a="http://schemas.openxmlformats.org/drawingml/2006/main">
              <a:ext uri="{FF2B5EF4-FFF2-40B4-BE49-F238E27FC236}">
                <a16:creationId xmlns:a16="http://schemas.microsoft.com/office/drawing/2014/main" id="{940D1F17-4D49-4AD5-AA83-0F042D63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前 50 重排</a:t>
            </a:r>
          </a:p>
        </p:txBody>
      </p:sp>
      <p:sp>
        <p:nvSpPr>
          <p:cNvPr id="72" name="8–12 证据块">
            <a:extLst xmlns:a="http://schemas.openxmlformats.org/drawingml/2006/main">
              <a:ext uri="{FF2B5EF4-FFF2-40B4-BE49-F238E27FC236}">
                <a16:creationId xmlns:a16="http://schemas.microsoft.com/office/drawing/2014/main" id="{11FC2412-943D-4606-A58F-9B474A3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8–12 证据块</a:t>
            </a:r>
          </a:p>
        </p:txBody>
      </p:sp>
      <p:sp>
        <p:nvSpPr>
          <p:cNvPr id="74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A9253A0D-7B58-4766-93B4-0A42ED7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91250"/>
            <a:ext cx="31146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生成并逐句引用</a:t>
            </a:r>
          </a:p>
        </p:txBody>
      </p:sp>
      <p:sp>
        <p:nvSpPr>
          <p:cNvPr id="76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38C42A06-A014-4284-99C6-F69A707E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0"/>
            <a:ext cx="2495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8DF8C6A2-D6A0-4A9E-8CD1-6C87F261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8FC287C8-B25C-4790-BA54-B92EA56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FEDB933A-52FD-44F0-9372-0B41C1B3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646436D1-9980-4D1A-9FDC-8A3B7E58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80868AB3-1F94-4153-B88A-F0612C0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38800"/>
            <a:ext cx="2314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 重新规划</a:t>
            </a:r>
          </a:p>
        </p:txBody>
      </p:sp>
      <p:sp>
        <p:nvSpPr>
          <p:cNvPr id="85" name="三路排名融合，不混加原始分数；校验通过后返回答案">
            <a:extLst xmlns:a="http://schemas.openxmlformats.org/drawingml/2006/main">
              <a:ext uri="{FF2B5EF4-FFF2-40B4-BE49-F238E27FC236}">
                <a16:creationId xmlns:a16="http://schemas.microsoft.com/office/drawing/2014/main" id="{2C95DBA9-BA36-4C2F-8372-A9816A69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三路排名融合，不混加原始分数；校验通过后返回答案</a:t>
            </a:r>
          </a:p>
        </p:txBody>
      </p:sp>
    </p:spTree>
    <p:extLst>
      <p:ext uri="{BB962C8B-B14F-4D97-AF65-F5344CB8AC3E}">
        <p14:creationId xmlns:p14="http://schemas.microsoft.com/office/powerpoint/2010/main" val="21461224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74974-F521-49D9-AB01-C177266D633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1543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06A46-1657-4897-BD5D-B5AB71A5EC4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492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00B85-071F-4DBD-AA8E-DF928A25B0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441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8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B6F9AC2D-3D95-44B2-9615-D78DBD6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10477500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90 天影响 vLLM 且有公开 PoC 链接的漏洞及其 ATLAS 技术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8A843868-AE15-4CB9-AA25-141541E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" name="影响哪些漏洞">
            <a:extLst xmlns:a="http://schemas.openxmlformats.org/drawingml/2006/main">
              <a:ext uri="{FF2B5EF4-FFF2-40B4-BE49-F238E27FC236}">
                <a16:creationId xmlns:a16="http://schemas.microsoft.com/office/drawing/2014/main" id="{607317B6-C1CC-4C0C-B40C-A80001C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影响哪些漏洞</a:t>
            </a:r>
          </a:p>
        </p:txBody>
      </p:sp>
      <p:sp>
        <p:nvSpPr>
          <p:cNvPr id="4" name="AFFECTS vllm">
            <a:extLst xmlns:a="http://schemas.openxmlformats.org/drawingml/2006/main">
              <a:ext uri="{FF2B5EF4-FFF2-40B4-BE49-F238E27FC236}">
                <a16:creationId xmlns:a16="http://schemas.microsoft.com/office/drawing/2014/main" id="{CE92C01C-7F24-4F13-BAD3-20C484E6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5" name="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79D022DA-54C5-46AD-992E-51939FE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图检索 / 命中 n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01FAA802-7723-4B3D-8A20-FCAD1626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64EFB184-E43B-4F76-8391-1F2A236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74119564-5612-42ED-9464-BE471A86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是否有公开引用">
            <a:extLst xmlns:a="http://schemas.openxmlformats.org/drawingml/2006/main">
              <a:ext uri="{FF2B5EF4-FFF2-40B4-BE49-F238E27FC236}">
                <a16:creationId xmlns:a16="http://schemas.microsoft.com/office/drawing/2014/main" id="{A9962D6E-2C55-4176-871C-47A8E13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是否有公开引用</a:t>
            </a:r>
          </a:p>
        </p:txBody>
      </p:sp>
      <p:sp>
        <p:nvSpPr>
          <p:cNvPr id="11" name="HAS_POC_REF">
            <a:extLst xmlns:a="http://schemas.openxmlformats.org/drawingml/2006/main">
              <a:ext uri="{FF2B5EF4-FFF2-40B4-BE49-F238E27FC236}">
                <a16:creationId xmlns:a16="http://schemas.microsoft.com/office/drawing/2014/main" id="{DDE73754-8995-4C3F-8FA0-4CEF12E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12" name="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56EB141E-13B0-4AE0-B576-894F61AA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图过滤 / 命中 n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B4A4217E-8CF2-400B-903E-DA83A220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C17BEB00-1B55-46CC-8BCE-209B7D4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E3383EAA-03E8-4131-9A14-214063C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是否在时间内">
            <a:extLst xmlns:a="http://schemas.openxmlformats.org/drawingml/2006/main">
              <a:ext uri="{FF2B5EF4-FFF2-40B4-BE49-F238E27FC236}">
                <a16:creationId xmlns:a16="http://schemas.microsoft.com/office/drawing/2014/main" id="{969E48D1-5993-4566-96BD-9FCAF2CD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是否在时间内</a:t>
            </a:r>
          </a:p>
        </p:txBody>
      </p:sp>
      <p:sp>
        <p:nvSpPr>
          <p:cNvPr id="18" name="近 90 天">
            <a:extLst xmlns:a="http://schemas.openxmlformats.org/drawingml/2006/main">
              <a:ext uri="{FF2B5EF4-FFF2-40B4-BE49-F238E27FC236}">
                <a16:creationId xmlns:a16="http://schemas.microsoft.com/office/drawing/2014/main" id="{376256E4-EE84-4476-90A7-290DEA3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近 90 天</a:t>
            </a:r>
          </a:p>
        </p:txBody>
      </p:sp>
      <p:sp>
        <p:nvSpPr>
          <p:cNvPr id="19" name="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40326A35-C95E-4155-8596-A593390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时间过滤 / 命中 n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3280EB3B-4E1B-4784-AFB9-AD8EEAF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4B4F7B5E-0C30-431E-892A-98E5D926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93416146-1EA0-448A-B34F-2E21049C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对应什么技术">
            <a:extLst xmlns:a="http://schemas.openxmlformats.org/drawingml/2006/main">
              <a:ext uri="{FF2B5EF4-FFF2-40B4-BE49-F238E27FC236}">
                <a16:creationId xmlns:a16="http://schemas.microsoft.com/office/drawing/2014/main" id="{9673AF31-DCAF-480C-BCF8-BB20E6BC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对应什么技术</a:t>
            </a:r>
          </a:p>
        </p:txBody>
      </p:sp>
      <p:sp>
        <p:nvSpPr>
          <p:cNvPr id="25" name="MAPS_TO ATLAS">
            <a:extLst xmlns:a="http://schemas.openxmlformats.org/drawingml/2006/main">
              <a:ext uri="{FF2B5EF4-FFF2-40B4-BE49-F238E27FC236}">
                <a16:creationId xmlns:a16="http://schemas.microsoft.com/office/drawing/2014/main" id="{3D010CDC-6677-41C9-9BA3-6D5B368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6" name="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7CE2665B-3572-47CD-9086-FB08E311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图扩展 / 命中 n</a:t>
            </a:r>
          </a:p>
        </p:txBody>
      </p:sp>
      <p:sp>
        <p:nvSpPr>
          <p:cNvPr id="27" name="reasoning_steps 保存子问题、检索方式、查询语句与命中数；n 是示意占位，非实测">
            <a:extLst xmlns:a="http://schemas.openxmlformats.org/drawingml/2006/main">
              <a:ext uri="{FF2B5EF4-FFF2-40B4-BE49-F238E27FC236}">
                <a16:creationId xmlns:a16="http://schemas.microsoft.com/office/drawing/2014/main" id="{BA864ED2-4763-4DA5-8AE9-9BA6F8F3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reasoning_steps 保存子问题、检索方式、查询语句与命中数；n 是示意占位，非实测</a:t>
            </a:r>
          </a:p>
        </p:txBody>
      </p:sp>
    </p:spTree>
    <p:extLst>
      <p:ext uri="{BB962C8B-B14F-4D97-AF65-F5344CB8AC3E}">
        <p14:creationId xmlns:p14="http://schemas.microsoft.com/office/powerpoint/2010/main" val="1024413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F2CED-D237-407F-8E39-2000088E92C8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459028" y="251507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3E535-5902-44B1-9AD2-E93DB32390E8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7458075" y="2515077"/>
            <a:ext cx="953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A98EA-8B8E-4707-A364-19D896B75796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44703" y="397240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3D8F7-6D0C-40C4-AFF5-053D6BC129A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44303" y="39724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C9A7E-AEC2-46A4-866D-86D0E23E0AF1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 flipV="1">
            <a:off x="3943350" y="3972402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C5C8-E927-44E6-A451-739E4EB0D0F8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63278" y="5601177"/>
            <a:ext cx="5800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3B0714DE-F2D7-4ECB-81F6-08C9F490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32B46C6D-842B-4D8F-B7FA-A2E79FB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数据面扩展</a:t>
            </a:r>
          </a:p>
        </p:txBody>
      </p:sp>
      <p:sp>
        <p:nvSpPr>
          <p:cNvPr id="3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B5EF6032-5B1D-430C-ACF0-8CFBF346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Source Connector</a:t>
            </a:r>
          </a:p>
        </p:txBody>
      </p:sp>
      <p:sp>
        <p:nvSpPr>
          <p:cNvPr id="4" name="Enricher">
            <a:extLst xmlns:a="http://schemas.openxmlformats.org/drawingml/2006/main">
              <a:ext uri="{FF2B5EF4-FFF2-40B4-BE49-F238E27FC236}">
                <a16:creationId xmlns:a16="http://schemas.microsoft.com/office/drawing/2014/main" id="{E9A328A1-BA48-44CB-93E7-AE3B5E6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5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7348079A-0EE0-4449-BFE0-6D1BF798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Tool / Skill</a:t>
            </a:r>
          </a:p>
        </p:txBody>
      </p:sp>
      <p:sp>
        <p:nvSpPr>
          <p:cNvPr id="6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609D40DC-2E55-402D-9DB2-33C71F8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67652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shaowang-sdk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签名索引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03DA3F4-E2C2-4ED4-B446-0A4C444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13239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intel-core">
            <a:extLst xmlns:a="http://schemas.openxmlformats.org/drawingml/2006/main">
              <a:ext uri="{FF2B5EF4-FFF2-40B4-BE49-F238E27FC236}">
                <a16:creationId xmlns:a16="http://schemas.microsoft.com/office/drawing/2014/main" id="{19A0CF91-ECF1-4E32-855E-F3D6743B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4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47D45"/>
                </a:solidFill>
              </a:defRPr>
            </a:pPr>
            <a:r>
              <a:rPr sz="24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9" name="统一服务层">
            <a:extLst xmlns:a="http://schemas.openxmlformats.org/drawingml/2006/main">
              <a:ext uri="{FF2B5EF4-FFF2-40B4-BE49-F238E27FC236}">
                <a16:creationId xmlns:a16="http://schemas.microsoft.com/office/drawing/2014/main" id="{D703A731-9047-47CA-ABA5-16EF960D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统一服务层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99B8B16C-DB04-4092-A7A6-1012B91B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318BC424-164B-4C74-A3E5-C4F4AD9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智能体接入</a:t>
            </a:r>
          </a:p>
        </p:txBody>
      </p:sp>
      <p:sp>
        <p:nvSpPr>
          <p:cNvPr id="12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A51C1628-0650-4473-9056-54ECB140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2790825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/ OpenAPI / CLI</a:t>
            </a:r>
          </a:p>
        </p:txBody>
      </p:sp>
      <p:sp>
        <p:nvSpPr>
          <p:cNvPr id="13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B65D5B41-87E6-4751-9154-54965FD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2790825" cy="723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Agent Plugins 包</a:t>
            </a:r>
          </a:p>
        </p:txBody>
      </p:sp>
      <p:sp>
        <p:nvSpPr>
          <p:cNvPr id="14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C633201E-CC91-4B48-B227-18DC74C6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57725"/>
            <a:ext cx="2762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Claude Code / Codex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Cursor / Gemini CLI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Kimi 等：待核实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CC2E7BB3-E765-49EA-B8CD-183F9474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0EBB50C8-5BB2-46EB-BB4F-34692E9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DE1F25F2-C899-4801-B892-E84D09A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DFB6484-F618-4F01-8AAB-A2B68E82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E0D1FE26-537B-42D9-A2F1-9D9B468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5DA836BD-B138-400E-8247-DAA108BE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F0A6992A-30CC-41F2-BA47-2B847F4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C240C27-0A67-4794-B47B-98B0427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279072F9-50D2-4728-8757-B7DC6833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2A3762D6-D512-4E4F-88F0-E263FA2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9A26E786-247B-470C-A493-7D260E2C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787F7297-46BA-4AEF-B3D3-2167ED37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E582EEB8-8F65-4664-B0D1-5B32EF8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14730138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CF4AB6-2092-4A9A-9A8A-B36E03237BB1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10763250" y="6763227"/>
            <a:ext cx="305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6240F-4C50-4106-AA04-D61CDDC821E6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11068050" y="4401027"/>
            <a:ext cx="953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C4093-E575-4674-AF63-38CF5775C142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0764203" y="4401027"/>
            <a:ext cx="3038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56794-0107-4FF5-BFE5-E2785A67A81D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5715000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09A5B-7C43-4967-859A-4B4717482C1B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5610702"/>
            <a:ext cx="37633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02EBA-A220-422C-90D5-D09EF06DF3D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9477375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5BEAB-6D9B-4682-ABAB-34C47F00080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1952625" y="3286602"/>
            <a:ext cx="953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4F07A-58CB-4F92-96B0-89BF3065031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1952625" y="3286602"/>
            <a:ext cx="75257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558D6-8F88-4568-9694-FE0C039D91E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9477375" y="2229327"/>
            <a:ext cx="953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A6440-D777-44E9-B94E-4DB2850AFD8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00875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91752-DC8A-41A9-94B2-0DD501358FD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30CD-4D46-47F0-9688-1E9C96C7EAB9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000875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B4E4C-B42D-41DE-8B37-73DB6D2491D3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238500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Discovered">
            <a:extLst xmlns:a="http://schemas.openxmlformats.org/drawingml/2006/main">
              <a:ext uri="{FF2B5EF4-FFF2-40B4-BE49-F238E27FC236}">
                <a16:creationId xmlns:a16="http://schemas.microsoft.com/office/drawing/2014/main" id="{70DE6FC6-86A7-4629-89F0-415C3B4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Discovered</a:t>
            </a:r>
          </a:p>
        </p:txBody>
      </p:sp>
      <p:sp>
        <p:nvSpPr>
          <p:cNvPr id="2" name="Validated">
            <a:extLst xmlns:a="http://schemas.openxmlformats.org/drawingml/2006/main">
              <a:ext uri="{FF2B5EF4-FFF2-40B4-BE49-F238E27FC236}">
                <a16:creationId xmlns:a16="http://schemas.microsoft.com/office/drawing/2014/main" id="{71855AE4-0057-4BF7-87B0-6450F752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668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3" name="Installed">
            <a:extLst xmlns:a="http://schemas.openxmlformats.org/drawingml/2006/main">
              <a:ext uri="{FF2B5EF4-FFF2-40B4-BE49-F238E27FC236}">
                <a16:creationId xmlns:a16="http://schemas.microsoft.com/office/drawing/2014/main" id="{820FEEFC-CD16-4C00-BC44-488A5E8A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Installed</a:t>
            </a:r>
          </a:p>
        </p:txBody>
      </p:sp>
      <p:sp>
        <p:nvSpPr>
          <p:cNvPr id="6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60836376-3D89-45DC-9909-8690174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清单 / Schema / 签名</a:t>
            </a:r>
          </a:p>
        </p:txBody>
      </p:sp>
      <p:sp>
        <p:nvSpPr>
          <p:cNvPr id="7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24998EB5-D16D-483A-B0A2-6F6FCC7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管理员审批权限</a:t>
            </a:r>
          </a:p>
        </p:txBody>
      </p:sp>
      <p:sp>
        <p:nvSpPr>
          <p:cNvPr id="8" name="Loaded">
            <a:extLst xmlns:a="http://schemas.openxmlformats.org/drawingml/2006/main">
              <a:ext uri="{FF2B5EF4-FFF2-40B4-BE49-F238E27FC236}">
                <a16:creationId xmlns:a16="http://schemas.microsoft.com/office/drawing/2014/main" id="{DFBC35E2-158D-41ED-AAFB-3CFFEF2E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Loaded</a:t>
            </a:r>
          </a:p>
        </p:txBody>
      </p:sp>
      <p:sp>
        <p:nvSpPr>
          <p:cNvPr id="9" name="Running">
            <a:extLst xmlns:a="http://schemas.openxmlformats.org/drawingml/2006/main">
              <a:ext uri="{FF2B5EF4-FFF2-40B4-BE49-F238E27FC236}">
                <a16:creationId xmlns:a16="http://schemas.microsoft.com/office/drawing/2014/main" id="{96834702-E119-4E29-A837-0F5C3053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47D45"/>
                </a:solidFill>
              </a:defRPr>
            </a:pPr>
            <a:r>
              <a:rPr sz="21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10" name="Degraded">
            <a:extLst xmlns:a="http://schemas.openxmlformats.org/drawingml/2006/main">
              <a:ext uri="{FF2B5EF4-FFF2-40B4-BE49-F238E27FC236}">
                <a16:creationId xmlns:a16="http://schemas.microsoft.com/office/drawing/2014/main" id="{CB9FD890-C6D0-49AC-9325-D07E304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Degraded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648061E-50E0-4642-A2C2-A1BBE8D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1684CA45-E22C-4B91-A917-8FDC38E5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BC71FEBD-8640-4BBE-9FD9-22EA78C4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7B6C25C-7563-4795-A2BC-E5B34C7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BF774D49-D66E-41F2-9AB3-9F00BA7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11AB44B2-DF77-4A4E-A1CA-DA382F3A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235C5197-8B1C-4C47-84C4-BF82BFF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75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连续失败 ≥3 或 Schema 违规率 &gt;5%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7C31A8D9-D38B-41B6-881E-2DFAFD9D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2D2ACEB-25E4-4B1D-91E9-764D7E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DD0E2A2-F99B-4D46-A011-3BC4906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6B1F548E-B62A-4B33-A6FF-9FA2D8D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49B42DB-0DD0-4EE8-B414-F3A235F0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68270B2B-E871-4607-921E-DC4FF103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healthcheck 恢复">
            <a:extLst xmlns:a="http://schemas.openxmlformats.org/drawingml/2006/main">
              <a:ext uri="{FF2B5EF4-FFF2-40B4-BE49-F238E27FC236}">
                <a16:creationId xmlns:a16="http://schemas.microsoft.com/office/drawing/2014/main" id="{5485EC00-2F32-4B4F-A96E-7BAC41C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245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healthcheck 恢复</a:t>
            </a:r>
          </a:p>
        </p:txBody>
      </p:sp>
      <p:sp>
        <p:nvSpPr>
          <p:cNvPr id="33" name="Disabled">
            <a:extLst xmlns:a="http://schemas.openxmlformats.org/drawingml/2006/main">
              <a:ext uri="{FF2B5EF4-FFF2-40B4-BE49-F238E27FC236}">
                <a16:creationId xmlns:a16="http://schemas.microsoft.com/office/drawing/2014/main" id="{8D6F931F-B033-4623-84AC-D03EFBD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57950"/>
            <a:ext cx="257175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Disabled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8BA7F9C8-38E9-47F4-B128-49FB77A7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002F6445-A69F-4029-AB34-E20F64A5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7547BF38-AFF7-4681-8036-60A189B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3CE258A-338E-4625-97B9-FC777B4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FA12FF2-2FF2-4A7C-B5FA-8A9FB0E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3A7F0D16-C9AA-46AD-B196-4050175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24 h 未恢复 或 Critic 违规">
            <a:extLst xmlns:a="http://schemas.openxmlformats.org/drawingml/2006/main">
              <a:ext uri="{FF2B5EF4-FFF2-40B4-BE49-F238E27FC236}">
                <a16:creationId xmlns:a16="http://schemas.microsoft.com/office/drawing/2014/main" id="{3B47B3FD-9900-47B2-891F-C00E4ACE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24 h 未恢复</a:t>
            </a:r>
          </a:p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或 Critic 违规</a:t>
            </a:r>
          </a:p>
        </p:txBody>
      </p:sp>
      <p:sp>
        <p:nvSpPr>
          <p:cNvPr id="44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85925D90-41CC-4CDA-9C4F-7ECDAEFF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476250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MINOR 热升级 / MAJOR 重审</a:t>
            </a:r>
          </a:p>
        </p:txBody>
      </p:sp>
    </p:spTree>
    <p:extLst>
      <p:ext uri="{BB962C8B-B14F-4D97-AF65-F5344CB8AC3E}">
        <p14:creationId xmlns:p14="http://schemas.microsoft.com/office/powerpoint/2010/main" val="20586445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C9441F10-C955-47B2-ADCB-1AEAF9DD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8 类公开 Schema</a:t>
            </a:r>
          </a:p>
        </p:txBody>
      </p:sp>
      <p:sp>
        <p:nvSpPr>
          <p:cNvPr id="2" name="common">
            <a:extLst xmlns:a="http://schemas.openxmlformats.org/drawingml/2006/main">
              <a:ext uri="{FF2B5EF4-FFF2-40B4-BE49-F238E27FC236}">
                <a16:creationId xmlns:a16="http://schemas.microsoft.com/office/drawing/2014/main" id="{09A92D77-B95C-442E-9DD4-C3CB7529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3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A78CF08F-42E7-4506-BD72-FC8AA86C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normalized-intel</a:t>
            </a:r>
          </a:p>
        </p:txBody>
      </p:sp>
      <p:sp>
        <p:nvSpPr>
          <p:cNvPr id="4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47B5FD12-68C5-4A0F-AFDC-90F1163D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1FB5E6F5-5345-4353-8E0D-9730F6B2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component">
            <a:extLst xmlns:a="http://schemas.openxmlformats.org/drawingml/2006/main">
              <a:ext uri="{FF2B5EF4-FFF2-40B4-BE49-F238E27FC236}">
                <a16:creationId xmlns:a16="http://schemas.microsoft.com/office/drawing/2014/main" id="{3027BBDE-EDCA-4698-9AE0-5DD83C2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7" name="enrichment">
            <a:extLst xmlns:a="http://schemas.openxmlformats.org/drawingml/2006/main">
              <a:ext uri="{FF2B5EF4-FFF2-40B4-BE49-F238E27FC236}">
                <a16:creationId xmlns:a16="http://schemas.microsoft.com/office/drawing/2014/main" id="{5FFDD7D8-EC0F-41B8-98E8-8458C272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enrichment</a:t>
            </a:r>
          </a:p>
        </p:txBody>
      </p:sp>
      <p:sp>
        <p:nvSpPr>
          <p:cNvPr id="8" name="relation">
            <a:extLst xmlns:a="http://schemas.openxmlformats.org/drawingml/2006/main">
              <a:ext uri="{FF2B5EF4-FFF2-40B4-BE49-F238E27FC236}">
                <a16:creationId xmlns:a16="http://schemas.microsoft.com/office/drawing/2014/main" id="{F66CBE52-CB96-47E9-900E-19D73C97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9" name="qa-answer">
            <a:extLst xmlns:a="http://schemas.openxmlformats.org/drawingml/2006/main">
              <a:ext uri="{FF2B5EF4-FFF2-40B4-BE49-F238E27FC236}">
                <a16:creationId xmlns:a16="http://schemas.microsoft.com/office/drawing/2014/main" id="{1D4676B4-C241-4620-886E-A2A5F457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qa-answer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4BEE4-DCBF-43E6-AB74-7A2363401129}"/>
              </a:ext>
            </a:extLst>
          </p:cNvPr>
          <p:cNvGraphicFramePr/>
          <p:nvPr/>
        </p:nvGraphicFramePr>
        <p:xfrm>
          <a:off xmlns:a="http://schemas.openxmlformats.org/drawingml/2006/main" x="476250" y="3333750"/>
          <a:ext xmlns:a="http://schemas.openxmlformats.org/drawingml/2006/main" cx="10477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3143250"/>
                <a:gridCol w="2524125"/>
              </a:tblGrid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STIX 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CSAF 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 / 别名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aliases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 / ids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ranges.events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+ relation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product_status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 引用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course-of-action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remediations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attack-pattern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关系与置信度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PoC 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链接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4F52C1D6-AD51-41B0-8D38-E2EC25FD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4021734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13B0E-E5C8-4C5B-9FD0-81AB5AD696AC}"/>
              </a:ext>
            </a:extLst>
          </p:cNvPr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0477500" cy="582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333750"/>
              </a:tblGrid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httpx（建议）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requests / Scrapy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消息调度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Streams / NATS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AutoGen / CrewAI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/ DeepSeek（建议）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+ pgvector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图谱与检索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Neo4j / OpenSearch + IK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 / Meilisearch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嵌入与重排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/ bge-reranker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商用嵌入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 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官方 Python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Litestar / FastMCP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 / Cytoscape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/ AntV G6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Prometheus / Grafana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OpenTelemetry 后端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 / Helm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  <p:sp>
        <p:nvSpPr>
          <p:cNvPr id="2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5460CAD2-3201-46FE-BD46-F57A0DB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7783019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4060F77-6A92-4030-9ACD-159D327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EF27F852-DFF7-4C4C-91A4-CAC22C74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46F6DFC-376D-420B-82C9-4CC38792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4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8BBAA89D-90F2-44BD-AE73-D5BEEEF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应用容器</a:t>
            </a:r>
          </a:p>
        </p:txBody>
      </p:sp>
      <p:sp>
        <p:nvSpPr>
          <p:cNvPr id="5" name="api /api/v1">
            <a:extLst xmlns:a="http://schemas.openxmlformats.org/drawingml/2006/main">
              <a:ext uri="{FF2B5EF4-FFF2-40B4-BE49-F238E27FC236}">
                <a16:creationId xmlns:a16="http://schemas.microsoft.com/office/drawing/2014/main" id="{A0F78896-2A2B-46DE-BE10-509FEE49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/api/v1</a:t>
            </a:r>
          </a:p>
        </p:txBody>
      </p:sp>
      <p:sp>
        <p:nvSpPr>
          <p:cNvPr id="6" name="mcp /mcp">
            <a:extLst xmlns:a="http://schemas.openxmlformats.org/drawingml/2006/main">
              <a:ext uri="{FF2B5EF4-FFF2-40B4-BE49-F238E27FC236}">
                <a16:creationId xmlns:a16="http://schemas.microsoft.com/office/drawing/2014/main" id="{D20DC738-4F0C-436D-8E81-95AB053E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7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2A0F66F9-0422-405E-9356-1C79DEA5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workers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个角色</a:t>
            </a:r>
          </a:p>
        </p:txBody>
      </p:sp>
      <p:sp>
        <p:nvSpPr>
          <p:cNvPr id="8" name="scheduler">
            <a:extLst xmlns:a="http://schemas.openxmlformats.org/drawingml/2006/main">
              <a:ext uri="{FF2B5EF4-FFF2-40B4-BE49-F238E27FC236}">
                <a16:creationId xmlns:a16="http://schemas.microsoft.com/office/drawing/2014/main" id="{7E831FDD-6099-483F-9D75-417BB04E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9" name="web">
            <a:extLst xmlns:a="http://schemas.openxmlformats.org/drawingml/2006/main">
              <a:ext uri="{FF2B5EF4-FFF2-40B4-BE49-F238E27FC236}">
                <a16:creationId xmlns:a16="http://schemas.microsoft.com/office/drawing/2014/main" id="{EDA98C9D-84FF-49FA-AD05-A896331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0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E85014B-59DB-4CD1-AD3C-7A9100F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2EEF7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0D066A6A-2B43-43F0-85FA-CE8B9B94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7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E2BB947-BC36-4B89-9FEA-1D01E916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3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D4B24D46-1EAA-4226-877A-209F607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5D8F"/>
                </a:solidFill>
              </a:defRPr>
            </a:pPr>
            <a:r>
              <a:rPr sz="20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数据容器</a:t>
            </a:r>
          </a:p>
        </p:txBody>
      </p:sp>
      <p:sp>
        <p:nvSpPr>
          <p:cNvPr id="14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D33C11CE-6F54-4AB9-8A1F-B26D7E4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5" name="neo4j">
            <a:extLst xmlns:a="http://schemas.openxmlformats.org/drawingml/2006/main">
              <a:ext uri="{FF2B5EF4-FFF2-40B4-BE49-F238E27FC236}">
                <a16:creationId xmlns:a16="http://schemas.microsoft.com/office/drawing/2014/main" id="{4287307C-63C9-4874-87AE-B7BF39B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16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FB82E827-CA3F-477D-A403-7CB569E1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IK</a:t>
            </a:r>
          </a:p>
        </p:txBody>
      </p:sp>
      <p:sp>
        <p:nvSpPr>
          <p:cNvPr id="17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4EA89312-054B-4317-B4FE-1E4799B1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redis / nats</a:t>
            </a:r>
          </a:p>
        </p:txBody>
      </p:sp>
      <p:sp>
        <p:nvSpPr>
          <p:cNvPr id="18" name="minio">
            <a:extLst xmlns:a="http://schemas.openxmlformats.org/drawingml/2006/main">
              <a:ext uri="{FF2B5EF4-FFF2-40B4-BE49-F238E27FC236}">
                <a16:creationId xmlns:a16="http://schemas.microsoft.com/office/drawing/2014/main" id="{865AACC7-F028-4A82-BBEB-C4C8D087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1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BC2FEEC-8AE1-450B-BF81-9F178E52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F73795E0-B925-4B1F-ADE0-90C65339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BFB6BB4-5B95-4EE4-93CF-D164496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BAD6A3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70AC330B-3CD2-4752-8BD3-29A040D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可观测容器</a:t>
            </a:r>
          </a:p>
        </p:txBody>
      </p:sp>
      <p:sp>
        <p:nvSpPr>
          <p:cNvPr id="23" name="langfuse">
            <a:extLst xmlns:a="http://schemas.openxmlformats.org/drawingml/2006/main">
              <a:ext uri="{FF2B5EF4-FFF2-40B4-BE49-F238E27FC236}">
                <a16:creationId xmlns:a16="http://schemas.microsoft.com/office/drawing/2014/main" id="{99A8C4E5-48C4-4B09-9CA0-DFB7F47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67425"/>
            <a:ext cx="225742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24" name="prometheus">
            <a:extLst xmlns:a="http://schemas.openxmlformats.org/drawingml/2006/main">
              <a:ext uri="{FF2B5EF4-FFF2-40B4-BE49-F238E27FC236}">
                <a16:creationId xmlns:a16="http://schemas.microsoft.com/office/drawing/2014/main" id="{1DEFCE8A-ED9C-4618-848F-ED438B2C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067425"/>
            <a:ext cx="225742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</p:txBody>
      </p:sp>
      <p:sp>
        <p:nvSpPr>
          <p:cNvPr id="25" name="grafana">
            <a:extLst xmlns:a="http://schemas.openxmlformats.org/drawingml/2006/main">
              <a:ext uri="{FF2B5EF4-FFF2-40B4-BE49-F238E27FC236}">
                <a16:creationId xmlns:a16="http://schemas.microsoft.com/office/drawing/2014/main" id="{B7DF6BC9-BA6B-4870-A044-0B201D2C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067425"/>
            <a:ext cx="225742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</p:txBody>
      </p:sp>
      <p:sp>
        <p:nvSpPr>
          <p:cNvPr id="26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352C9AC8-8EF7-4E30-9F28-592B7C93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网络与消息队列</a:t>
            </a:r>
          </a:p>
        </p:txBody>
      </p:sp>
      <p:sp>
        <p:nvSpPr>
          <p:cNvPr id="27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5784C804-8793-4A8A-A764-0208BE5C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调用追踪 / 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13183133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4ECAE1-EE30-4366-BAC9-6A81139DF585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>
            <a:off x="5715000" y="5382102"/>
            <a:ext cx="953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4825AA-9F2D-430F-BB90-594829A6C68D}"/>
              </a:ext>
            </a:extLst>
          </p:cNvPr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H="1">
            <a:off x="5715000" y="4000977"/>
            <a:ext cx="953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1ED015-EDD0-4E22-8E09-31411D2A6316}"/>
              </a:ext>
            </a:extLst>
          </p:cNvPr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7668578" y="5286852"/>
            <a:ext cx="8086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207B9F-BAC1-400C-94AB-059DE05E6D5B}"/>
              </a:ext>
            </a:extLst>
          </p:cNvPr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 flipH="1">
            <a:off x="7667625" y="3762852"/>
            <a:ext cx="953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7BC2BC-C001-4FAC-8DE8-A4911E07C775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7239953" y="3762852"/>
            <a:ext cx="4276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1EB310-616C-4AED-B09A-E0FD68DC01C9}"/>
              </a:ext>
            </a:extLst>
          </p:cNvPr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8097203" y="3810477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44ABCE-34F7-4F96-B08C-AEB59886779B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H="1">
            <a:off x="8096250" y="3429477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CBEEB3-5CB5-4377-A352-DB05FDFFF2C2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7239953" y="3429477"/>
            <a:ext cx="856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EF4F38-20D3-4740-B39E-B8F544302ED7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H="1">
            <a:off x="9715500" y="2191227"/>
            <a:ext cx="953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146E79-38A8-4FDF-8E07-6629AB942D66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7859078" y="1714977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F6489F-C6E1-4AE9-9529-E6BDC19DC120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 flipV="1">
            <a:off x="7858125" y="1714977"/>
            <a:ext cx="953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1424ED-F798-406C-8CF0-43CC8AA95A83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239953" y="30961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D52552-062C-4456-9BDC-13F0A7076AAA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2952750" y="5239227"/>
            <a:ext cx="620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A5938-B25B-4686-9103-F239F6F9F29D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3571875" y="3762852"/>
            <a:ext cx="953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958398-369D-4FF5-B28C-4EEF7858597A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3571875" y="3762852"/>
            <a:ext cx="620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07B67-F63F-46AC-80AE-DCD5E8032FE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2952750" y="3429477"/>
            <a:ext cx="1239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C38D8-8159-45A5-8E5E-17CCA3772E54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572828" y="30961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0F4C7-5122-474E-BD95-E2A4F3DFAA5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3571875" y="1714977"/>
            <a:ext cx="953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B4FBB-B4CC-4805-B7B0-DBE15F9C2F1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953703" y="1714977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91" name="boundary">
            <a:extLst xmlns:a="http://schemas.openxmlformats.org/drawingml/2006/main">
              <a:ext uri="{FF2B5EF4-FFF2-40B4-BE49-F238E27FC236}">
                <a16:creationId xmlns:a16="http://schemas.microsoft.com/office/drawing/2014/main" id="{90F1C68F-0443-4E43-A70F-A1CF31C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04800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10E90BB8-723F-4438-B7AE-9F45047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3" name="漏洞事实实体">
            <a:extLst xmlns:a="http://schemas.openxmlformats.org/drawingml/2006/main">
              <a:ext uri="{FF2B5EF4-FFF2-40B4-BE49-F238E27FC236}">
                <a16:creationId xmlns:a16="http://schemas.microsoft.com/office/drawing/2014/main" id="{2FC40ED1-0A36-4289-9670-ED1D93AE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漏洞事实实体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08C6D102-6555-44BF-9FBB-1760B99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8F6BF528-63E9-470D-9C33-42933F0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公告">
            <a:extLst xmlns:a="http://schemas.openxmlformats.org/drawingml/2006/main">
              <a:ext uri="{FF2B5EF4-FFF2-40B4-BE49-F238E27FC236}">
                <a16:creationId xmlns:a16="http://schemas.microsoft.com/office/drawing/2014/main" id="{64103113-9624-4A49-B6CF-1F7B0AA0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BB4E81B2-D966-4756-9E55-BB256531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CWE">
            <a:extLst xmlns:a="http://schemas.openxmlformats.org/drawingml/2006/main">
              <a:ext uri="{FF2B5EF4-FFF2-40B4-BE49-F238E27FC236}">
                <a16:creationId xmlns:a16="http://schemas.microsoft.com/office/drawing/2014/main" id="{F36C6877-09A6-4621-B9D1-CAD4C605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9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5BEB1BBC-44FC-47DC-B080-38447CA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FE5D481-8A8A-4009-A36A-8072E4E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PocRef">
            <a:extLst xmlns:a="http://schemas.openxmlformats.org/drawingml/2006/main">
              <a:ext uri="{FF2B5EF4-FFF2-40B4-BE49-F238E27FC236}">
                <a16:creationId xmlns:a16="http://schemas.microsoft.com/office/drawing/2014/main" id="{0A3F7AED-BA2A-4F34-A34E-06F06902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12" name="公开 PoC 引用">
            <a:extLst xmlns:a="http://schemas.openxmlformats.org/drawingml/2006/main">
              <a:ext uri="{FF2B5EF4-FFF2-40B4-BE49-F238E27FC236}">
                <a16:creationId xmlns:a16="http://schemas.microsoft.com/office/drawing/2014/main" id="{5C119AB6-91EE-4C0B-A63D-2104DB2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PoC 引用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AE8F0CC-136A-4926-88EF-9AFA56D5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382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Component">
            <a:extLst xmlns:a="http://schemas.openxmlformats.org/drawingml/2006/main">
              <a:ext uri="{FF2B5EF4-FFF2-40B4-BE49-F238E27FC236}">
                <a16:creationId xmlns:a16="http://schemas.microsoft.com/office/drawing/2014/main" id="{4CBD03BD-6BBB-4881-99FC-334A0128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5" name="受影响组件">
            <a:extLst xmlns:a="http://schemas.openxmlformats.org/drawingml/2006/main">
              <a:ext uri="{FF2B5EF4-FFF2-40B4-BE49-F238E27FC236}">
                <a16:creationId xmlns:a16="http://schemas.microsoft.com/office/drawing/2014/main" id="{9FC229C1-FFB0-4C4F-BA40-4E95957A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621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受影响组件</a:t>
            </a:r>
          </a:p>
        </p:txBody>
      </p:sp>
      <p:sp>
        <p:nvSpPr>
          <p:cNvPr id="16" name="Version 区间 / fixed">
            <a:extLst xmlns:a="http://schemas.openxmlformats.org/drawingml/2006/main">
              <a:ext uri="{FF2B5EF4-FFF2-40B4-BE49-F238E27FC236}">
                <a16:creationId xmlns:a16="http://schemas.microsoft.com/office/drawing/2014/main" id="{1EB2B77D-3ECD-452B-9BB9-D840A2D3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4765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Version 区间 / fixed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C5F2056-11C0-48EB-B745-040B792D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EAAA7B53-740D-4D26-ADAD-E2E9E17D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19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BCA8F403-55F2-4170-AFFF-25950C8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20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ED50648D-F103-4448-8409-E172DFAC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476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21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C80706B3-C502-4510-AF2B-EFFE3666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30480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RiskCategory</a:t>
            </a:r>
          </a:p>
        </p:txBody>
      </p:sp>
      <p:sp>
        <p:nvSpPr>
          <p:cNvPr id="22" name="Regulation">
            <a:extLst xmlns:a="http://schemas.openxmlformats.org/drawingml/2006/main">
              <a:ext uri="{FF2B5EF4-FFF2-40B4-BE49-F238E27FC236}">
                <a16:creationId xmlns:a16="http://schemas.microsoft.com/office/drawing/2014/main" id="{52288BBA-DAF6-48FA-9F14-F3CE8A3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48375"/>
            <a:ext cx="30480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Regulation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9EE46B98-2E2F-4FA6-8FDD-D546136E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B99DC9A4-1CF1-42E1-AB28-2428D4A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94CF138-9D04-4067-8AD6-B565036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8BE87B46-5DD4-43B7-BF19-5700B8EF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D5082573-C602-4884-A394-EAFADD38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E1E8DE6E-DF7D-4526-8296-5802AE39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描述">
            <a:extLst xmlns:a="http://schemas.openxmlformats.org/drawingml/2006/main">
              <a:ext uri="{FF2B5EF4-FFF2-40B4-BE49-F238E27FC236}">
                <a16:creationId xmlns:a16="http://schemas.microsoft.com/office/drawing/2014/main" id="{31C88CD7-9943-4A72-9EA0-7151974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812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328A1CE3-CAB8-4320-96F8-A7433560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0ADEA9D3-7E90-462A-88C1-521C118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弱点">
            <a:extLst xmlns:a="http://schemas.openxmlformats.org/drawingml/2006/main">
              <a:ext uri="{FF2B5EF4-FFF2-40B4-BE49-F238E27FC236}">
                <a16:creationId xmlns:a16="http://schemas.microsoft.com/office/drawing/2014/main" id="{1FD6E574-5374-4FAF-AE88-EEF07941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48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0A481027-0770-4DD5-A553-AF29607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236E9BE3-BEA7-4C42-B674-D8BCBE1C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75E6AF22-C854-4282-8ED6-3B9451DC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ED2C4708-0BFA-4308-BABA-A33D3E0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C523C2D7-F195-4CF9-803E-9AD9766A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DF6EF4DE-EE93-4E92-859F-E33A6CF8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引用">
            <a:extLst xmlns:a="http://schemas.openxmlformats.org/drawingml/2006/main">
              <a:ext uri="{FF2B5EF4-FFF2-40B4-BE49-F238E27FC236}">
                <a16:creationId xmlns:a16="http://schemas.microsoft.com/office/drawing/2014/main" id="{61335260-45EC-4D10-8617-19564270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910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623C2665-DBC4-4CD4-8647-E1CE2F5C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1AB90231-39EF-4B94-8EDD-20A5BA0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D31A966F-A5FE-409F-93F2-4746E08D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DBE5D7C3-F2C4-45B5-A751-37C1475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4866FC48-C66E-49CF-8D54-050DB19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9E4E632B-F093-4871-B6A7-2B24FDE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影响">
            <a:extLst xmlns:a="http://schemas.openxmlformats.org/drawingml/2006/main">
              <a:ext uri="{FF2B5EF4-FFF2-40B4-BE49-F238E27FC236}">
                <a16:creationId xmlns:a16="http://schemas.microsoft.com/office/drawing/2014/main" id="{D7E24001-8753-44EB-8E54-C0E0F20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812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0BC3C8A2-BC7E-4E13-A14C-2739A8B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F6869CEC-CC4D-470C-BA22-948726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2A40374F-B070-4353-869A-BAC26F2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6142FCDE-7373-4E93-B9D3-AEB6AB3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0742CD53-4066-4C2E-8A3D-A118CFE5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3F465C7D-43B2-4688-A46B-2F063C7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38FDF89E-984F-4ABD-BFFA-1C2653F1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727F8E21-9EE4-4E4C-8B33-0413186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映射">
            <a:extLst xmlns:a="http://schemas.openxmlformats.org/drawingml/2006/main">
              <a:ext uri="{FF2B5EF4-FFF2-40B4-BE49-F238E27FC236}">
                <a16:creationId xmlns:a16="http://schemas.microsoft.com/office/drawing/2014/main" id="{43AE65EB-FD7F-4900-A8F4-06F74C35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48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CD80A6F9-F359-437D-B4E2-74FD6A7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boundary">
            <a:extLst xmlns:a="http://schemas.openxmlformats.org/drawingml/2006/main">
              <a:ext uri="{FF2B5EF4-FFF2-40B4-BE49-F238E27FC236}">
                <a16:creationId xmlns:a16="http://schemas.microsoft.com/office/drawing/2014/main" id="{4882F198-30ED-42B5-8CDC-D7D02D0F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CA71E681-C856-44A4-AA16-EFA0DEB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boundary">
            <a:extLst xmlns:a="http://schemas.openxmlformats.org/drawingml/2006/main">
              <a:ext uri="{FF2B5EF4-FFF2-40B4-BE49-F238E27FC236}">
                <a16:creationId xmlns:a16="http://schemas.microsoft.com/office/drawing/2014/main" id="{2815E7BA-8DF2-4028-B80E-0E12FB06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D359B3A3-A5B5-425C-9CB8-826E006B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boundary">
            <a:extLst xmlns:a="http://schemas.openxmlformats.org/drawingml/2006/main">
              <a:ext uri="{FF2B5EF4-FFF2-40B4-BE49-F238E27FC236}">
                <a16:creationId xmlns:a16="http://schemas.microsoft.com/office/drawing/2014/main" id="{5F092DC3-BBE8-4804-9C03-7D547203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讨论">
            <a:extLst xmlns:a="http://schemas.openxmlformats.org/drawingml/2006/main">
              <a:ext uri="{FF2B5EF4-FFF2-40B4-BE49-F238E27FC236}">
                <a16:creationId xmlns:a16="http://schemas.microsoft.com/office/drawing/2014/main" id="{B9CFBDA7-8C34-41B6-A2C5-A51A830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3910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80" name="boundary">
            <a:extLst xmlns:a="http://schemas.openxmlformats.org/drawingml/2006/main">
              <a:ext uri="{FF2B5EF4-FFF2-40B4-BE49-F238E27FC236}">
                <a16:creationId xmlns:a16="http://schemas.microsoft.com/office/drawing/2014/main" id="{7DEEFF89-0CCC-445E-8084-79E1ED95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C20B908A-2642-47FD-B4C9-AD3990C1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归类">
            <a:extLst xmlns:a="http://schemas.openxmlformats.org/drawingml/2006/main">
              <a:ext uri="{FF2B5EF4-FFF2-40B4-BE49-F238E27FC236}">
                <a16:creationId xmlns:a16="http://schemas.microsoft.com/office/drawing/2014/main" id="{1F68274E-CAD2-42E7-9D24-F1CDA4BD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95775"/>
            <a:ext cx="971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6F10C6EA-9EE9-46F2-8450-5B515A96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1F95B27A-32FD-4C00-8FAE-43DC7CD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规制">
            <a:extLst xmlns:a="http://schemas.openxmlformats.org/drawingml/2006/main">
              <a:ext uri="{FF2B5EF4-FFF2-40B4-BE49-F238E27FC236}">
                <a16:creationId xmlns:a16="http://schemas.microsoft.com/office/drawing/2014/main" id="{9C5D6A5C-2027-4B9A-A970-07D2AE11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62600"/>
            <a:ext cx="971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规制</a:t>
            </a:r>
          </a:p>
        </p:txBody>
      </p:sp>
      <p:sp>
        <p:nvSpPr>
          <p:cNvPr id="88" name="描述 DESCRIBES    影响 AFFECTS    弱点 HAS_CWE    映射 MAPS_TO">
            <a:extLst xmlns:a="http://schemas.openxmlformats.org/drawingml/2006/main">
              <a:ext uri="{FF2B5EF4-FFF2-40B4-BE49-F238E27FC236}">
                <a16:creationId xmlns:a16="http://schemas.microsoft.com/office/drawing/2014/main" id="{185FEAC9-420C-4115-827B-F0C822B5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19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描述 DESCRIBES    影响 AFFECTS    弱点 HAS_CWE    映射 MAPS_TO</a:t>
            </a:r>
          </a:p>
        </p:txBody>
      </p:sp>
      <p:sp>
        <p:nvSpPr>
          <p:cNvPr id="89" name="引用 HAS_POC_REF    讨论 DISCUSSED_IN    归类 IN_CATEGORY    规制 GOVERNED_BY">
            <a:extLst xmlns:a="http://schemas.openxmlformats.org/drawingml/2006/main">
              <a:ext uri="{FF2B5EF4-FFF2-40B4-BE49-F238E27FC236}">
                <a16:creationId xmlns:a16="http://schemas.microsoft.com/office/drawing/2014/main" id="{6EC6DA18-DE80-4B9C-80F2-8AEC41D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62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 HAS_POC_REF    讨论 DISCUSSED_IN    归类 IN_CATEGORY    规制 GOVERNED_BY</a:t>
            </a:r>
          </a:p>
        </p:txBody>
      </p:sp>
      <p:sp>
        <p:nvSpPr>
          <p:cNvPr id="90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9BA2C6DD-712A-433E-8B16-786A6E72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562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边属性：reason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3863074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9F583-4F65-4DA2-B532-EF905D773809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5715000" y="5944077"/>
            <a:ext cx="2858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D02C0-F114-4591-8765-441C92535E1F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8572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88761-633F-4F01-AF7B-33C35FDA7999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5944077"/>
            <a:ext cx="95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B6ECF-9289-443E-90AE-DFEA6B5A235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858453" y="594407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D3F90-9F41-49FF-BAC8-ABB8A131D54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857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F752A-A2AC-4DE6-87FB-E672FD6049F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8572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055B2-16E3-465D-B2F7-70653AE3A3F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239953" y="3096102"/>
            <a:ext cx="1332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11103-EBEC-494F-8ABF-B8184A97C78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857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CFD7C-3CDB-4285-84E9-45BBC0C4893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857500" y="3096102"/>
            <a:ext cx="1334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B6183-BBD3-4BED-9E4A-0B5A755124EB}"/>
              </a:ext>
            </a:extLst>
          </p:cNvPr>
          <p:cNvCxnSpPr>
            <a:stCxn xmlns:a="http://schemas.openxmlformats.org/drawingml/2006/main" id="39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5715000" y="18192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solid"/>
            <a:tailEnd type="triangle" w="sm" len="sm"/>
          </a:ln>
        </p:spPr>
      </p:cxnSp>
      <p:sp>
        <p:nvSpPr>
          <p:cNvPr id="39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2C805A65-3C8D-4AFB-905D-7D40699C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请求失败</a:t>
            </a:r>
          </a:p>
        </p:txBody>
      </p:sp>
      <p:sp>
        <p:nvSpPr>
          <p:cNvPr id="2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329BF590-659A-4DEE-A6C3-BB4A46C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048000" cy="1238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错误类型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FDDBB881-F47E-4272-80F7-A2CA24E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4476750" cy="12668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51086C88-59FB-49D1-BD2B-576B5CF0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6" name="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C9F9302F-BAB6-424A-A4C9-755472E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退避重试 ≤6 次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9400A192-D0F5-40F0-ACDD-3328025B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4476750" cy="12668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5AFD2E49-D41B-453B-9301-5758FEE9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9" name="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3083349F-FA8A-4986-853D-B466C798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直接死信并告警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D8D6A65F-AC94-462A-8125-EBA84C1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1E513EEB-E1EF-497E-8373-CE53190F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785C2157-ADF5-4CE2-8CFA-195C5BEA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9A622376-3F62-48ED-9528-55BED4A2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E004CBAF-F9C8-409E-BB8C-F7BF09BB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F7BC2F0-273F-4169-AEEA-91025E2B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BF4E5BB-397F-48C2-9BCF-F6AEBA7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C678EA28-FCBD-46AA-88DD-A753D84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EF69F715-5559-43EE-9BC3-50E9D910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43650"/>
            <a:ext cx="4667250" cy="6096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DLQ / 每 15 min 重放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845DC52E-4997-4978-A48B-2E5C28BA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A78CF126-F9AD-407A-A49E-C31ABC83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8DE754A4-047C-4D2B-B2FD-B9B961E9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080D0274-21CF-4DFF-BA23-7321F613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3C7BE64A-D66D-4339-9060-DD3E126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5B0F065E-6581-4D6A-ADA4-B7CF2A0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947121AA-92B3-4C32-A221-7C402C37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44E3B99-31D5-4359-812A-7688C01D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9E2D81CC-DF1E-41A3-A5C7-8709475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84A5BC70-B2E3-4A27-A9F4-95602741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Retry-After 优先；否则 1 s 起 ×2，上限 5 min，±20% 抖动；连续 3 周期失败后降级">
            <a:extLst xmlns:a="http://schemas.openxmlformats.org/drawingml/2006/main">
              <a:ext uri="{FF2B5EF4-FFF2-40B4-BE49-F238E27FC236}">
                <a16:creationId xmlns:a16="http://schemas.microsoft.com/office/drawing/2014/main" id="{8ED38ACD-9FBD-4C74-A16E-C56283D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Retry-After 优先；否则 1 s 起 ×2，上限 5 min，±20% 抖动；连续 3 周期失败后降级</a:t>
            </a:r>
          </a:p>
        </p:txBody>
      </p:sp>
    </p:spTree>
    <p:extLst>
      <p:ext uri="{BB962C8B-B14F-4D97-AF65-F5344CB8AC3E}">
        <p14:creationId xmlns:p14="http://schemas.microsoft.com/office/powerpoint/2010/main" val="4772992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F4ECE-2DE6-40AF-BF95-611CBB40337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097078" y="3886677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B554B"/>
            </a:solidFill>
            <a:prstDash val="dash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BF05F-E7E3-434E-AFE4-6A5BE38A4D8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3810000" y="388667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C34FEF6F-39B0-4156-8D17-73FFDBE5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允许提供">
            <a:extLst xmlns:a="http://schemas.openxmlformats.org/drawingml/2006/main">
              <a:ext uri="{FF2B5EF4-FFF2-40B4-BE49-F238E27FC236}">
                <a16:creationId xmlns:a16="http://schemas.microsoft.com/office/drawing/2014/main" id="{22438EAF-D37E-483E-A629-6D1A34F9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允许提供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736BD5C0-A77A-43B3-97C5-F2A5003C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95A74293-C9B5-45D6-8485-25092E6F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B554B"/>
                </a:solidFill>
              </a:defRPr>
            </a:pPr>
            <a:r>
              <a:rPr sz="18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禁止提供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B89628AB-7703-4FA7-A93A-133937E3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聚合计数与分布">
            <a:extLst xmlns:a="http://schemas.openxmlformats.org/drawingml/2006/main">
              <a:ext uri="{FF2B5EF4-FFF2-40B4-BE49-F238E27FC236}">
                <a16:creationId xmlns:a16="http://schemas.microsoft.com/office/drawing/2014/main" id="{6AE9B288-D58D-4F56-A352-4323AE0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聚合计数与分布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336586B1-37D4-4A20-9D36-4B08706F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PoC 链接与标题">
            <a:extLst xmlns:a="http://schemas.openxmlformats.org/drawingml/2006/main">
              <a:ext uri="{FF2B5EF4-FFF2-40B4-BE49-F238E27FC236}">
                <a16:creationId xmlns:a16="http://schemas.microsoft.com/office/drawing/2014/main" id="{E281EDC9-D893-4FEC-AE2B-7BDFA82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PoC 链接与标题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FEA8A9D2-5857-4A80-95DF-0A66B5C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026B38D8-25D5-4EE1-AE5E-0A4EF51B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修复版本与缓解</a:t>
            </a:r>
          </a:p>
        </p:txBody>
      </p:sp>
      <p:sp>
        <p:nvSpPr>
          <p:cNvPr id="11" name="×">
            <a:extLst xmlns:a="http://schemas.openxmlformats.org/drawingml/2006/main">
              <a:ext uri="{FF2B5EF4-FFF2-40B4-BE49-F238E27FC236}">
                <a16:creationId xmlns:a16="http://schemas.microsoft.com/office/drawing/2014/main" id="{6AC7AADB-EEEC-4F96-ACF5-3EF711DA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2" name="IP / 主机明细">
            <a:extLst xmlns:a="http://schemas.openxmlformats.org/drawingml/2006/main">
              <a:ext uri="{FF2B5EF4-FFF2-40B4-BE49-F238E27FC236}">
                <a16:creationId xmlns:a16="http://schemas.microsoft.com/office/drawing/2014/main" id="{AA51AA31-8147-4F88-A9DE-84AAB38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241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IP / 主机明细</a:t>
            </a:r>
          </a:p>
        </p:txBody>
      </p:sp>
      <p:sp>
        <p:nvSpPr>
          <p:cNvPr id="13" name="×">
            <a:extLst xmlns:a="http://schemas.openxmlformats.org/drawingml/2006/main">
              <a:ext uri="{FF2B5EF4-FFF2-40B4-BE49-F238E27FC236}">
                <a16:creationId xmlns:a16="http://schemas.microsoft.com/office/drawing/2014/main" id="{D567B800-DCFB-4345-9E83-F491C25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4" name="利用代码">
            <a:extLst xmlns:a="http://schemas.openxmlformats.org/drawingml/2006/main">
              <a:ext uri="{FF2B5EF4-FFF2-40B4-BE49-F238E27FC236}">
                <a16:creationId xmlns:a16="http://schemas.microsoft.com/office/drawing/2014/main" id="{18C1DBA9-49E3-4122-A979-DDFBA5B0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0045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利用代码</a:t>
            </a:r>
          </a:p>
        </p:txBody>
      </p:sp>
      <p:sp>
        <p:nvSpPr>
          <p:cNvPr id="15" name="×">
            <a:extLst xmlns:a="http://schemas.openxmlformats.org/drawingml/2006/main">
              <a:ext uri="{FF2B5EF4-FFF2-40B4-BE49-F238E27FC236}">
                <a16:creationId xmlns:a16="http://schemas.microsoft.com/office/drawing/2014/main" id="{23A92C3D-2354-407E-87B2-53BFC18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6" name="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3394562A-E86D-45B3-9077-19720F42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768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执行能力 / 主动扫描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94BF6BD-2AA4-4E03-9E03-6C8E0D0B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86075"/>
            <a:ext cx="276225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只读服务层">
            <a:extLst xmlns:a="http://schemas.openxmlformats.org/drawingml/2006/main">
              <a:ext uri="{FF2B5EF4-FFF2-40B4-BE49-F238E27FC236}">
                <a16:creationId xmlns:a16="http://schemas.microsoft.com/office/drawing/2014/main" id="{0EAA6AEF-EDA6-4EF6-A7A7-1F807A58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81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只读服务层</a:t>
            </a:r>
          </a:p>
        </p:txBody>
      </p:sp>
      <p:sp>
        <p:nvSpPr>
          <p:cNvPr id="19" name="Critic 输出过滤">
            <a:extLst xmlns:a="http://schemas.openxmlformats.org/drawingml/2006/main">
              <a:ext uri="{FF2B5EF4-FFF2-40B4-BE49-F238E27FC236}">
                <a16:creationId xmlns:a16="http://schemas.microsoft.com/office/drawing/2014/main" id="{6F15A4A8-DB28-43A4-8E83-27F0B727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2533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输出过滤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5C82C24D-03C7-42A6-AC46-F7B4C3E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92321825-EFE6-4E8C-B430-B319A692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172B01EF-BD93-4433-B641-71CDC88E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D5FAF35-4916-4F2F-8BE2-1F11232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76C3FB7D-FA03-45A4-AEAB-52BA60B5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多层边界执行">
            <a:extLst xmlns:a="http://schemas.openxmlformats.org/drawingml/2006/main">
              <a:ext uri="{FF2B5EF4-FFF2-40B4-BE49-F238E27FC236}">
                <a16:creationId xmlns:a16="http://schemas.microsoft.com/office/drawing/2014/main" id="{C2E27C06-0A41-4C6E-ABB5-2BB6F672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578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多层边界执行</a:t>
            </a:r>
          </a:p>
        </p:txBody>
      </p:sp>
      <p:sp>
        <p:nvSpPr>
          <p:cNvPr id="28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094505F2-8B91-4383-8B01-4733F49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5362623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D915D-4C15-4737-A9C5-611CED6A9D0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382078" y="2572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AB20361B-DA94-4B61-890E-6D942C17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6F1B02C0-B19E-49A9-A6A0-1F4D4DC5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56832599-1F3C-47BE-A0AA-71CBB3C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DD87B397-4B27-4D4C-A051-20B31729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6" name="source_ published_at">
            <a:extLst xmlns:a="http://schemas.openxmlformats.org/drawingml/2006/main">
              <a:ext uri="{FF2B5EF4-FFF2-40B4-BE49-F238E27FC236}">
                <a16:creationId xmlns:a16="http://schemas.microsoft.com/office/drawing/2014/main" id="{82D3CF87-037D-4B8D-94FC-8E2A3857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</a:t>
            </a:r>
          </a:p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published_at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66535ED0-32F7-46B5-9617-02528EDA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7B59AD61-277B-41FE-A9C8-3F74AC8E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9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D8C55C80-C054-43AE-9DA4-7D6C932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69AD5E89-5118-4C0B-B69A-BFE7D717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A80B6872-174E-4FA0-B44C-B040574E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12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548136E5-D3BC-436D-9F63-C02D9621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6CC6A7F5-6C55-4352-87ED-34EBB1B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A174DA1F-6301-4AB8-8D15-0CCD899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15" name="enriched_at">
            <a:extLst xmlns:a="http://schemas.openxmlformats.org/drawingml/2006/main">
              <a:ext uri="{FF2B5EF4-FFF2-40B4-BE49-F238E27FC236}">
                <a16:creationId xmlns:a16="http://schemas.microsoft.com/office/drawing/2014/main" id="{1B3B7289-0760-4B4F-A558-4C7374A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DAF623C-45DD-4AA8-AD19-985F4898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可查询">
            <a:extLst xmlns:a="http://schemas.openxmlformats.org/drawingml/2006/main">
              <a:ext uri="{FF2B5EF4-FFF2-40B4-BE49-F238E27FC236}">
                <a16:creationId xmlns:a16="http://schemas.microsoft.com/office/drawing/2014/main" id="{9F1B9D6F-F9D2-4B58-B4FB-FF3948F6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18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CAD18B93-0CFF-4A37-8444-4DB8CCB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19" name="采集时延 首见 − 发布">
            <a:extLst xmlns:a="http://schemas.openxmlformats.org/drawingml/2006/main">
              <a:ext uri="{FF2B5EF4-FFF2-40B4-BE49-F238E27FC236}">
                <a16:creationId xmlns:a16="http://schemas.microsoft.com/office/drawing/2014/main" id="{BD6D5C06-00B3-4780-95FE-9C9BAF7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2890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首见 − 发布</a:t>
            </a:r>
          </a:p>
        </p:txBody>
      </p:sp>
      <p:sp>
        <p:nvSpPr>
          <p:cNvPr id="20" name="处理时延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4E93608C-F213-44D7-83FC-70336435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33850"/>
            <a:ext cx="7096125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可查询 − 首见</a:t>
            </a:r>
          </a:p>
        </p:txBody>
      </p:sp>
      <p:sp>
        <p:nvSpPr>
          <p:cNvPr id="21" name="端到端 = 可查询 − 发布 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B2D19089-81D4-4DB9-AE1E-D87576E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0965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 = 可查询 − 发布</a:t>
            </a:r>
          </a:p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h（待测）</a:t>
            </a:r>
          </a:p>
        </p:txBody>
      </p:sp>
      <p:sp>
        <p:nvSpPr>
          <p:cNvPr id="22" name="仅漏洞类首次发现；日更源单列；DEMO 不计；日期精度不足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F6B48867-CFD1-43CF-BC53-04401ED6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仅漏洞类首次发现；日更源单列；DEMO 不计；日期精度不足按当日零点计，保守高估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19506772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创新方向">
            <a:extLst xmlns:a="http://schemas.openxmlformats.org/drawingml/2006/main">
              <a:ext uri="{FF2B5EF4-FFF2-40B4-BE49-F238E27FC236}">
                <a16:creationId xmlns:a16="http://schemas.microsoft.com/office/drawing/2014/main" id="{B8CDC438-EF1D-480F-BE98-30A7FF6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14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创新方向</a:t>
            </a:r>
          </a:p>
        </p:txBody>
      </p:sp>
      <p:sp>
        <p:nvSpPr>
          <p:cNvPr id="2" name="关键机制">
            <a:extLst xmlns:a="http://schemas.openxmlformats.org/drawingml/2006/main">
              <a:ext uri="{FF2B5EF4-FFF2-40B4-BE49-F238E27FC236}">
                <a16:creationId xmlns:a16="http://schemas.microsoft.com/office/drawing/2014/main" id="{266C2CB0-21B8-4133-8FEA-B995CAB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14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3" name="验证维度">
            <a:extLst xmlns:a="http://schemas.openxmlformats.org/drawingml/2006/main">
              <a:ext uri="{FF2B5EF4-FFF2-40B4-BE49-F238E27FC236}">
                <a16:creationId xmlns:a16="http://schemas.microsoft.com/office/drawing/2014/main" id="{ECE4616F-91ED-4C02-8AF0-7CE1FE5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14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验证维度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0DCC00C7-2A18-4B2D-A1FA-092F5EF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88DE38EB-34FD-422C-A6E8-6A4FD8F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面向 AI 基础设施的垂直多源融合">
            <a:extLst xmlns:a="http://schemas.openxmlformats.org/drawingml/2006/main">
              <a:ext uri="{FF2B5EF4-FFF2-40B4-BE49-F238E27FC236}">
                <a16:creationId xmlns:a16="http://schemas.microsoft.com/office/drawing/2014/main" id="{3415F3C4-210B-4D9B-A6BC-C2FFEB09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面向 AI 基础设施的垂直多源融合</a:t>
            </a:r>
          </a:p>
        </p:txBody>
      </p:sp>
      <p:sp>
        <p:nvSpPr>
          <p:cNvPr id="7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8C222161-270A-43BA-AB42-F6940E2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P0 5 min / 无 CVE 入库</a:t>
            </a:r>
          </a:p>
        </p:txBody>
      </p:sp>
      <p:sp>
        <p:nvSpPr>
          <p:cNvPr id="8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C5B1CF9A-E6D2-437B-85E4-89DF7B56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0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监测 / 时效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77DB6EBB-C5BE-469F-93A7-76FCECF3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01488360-ABE6-4CB9-97A8-0BA88EB1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可解释的自动关联推理引擎">
            <a:extLst xmlns:a="http://schemas.openxmlformats.org/drawingml/2006/main">
              <a:ext uri="{FF2B5EF4-FFF2-40B4-BE49-F238E27FC236}">
                <a16:creationId xmlns:a16="http://schemas.microsoft.com/office/drawing/2014/main" id="{4207ED0A-2E07-45B2-B39C-B2FC88B5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可解释的自动关联推理引擎</a:t>
            </a:r>
          </a:p>
        </p:txBody>
      </p:sp>
      <p:sp>
        <p:nvSpPr>
          <p:cNvPr id="12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DFE1D3CE-EEB1-42C8-A8E6-3CB75859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边带理由 / Critic 门槛</a:t>
            </a:r>
          </a:p>
        </p:txBody>
      </p:sp>
      <p:sp>
        <p:nvSpPr>
          <p:cNvPr id="13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ABFB9B4E-C38E-4EC8-AB19-D9E759FF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7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准确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B25AEA8A-1F46-461F-A534-FCC5354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3">
            <a:extLst xmlns:a="http://schemas.openxmlformats.org/drawingml/2006/main">
              <a:ext uri="{FF2B5EF4-FFF2-40B4-BE49-F238E27FC236}">
                <a16:creationId xmlns:a16="http://schemas.microsoft.com/office/drawing/2014/main" id="{44EB01B4-97C5-43A9-9465-0509B779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从依赖文件出发的影响自查">
            <a:extLst xmlns:a="http://schemas.openxmlformats.org/drawingml/2006/main">
              <a:ext uri="{FF2B5EF4-FFF2-40B4-BE49-F238E27FC236}">
                <a16:creationId xmlns:a16="http://schemas.microsoft.com/office/drawing/2014/main" id="{A2DC3C63-D026-459A-8D49-BB6D43F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从依赖文件出发的影响自查</a:t>
            </a:r>
          </a:p>
        </p:txBody>
      </p:sp>
      <p:sp>
        <p:nvSpPr>
          <p:cNvPr id="17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2D80609C-8F51-4F17-8237-F51F4734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OSV 求解 / 三种结果</a:t>
            </a:r>
          </a:p>
        </p:txBody>
      </p:sp>
      <p:sp>
        <p:nvSpPr>
          <p:cNvPr id="18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1D545B4D-56D4-4E75-9D75-AB526B17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33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Agent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CD665DF-05C0-4FA8-B350-04071D1E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48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4">
            <a:extLst xmlns:a="http://schemas.openxmlformats.org/drawingml/2006/main">
              <a:ext uri="{FF2B5EF4-FFF2-40B4-BE49-F238E27FC236}">
                <a16:creationId xmlns:a16="http://schemas.microsoft.com/office/drawing/2014/main" id="{2740E01E-EADF-4DD4-8AC9-B3B74485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可解释 GraphRAG 问答">
            <a:extLst xmlns:a="http://schemas.openxmlformats.org/drawingml/2006/main">
              <a:ext uri="{FF2B5EF4-FFF2-40B4-BE49-F238E27FC236}">
                <a16:creationId xmlns:a16="http://schemas.microsoft.com/office/drawing/2014/main" id="{A6A94635-247D-402A-A160-BD41A06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 GraphRAG 问答</a:t>
            </a:r>
          </a:p>
        </p:txBody>
      </p:sp>
      <p:sp>
        <p:nvSpPr>
          <p:cNvPr id="22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F4C1E384-A58F-41CF-857C-F6E13E59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三路检索 / 逐句引用</a:t>
            </a:r>
          </a:p>
        </p:txBody>
      </p:sp>
      <p:sp>
        <p:nvSpPr>
          <p:cNvPr id="23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A5DE17A3-9987-40FB-ADC7-FC388B1C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95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问答 / 准确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1F42A036-BE3E-4F4D-842E-C1FF079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5">
            <a:extLst xmlns:a="http://schemas.openxmlformats.org/drawingml/2006/main">
              <a:ext uri="{FF2B5EF4-FFF2-40B4-BE49-F238E27FC236}">
                <a16:creationId xmlns:a16="http://schemas.microsoft.com/office/drawing/2014/main" id="{D99E3CD9-AB8B-42EE-B249-B22D8D26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内部多智能体编排与外部 MCP 开放">
            <a:extLst xmlns:a="http://schemas.openxmlformats.org/drawingml/2006/main">
              <a:ext uri="{FF2B5EF4-FFF2-40B4-BE49-F238E27FC236}">
                <a16:creationId xmlns:a16="http://schemas.microsoft.com/office/drawing/2014/main" id="{E5C3DE29-517A-4DBF-87C8-F523D6DC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内部多智能体编排与外部 MCP 开放</a:t>
            </a:r>
          </a:p>
        </p:txBody>
      </p:sp>
      <p:sp>
        <p:nvSpPr>
          <p:cNvPr id="27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723F08B8-96E4-40D4-83A5-F9D53F3A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57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角色 / 统一服务层</a:t>
            </a:r>
          </a:p>
        </p:txBody>
      </p:sp>
      <p:sp>
        <p:nvSpPr>
          <p:cNvPr id="28" name="Agent">
            <a:extLst xmlns:a="http://schemas.openxmlformats.org/drawingml/2006/main">
              <a:ext uri="{FF2B5EF4-FFF2-40B4-BE49-F238E27FC236}">
                <a16:creationId xmlns:a16="http://schemas.microsoft.com/office/drawing/2014/main" id="{13E336DD-71DB-43B3-93BA-CD2B4A0D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57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EE6DBBF-C2E8-405E-9485-57D1C53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6">
            <a:extLst xmlns:a="http://schemas.openxmlformats.org/drawingml/2006/main">
              <a:ext uri="{FF2B5EF4-FFF2-40B4-BE49-F238E27FC236}">
                <a16:creationId xmlns:a16="http://schemas.microsoft.com/office/drawing/2014/main" id="{A1EDDF9A-1870-4BD2-A240-54F2AB8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时效可观测与故障自愈">
            <a:extLst xmlns:a="http://schemas.openxmlformats.org/drawingml/2006/main">
              <a:ext uri="{FF2B5EF4-FFF2-40B4-BE49-F238E27FC236}">
                <a16:creationId xmlns:a16="http://schemas.microsoft.com/office/drawing/2014/main" id="{27C07655-AE20-4385-B12F-216BAD9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时效可观测与故障自愈</a:t>
            </a:r>
          </a:p>
        </p:txBody>
      </p:sp>
      <p:sp>
        <p:nvSpPr>
          <p:cNvPr id="32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7C0FC4D3-D8C9-4207-8FAD-6C0A45A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1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五段时间戳 / 故障恢复</a:t>
            </a:r>
          </a:p>
        </p:txBody>
      </p:sp>
      <p:sp>
        <p:nvSpPr>
          <p:cNvPr id="33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9F43CD16-D7F5-4E9C-9DF6-26D3E7F1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61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时效 / 自动化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6299FF58-38C7-4B1F-AF42-CB2C693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7">
            <a:extLst xmlns:a="http://schemas.openxmlformats.org/drawingml/2006/main">
              <a:ext uri="{FF2B5EF4-FFF2-40B4-BE49-F238E27FC236}">
                <a16:creationId xmlns:a16="http://schemas.microsoft.com/office/drawing/2014/main" id="{8B488DF8-D82F-45BE-9857-AEBC100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开放的插件生态">
            <a:extLst xmlns:a="http://schemas.openxmlformats.org/drawingml/2006/main">
              <a:ext uri="{FF2B5EF4-FFF2-40B4-BE49-F238E27FC236}">
                <a16:creationId xmlns:a16="http://schemas.microsoft.com/office/drawing/2014/main" id="{2A78644A-255A-4CD4-83BA-F39838E3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7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开放的插件生态</a:t>
            </a:r>
          </a:p>
        </p:txBody>
      </p:sp>
      <p:sp>
        <p:nvSpPr>
          <p:cNvPr id="37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54270D50-C619-4DF5-94EE-F4E96B83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 Schema / 三类扩展点</a:t>
            </a:r>
          </a:p>
        </p:txBody>
      </p:sp>
      <p:sp>
        <p:nvSpPr>
          <p:cNvPr id="38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4F18A6BF-B974-4D5C-859B-B307231F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38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 / 文档</a:t>
            </a:r>
          </a:p>
        </p:txBody>
      </p:sp>
      <p:sp>
        <p:nvSpPr>
          <p:cNvPr id="39" name="七项创新均需第四章评测验证；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BF6FCE9C-A436-4AEA-8767-35CD7FD1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七项创新均需第四章评测验证；当前未测结果保持占位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2237255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224B4-ED87-4F7B-A289-F7E2C4F489D1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102489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291972-31EA-48A5-A82D-F284D5153F3E}"/>
              </a:ext>
            </a:extLst>
          </p:cNvPr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H="1">
            <a:off x="102489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67A43-C46D-4679-A7C9-F9DE1979A22F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83629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100D2-C04E-4665-817A-756CD8A88816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3629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4310D-DB6D-4C4D-B618-C6263CDA1EA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64770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A875B-4151-4CBB-A894-A9BDF4C38E56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64770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9C006-A5F2-4458-A2AE-76F4B389E6E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45910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341E4-B204-4905-94B4-9DE643A1099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45910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6059D-20E1-487C-B0C3-10F2B657506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27051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0A1C7-87BB-4283-A6D9-9A01103202F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27051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sp>
        <p:nvSpPr>
          <p:cNvPr id="61" name="输入">
            <a:extLst xmlns:a="http://schemas.openxmlformats.org/drawingml/2006/main">
              <a:ext uri="{FF2B5EF4-FFF2-40B4-BE49-F238E27FC236}">
                <a16:creationId xmlns:a16="http://schemas.microsoft.com/office/drawing/2014/main" id="{453AAB3B-CB20-4165-A8F4-F6AC977F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6765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" name="对照 / 方法">
            <a:extLst xmlns:a="http://schemas.openxmlformats.org/drawingml/2006/main">
              <a:ext uri="{FF2B5EF4-FFF2-40B4-BE49-F238E27FC236}">
                <a16:creationId xmlns:a16="http://schemas.microsoft.com/office/drawing/2014/main" id="{AEE3BEE1-34EB-4DA9-9497-80F4EAFF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7433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对照 / 方法</a:t>
            </a:r>
          </a:p>
        </p:txBody>
      </p:sp>
      <p:sp>
        <p:nvSpPr>
          <p:cNvPr id="3" name="观测指标">
            <a:extLst xmlns:a="http://schemas.openxmlformats.org/drawingml/2006/main">
              <a:ext uri="{FF2B5EF4-FFF2-40B4-BE49-F238E27FC236}">
                <a16:creationId xmlns:a16="http://schemas.microsoft.com/office/drawing/2014/main" id="{21810B6B-ADBF-47DC-9763-33B48486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8101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观测指标</a:t>
            </a:r>
          </a:p>
        </p:txBody>
      </p:sp>
      <p:sp>
        <p:nvSpPr>
          <p:cNvPr id="4" name="验收目标">
            <a:extLst xmlns:a="http://schemas.openxmlformats.org/drawingml/2006/main">
              <a:ext uri="{FF2B5EF4-FFF2-40B4-BE49-F238E27FC236}">
                <a16:creationId xmlns:a16="http://schemas.microsoft.com/office/drawing/2014/main" id="{61C6B4C5-3BAD-43BC-9126-D3B52FF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76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验收目标</a:t>
            </a:r>
          </a:p>
        </p:txBody>
      </p:sp>
      <p:sp>
        <p:nvSpPr>
          <p:cNvPr id="5" name="时效">
            <a:extLst xmlns:a="http://schemas.openxmlformats.org/drawingml/2006/main">
              <a:ext uri="{FF2B5EF4-FFF2-40B4-BE49-F238E27FC236}">
                <a16:creationId xmlns:a16="http://schemas.microsoft.com/office/drawing/2014/main" id="{43CCE31E-8BC4-4EAB-964C-60291116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时效</a:t>
            </a:r>
          </a:p>
        </p:txBody>
      </p:sp>
      <p:sp>
        <p:nvSpPr>
          <p:cNvPr id="6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E531AC4F-A591-45EC-A28D-1505ECE2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五段时间戳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E892022-89E7-4AD7-BFD1-9ABB68AF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BD03FEE6-262D-423D-8D0F-67CD4A4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D1CB5345-228E-4755-8C1C-35075E13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按源分项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75C5A69-A132-4715-83F9-0178E8EF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4A74E215-B38F-4CFA-94C8-9D684582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50 / P95">
            <a:extLst xmlns:a="http://schemas.openxmlformats.org/drawingml/2006/main">
              <a:ext uri="{FF2B5EF4-FFF2-40B4-BE49-F238E27FC236}">
                <a16:creationId xmlns:a16="http://schemas.microsoft.com/office/drawing/2014/main" id="{E3FAF596-6FA1-44AC-89D3-213F874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15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24B4E001-918A-41BB-B32E-F857EAC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16" name="富化">
            <a:extLst xmlns:a="http://schemas.openxmlformats.org/drawingml/2006/main">
              <a:ext uri="{FF2B5EF4-FFF2-40B4-BE49-F238E27FC236}">
                <a16:creationId xmlns:a16="http://schemas.microsoft.com/office/drawing/2014/main" id="{F378BF33-A180-4902-B46F-75CDBDBE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17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CC4E11C6-FAE5-48F9-A9ED-E2EA006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200 条金标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9660B9A4-7899-4186-B3A3-DA4E050C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6C2B42D0-BDAD-4056-88EE-39B410AA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EF19348A-4E50-4C6B-818A-47509E75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前后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86B97528-8829-402E-A50A-2D903DCA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B0D96F93-2678-4E82-AAE2-77231C1C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26D38A76-A344-45B8-BB90-06C4B07A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准确率 / κ</a:t>
            </a:r>
          </a:p>
        </p:txBody>
      </p:sp>
      <p:sp>
        <p:nvSpPr>
          <p:cNvPr id="26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1FDA557A-2B6E-429B-A015-570C450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≥95%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27" name="问答">
            <a:extLst xmlns:a="http://schemas.openxmlformats.org/drawingml/2006/main">
              <a:ext uri="{FF2B5EF4-FFF2-40B4-BE49-F238E27FC236}">
                <a16:creationId xmlns:a16="http://schemas.microsoft.com/office/drawing/2014/main" id="{67741B14-F53E-4511-9A91-3BBF922E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28" name="约 100 题">
            <a:extLst xmlns:a="http://schemas.openxmlformats.org/drawingml/2006/main">
              <a:ext uri="{FF2B5EF4-FFF2-40B4-BE49-F238E27FC236}">
                <a16:creationId xmlns:a16="http://schemas.microsoft.com/office/drawing/2014/main" id="{47C9E9F4-2E54-4D75-BA16-F625B95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约 100 题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39445410-D51E-4593-8920-18B09464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6E1C2983-753C-4567-BF3C-4FAB0071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A735AF63-B5EA-4EA5-A321-92B5933C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三组对照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E16E86AB-4528-4519-BC91-A5700AB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2FCA1859-65B2-4892-BCE5-E1B38BF0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1EFE1967-2F2A-48DB-B302-5FB1888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答案 / 引用</a:t>
            </a:r>
          </a:p>
        </p:txBody>
      </p:sp>
      <p:sp>
        <p:nvSpPr>
          <p:cNvPr id="37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531E0B9A-7344-4F63-91AB-DDC12D85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38" name="自愈">
            <a:extLst xmlns:a="http://schemas.openxmlformats.org/drawingml/2006/main">
              <a:ext uri="{FF2B5EF4-FFF2-40B4-BE49-F238E27FC236}">
                <a16:creationId xmlns:a16="http://schemas.microsoft.com/office/drawing/2014/main" id="{D9467A96-BD91-4664-9775-18E52FA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自愈</a:t>
            </a:r>
          </a:p>
        </p:txBody>
      </p:sp>
      <p:sp>
        <p:nvSpPr>
          <p:cNvPr id="39" name="6 个场景">
            <a:extLst xmlns:a="http://schemas.openxmlformats.org/drawingml/2006/main">
              <a:ext uri="{FF2B5EF4-FFF2-40B4-BE49-F238E27FC236}">
                <a16:creationId xmlns:a16="http://schemas.microsoft.com/office/drawing/2014/main" id="{815EF535-FF22-4D88-B90A-C6B0873D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6 个场景</a:t>
            </a:r>
          </a:p>
        </p:txBody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9CD55361-9132-4344-B3BE-B78F47C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E8CF50F4-DE83-488E-9FDB-E454C79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B7203CD6-B2D7-4009-8650-682FD30C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7169339-BE23-4DD0-A725-8E8AC363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697D625C-5C5F-4EC8-BDBB-9DA4B4F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307FD022-70C0-4A36-83A6-C16EDEF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成功率 / 恢复</a:t>
            </a:r>
          </a:p>
        </p:txBody>
      </p:sp>
      <p:sp>
        <p:nvSpPr>
          <p:cNvPr id="48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68F73EF1-68BB-49EC-B462-25C19B85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49" name="兼容">
            <a:extLst xmlns:a="http://schemas.openxmlformats.org/drawingml/2006/main">
              <a:ext uri="{FF2B5EF4-FFF2-40B4-BE49-F238E27FC236}">
                <a16:creationId xmlns:a16="http://schemas.microsoft.com/office/drawing/2014/main" id="{C395427B-4CBD-4ED3-AB75-FCD44A9A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兼容</a:t>
            </a:r>
          </a:p>
        </p:txBody>
      </p:sp>
      <p:sp>
        <p:nvSpPr>
          <p:cNvPr id="50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039E7E98-5E0C-46F7-882C-223930CC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4 类客户端</a:t>
            </a:r>
          </a:p>
        </p:txBody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942168B7-A883-4610-B471-16613067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16506D89-2472-482F-8BFC-292CEFC4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EDE001A7-D205-46DB-B0CB-F7951AA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远程 / stdio</a:t>
            </a:r>
          </a:p>
        </p:txBody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26A9B7D6-B748-4536-8D2A-29261A36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0EE85B17-FFF8-422A-BA8C-AD457345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11B9CF96-DCCE-4FC3-AE39-838899C8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加载 / 续取</a:t>
            </a:r>
          </a:p>
        </p:txBody>
      </p:sp>
      <p:sp>
        <p:nvSpPr>
          <p:cNvPr id="59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4FD2E809-3A7A-4FF4-B3A1-C90580D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60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BA39965D-C2D1-4393-B587-3CB280A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67780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2026-10-16T05:16:51.6630000Z</dcterms:created>
  <dcterms:modified xsi:type="dcterms:W3CDTF">2026-10-16T05:16:51.6630000Z</dcterms:modified>
</coreProperties>
</file>