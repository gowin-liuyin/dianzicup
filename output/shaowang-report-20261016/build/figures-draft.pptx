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2f9a6246c04bce" /><Relationship Type="http://schemas.openxmlformats.org/officeDocument/2006/relationships/extended-properties" Target="/docProps/app.xml" Id="Rc4659c2d3a894dee" /><Relationship Type="http://schemas.openxmlformats.org/officeDocument/2006/relationships/officeDocument" Target="/ppt/presentation.xml" Id="R3d3d87f7367d44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c5a6e33c094d8a"/>
  </p:sldMasterIdLst>
  <p:notesMasterIdLst>
    <p:notesMasterId xmlns:r="http://schemas.openxmlformats.org/officeDocument/2006/relationships" r:id="R429c8c05807f4b24"/>
  </p:notesMasterIdLst>
  <p:sldIdLst>
    <p:sldId xmlns:r="http://schemas.openxmlformats.org/officeDocument/2006/relationships" id="256" r:id="R0f91ea1901c84e68"/>
    <p:sldId xmlns:r="http://schemas.openxmlformats.org/officeDocument/2006/relationships" id="257" r:id="R1ac44c5917744946"/>
    <p:sldId xmlns:r="http://schemas.openxmlformats.org/officeDocument/2006/relationships" id="258" r:id="Rfcaa9ec5d18a416f"/>
    <p:sldId xmlns:r="http://schemas.openxmlformats.org/officeDocument/2006/relationships" id="259" r:id="R42c3aef621e0497b"/>
    <p:sldId xmlns:r="http://schemas.openxmlformats.org/officeDocument/2006/relationships" id="260" r:id="R01f39481a77940f7"/>
    <p:sldId xmlns:r="http://schemas.openxmlformats.org/officeDocument/2006/relationships" id="261" r:id="Rb3203456bad44d0c"/>
    <p:sldId xmlns:r="http://schemas.openxmlformats.org/officeDocument/2006/relationships" id="262" r:id="R0226b148a7b34096"/>
    <p:sldId xmlns:r="http://schemas.openxmlformats.org/officeDocument/2006/relationships" id="263" r:id="Raf6edbc8ce3e4417"/>
    <p:sldId xmlns:r="http://schemas.openxmlformats.org/officeDocument/2006/relationships" id="264" r:id="Rf0a60fccf86042bf"/>
    <p:sldId xmlns:r="http://schemas.openxmlformats.org/officeDocument/2006/relationships" id="265" r:id="Rdc84773074854803"/>
    <p:sldId xmlns:r="http://schemas.openxmlformats.org/officeDocument/2006/relationships" id="266" r:id="Rabaed62b31284cdd"/>
    <p:sldId xmlns:r="http://schemas.openxmlformats.org/officeDocument/2006/relationships" id="267" r:id="R4de3bf1e86804ef6"/>
    <p:sldId xmlns:r="http://schemas.openxmlformats.org/officeDocument/2006/relationships" id="268" r:id="Rc1fc54d57a8e4e3a"/>
    <p:sldId xmlns:r="http://schemas.openxmlformats.org/officeDocument/2006/relationships" id="269" r:id="Rb2af4753947646a8"/>
    <p:sldId xmlns:r="http://schemas.openxmlformats.org/officeDocument/2006/relationships" id="270" r:id="R8134ef6de92948ec"/>
    <p:sldId xmlns:r="http://schemas.openxmlformats.org/officeDocument/2006/relationships" id="271" r:id="R44a8239fd2b54562"/>
    <p:sldId xmlns:r="http://schemas.openxmlformats.org/officeDocument/2006/relationships" id="272" r:id="R40cfe72c756e42a3"/>
    <p:sldId xmlns:r="http://schemas.openxmlformats.org/officeDocument/2006/relationships" id="273" r:id="R31727869780f404d"/>
    <p:sldId xmlns:r="http://schemas.openxmlformats.org/officeDocument/2006/relationships" id="274" r:id="R465bf8cab2d54ac0"/>
    <p:sldId xmlns:r="http://schemas.openxmlformats.org/officeDocument/2006/relationships" id="275" r:id="Rcbe7a8c85c7943d4"/>
    <p:sldId xmlns:r="http://schemas.openxmlformats.org/officeDocument/2006/relationships" id="276" r:id="Rb14fabb0fb7e4e18"/>
    <p:sldId xmlns:r="http://schemas.openxmlformats.org/officeDocument/2006/relationships" id="277" r:id="R9e7f8cc96f7f4ee1"/>
    <p:sldId xmlns:r="http://schemas.openxmlformats.org/officeDocument/2006/relationships" id="278" r:id="Rd233ccbc8ecc4e71"/>
    <p:sldId xmlns:r="http://schemas.openxmlformats.org/officeDocument/2006/relationships" id="279" r:id="Rda3809737ecb4202"/>
    <p:sldId xmlns:r="http://schemas.openxmlformats.org/officeDocument/2006/relationships" id="280" r:id="Rcc12f95a43d742bc"/>
    <p:sldId xmlns:r="http://schemas.openxmlformats.org/officeDocument/2006/relationships" id="281" r:id="Rdd8ae5e0563c4586"/>
    <p:sldId xmlns:r="http://schemas.openxmlformats.org/officeDocument/2006/relationships" id="282" r:id="R041f62df78064b72"/>
    <p:sldId xmlns:r="http://schemas.openxmlformats.org/officeDocument/2006/relationships" id="283" r:id="R436d79ccf4024453"/>
    <p:sldId xmlns:r="http://schemas.openxmlformats.org/officeDocument/2006/relationships" id="284" r:id="R813e8d7073ce40fc"/>
    <p:sldId xmlns:r="http://schemas.openxmlformats.org/officeDocument/2006/relationships" id="285" r:id="Rc17b86f5774f4ac0"/>
  </p:sldIdLst>
  <p:sldSz cx="5715000" cy="400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598cea747a4f4f" /><Relationship Type="http://schemas.openxmlformats.org/officeDocument/2006/relationships/slideMaster" Target="/ppt/slideMasters/slideMaster1.xml" Id="Rb3c5a6e33c094d8a" /><Relationship Type="http://schemas.openxmlformats.org/officeDocument/2006/relationships/notesMaster" Target="/ppt/notesMasters/notesMaster1.xml" Id="R429c8c05807f4b24" /><Relationship Type="http://schemas.openxmlformats.org/officeDocument/2006/relationships/presProps" Target="/ppt/presProps.xml" Id="R82b0f2f246e942a6" /><Relationship Type="http://schemas.openxmlformats.org/officeDocument/2006/relationships/tableStyles" Target="/ppt/tableStyles.xml" Id="R5e1b2a8bbebe4198" /><Relationship Type="http://schemas.openxmlformats.org/officeDocument/2006/relationships/slide" Target="/ppt/slides/slide1.xml" Id="R0f91ea1901c84e68" /><Relationship Type="http://schemas.openxmlformats.org/officeDocument/2006/relationships/slide" Target="/ppt/slides/slide2.xml" Id="R1ac44c5917744946" /><Relationship Type="http://schemas.openxmlformats.org/officeDocument/2006/relationships/slide" Target="/ppt/slides/slide3.xml" Id="Rfcaa9ec5d18a416f" /><Relationship Type="http://schemas.openxmlformats.org/officeDocument/2006/relationships/slide" Target="/ppt/slides/slide4.xml" Id="R42c3aef621e0497b" /><Relationship Type="http://schemas.openxmlformats.org/officeDocument/2006/relationships/slide" Target="/ppt/slides/slide5.xml" Id="R01f39481a77940f7" /><Relationship Type="http://schemas.openxmlformats.org/officeDocument/2006/relationships/slide" Target="/ppt/slides/slide6.xml" Id="Rb3203456bad44d0c" /><Relationship Type="http://schemas.openxmlformats.org/officeDocument/2006/relationships/slide" Target="/ppt/slides/slide7.xml" Id="R0226b148a7b34096" /><Relationship Type="http://schemas.openxmlformats.org/officeDocument/2006/relationships/slide" Target="/ppt/slides/slide8.xml" Id="Raf6edbc8ce3e4417" /><Relationship Type="http://schemas.openxmlformats.org/officeDocument/2006/relationships/slide" Target="/ppt/slides/slide9.xml" Id="Rf0a60fccf86042bf" /><Relationship Type="http://schemas.openxmlformats.org/officeDocument/2006/relationships/slide" Target="/ppt/slides/slide10.xml" Id="Rdc84773074854803" /><Relationship Type="http://schemas.openxmlformats.org/officeDocument/2006/relationships/slide" Target="/ppt/slides/slide11.xml" Id="Rabaed62b31284cdd" /><Relationship Type="http://schemas.openxmlformats.org/officeDocument/2006/relationships/slide" Target="/ppt/slides/slide12.xml" Id="R4de3bf1e86804ef6" /><Relationship Type="http://schemas.openxmlformats.org/officeDocument/2006/relationships/slide" Target="/ppt/slides/slide13.xml" Id="Rc1fc54d57a8e4e3a" /><Relationship Type="http://schemas.openxmlformats.org/officeDocument/2006/relationships/slide" Target="/ppt/slides/slide14.xml" Id="Rb2af4753947646a8" /><Relationship Type="http://schemas.openxmlformats.org/officeDocument/2006/relationships/slide" Target="/ppt/slides/slide15.xml" Id="R8134ef6de92948ec" /><Relationship Type="http://schemas.openxmlformats.org/officeDocument/2006/relationships/slide" Target="/ppt/slides/slide16.xml" Id="R44a8239fd2b54562" /><Relationship Type="http://schemas.openxmlformats.org/officeDocument/2006/relationships/slide" Target="/ppt/slides/slide17.xml" Id="R40cfe72c756e42a3" /><Relationship Type="http://schemas.openxmlformats.org/officeDocument/2006/relationships/slide" Target="/ppt/slides/slide18.xml" Id="R31727869780f404d" /><Relationship Type="http://schemas.openxmlformats.org/officeDocument/2006/relationships/slide" Target="/ppt/slides/slide19.xml" Id="R465bf8cab2d54ac0" /><Relationship Type="http://schemas.openxmlformats.org/officeDocument/2006/relationships/slide" Target="/ppt/slides/slide20.xml" Id="Rcbe7a8c85c7943d4" /><Relationship Type="http://schemas.openxmlformats.org/officeDocument/2006/relationships/slide" Target="/ppt/slides/slide21.xml" Id="Rb14fabb0fb7e4e18" /><Relationship Type="http://schemas.openxmlformats.org/officeDocument/2006/relationships/slide" Target="/ppt/slides/slide22.xml" Id="R9e7f8cc96f7f4ee1" /><Relationship Type="http://schemas.openxmlformats.org/officeDocument/2006/relationships/slide" Target="/ppt/slides/slide23.xml" Id="Rd233ccbc8ecc4e71" /><Relationship Type="http://schemas.openxmlformats.org/officeDocument/2006/relationships/slide" Target="/ppt/slides/slide24.xml" Id="Rda3809737ecb4202" /><Relationship Type="http://schemas.openxmlformats.org/officeDocument/2006/relationships/slide" Target="/ppt/slides/slide25.xml" Id="Rcc12f95a43d742bc" /><Relationship Type="http://schemas.openxmlformats.org/officeDocument/2006/relationships/slide" Target="/ppt/slides/slide26.xml" Id="Rdd8ae5e0563c4586" /><Relationship Type="http://schemas.openxmlformats.org/officeDocument/2006/relationships/slide" Target="/ppt/slides/slide27.xml" Id="R041f62df78064b72" /><Relationship Type="http://schemas.openxmlformats.org/officeDocument/2006/relationships/slide" Target="/ppt/slides/slide28.xml" Id="R436d79ccf4024453" /><Relationship Type="http://schemas.openxmlformats.org/officeDocument/2006/relationships/slide" Target="/ppt/slides/slide29.xml" Id="R813e8d7073ce40fc" /><Relationship Type="http://schemas.openxmlformats.org/officeDocument/2006/relationships/slide" Target="/ppt/slides/slide30.xml" Id="Rc17b86f5774f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b72cd9343246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1472ceddf4576" /><Relationship Type="http://schemas.openxmlformats.org/officeDocument/2006/relationships/notesMaster" Target="/ppt/notesMasters/notesMaster1.xml" Id="Rc8244ee2d73f4c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b3db5f3fc34354" /><Relationship Type="http://schemas.openxmlformats.org/officeDocument/2006/relationships/notesMaster" Target="/ppt/notesMasters/notesMaster1.xml" Id="Rb64c76a5302948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dbb8afdf5f4255" /><Relationship Type="http://schemas.openxmlformats.org/officeDocument/2006/relationships/notesMaster" Target="/ppt/notesMasters/notesMaster1.xml" Id="R8ea9c5e20e1343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4fb7d7f6114eb7" /><Relationship Type="http://schemas.openxmlformats.org/officeDocument/2006/relationships/notesMaster" Target="/ppt/notesMasters/notesMaster1.xml" Id="R6ec9721a9e9545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b036ffb3644c31" /><Relationship Type="http://schemas.openxmlformats.org/officeDocument/2006/relationships/notesMaster" Target="/ppt/notesMasters/notesMaster1.xml" Id="R03e18901260a4c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ab5a97a8f4322" /><Relationship Type="http://schemas.openxmlformats.org/officeDocument/2006/relationships/notesMaster" Target="/ppt/notesMasters/notesMaster1.xml" Id="R7c5dde44dd454c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ab8521d59d4741" /><Relationship Type="http://schemas.openxmlformats.org/officeDocument/2006/relationships/notesMaster" Target="/ppt/notesMasters/notesMaster1.xml" Id="Rf55108abcbb4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4f6cf943dd4f54" /><Relationship Type="http://schemas.openxmlformats.org/officeDocument/2006/relationships/notesMaster" Target="/ppt/notesMasters/notesMaster1.xml" Id="R8325b363588047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8a284c6e8b4206" /><Relationship Type="http://schemas.openxmlformats.org/officeDocument/2006/relationships/notesMaster" Target="/ppt/notesMasters/notesMaster1.xml" Id="R9ab1409ed92f41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94eceb9174880" /><Relationship Type="http://schemas.openxmlformats.org/officeDocument/2006/relationships/notesMaster" Target="/ppt/notesMasters/notesMaster1.xml" Id="Rad0806591c854e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3825bb66fa4efc" /><Relationship Type="http://schemas.openxmlformats.org/officeDocument/2006/relationships/notesMaster" Target="/ppt/notesMasters/notesMaster1.xml" Id="Rec18acceb70f48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472b2f751d45c8" /><Relationship Type="http://schemas.openxmlformats.org/officeDocument/2006/relationships/notesMaster" Target="/ppt/notesMasters/notesMaster1.xml" Id="Rc92853ec6e8c4a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fd87849ecb4a02" /><Relationship Type="http://schemas.openxmlformats.org/officeDocument/2006/relationships/notesMaster" Target="/ppt/notesMasters/notesMaster1.xml" Id="Rd8b1bdd6841b41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5043bd7da64458" /><Relationship Type="http://schemas.openxmlformats.org/officeDocument/2006/relationships/notesMaster" Target="/ppt/notesMasters/notesMaster1.xml" Id="R533b7d64fdac4f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eecee0d9b3d448b" /><Relationship Type="http://schemas.openxmlformats.org/officeDocument/2006/relationships/notesMaster" Target="/ppt/notesMasters/notesMaster1.xml" Id="R8cc688051a5e4e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6f8905c20a48bf" /><Relationship Type="http://schemas.openxmlformats.org/officeDocument/2006/relationships/notesMaster" Target="/ppt/notesMasters/notesMaster1.xml" Id="R8344602fe27b42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06fad628db4a71" /><Relationship Type="http://schemas.openxmlformats.org/officeDocument/2006/relationships/notesMaster" Target="/ppt/notesMasters/notesMaster1.xml" Id="R26a807ea40754b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3dc983832f4756" /><Relationship Type="http://schemas.openxmlformats.org/officeDocument/2006/relationships/notesMaster" Target="/ppt/notesMasters/notesMaster1.xml" Id="R7fac73f2d8c448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9427afbce64ec0" /><Relationship Type="http://schemas.openxmlformats.org/officeDocument/2006/relationships/notesMaster" Target="/ppt/notesMasters/notesMaster1.xml" Id="Rad088afaee9743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e430d1971f64a1e" /><Relationship Type="http://schemas.openxmlformats.org/officeDocument/2006/relationships/notesMaster" Target="/ppt/notesMasters/notesMaster1.xml" Id="R3de279e84ca64f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ebe998c69ba43da" /><Relationship Type="http://schemas.openxmlformats.org/officeDocument/2006/relationships/notesMaster" Target="/ppt/notesMasters/notesMaster1.xml" Id="Rb6ade615c90a47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6161068232a431d" /><Relationship Type="http://schemas.openxmlformats.org/officeDocument/2006/relationships/notesMaster" Target="/ppt/notesMasters/notesMaster1.xml" Id="R281dfe39bcbd4f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1f8cf9fcea4dda" /><Relationship Type="http://schemas.openxmlformats.org/officeDocument/2006/relationships/notesMaster" Target="/ppt/notesMasters/notesMaster1.xml" Id="R129e3c022ccf49b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2df48d7018403c" /><Relationship Type="http://schemas.openxmlformats.org/officeDocument/2006/relationships/notesMaster" Target="/ppt/notesMasters/notesMaster1.xml" Id="Raff7eb00239e44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187bd7efa074806" /><Relationship Type="http://schemas.openxmlformats.org/officeDocument/2006/relationships/notesMaster" Target="/ppt/notesMasters/notesMaster1.xml" Id="Rb8f24c26c81d4b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4a1699e55cb41dd" /><Relationship Type="http://schemas.openxmlformats.org/officeDocument/2006/relationships/notesMaster" Target="/ppt/notesMasters/notesMaster1.xml" Id="Rb4a12c938e87451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d95a017e0d4864" /><Relationship Type="http://schemas.openxmlformats.org/officeDocument/2006/relationships/notesMaster" Target="/ppt/notesMasters/notesMaster1.xml" Id="R1e2d5488c6c942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f0ab798f4c4624" /><Relationship Type="http://schemas.openxmlformats.org/officeDocument/2006/relationships/notesMaster" Target="/ppt/notesMasters/notesMaster1.xml" Id="R1e0b00db177248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49d2b104b5749d7" /><Relationship Type="http://schemas.openxmlformats.org/officeDocument/2006/relationships/notesMaster" Target="/ppt/notesMasters/notesMaster1.xml" Id="Rffd6221bdf43453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92ad4f113fe4aac" /><Relationship Type="http://schemas.openxmlformats.org/officeDocument/2006/relationships/notesMaster" Target="/ppt/notesMasters/notesMaster1.xml" Id="R215ca3e0512b42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样式母版</a:t>
            </a:r>
          </a:p>
          <a:p xmlns:a="http://schemas.openxmlformats.org/drawingml/2006/main">
            <a:r>
              <a:t>依据：design-dossier.md D22.1</a:t>
            </a:r>
          </a:p>
          <a:p xmlns:a="http://schemas.openxmlformats.org/drawingml/2006/main">
            <a:r>
              <a:t>中文宋体，西文 Times New Roman。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F-01 哨望总体架构</a:t>
            </a:r>
          </a:p>
          <a:p xmlns:a="http://schemas.openxmlformats.org/drawingml/2006/main">
            <a:r>
              <a:t>依据：design-dossier.md D3.1</a:t>
            </a:r>
          </a:p>
          <a:p xmlns:a="http://schemas.openxmlformats.org/drawingml/2006/main">
            <a:r>
              <a:t>报告位置：概述（缩略版）+ 2.1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F-02 监测—富化—问答闭环</a:t>
            </a:r>
          </a:p>
          <a:p xmlns:a="http://schemas.openxmlformats.org/drawingml/2006/main">
            <a:r>
              <a:t>依据：design-dossier.md D1.1、D3.2</a:t>
            </a:r>
          </a:p>
          <a:p xmlns:a="http://schemas.openxmlformats.org/drawingml/2006/main">
            <a:r>
              <a:t>报告位置：1.3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F-03 端到端数据流与阶段时间戳</a:t>
            </a:r>
          </a:p>
          <a:p xmlns:a="http://schemas.openxmlformats.org/drawingml/2006/main">
            <a:r>
              <a:t>依据：design-dossier.md D3.2、D2.8</a:t>
            </a:r>
          </a:p>
          <a:p xmlns:a="http://schemas.openxmlformats.org/drawingml/2006/main">
            <a:r>
              <a:t>报告位置：2.2.1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F-04 一条新公告从发布到可问答的时序</a:t>
            </a:r>
          </a:p>
          <a:p xmlns:a="http://schemas.openxmlformats.org/drawingml/2006/main">
            <a:r>
              <a:t>依据：design-dossier.md D3.2、D5.3</a:t>
            </a:r>
          </a:p>
          <a:p xmlns:a="http://schemas.openxmlformats.org/drawingml/2006/main">
            <a:r>
              <a:t>报告位置：2.2.2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F-05 查询请求的处理路径</a:t>
            </a:r>
          </a:p>
          <a:p xmlns:a="http://schemas.openxmlformats.org/drawingml/2006/main">
            <a:r>
              <a:t>依据：design-dossier.md D3.3、D3.4</a:t>
            </a:r>
          </a:p>
          <a:p xmlns:a="http://schemas.openxmlformats.org/drawingml/2006/main">
            <a:r>
              <a:t>报告位置：2.2.3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F-06 九个智能体的协作关系</a:t>
            </a:r>
          </a:p>
          <a:p xmlns:a="http://schemas.openxmlformats.org/drawingml/2006/main">
            <a:r>
              <a:t>依据：design-dossier.md D4.1、D4.2</a:t>
            </a:r>
          </a:p>
          <a:p xmlns:a="http://schemas.openxmlformats.org/drawingml/2006/main">
            <a:r>
              <a:t>报告位置：2.3.1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F-07 任务状态机</a:t>
            </a:r>
          </a:p>
          <a:p xmlns:a="http://schemas.openxmlformats.org/drawingml/2006/main">
            <a:r>
              <a:t>依据：design-dossier.md D4.3</a:t>
            </a:r>
          </a:p>
          <a:p xmlns:a="http://schemas.openxmlformats.org/drawingml/2006/main">
            <a:r>
              <a:t>报告位置：2.3.2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F-08 Critic 校验闭环</a:t>
            </a:r>
          </a:p>
          <a:p xmlns:a="http://schemas.openxmlformats.org/drawingml/2006/main">
            <a:r>
              <a:t>依据：design-dossier.md D4.4</a:t>
            </a:r>
          </a:p>
          <a:p xmlns:a="http://schemas.openxmlformats.org/drawingml/2006/main">
            <a:r>
              <a:t>报告位置：2.3.3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F-09 九类数据源与三级可信度</a:t>
            </a:r>
          </a:p>
          <a:p xmlns:a="http://schemas.openxmlformats.org/drawingml/2006/main">
            <a:r>
              <a:t>依据：design-dossier.md D5.1</a:t>
            </a:r>
          </a:p>
          <a:p xmlns:a="http://schemas.openxmlformats.org/drawingml/2006/main">
            <a:r>
              <a:t>报告位置：2.4.1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F-10 各来源采集节奏与目标时延</a:t>
            </a:r>
          </a:p>
          <a:p xmlns:a="http://schemas.openxmlformats.org/drawingml/2006/main">
            <a:r>
              <a:t>依据：design-dossier.md D5.2</a:t>
            </a:r>
          </a:p>
          <a:p xmlns:a="http://schemas.openxmlformats.org/drawingml/2006/main">
            <a:r>
              <a:t>报告位置：2.4.2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F-11 去重与合并的三层处理</a:t>
            </a:r>
          </a:p>
          <a:p xmlns:a="http://schemas.openxmlformats.org/drawingml/2006/main">
            <a:r>
              <a:t>依据：design-dossier.md D5.4</a:t>
            </a:r>
          </a:p>
          <a:p xmlns:a="http://schemas.openxmlformats.org/drawingml/2006/main">
            <a:r>
              <a:t>报告位置：2.4.3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F-12 九维富化画像</a:t>
            </a:r>
          </a:p>
          <a:p xmlns:a="http://schemas.openxmlformats.org/drawingml/2006/main">
            <a:r>
              <a:t>依据：design-dossier.md D6.1</a:t>
            </a:r>
          </a:p>
          <a:p xmlns:a="http://schemas.openxmlformats.org/drawingml/2006/main">
            <a:r>
              <a:t>报告位置：2.5.1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F-13 暴露面计数的语法校准</a:t>
            </a:r>
          </a:p>
          <a:p xmlns:a="http://schemas.openxmlformats.org/drawingml/2006/main">
            <a:r>
              <a:t>依据：design-dossier.md D18.2</a:t>
            </a:r>
          </a:p>
          <a:p xmlns:a="http://schemas.openxmlformats.org/drawingml/2006/main">
            <a:r>
              <a:t>报告位置：2.5.1 或 4.6.2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F-14 六类自动关联</a:t>
            </a:r>
          </a:p>
          <a:p xmlns:a="http://schemas.openxmlformats.org/drawingml/2006/main">
            <a:r>
              <a:t>依据：design-dossier.md D6.3</a:t>
            </a:r>
          </a:p>
          <a:p xmlns:a="http://schemas.openxmlformats.org/drawingml/2006/main">
            <a:r>
              <a:t>报告位置：2.5.2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F-15 多源冲突的逐字段裁决</a:t>
            </a:r>
          </a:p>
          <a:p xmlns:a="http://schemas.openxmlformats.org/drawingml/2006/main">
            <a:r>
              <a:t>依据：design-dossier.md D6.4</a:t>
            </a:r>
          </a:p>
          <a:p xmlns:a="http://schemas.openxmlformats.org/drawingml/2006/main">
            <a:r>
              <a:t>报告位置：2.5.3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F-16 版本自查流程</a:t>
            </a:r>
          </a:p>
          <a:p xmlns:a="http://schemas.openxmlformats.org/drawingml/2006/main">
            <a:r>
              <a:t>依据：design-dossier.md D6.5</a:t>
            </a:r>
          </a:p>
          <a:p xmlns:a="http://schemas.openxmlformats.org/drawingml/2006/main">
            <a:r>
              <a:t>报告位置：2.5.4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F-17 三路混合检索与 GraphRAG 问答流程</a:t>
            </a:r>
          </a:p>
          <a:p xmlns:a="http://schemas.openxmlformats.org/drawingml/2006/main">
            <a:r>
              <a:t>依据：design-dossier.md D7.1–D7.3</a:t>
            </a:r>
          </a:p>
          <a:p xmlns:a="http://schemas.openxmlformats.org/drawingml/2006/main">
            <a:r>
              <a:t>报告位置：2.6.1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F-18 多跳问答的推理链示例</a:t>
            </a:r>
          </a:p>
          <a:p xmlns:a="http://schemas.openxmlformats.org/drawingml/2006/main">
            <a:r>
              <a:t>依据：design-dossier.md D7.2</a:t>
            </a:r>
          </a:p>
          <a:p xmlns:a="http://schemas.openxmlformats.org/drawingml/2006/main">
            <a:r>
              <a:t>报告位置：2.6.2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F-19 MCP 与插件生态全景</a:t>
            </a:r>
          </a:p>
          <a:p xmlns:a="http://schemas.openxmlformats.org/drawingml/2006/main">
            <a:r>
              <a:t>依据：design-dossier.md D8、D9.3</a:t>
            </a:r>
          </a:p>
          <a:p xmlns:a="http://schemas.openxmlformats.org/drawingml/2006/main">
            <a:r>
              <a:t>报告位置：2.7.1 / 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F-20 插件生命周期</a:t>
            </a:r>
          </a:p>
          <a:p xmlns:a="http://schemas.openxmlformats.org/drawingml/2006/main">
            <a:r>
              <a:t>依据：design-dossier.md D9.6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F-21 公开 Schema 与 OSV / STIX 2.1 / CSAF 2.0 的对应</a:t>
            </a:r>
          </a:p>
          <a:p xmlns:a="http://schemas.openxmlformats.org/drawingml/2006/main">
            <a:r>
              <a:t>依据：design-dossier.md D9.1、D9.2</a:t>
            </a:r>
          </a:p>
          <a:p xmlns:a="http://schemas.openxmlformats.org/drawingml/2006/main">
            <a:r>
              <a:t>报告位置：2.7.3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F-22 技术栈分层</a:t>
            </a:r>
          </a:p>
          <a:p xmlns:a="http://schemas.openxmlformats.org/drawingml/2006/main">
            <a:r>
              <a:t>依据：design-dossier.md D10</a:t>
            </a:r>
          </a:p>
          <a:p xmlns:a="http://schemas.openxmlformats.org/drawingml/2006/main">
            <a:r>
              <a:t>报告位置：2.8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F-23 docker compose 单机部署结构</a:t>
            </a:r>
          </a:p>
          <a:p xmlns:a="http://schemas.openxmlformats.org/drawingml/2006/main">
            <a:r>
              <a:t>依据：design-dossier.md D3.5</a:t>
            </a:r>
          </a:p>
          <a:p xmlns:a="http://schemas.openxmlformats.org/drawingml/2006/main">
            <a:r>
              <a:t>报告位置：3.1.1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F-24 知识图谱数据模型</a:t>
            </a:r>
          </a:p>
          <a:p xmlns:a="http://schemas.openxmlformats.org/drawingml/2006/main">
            <a:r>
              <a:t>依据：design-dossier.md D11.2、D2.7</a:t>
            </a:r>
          </a:p>
          <a:p xmlns:a="http://schemas.openxmlformats.org/drawingml/2006/main">
            <a:r>
              <a:t>报告位置：3.1.2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  <a:p xmlns:a="http://schemas.openxmlformats.org/drawingml/2006/main">
            <a:br/>
            <a:r>
              <a:t>Version 的关联表达仅说明版本区间，不新增边类型。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F-25 失败重试、死信重放与熔断降级</a:t>
            </a:r>
          </a:p>
          <a:p xmlns:a="http://schemas.openxmlformats.org/drawingml/2006/main">
            <a:r>
              <a:t>依据：design-dossier.md D12.1、D12.2</a:t>
            </a:r>
          </a:p>
          <a:p xmlns:a="http://schemas.openxmlformats.org/drawingml/2006/main">
            <a:r>
              <a:t>报告位置：3.1.3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F-26 对外合规边界</a:t>
            </a:r>
          </a:p>
          <a:p xmlns:a="http://schemas.openxmlformats.org/drawingml/2006/main">
            <a:r>
              <a:t>依据：design-dossier.md D13</a:t>
            </a:r>
          </a:p>
          <a:p xmlns:a="http://schemas.openxmlformats.org/drawingml/2006/main">
            <a:r>
              <a:t>报告位置：3.1.5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F-27 时效统计的时间戳定义</a:t>
            </a:r>
          </a:p>
          <a:p xmlns:a="http://schemas.openxmlformats.org/drawingml/2006/main">
            <a:r>
              <a:t>依据：design-dossier.md D2.8、D16.3</a:t>
            </a:r>
          </a:p>
          <a:p xmlns:a="http://schemas.openxmlformats.org/drawingml/2006/main">
            <a:r>
              <a:t>报告位置：4.2.1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F-29 七项创新点总览</a:t>
            </a:r>
          </a:p>
          <a:p xmlns:a="http://schemas.openxmlformats.org/drawingml/2006/main">
            <a:r>
              <a:t>依据：design-dossier.md D17</a:t>
            </a:r>
          </a:p>
          <a:p xmlns:a="http://schemas.openxmlformats.org/drawingml/2006/main">
            <a:r>
              <a:t>报告位置：第五章开头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F-30 评测体系总览</a:t>
            </a:r>
          </a:p>
          <a:p xmlns:a="http://schemas.openxmlformats.org/drawingml/2006/main">
            <a:r>
              <a:t>依据：design-dossier.md D16</a:t>
            </a:r>
          </a:p>
          <a:p xmlns:a="http://schemas.openxmlformats.org/drawingml/2006/main">
            <a:r>
              <a:t>报告位置：4.1</a:t>
            </a:r>
          </a:p>
          <a:p xmlns:a="http://schemas.openxmlformats.org/drawingml/2006/main">
            <a:r>
              <a:t>全部图形为原生形状、文本与吸附连接线。设计参数不代表实测。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3c8fc8cc245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81c42e8bb4e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0ef340c4643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20dab90e84f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93226ccb247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9c5d5cfc442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8830F6-EB6E-4FC4-B2CE-22B0EAFF41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1511300"/>
            <a:ext cx="4572000" cy="57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ADAF45-A384-40E9-8C9D-07218189C62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57250" y="2200275"/>
            <a:ext cx="40005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2F2308-6345-4AC6-9BC4-E7EA39DB4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1500" y="16668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F1E227-308E-4EB3-B794-A793691FBF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DCE5695-25C5-4D27-A9E9-39429C4369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5072063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4E40C6-5456-4001-884A-0F1AAA9A5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79F31C-5C95-480E-8ACD-62FA30EA31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5B81BA-72BC-42BB-8169-A8CBE858EF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36094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0D8173-EE71-4D38-B46E-E1CC6C7B0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1469" y="311150"/>
            <a:ext cx="5072063" cy="48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9774D2-6ECF-4EC0-B91D-04087865B7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21469" y="1111250"/>
            <a:ext cx="2357438" cy="24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5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7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1pPr>
            <a:lvl2pPr marL="2500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2pPr>
            <a:lvl3pPr marL="3929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3pPr>
            <a:lvl4pPr marL="5357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4pPr>
            <a:lvl5pPr marL="6786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5pPr>
            <a:lvl6pPr marL="82153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6pPr>
            <a:lvl7pPr marL="96440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7pPr>
            <a:lvl8pPr marL="1107281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8pPr>
            <a:lvl9pPr marL="1250156" indent="-107156">
              <a:lnSpc>
                <a:spcPct val="110000"/>
              </a:lnSpc>
              <a:spcBef>
                <a:spcPts val="0"/>
              </a:spcBef>
              <a:spcAft>
                <a:spcPts val="56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ff8f5288d04de0" /><Relationship Type="http://schemas.openxmlformats.org/officeDocument/2006/relationships/slideLayout" Target="/ppt/slideLayouts/slideLayout1.xml" Id="Rf82373287b8e4e80" /><Relationship Type="http://schemas.openxmlformats.org/officeDocument/2006/relationships/slideLayout" Target="/ppt/slideLayouts/slideLayout2.xml" Id="Rdfab0d11159f457f" /><Relationship Type="http://schemas.openxmlformats.org/officeDocument/2006/relationships/slideLayout" Target="/ppt/slideLayouts/slideLayout3.xml" Id="R24fe673b35744101" /><Relationship Type="http://schemas.openxmlformats.org/officeDocument/2006/relationships/slideLayout" Target="/ppt/slideLayouts/slideLayout4.xml" Id="R686bd20d0c4a4b98" /><Relationship Type="http://schemas.openxmlformats.org/officeDocument/2006/relationships/slideLayout" Target="/ppt/slideLayouts/slideLayout5.xml" Id="Rc67a1ae38c75421c" /><Relationship Type="http://schemas.openxmlformats.org/officeDocument/2006/relationships/slideLayout" Target="/ppt/slideLayouts/slideLayout6.xml" Id="R6c6affe001a341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2373287b8e4e80"/>
    <p:sldLayoutId xmlns:r="http://schemas.openxmlformats.org/officeDocument/2006/relationships" id="2147483650" r:id="Rdfab0d11159f457f"/>
    <p:sldLayoutId xmlns:r="http://schemas.openxmlformats.org/officeDocument/2006/relationships" id="2147483651" r:id="R24fe673b35744101"/>
    <p:sldLayoutId xmlns:r="http://schemas.openxmlformats.org/officeDocument/2006/relationships" id="2147483652" r:id="R686bd20d0c4a4b98"/>
    <p:sldLayoutId xmlns:r="http://schemas.openxmlformats.org/officeDocument/2006/relationships" id="2147483653" r:id="Rc67a1ae38c75421c"/>
    <p:sldLayoutId xmlns:r="http://schemas.openxmlformats.org/officeDocument/2006/relationships" id="2147483654" r:id="R6c6affe001a341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7e02fdd9941ea" /><Relationship Type="http://schemas.openxmlformats.org/officeDocument/2006/relationships/notesSlide" Target="/ppt/notesSlides/notesSlide1.xml" Id="Ree7865671d7349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11e50fca04118" /><Relationship Type="http://schemas.openxmlformats.org/officeDocument/2006/relationships/notesSlide" Target="/ppt/notesSlides/notesSlide2.xml" Id="R2c958e4b024f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6ade787924118" /><Relationship Type="http://schemas.openxmlformats.org/officeDocument/2006/relationships/notesSlide" Target="/ppt/notesSlides/notesSlide3.xml" Id="R6af3973c722f4f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8f6907e334857" /><Relationship Type="http://schemas.openxmlformats.org/officeDocument/2006/relationships/notesSlide" Target="/ppt/notesSlides/notesSlide4.xml" Id="R104bb22070d44f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79e80370864954" /><Relationship Type="http://schemas.openxmlformats.org/officeDocument/2006/relationships/notesSlide" Target="/ppt/notesSlides/notesSlide5.xml" Id="Ra42d07342b4440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69cd87a96f4d73" /><Relationship Type="http://schemas.openxmlformats.org/officeDocument/2006/relationships/notesSlide" Target="/ppt/notesSlides/notesSlide6.xml" Id="Re67decbdaddb4f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e522fa3184e25" /><Relationship Type="http://schemas.openxmlformats.org/officeDocument/2006/relationships/notesSlide" Target="/ppt/notesSlides/notesSlide7.xml" Id="Re64aa6bc5c934c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54ff623b1a4cb2" /><Relationship Type="http://schemas.openxmlformats.org/officeDocument/2006/relationships/notesSlide" Target="/ppt/notesSlides/notesSlide8.xml" Id="R0101dc5aea9f44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31487aea64ed7" /><Relationship Type="http://schemas.openxmlformats.org/officeDocument/2006/relationships/notesSlide" Target="/ppt/notesSlides/notesSlide9.xml" Id="R0194bc47432f42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0cc69098864843" /><Relationship Type="http://schemas.openxmlformats.org/officeDocument/2006/relationships/notesSlide" Target="/ppt/notesSlides/notesSlide10.xml" Id="R9c58d000d3584a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dda3462fa14d87" /><Relationship Type="http://schemas.openxmlformats.org/officeDocument/2006/relationships/notesSlide" Target="/ppt/notesSlides/notesSlide11.xml" Id="R02b1b385d72c4c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5ff70ce41340f2" /><Relationship Type="http://schemas.openxmlformats.org/officeDocument/2006/relationships/notesSlide" Target="/ppt/notesSlides/notesSlide12.xml" Id="Rbe6c171f995540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f3cd604d84678" /><Relationship Type="http://schemas.openxmlformats.org/officeDocument/2006/relationships/notesSlide" Target="/ppt/notesSlides/notesSlide13.xml" Id="R8849cf699ead44f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cf759eaa742dc" /><Relationship Type="http://schemas.openxmlformats.org/officeDocument/2006/relationships/notesSlide" Target="/ppt/notesSlides/notesSlide14.xml" Id="R3e35c26897e84f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5a161da9145c1" /><Relationship Type="http://schemas.openxmlformats.org/officeDocument/2006/relationships/notesSlide" Target="/ppt/notesSlides/notesSlide15.xml" Id="R01ce61ea1a034d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10625ff8b4b73" /><Relationship Type="http://schemas.openxmlformats.org/officeDocument/2006/relationships/notesSlide" Target="/ppt/notesSlides/notesSlide16.xml" Id="R3abc947f719749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48d20e64ef40b4" /><Relationship Type="http://schemas.openxmlformats.org/officeDocument/2006/relationships/notesSlide" Target="/ppt/notesSlides/notesSlide17.xml" Id="R55ed21b7d5db41a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307c250ef4ea4" /><Relationship Type="http://schemas.openxmlformats.org/officeDocument/2006/relationships/notesSlide" Target="/ppt/notesSlides/notesSlide18.xml" Id="R9a6f582fcb0447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d4cc77602b40c8" /><Relationship Type="http://schemas.openxmlformats.org/officeDocument/2006/relationships/notesSlide" Target="/ppt/notesSlides/notesSlide19.xml" Id="R3ea97941da91420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d44f5185c4cd5" /><Relationship Type="http://schemas.openxmlformats.org/officeDocument/2006/relationships/notesSlide" Target="/ppt/notesSlides/notesSlide20.xml" Id="Rad016683e9e547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aa6ab5a4c4a6c" /><Relationship Type="http://schemas.openxmlformats.org/officeDocument/2006/relationships/notesSlide" Target="/ppt/notesSlides/notesSlide21.xml" Id="R4fe70e8889524b0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94e94d0393415f" /><Relationship Type="http://schemas.openxmlformats.org/officeDocument/2006/relationships/notesSlide" Target="/ppt/notesSlides/notesSlide22.xml" Id="R779c0e65981a40b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424065699461a" /><Relationship Type="http://schemas.openxmlformats.org/officeDocument/2006/relationships/notesSlide" Target="/ppt/notesSlides/notesSlide23.xml" Id="R3e74aedc52b3439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6942171b242e1" /><Relationship Type="http://schemas.openxmlformats.org/officeDocument/2006/relationships/notesSlide" Target="/ppt/notesSlides/notesSlide24.xml" Id="R727e91267955438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7970e8f2845d1" /><Relationship Type="http://schemas.openxmlformats.org/officeDocument/2006/relationships/notesSlide" Target="/ppt/notesSlides/notesSlide25.xml" Id="Rd0f7aa29708542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79775d657f44ee" /><Relationship Type="http://schemas.openxmlformats.org/officeDocument/2006/relationships/notesSlide" Target="/ppt/notesSlides/notesSlide26.xml" Id="R334303fafbae4c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ea8efe2434499c" /><Relationship Type="http://schemas.openxmlformats.org/officeDocument/2006/relationships/notesSlide" Target="/ppt/notesSlides/notesSlide27.xml" Id="Ra8e59730298b4a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0600b8811742ef" /><Relationship Type="http://schemas.openxmlformats.org/officeDocument/2006/relationships/notesSlide" Target="/ppt/notesSlides/notesSlide28.xml" Id="Ra66f8d536df1424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bab633bb64a35" /><Relationship Type="http://schemas.openxmlformats.org/officeDocument/2006/relationships/notesSlide" Target="/ppt/notesSlides/notesSlide29.xml" Id="Rd49d377e8488471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30d5d849a425c" /><Relationship Type="http://schemas.openxmlformats.org/officeDocument/2006/relationships/notesSlide" Target="/ppt/notesSlides/notesSlide30.xml" Id="R81869b9dbca1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D5A89-C565-427C-AADF-A36756671020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4048125" y="3086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3E966-0DA4-467C-8FDC-9CDD06420876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257300" y="30861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2" name="样式母版">
            <a:extLst xmlns:a="http://schemas.openxmlformats.org/drawingml/2006/main">
              <a:ext uri="{FF2B5EF4-FFF2-40B4-BE49-F238E27FC236}">
                <a16:creationId xmlns:a16="http://schemas.microsoft.com/office/drawing/2014/main" id="{7CF4B179-AD15-486A-AF15-4727CE34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1430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样式母版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0D247-ED5E-4730-BE3C-E32139D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A5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" name="#1F3A5F">
            <a:extLst xmlns:a="http://schemas.openxmlformats.org/drawingml/2006/main">
              <a:ext uri="{FF2B5EF4-FFF2-40B4-BE49-F238E27FC236}">
                <a16:creationId xmlns:a16="http://schemas.microsoft.com/office/drawing/2014/main" id="{5429B02A-D83C-440C-B1B3-F78F18BB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#1F3A5F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3ED31-35CE-4B36-B793-D3B4C219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8C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#2E7D8C">
            <a:extLst xmlns:a="http://schemas.openxmlformats.org/drawingml/2006/main">
              <a:ext uri="{FF2B5EF4-FFF2-40B4-BE49-F238E27FC236}">
                <a16:creationId xmlns:a16="http://schemas.microsoft.com/office/drawing/2014/main" id="{2370B3F4-C9B8-4556-8C1D-A2FE0312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#2E7D8C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061EF-1AB0-4AD1-A274-D422D03B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#5B4E8C">
            <a:extLst xmlns:a="http://schemas.openxmlformats.org/drawingml/2006/main">
              <a:ext uri="{FF2B5EF4-FFF2-40B4-BE49-F238E27FC236}">
                <a16:creationId xmlns:a16="http://schemas.microsoft.com/office/drawing/2014/main" id="{A07B2DDF-0BAA-4586-B8A2-DA5D882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#5B4E8C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F048B-4E34-4D2D-9C5A-FE59635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E9E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#3E6E9E">
            <a:extLst xmlns:a="http://schemas.openxmlformats.org/drawingml/2006/main">
              <a:ext uri="{FF2B5EF4-FFF2-40B4-BE49-F238E27FC236}">
                <a16:creationId xmlns:a16="http://schemas.microsoft.com/office/drawing/2014/main" id="{0922333E-3CC0-45D7-9D27-BE0E691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#3E6E9E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9F6B7-F5DC-4C6D-A90B-F8C9A219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F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#2F7D4F">
            <a:extLst xmlns:a="http://schemas.openxmlformats.org/drawingml/2006/main">
              <a:ext uri="{FF2B5EF4-FFF2-40B4-BE49-F238E27FC236}">
                <a16:creationId xmlns:a16="http://schemas.microsoft.com/office/drawing/2014/main" id="{73034FB2-69CA-43B9-9467-2AA7556F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#2F7D4F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86C88-EA38-4017-AB90-206BCC57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11430">
            <a:solidFill>
              <a:srgbClr val="B7791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3" name="#B7791F">
            <a:extLst xmlns:a="http://schemas.openxmlformats.org/drawingml/2006/main">
              <a:ext uri="{FF2B5EF4-FFF2-40B4-BE49-F238E27FC236}">
                <a16:creationId xmlns:a16="http://schemas.microsoft.com/office/drawing/2014/main" id="{E04926C3-24AF-40AB-AD2A-3328E427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#B7791F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BDB38-996C-48CE-B1B5-62474A7B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3400"/>
            <a:ext cx="5334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A3A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5" name="#A33A3A">
            <a:extLst xmlns:a="http://schemas.openxmlformats.org/drawingml/2006/main">
              <a:ext uri="{FF2B5EF4-FFF2-40B4-BE49-F238E27FC236}">
                <a16:creationId xmlns:a16="http://schemas.microsoft.com/office/drawing/2014/main" id="{13F1774D-D1C1-46F2-B136-933EFDF4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78105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#A33A3A</a:t>
            </a:r>
          </a:p>
        </p:txBody>
      </p:sp>
      <p:sp>
        <p:nvSpPr>
          <p:cNvPr id="16" name="智能体">
            <a:extLst xmlns:a="http://schemas.openxmlformats.org/drawingml/2006/main">
              <a:ext uri="{FF2B5EF4-FFF2-40B4-BE49-F238E27FC236}">
                <a16:creationId xmlns:a16="http://schemas.microsoft.com/office/drawing/2014/main" id="{1BDC5438-6952-47B0-8F7F-136764EC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81100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0148AB-3B82-4FDD-8DD6-A77685B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2872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8" name="调度中枢">
            <a:extLst xmlns:a="http://schemas.openxmlformats.org/drawingml/2006/main">
              <a:ext uri="{FF2B5EF4-FFF2-40B4-BE49-F238E27FC236}">
                <a16:creationId xmlns:a16="http://schemas.microsoft.com/office/drawing/2014/main" id="{57F15069-39B0-409A-8D01-8AA3783A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181100"/>
            <a:ext cx="1143000" cy="4953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调度中枢</a:t>
            </a:r>
          </a:p>
        </p:txBody>
      </p:sp>
      <p:sp>
        <p:nvSpPr>
          <p:cNvPr id="19" name="插件">
            <a:extLst xmlns:a="http://schemas.openxmlformats.org/drawingml/2006/main">
              <a:ext uri="{FF2B5EF4-FFF2-40B4-BE49-F238E27FC236}">
                <a16:creationId xmlns:a16="http://schemas.microsoft.com/office/drawing/2014/main" id="{24C834A2-E01C-4BA3-BC59-58C5F79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181100"/>
            <a:ext cx="1143000" cy="4953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插件</a:t>
            </a:r>
          </a:p>
        </p:txBody>
      </p:sp>
      <p:sp>
        <p:nvSpPr>
          <p:cNvPr id="20" name="存储">
            <a:extLst xmlns:a="http://schemas.openxmlformats.org/drawingml/2006/main">
              <a:ext uri="{FF2B5EF4-FFF2-40B4-BE49-F238E27FC236}">
                <a16:creationId xmlns:a16="http://schemas.microsoft.com/office/drawing/2014/main" id="{F672694C-9C5C-4D47-B6F1-94D8FCA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181100"/>
            <a:ext cx="1143000" cy="4953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存储</a:t>
            </a:r>
          </a:p>
        </p:txBody>
      </p:sp>
      <p:sp>
        <p:nvSpPr>
          <p:cNvPr id="21" name="对外接口">
            <a:extLst xmlns:a="http://schemas.openxmlformats.org/drawingml/2006/main">
              <a:ext uri="{FF2B5EF4-FFF2-40B4-BE49-F238E27FC236}">
                <a16:creationId xmlns:a16="http://schemas.microsoft.com/office/drawing/2014/main" id="{AA57AD0D-35D5-4739-8AA1-928602EE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90725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对外接口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DFE5D3-CAED-437A-A7B3-F6CB48E7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1930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23" name="外部来源">
            <a:extLst xmlns:a="http://schemas.openxmlformats.org/drawingml/2006/main">
              <a:ext uri="{FF2B5EF4-FFF2-40B4-BE49-F238E27FC236}">
                <a16:creationId xmlns:a16="http://schemas.microsoft.com/office/drawing/2014/main" id="{6F69A0CB-199F-41F6-93E4-B5B5A024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90725"/>
            <a:ext cx="114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外部来源</a:t>
            </a:r>
          </a:p>
        </p:txBody>
      </p:sp>
      <p:sp>
        <p:nvSpPr>
          <p:cNvPr id="24" name="判断">
            <a:extLst xmlns:a="http://schemas.openxmlformats.org/drawingml/2006/main">
              <a:ext uri="{FF2B5EF4-FFF2-40B4-BE49-F238E27FC236}">
                <a16:creationId xmlns:a16="http://schemas.microsoft.com/office/drawing/2014/main" id="{2545C22B-EB2E-4346-B1F0-090C5DBF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90725"/>
            <a:ext cx="1143000" cy="4953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判断</a:t>
            </a:r>
          </a:p>
        </p:txBody>
      </p:sp>
      <p:sp>
        <p:nvSpPr>
          <p:cNvPr id="25" name="主数据流">
            <a:extLst xmlns:a="http://schemas.openxmlformats.org/drawingml/2006/main">
              <a:ext uri="{FF2B5EF4-FFF2-40B4-BE49-F238E27FC236}">
                <a16:creationId xmlns:a16="http://schemas.microsoft.com/office/drawing/2014/main" id="{66020337-42B4-49C9-9E95-80061DFE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051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主数据流</a:t>
            </a:r>
          </a:p>
        </p:txBody>
      </p:sp>
      <p:sp>
        <p:nvSpPr>
          <p:cNvPr id="26" name="目标节点">
            <a:extLst xmlns:a="http://schemas.openxmlformats.org/drawingml/2006/main">
              <a:ext uri="{FF2B5EF4-FFF2-40B4-BE49-F238E27FC236}">
                <a16:creationId xmlns:a16="http://schemas.microsoft.com/office/drawing/2014/main" id="{922D2A6F-51E8-491F-99E5-7939BBE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051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目标节点</a:t>
            </a:r>
          </a:p>
        </p:txBody>
      </p:sp>
      <p:sp>
        <p:nvSpPr>
          <p:cNvPr id="28" name="失败与重试">
            <a:extLst xmlns:a="http://schemas.openxmlformats.org/drawingml/2006/main">
              <a:ext uri="{FF2B5EF4-FFF2-40B4-BE49-F238E27FC236}">
                <a16:creationId xmlns:a16="http://schemas.microsoft.com/office/drawing/2014/main" id="{42A1F506-9C40-41AE-A8A3-5AE7E1A9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05125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失败与重试</a:t>
            </a:r>
          </a:p>
        </p:txBody>
      </p:sp>
      <p:sp>
        <p:nvSpPr>
          <p:cNvPr id="29" name="死信队列">
            <a:extLst xmlns:a="http://schemas.openxmlformats.org/drawingml/2006/main">
              <a:ext uri="{FF2B5EF4-FFF2-40B4-BE49-F238E27FC236}">
                <a16:creationId xmlns:a16="http://schemas.microsoft.com/office/drawing/2014/main" id="{D40C46D8-913C-409F-A75D-860571D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1000125" cy="361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死信队列</a:t>
            </a:r>
          </a:p>
        </p:txBody>
      </p:sp>
      <p:sp>
        <p:nvSpPr>
          <p:cNvPr id="31" name="宋体 SimSun  ·  Times New Roman  ·  节点 10.5 pt / 注释 9 pt / 最小 8 pt">
            <a:extLst xmlns:a="http://schemas.openxmlformats.org/drawingml/2006/main">
              <a:ext uri="{FF2B5EF4-FFF2-40B4-BE49-F238E27FC236}">
                <a16:creationId xmlns:a16="http://schemas.microsoft.com/office/drawing/2014/main" id="{259739F8-D307-40CE-AD72-CD0845E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宋体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SimSun  ·  Times New Roman  · 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节点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10.5 pt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注释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 pt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最小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8 pt</a:t>
            </a:r>
          </a:p>
        </p:txBody>
      </p:sp>
    </p:spTree>
    <p:extLst>
      <p:ext uri="{BB962C8B-B14F-4D97-AF65-F5344CB8AC3E}">
        <p14:creationId xmlns:p14="http://schemas.microsoft.com/office/powerpoint/2010/main" val="149015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09A14-1BBD-44F4-BCF5-C6F861D1AD49}"/>
              </a:ext>
            </a:extLst>
          </p:cNvPr>
          <p:cNvCxnSpPr>
            <a:stCxn xmlns:a="http://schemas.openxmlformats.org/drawingml/2006/main" id="4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V="1">
            <a:off x="2809875" y="5905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5C66F-7C82-42DA-9245-1EE3CEF4596C}"/>
              </a:ext>
            </a:extLst>
          </p:cNvPr>
          <p:cNvCxnSpPr>
            <a:stCxn xmlns:a="http://schemas.openxmlformats.org/drawingml/2006/main" id="6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809875" y="11811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AF741-2326-4B9D-8885-8AD3D2E9701B}"/>
              </a:ext>
            </a:extLst>
          </p:cNvPr>
          <p:cNvCxnSpPr>
            <a:stCxn xmlns:a="http://schemas.openxmlformats.org/drawingml/2006/main" id="8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2809875" y="17716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97A68-EA9A-4462-BB9C-A6DECF70B019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2809875" y="2362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9AB29-06B7-40D4-B567-A05D25053551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809875" y="29527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3" name="接入层">
            <a:extLst xmlns:a="http://schemas.openxmlformats.org/drawingml/2006/main">
              <a:ext uri="{FF2B5EF4-FFF2-40B4-BE49-F238E27FC236}">
                <a16:creationId xmlns:a16="http://schemas.microsoft.com/office/drawing/2014/main" id="{867BC88A-4E41-4584-8F6B-9A43CBED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33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接入层</a:t>
            </a:r>
          </a:p>
        </p:txBody>
      </p:sp>
      <p:sp>
        <p:nvSpPr>
          <p:cNvPr id="2" name="Web / MCP 7 工具 / OpenAPI / CLI / Agent Plugins">
            <a:extLst xmlns:a="http://schemas.openxmlformats.org/drawingml/2006/main">
              <a:ext uri="{FF2B5EF4-FFF2-40B4-BE49-F238E27FC236}">
                <a16:creationId xmlns:a16="http://schemas.microsoft.com/office/drawing/2014/main" id="{26AB5815-E5F8-4D44-978F-0AB8B1D1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 / MCP 7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工具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OpenAPI / CLI / Agent Plugins</a:t>
            </a:r>
          </a:p>
        </p:txBody>
      </p:sp>
      <p:sp>
        <p:nvSpPr>
          <p:cNvPr id="3" name="服务层">
            <a:extLst xmlns:a="http://schemas.openxmlformats.org/drawingml/2006/main">
              <a:ext uri="{FF2B5EF4-FFF2-40B4-BE49-F238E27FC236}">
                <a16:creationId xmlns:a16="http://schemas.microsoft.com/office/drawing/2014/main" id="{8278FA5C-4E89-4374-8BB5-E844CC6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7239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服务层</a:t>
            </a:r>
          </a:p>
        </p:txBody>
      </p:sp>
      <p:sp>
        <p:nvSpPr>
          <p:cNvPr id="4" name="intel-core / GraphRAG / 鉴权与结果裁剪">
            <a:extLst xmlns:a="http://schemas.openxmlformats.org/drawingml/2006/main">
              <a:ext uri="{FF2B5EF4-FFF2-40B4-BE49-F238E27FC236}">
                <a16:creationId xmlns:a16="http://schemas.microsoft.com/office/drawing/2014/main" id="{D4660798-778F-4365-8336-A48E51B1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39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 / GraphRAG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鉴权与结果裁剪</a:t>
            </a:r>
          </a:p>
        </p:txBody>
      </p:sp>
      <p:sp>
        <p:nvSpPr>
          <p:cNvPr id="5" name="智能体编排层">
            <a:extLst xmlns:a="http://schemas.openxmlformats.org/drawingml/2006/main">
              <a:ext uri="{FF2B5EF4-FFF2-40B4-BE49-F238E27FC236}">
                <a16:creationId xmlns:a16="http://schemas.microsoft.com/office/drawing/2014/main" id="{4B99D7BE-8B60-4FF8-A366-FF746535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3144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智能体编排层</a:t>
            </a:r>
          </a:p>
        </p:txBody>
      </p:sp>
      <p:sp>
        <p:nvSpPr>
          <p:cNvPr id="6" name="Orchestrator + 8 个角色 / LangGraph">
            <a:extLst xmlns:a="http://schemas.openxmlformats.org/drawingml/2006/main">
              <a:ext uri="{FF2B5EF4-FFF2-40B4-BE49-F238E27FC236}">
                <a16:creationId xmlns:a16="http://schemas.microsoft.com/office/drawing/2014/main" id="{AEAF54AF-2977-4C39-87BA-FDFCD70A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144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 + 8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个角色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LangGraph</a:t>
            </a:r>
          </a:p>
        </p:txBody>
      </p:sp>
      <p:sp>
        <p:nvSpPr>
          <p:cNvPr id="7" name="知识层">
            <a:extLst xmlns:a="http://schemas.openxmlformats.org/drawingml/2006/main">
              <a:ext uri="{FF2B5EF4-FFF2-40B4-BE49-F238E27FC236}">
                <a16:creationId xmlns:a16="http://schemas.microsoft.com/office/drawing/2014/main" id="{0179376A-0CA4-433F-B3AB-E7D2A74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9050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知识层</a:t>
            </a:r>
          </a:p>
        </p:txBody>
      </p:sp>
      <p:sp>
        <p:nvSpPr>
          <p:cNvPr id="8" name="PostgreSQL + pgvector / Neo4j / OpenSearch MinIO / Redis Streams 或 NAT">
            <a:extLst xmlns:a="http://schemas.openxmlformats.org/drawingml/2006/main">
              <a:ext uri="{FF2B5EF4-FFF2-40B4-BE49-F238E27FC236}">
                <a16:creationId xmlns:a16="http://schemas.microsoft.com/office/drawing/2014/main" id="{EA1F5CAE-5820-4E1D-9542-4238539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+ pgvector / Neo4j / OpenSearch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MinIO / Redis Streams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或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NATS JetStream</a:t>
            </a:r>
          </a:p>
        </p:txBody>
      </p:sp>
      <p:sp>
        <p:nvSpPr>
          <p:cNvPr id="9" name="采集层">
            <a:extLst xmlns:a="http://schemas.openxmlformats.org/drawingml/2006/main">
              <a:ext uri="{FF2B5EF4-FFF2-40B4-BE49-F238E27FC236}">
                <a16:creationId xmlns:a16="http://schemas.microsoft.com/office/drawing/2014/main" id="{77646419-AC76-45F0-97A0-A766933B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49555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采集层</a:t>
            </a:r>
          </a:p>
        </p:txBody>
      </p:sp>
      <p:sp>
        <p:nvSpPr>
          <p:cNvPr id="10" name="Connector × N / 自有仓库 webhook">
            <a:extLst xmlns:a="http://schemas.openxmlformats.org/drawingml/2006/main">
              <a:ext uri="{FF2B5EF4-FFF2-40B4-BE49-F238E27FC236}">
                <a16:creationId xmlns:a16="http://schemas.microsoft.com/office/drawing/2014/main" id="{83C7519C-A401-40AC-925C-8B0AA24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Connector × N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webhook</a:t>
            </a:r>
          </a:p>
        </p:txBody>
      </p:sp>
      <p:sp>
        <p:nvSpPr>
          <p:cNvPr id="11" name="数据源层">
            <a:extLst xmlns:a="http://schemas.openxmlformats.org/drawingml/2006/main">
              <a:ext uri="{FF2B5EF4-FFF2-40B4-BE49-F238E27FC236}">
                <a16:creationId xmlns:a16="http://schemas.microsoft.com/office/drawing/2014/main" id="{183CDD27-AB42-4911-9023-97C10B7F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3086100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数据源层</a:t>
            </a:r>
          </a:p>
        </p:txBody>
      </p:sp>
      <p:sp>
        <p:nvSpPr>
          <p:cNvPr id="12" name="9 类来源 / 三级可信度 / 分级轮询">
            <a:extLst xmlns:a="http://schemas.openxmlformats.org/drawingml/2006/main">
              <a:ext uri="{FF2B5EF4-FFF2-40B4-BE49-F238E27FC236}">
                <a16:creationId xmlns:a16="http://schemas.microsoft.com/office/drawing/2014/main" id="{E7B3EBCA-521D-41C7-9848-3465AD3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类来源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三级可信度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分级轮询</a:t>
            </a:r>
          </a:p>
        </p:txBody>
      </p:sp>
      <p:sp>
        <p:nvSpPr>
          <p:cNvPr id="18" name="时效可观测">
            <a:extLst xmlns:a="http://schemas.openxmlformats.org/drawingml/2006/main">
              <a:ext uri="{FF2B5EF4-FFF2-40B4-BE49-F238E27FC236}">
                <a16:creationId xmlns:a16="http://schemas.microsoft.com/office/drawing/2014/main" id="{6191DA8A-B1D9-4D4B-856B-88B488D4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时效可观测</a:t>
            </a:r>
          </a:p>
        </p:txBody>
      </p:sp>
      <p:sp>
        <p:nvSpPr>
          <p:cNvPr id="19" name="可信与裁决">
            <a:extLst xmlns:a="http://schemas.openxmlformats.org/drawingml/2006/main">
              <a:ext uri="{FF2B5EF4-FFF2-40B4-BE49-F238E27FC236}">
                <a16:creationId xmlns:a16="http://schemas.microsoft.com/office/drawing/2014/main" id="{FE5DBFCB-F375-468D-B8E8-7A88C66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0668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可信与裁决</a:t>
            </a:r>
          </a:p>
        </p:txBody>
      </p:sp>
      <p:sp>
        <p:nvSpPr>
          <p:cNvPr id="20" name="合规边界">
            <a:extLst xmlns:a="http://schemas.openxmlformats.org/drawingml/2006/main">
              <a:ext uri="{FF2B5EF4-FFF2-40B4-BE49-F238E27FC236}">
                <a16:creationId xmlns:a16="http://schemas.microsoft.com/office/drawing/2014/main" id="{D49D7B73-01B1-4DA9-9CDE-B119FB0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合规边界</a:t>
            </a:r>
          </a:p>
        </p:txBody>
      </p:sp>
      <p:sp>
        <p:nvSpPr>
          <p:cNvPr id="21" name="开放生态">
            <a:extLst xmlns:a="http://schemas.openxmlformats.org/drawingml/2006/main">
              <a:ext uri="{FF2B5EF4-FFF2-40B4-BE49-F238E27FC236}">
                <a16:creationId xmlns:a16="http://schemas.microsoft.com/office/drawing/2014/main" id="{BA30BB69-7E51-4AB1-B355-15F29F11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895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开放生态</a:t>
            </a:r>
          </a:p>
        </p:txBody>
      </p:sp>
      <p:sp>
        <p:nvSpPr>
          <p:cNvPr id="22" name="PostgreSQL 是事实源；outbox 同步图库与全文索引">
            <a:extLst xmlns:a="http://schemas.openxmlformats.org/drawingml/2006/main">
              <a:ext uri="{FF2B5EF4-FFF2-40B4-BE49-F238E27FC236}">
                <a16:creationId xmlns:a16="http://schemas.microsoft.com/office/drawing/2014/main" id="{05846E79-7C1F-4597-9E32-E7CDA635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766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PostgreSQL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是事实源；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outbox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同步图库与全文索引</a:t>
            </a:r>
          </a:p>
        </p:txBody>
      </p:sp>
    </p:spTree>
    <p:extLst>
      <p:ext uri="{BB962C8B-B14F-4D97-AF65-F5344CB8AC3E}">
        <p14:creationId xmlns:p14="http://schemas.microsoft.com/office/powerpoint/2010/main" val="649227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DB025-869B-4068-9B94-1AA6EAE2032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857500" y="219075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37203-E8A3-46DE-AEA6-38F2F61C2CB2}"/>
              </a:ext>
            </a:extLst>
          </p:cNvPr>
          <p:cNvCxnSpPr>
            <a:stCxn xmlns:a="http://schemas.openxmlformats.org/drawingml/2006/main" id="6" idx="4"/>
            <a:endCxn xmlns:a="http://schemas.openxmlformats.org/drawingml/2006/main" id="2" idx="1"/>
          </p:cNvCxnSpPr>
          <p:nvPr/>
        </p:nvCxnSpPr>
        <p:spPr>
          <a:xfrm xmlns:a="http://schemas.openxmlformats.org/drawingml/2006/main" flipV="1">
            <a:off x="3600450" y="847725"/>
            <a:ext cx="4000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96B27-34FF-413F-8D07-52CBF612A145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714500" y="847725"/>
            <a:ext cx="4000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57E9-E951-4285-A9F9-112FCCFE99C7}"/>
              </a:ext>
            </a:extLst>
          </p:cNvPr>
          <p:cNvCxnSpPr>
            <a:stCxn xmlns:a="http://schemas.openxmlformats.org/drawingml/2006/main" id="4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 flipV="1">
            <a:off x="1714500" y="847725"/>
            <a:ext cx="476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4456F-AC6D-41FB-A5E2-2F30B03B9CC2}"/>
              </a:ext>
            </a:extLst>
          </p:cNvPr>
          <p:cNvCxnSpPr>
            <a:stCxn xmlns:a="http://schemas.openxmlformats.org/drawingml/2006/main" id="2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524250" y="847725"/>
            <a:ext cx="476250" cy="2152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DEE91-005E-4C3E-88B0-E8D684C196C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714500" y="84772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7" name="监测 9 类来源">
            <a:extLst xmlns:a="http://schemas.openxmlformats.org/drawingml/2006/main">
              <a:ext uri="{FF2B5EF4-FFF2-40B4-BE49-F238E27FC236}">
                <a16:creationId xmlns:a16="http://schemas.microsoft.com/office/drawing/2014/main" id="{103D4492-58D5-4820-B89B-BAC2033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314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监测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类来源</a:t>
            </a:r>
          </a:p>
        </p:txBody>
      </p:sp>
      <p:sp>
        <p:nvSpPr>
          <p:cNvPr id="2" name="富化 9 个维度">
            <a:extLst xmlns:a="http://schemas.openxmlformats.org/drawingml/2006/main">
              <a:ext uri="{FF2B5EF4-FFF2-40B4-BE49-F238E27FC236}">
                <a16:creationId xmlns:a16="http://schemas.microsoft.com/office/drawing/2014/main" id="{89F1E983-DC06-4A3D-ADEF-6A0D60E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2450"/>
            <a:ext cx="1314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个维度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014C2-82FA-4EBA-B8B9-A63D4DA1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0007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问答 逐句引用">
            <a:extLst xmlns:a="http://schemas.openxmlformats.org/drawingml/2006/main">
              <a:ext uri="{FF2B5EF4-FFF2-40B4-BE49-F238E27FC236}">
                <a16:creationId xmlns:a16="http://schemas.microsoft.com/office/drawing/2014/main" id="{5793B6C1-68DD-4AEC-8953-F24159CA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05100"/>
            <a:ext cx="1333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问答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逐句引用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90D04-79D8-44FB-B7CD-7BFF0ED7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52725"/>
            <a:ext cx="28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知识图谱 与事实库">
            <a:extLst xmlns:a="http://schemas.openxmlformats.org/drawingml/2006/main">
              <a:ext uri="{FF2B5EF4-FFF2-40B4-BE49-F238E27FC236}">
                <a16:creationId xmlns:a16="http://schemas.microsoft.com/office/drawing/2014/main" id="{1E18BC5C-D832-4B4C-9696-8C8BE9CA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66850"/>
            <a:ext cx="148590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知识图谱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与事实库</a:t>
            </a:r>
          </a:p>
        </p:txBody>
      </p:sp>
      <p:sp>
        <p:nvSpPr>
          <p:cNvPr id="13" name="版本自查">
            <a:extLst xmlns:a="http://schemas.openxmlformats.org/drawingml/2006/main">
              <a:ext uri="{FF2B5EF4-FFF2-40B4-BE49-F238E27FC236}">
                <a16:creationId xmlns:a16="http://schemas.microsoft.com/office/drawing/2014/main" id="{2B21F633-CB32-47AA-93F6-6042280E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383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版本自查</a:t>
            </a:r>
          </a:p>
        </p:txBody>
      </p:sp>
      <p:sp>
        <p:nvSpPr>
          <p:cNvPr id="14" name="MCP 开放">
            <a:extLst xmlns:a="http://schemas.openxmlformats.org/drawingml/2006/main">
              <a:ext uri="{FF2B5EF4-FFF2-40B4-BE49-F238E27FC236}">
                <a16:creationId xmlns:a16="http://schemas.microsoft.com/office/drawing/2014/main" id="{313CD801-DFB7-4182-ACDB-BD547A0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3837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MCP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开放</a:t>
            </a:r>
          </a:p>
        </p:txBody>
      </p:sp>
      <p:sp>
        <p:nvSpPr>
          <p:cNvPr id="15" name="Critic 校验">
            <a:extLst xmlns:a="http://schemas.openxmlformats.org/drawingml/2006/main">
              <a:ext uri="{FF2B5EF4-FFF2-40B4-BE49-F238E27FC236}">
                <a16:creationId xmlns:a16="http://schemas.microsoft.com/office/drawing/2014/main" id="{39072083-261C-4C89-90C5-AE43737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9525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</a:t>
            </a:r>
          </a:p>
        </p:txBody>
      </p:sp>
      <p:sp>
        <p:nvSpPr>
          <p:cNvPr id="16" name="时效可观测贯穿发现、富化、校验与服务">
            <a:extLst xmlns:a="http://schemas.openxmlformats.org/drawingml/2006/main">
              <a:ext uri="{FF2B5EF4-FFF2-40B4-BE49-F238E27FC236}">
                <a16:creationId xmlns:a16="http://schemas.microsoft.com/office/drawing/2014/main" id="{4C658E0B-28D9-4D17-AFA7-5162BA63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24250"/>
            <a:ext cx="533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时效可观测贯穿发现、富化、校验与服务</a:t>
            </a:r>
          </a:p>
        </p:txBody>
      </p:sp>
    </p:spTree>
    <p:extLst>
      <p:ext uri="{BB962C8B-B14F-4D97-AF65-F5344CB8AC3E}">
        <p14:creationId xmlns:p14="http://schemas.microsoft.com/office/powerpoint/2010/main" val="8445786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85E501-5D8E-45B6-9BC1-25D46FE2970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400550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9DB10-B420-4B4C-BECE-136F8AC9B79D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324225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864FA-5430-4A02-AA89-FEDD0BE4869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247900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9059B-167B-49C8-8AC8-F539F41DA7C2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1171575" y="198120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EEC10-1C01-47A2-9FAC-422050C925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8470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6B7B1-2D42-4756-B30F-5A5C97018CC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2525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74D3B-7CB7-4EA0-A2AA-301F3C178C3E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035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06EDA-A042-401C-8D40-25D1E764590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908175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010A2-4D18-49F4-B36D-B8F1604EB134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016000" y="8477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0" name="采集">
            <a:extLst xmlns:a="http://schemas.openxmlformats.org/drawingml/2006/main">
              <a:ext uri="{FF2B5EF4-FFF2-40B4-BE49-F238E27FC236}">
                <a16:creationId xmlns:a16="http://schemas.microsoft.com/office/drawing/2014/main" id="{E2949CE9-3A35-414E-8EA4-C18972ED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</a:t>
            </a:r>
          </a:p>
        </p:txBody>
      </p:sp>
      <p:sp>
        <p:nvSpPr>
          <p:cNvPr id="2" name="归一">
            <a:extLst xmlns:a="http://schemas.openxmlformats.org/drawingml/2006/main">
              <a:ext uri="{FF2B5EF4-FFF2-40B4-BE49-F238E27FC236}">
                <a16:creationId xmlns:a16="http://schemas.microsoft.com/office/drawing/2014/main" id="{D79B1267-1E7E-4349-B53B-66D3974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0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归一</a:t>
            </a:r>
          </a:p>
        </p:txBody>
      </p:sp>
      <p:sp>
        <p:nvSpPr>
          <p:cNvPr id="3" name="富化">
            <a:extLst xmlns:a="http://schemas.openxmlformats.org/drawingml/2006/main">
              <a:ext uri="{FF2B5EF4-FFF2-40B4-BE49-F238E27FC236}">
                <a16:creationId xmlns:a16="http://schemas.microsoft.com/office/drawing/2014/main" id="{A07089A3-2E8D-48AF-A6C1-90D0D691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247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</a:p>
        </p:txBody>
      </p:sp>
      <p:sp>
        <p:nvSpPr>
          <p:cNvPr id="4" name="校验">
            <a:extLst xmlns:a="http://schemas.openxmlformats.org/drawingml/2006/main">
              <a:ext uri="{FF2B5EF4-FFF2-40B4-BE49-F238E27FC236}">
                <a16:creationId xmlns:a16="http://schemas.microsoft.com/office/drawing/2014/main" id="{281E3D6B-6CCD-4E3E-82A0-A26CDA81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校验</a:t>
            </a:r>
          </a:p>
        </p:txBody>
      </p:sp>
      <p:sp>
        <p:nvSpPr>
          <p:cNvPr id="5" name="存储">
            <a:extLst xmlns:a="http://schemas.openxmlformats.org/drawingml/2006/main">
              <a:ext uri="{FF2B5EF4-FFF2-40B4-BE49-F238E27FC236}">
                <a16:creationId xmlns:a16="http://schemas.microsoft.com/office/drawing/2014/main" id="{D6B94736-4B47-4A1E-843D-395BFE7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825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存储</a:t>
            </a:r>
          </a:p>
        </p:txBody>
      </p:sp>
      <p:sp>
        <p:nvSpPr>
          <p:cNvPr id="6" name="服务">
            <a:extLst xmlns:a="http://schemas.openxmlformats.org/drawingml/2006/main">
              <a:ext uri="{FF2B5EF4-FFF2-40B4-BE49-F238E27FC236}">
                <a16:creationId xmlns:a16="http://schemas.microsoft.com/office/drawing/2014/main" id="{2F8CF205-70D2-4EEE-B270-CB0A9298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571500"/>
            <a:ext cx="77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服务</a:t>
            </a:r>
          </a:p>
        </p:txBody>
      </p:sp>
      <p:sp>
        <p:nvSpPr>
          <p:cNvPr id="12" name="来源发布">
            <a:extLst xmlns:a="http://schemas.openxmlformats.org/drawingml/2006/main">
              <a:ext uri="{FF2B5EF4-FFF2-40B4-BE49-F238E27FC236}">
                <a16:creationId xmlns:a16="http://schemas.microsoft.com/office/drawing/2014/main" id="{6267DCAF-7248-464A-9937-3F3A7810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来源发布</a:t>
            </a:r>
          </a:p>
        </p:txBody>
      </p:sp>
      <p:sp>
        <p:nvSpPr>
          <p:cNvPr id="13" name="首次发现">
            <a:extLst xmlns:a="http://schemas.openxmlformats.org/drawingml/2006/main">
              <a:ext uri="{FF2B5EF4-FFF2-40B4-BE49-F238E27FC236}">
                <a16:creationId xmlns:a16="http://schemas.microsoft.com/office/drawing/2014/main" id="{A0C99E50-DD43-40B7-A63B-62AFADC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首次发现</a:t>
            </a:r>
          </a:p>
        </p:txBody>
      </p:sp>
      <p:sp>
        <p:nvSpPr>
          <p:cNvPr id="14" name="完成归一">
            <a:extLst xmlns:a="http://schemas.openxmlformats.org/drawingml/2006/main">
              <a:ext uri="{FF2B5EF4-FFF2-40B4-BE49-F238E27FC236}">
                <a16:creationId xmlns:a16="http://schemas.microsoft.com/office/drawing/2014/main" id="{8D1AF0EE-149F-4A69-9A64-69BA4FD8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完成归一</a:t>
            </a:r>
          </a:p>
        </p:txBody>
      </p:sp>
      <p:sp>
        <p:nvSpPr>
          <p:cNvPr id="15" name="完成富化">
            <a:extLst xmlns:a="http://schemas.openxmlformats.org/drawingml/2006/main">
              <a:ext uri="{FF2B5EF4-FFF2-40B4-BE49-F238E27FC236}">
                <a16:creationId xmlns:a16="http://schemas.microsoft.com/office/drawing/2014/main" id="{198528F7-2D7B-4F87-A604-E178271B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完成富化</a:t>
            </a:r>
          </a:p>
        </p:txBody>
      </p:sp>
      <p:sp>
        <p:nvSpPr>
          <p:cNvPr id="16" name="可查询">
            <a:extLst xmlns:a="http://schemas.openxmlformats.org/drawingml/2006/main">
              <a:ext uri="{FF2B5EF4-FFF2-40B4-BE49-F238E27FC236}">
                <a16:creationId xmlns:a16="http://schemas.microsoft.com/office/drawing/2014/main" id="{1214B802-625B-4517-8A5E-5801CA5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09750"/>
            <a:ext cx="933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</a:p>
        </p:txBody>
      </p:sp>
      <p:sp>
        <p:nvSpPr>
          <p:cNvPr id="21" name="source_published_at">
            <a:extLst xmlns:a="http://schemas.openxmlformats.org/drawingml/2006/main">
              <a:ext uri="{FF2B5EF4-FFF2-40B4-BE49-F238E27FC236}">
                <a16:creationId xmlns:a16="http://schemas.microsoft.com/office/drawing/2014/main" id="{E21D7F09-6C3E-41B1-94B3-2C6A608C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22002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source_published_at</a:t>
            </a:r>
          </a:p>
        </p:txBody>
      </p:sp>
      <p:sp>
        <p:nvSpPr>
          <p:cNvPr id="2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4FB5746B-D360-4550-8B01-96A1CC23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first_seen_at</a:t>
            </a:r>
          </a:p>
        </p:txBody>
      </p:sp>
      <p:sp>
        <p:nvSpPr>
          <p:cNvPr id="23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84179824-9C36-4B5F-81C7-0AD4DA9F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002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normalized_at</a:t>
            </a:r>
          </a:p>
        </p:txBody>
      </p:sp>
      <p:sp>
        <p:nvSpPr>
          <p:cNvPr id="24" name="enriched_at">
            <a:extLst xmlns:a="http://schemas.openxmlformats.org/drawingml/2006/main">
              <a:ext uri="{FF2B5EF4-FFF2-40B4-BE49-F238E27FC236}">
                <a16:creationId xmlns:a16="http://schemas.microsoft.com/office/drawing/2014/main" id="{FAB5134F-1EA8-42C8-AC39-47399A66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02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enriched_at</a:t>
            </a:r>
          </a:p>
        </p:txBody>
      </p:sp>
      <p:sp>
        <p:nvSpPr>
          <p:cNvPr id="25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52B3CCB7-7AE0-43E6-8ED2-CB1ACCAD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00275"/>
            <a:ext cx="106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queryable_at</a:t>
            </a:r>
          </a:p>
        </p:txBody>
      </p:sp>
      <p:sp>
        <p:nvSpPr>
          <p:cNvPr id="26" name="采集时延">
            <a:extLst xmlns:a="http://schemas.openxmlformats.org/drawingml/2006/main">
              <a:ext uri="{FF2B5EF4-FFF2-40B4-BE49-F238E27FC236}">
                <a16:creationId xmlns:a16="http://schemas.microsoft.com/office/drawing/2014/main" id="{40B09F6D-FAA9-47A4-8EA7-DF7F6DA2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860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采集时延</a:t>
            </a:r>
          </a:p>
        </p:txBody>
      </p:sp>
      <p:sp>
        <p:nvSpPr>
          <p:cNvPr id="27" name="处理时延">
            <a:extLst xmlns:a="http://schemas.openxmlformats.org/drawingml/2006/main">
              <a:ext uri="{FF2B5EF4-FFF2-40B4-BE49-F238E27FC236}">
                <a16:creationId xmlns:a16="http://schemas.microsoft.com/office/drawing/2014/main" id="{383C6FD5-C993-4E10-966B-F12701DD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31718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处理时延</a:t>
            </a:r>
          </a:p>
        </p:txBody>
      </p:sp>
      <p:sp>
        <p:nvSpPr>
          <p:cNvPr id="28" name="端到端时延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7917A71C-9B3A-4CD3-BDF6-59211DC7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21945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端到端时延目标值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9" name="统计范围：漏洞类首次发现；日更源单列；DEMO 不计">
            <a:extLst xmlns:a="http://schemas.openxmlformats.org/drawingml/2006/main">
              <a:ext uri="{FF2B5EF4-FFF2-40B4-BE49-F238E27FC236}">
                <a16:creationId xmlns:a16="http://schemas.microsoft.com/office/drawing/2014/main" id="{0B4E6546-B0FF-4C4B-8DB7-31A1A4A3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统计范围：漏洞类首次发现；日更源单列；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不计</a:t>
            </a:r>
          </a:p>
        </p:txBody>
      </p:sp>
    </p:spTree>
    <p:extLst>
      <p:ext uri="{BB962C8B-B14F-4D97-AF65-F5344CB8AC3E}">
        <p14:creationId xmlns:p14="http://schemas.microsoft.com/office/powerpoint/2010/main" val="671825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236169-4765-48D8-919D-40380FD04B58}"/>
              </a:ext>
            </a:extLst>
          </p:cNvPr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4743450" y="31099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CB8D27-C6DE-4BAF-B203-BD5D9DBB8620}"/>
              </a:ext>
            </a:extLst>
          </p:cNvPr>
          <p:cNvCxnSpPr>
            <a:stCxn xmlns:a="http://schemas.openxmlformats.org/drawingml/2006/main" id="64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4114800" y="27479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10DB6-0A28-4778-8BFF-20C189A63F49}"/>
              </a:ext>
            </a:extLst>
          </p:cNvPr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486150" y="24622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621EAB-4BA3-4DC1-AC0B-ECFEF03D925C}"/>
              </a:ext>
            </a:extLst>
          </p:cNvPr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2857500" y="21764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832662-4DCA-4C7A-B33F-DD03CCC76C03}"/>
              </a:ext>
            </a:extLst>
          </p:cNvPr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2228850" y="18907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59D6E8-0774-4577-9023-438448D6BD4A}"/>
              </a:ext>
            </a:extLst>
          </p:cNvPr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1600200" y="16049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5068D7-31B0-448F-81F4-E895434FFACB}"/>
              </a:ext>
            </a:extLst>
          </p:cNvPr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342900" y="1319213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B4BCEC-014A-4E78-A438-DB3DBC964F19}"/>
              </a:ext>
            </a:extLst>
          </p:cNvPr>
          <p:cNvCxnSpPr>
            <a:stCxn xmlns:a="http://schemas.openxmlformats.org/drawingml/2006/main" id="40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342900" y="1033463"/>
            <a:ext cx="12477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E979FD-9A1A-4470-9976-DC727216A1CA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71550" y="76676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3FB56E-DB98-4413-A88C-8C72D00C16B3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 flipH="1">
            <a:off x="53673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6D859C-171A-4D45-B47D-AE1E4F5E717C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47386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C46827-5FDD-4345-A1F3-8A6B94364F1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 flipH="1">
            <a:off x="41100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B2AB36-12D1-4022-A1C6-3BD505DF07F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34813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B0A0DE-09D6-459C-95A7-2ABA77D6E2F1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28527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A54608-B526-401D-902E-316EC74A1BB5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22240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93BEC-401D-4E0E-9729-787332FDF99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5954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67547-B9AD-4B15-876B-55CB77276EE5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96678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A0D963-D83A-4636-A367-D5FD299A2D0E}"/>
              </a:ext>
            </a:extLst>
          </p:cNvPr>
          <p:cNvCxnSpPr>
            <a:stCxn xmlns:a="http://schemas.openxmlformats.org/drawingml/2006/main" id="7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38138" y="495300"/>
            <a:ext cx="9525" cy="280035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8A94A6"/>
            </a:solidFill>
            <a:prstDash val="dash"/>
            <a:tailEnd type="triangle" w="sm" len="sm"/>
          </a:ln>
        </p:spPr>
      </p:cxnSp>
      <p:sp>
        <p:nvSpPr>
          <p:cNvPr id="73" name="厂商仓库">
            <a:extLst xmlns:a="http://schemas.openxmlformats.org/drawingml/2006/main">
              <a:ext uri="{FF2B5EF4-FFF2-40B4-BE49-F238E27FC236}">
                <a16:creationId xmlns:a16="http://schemas.microsoft.com/office/drawing/2014/main" id="{21493EF6-9C68-45B3-8033-100914C1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厂商仓库</a:t>
            </a:r>
          </a:p>
        </p:txBody>
      </p:sp>
      <p:sp>
        <p:nvSpPr>
          <p:cNvPr id="2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B65FA33F-AAF0-4BFD-B888-8A749B01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9C4D1-395B-4BA9-94C3-7BD6D8CB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Collector">
            <a:extLst xmlns:a="http://schemas.openxmlformats.org/drawingml/2006/main">
              <a:ext uri="{FF2B5EF4-FFF2-40B4-BE49-F238E27FC236}">
                <a16:creationId xmlns:a16="http://schemas.microsoft.com/office/drawing/2014/main" id="{264E963E-E034-402B-A53B-7E2A95B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Collector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31DA3-8B46-4E9F-B018-F4085FBE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Triage">
            <a:extLst xmlns:a="http://schemas.openxmlformats.org/drawingml/2006/main">
              <a:ext uri="{FF2B5EF4-FFF2-40B4-BE49-F238E27FC236}">
                <a16:creationId xmlns:a16="http://schemas.microsoft.com/office/drawing/2014/main" id="{188E46EE-2CFD-4BBC-B848-6B0F6F2B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Triage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DB81D-3824-42EE-99EE-F776B89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8" name="Enricher">
            <a:extLst xmlns:a="http://schemas.openxmlformats.org/drawingml/2006/main">
              <a:ext uri="{FF2B5EF4-FFF2-40B4-BE49-F238E27FC236}">
                <a16:creationId xmlns:a16="http://schemas.microsoft.com/office/drawing/2014/main" id="{5088BB96-E709-4479-B6F6-CEAFBBA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8CD6B-6894-414D-A2FC-1402E060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0" name="Critic">
            <a:extLst xmlns:a="http://schemas.openxmlformats.org/drawingml/2006/main">
              <a:ext uri="{FF2B5EF4-FFF2-40B4-BE49-F238E27FC236}">
                <a16:creationId xmlns:a16="http://schemas.microsoft.com/office/drawing/2014/main" id="{2C200B00-F389-409B-AD78-E2AF446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5CB4-D684-4163-B610-02F329E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2" name="GraphWriter">
            <a:extLst xmlns:a="http://schemas.openxmlformats.org/drawingml/2006/main">
              <a:ext uri="{FF2B5EF4-FFF2-40B4-BE49-F238E27FC236}">
                <a16:creationId xmlns:a16="http://schemas.microsoft.com/office/drawing/2014/main" id="{BCB6EF1F-0DCD-4A1B-A875-E024C126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GraphWriter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C6CB2-27F4-4391-8BB0-B8C50273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4" name="Assessor">
            <a:extLst xmlns:a="http://schemas.openxmlformats.org/drawingml/2006/main">
              <a:ext uri="{FF2B5EF4-FFF2-40B4-BE49-F238E27FC236}">
                <a16:creationId xmlns:a16="http://schemas.microsoft.com/office/drawing/2014/main" id="{E3FEE87F-6116-4677-B2F6-8A5EE11D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1450"/>
            <a:ext cx="6000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Assessor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196A0-6EE0-4891-AE96-F03ED4B5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9075"/>
            <a:ext cx="28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6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6D3D18DF-EC4E-44B4-86AD-4E4B62F4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71450"/>
            <a:ext cx="6000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编码智能体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E4BF2-1E9F-46BF-AD18-F817BD2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"/>
            <a:ext cx="542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9402C-8C1D-449A-9AA3-E4586BB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A2FCC-22D5-4351-97FB-A30719E5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0E230-9D18-4D10-99C1-D87C1025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D06DF6-58DE-4FD8-AF64-0C8CFDCA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7F415B-A24B-4949-AEBA-520F9CB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BE417-9CE8-4CAB-92B5-B14E395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5A601-6690-48EB-968D-577C5D18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6B6B46-756B-45E7-8EB8-0FBBD746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003F5-DB9C-4D58-9E78-5A6ACEAB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25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4FF341-4DFB-44A5-8FE1-B865E01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6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2EE81E-DE9B-4F79-B0CC-BFC4A159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62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39" name="定时派发">
            <a:extLst xmlns:a="http://schemas.openxmlformats.org/drawingml/2006/main">
              <a:ext uri="{FF2B5EF4-FFF2-40B4-BE49-F238E27FC236}">
                <a16:creationId xmlns:a16="http://schemas.microsoft.com/office/drawing/2014/main" id="{1BFFCFBE-F553-4BF3-B194-258F116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定时派发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233F9F-8D22-4EEB-9BF9-7AE39841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028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912DDA-3DF1-4A0F-8052-10965259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028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3" name="增量轮询">
            <a:extLst xmlns:a="http://schemas.openxmlformats.org/drawingml/2006/main">
              <a:ext uri="{FF2B5EF4-FFF2-40B4-BE49-F238E27FC236}">
                <a16:creationId xmlns:a16="http://schemas.microsoft.com/office/drawing/2014/main" id="{7BE1BFE3-9920-470D-98DB-D41F750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191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增量轮询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A6A340-659A-4575-A141-73ACD34F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1314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A3C6A1-D8D5-4756-9FC8-9E9A6310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314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7" name="公告内容">
            <a:extLst xmlns:a="http://schemas.openxmlformats.org/drawingml/2006/main">
              <a:ext uri="{FF2B5EF4-FFF2-40B4-BE49-F238E27FC236}">
                <a16:creationId xmlns:a16="http://schemas.microsoft.com/office/drawing/2014/main" id="{3E7DB6D4-8B7D-4100-A930-518C5278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1049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公告内容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A10EE9-541E-4F77-8EF8-7C9637B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B9962F-83E9-48FA-AA5C-AB11B213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00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1" name="RawEvent">
            <a:extLst xmlns:a="http://schemas.openxmlformats.org/drawingml/2006/main">
              <a:ext uri="{FF2B5EF4-FFF2-40B4-BE49-F238E27FC236}">
                <a16:creationId xmlns:a16="http://schemas.microsoft.com/office/drawing/2014/main" id="{0307A195-6CC6-4DDD-B95A-84CD82AD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906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RawEvent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F4563A-E0CF-4F4E-9832-ADDE6292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885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DCE864-29D0-493A-9874-3C1543C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8859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5" name="归一结果">
            <a:extLst xmlns:a="http://schemas.openxmlformats.org/drawingml/2006/main">
              <a:ext uri="{FF2B5EF4-FFF2-40B4-BE49-F238E27FC236}">
                <a16:creationId xmlns:a16="http://schemas.microsoft.com/office/drawing/2014/main" id="{3809A68C-CAF8-4B3F-B17B-41AF1A2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764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归一结果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C41A60-F8DB-4397-A996-AD31B8B4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71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707CDE-C023-4DC7-A65B-6FD23095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9" name="富化产出">
            <a:extLst xmlns:a="http://schemas.openxmlformats.org/drawingml/2006/main">
              <a:ext uri="{FF2B5EF4-FFF2-40B4-BE49-F238E27FC236}">
                <a16:creationId xmlns:a16="http://schemas.microsoft.com/office/drawing/2014/main" id="{631D6EFE-615F-4425-98DA-E3C74A0E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621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富化产出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2DC3A4-FADC-4969-AACB-CA54479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D7F34D-FF44-40C6-AEE1-FC07192D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3" name="校验通过">
            <a:extLst xmlns:a="http://schemas.openxmlformats.org/drawingml/2006/main">
              <a:ext uri="{FF2B5EF4-FFF2-40B4-BE49-F238E27FC236}">
                <a16:creationId xmlns:a16="http://schemas.microsoft.com/office/drawing/2014/main" id="{DAAA4AD6-26D6-4DA1-B816-26480847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校验通过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C9A009E-C055-46F0-B450-62DDCCEF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743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5AD69E-17C3-4867-B882-2C1D4D78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43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7" name="影响评估">
            <a:extLst xmlns:a="http://schemas.openxmlformats.org/drawingml/2006/main">
              <a:ext uri="{FF2B5EF4-FFF2-40B4-BE49-F238E27FC236}">
                <a16:creationId xmlns:a16="http://schemas.microsoft.com/office/drawing/2014/main" id="{A8CD4BE6-1656-4453-AFCD-A033491C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3365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影响评估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BF15E9-5B22-4787-B5E4-1A5C27B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105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28BDAB-B7AD-4AA4-BF44-3E980DD9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10515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80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1" name="经 Critic 返回">
            <a:extLst xmlns:a="http://schemas.openxmlformats.org/drawingml/2006/main">
              <a:ext uri="{FF2B5EF4-FFF2-40B4-BE49-F238E27FC236}">
                <a16:creationId xmlns:a16="http://schemas.microsoft.com/office/drawing/2014/main" id="{AB6F7498-1A98-436B-9C9D-4D88C92E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06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经</a:t>
            </a: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 </a:t>
            </a:r>
            <a:r>
              <a:rPr sz="8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返回</a:t>
            </a:r>
          </a:p>
        </p:txBody>
      </p:sp>
      <p:sp>
        <p:nvSpPr>
          <p:cNvPr id="72" name="演示注入 / 自有仓库 webhook 验签后触发立即 poll；DEMO 单列">
            <a:extLst xmlns:a="http://schemas.openxmlformats.org/drawingml/2006/main">
              <a:ext uri="{FF2B5EF4-FFF2-40B4-BE49-F238E27FC236}">
                <a16:creationId xmlns:a16="http://schemas.microsoft.com/office/drawing/2014/main" id="{29E4F3C8-D1FC-4C79-A05C-372D9E6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147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演示注入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webhook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验签后触发立即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poll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单列</a:t>
            </a:r>
          </a:p>
        </p:txBody>
      </p:sp>
    </p:spTree>
    <p:extLst>
      <p:ext uri="{BB962C8B-B14F-4D97-AF65-F5344CB8AC3E}">
        <p14:creationId xmlns:p14="http://schemas.microsoft.com/office/powerpoint/2010/main" val="94346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61AC77-E0D1-4112-B32D-7989E788EE6E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828925" y="3000375"/>
            <a:ext cx="285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685D89-4016-4F70-872C-A50FC49049FD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3419475" y="2581275"/>
            <a:ext cx="2952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179DD-F839-4161-B301-D91FF26B6859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857375" y="2781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DF62F-6069-4C76-9B8F-4C78061D9B69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190625" y="1943100"/>
            <a:ext cx="276225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0C0C8-D804-44D3-AEB4-AAE9906A77B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391025" y="1857375"/>
            <a:ext cx="8572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B4714-C363-4B65-B185-D3F06CA9FD39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514600" y="1524000"/>
            <a:ext cx="12001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333193-1B08-4922-857F-B859E569D2E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4391025" y="695325"/>
            <a:ext cx="263525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5777B-4A99-41EA-A445-4423C9C32B3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79825" y="466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B48CD-9772-455D-9143-3F6E62F6A08A}"/>
              </a:ext>
            </a:extLst>
          </p:cNvPr>
          <p:cNvCxnSpPr>
            <a:stCxn xmlns:a="http://schemas.openxmlformats.org/drawingml/2006/main" id="2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882775" y="466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8" name="编码智能体">
            <a:extLst xmlns:a="http://schemas.openxmlformats.org/drawingml/2006/main">
              <a:ext uri="{FF2B5EF4-FFF2-40B4-BE49-F238E27FC236}">
                <a16:creationId xmlns:a16="http://schemas.microsoft.com/office/drawing/2014/main" id="{17CBE2A7-5872-4867-8B3B-E43457A6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编码智能体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CFAF8-5D54-47B2-9C5D-FE064624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3" name="/mcp">
            <a:extLst xmlns:a="http://schemas.openxmlformats.org/drawingml/2006/main">
              <a:ext uri="{FF2B5EF4-FFF2-40B4-BE49-F238E27FC236}">
                <a16:creationId xmlns:a16="http://schemas.microsoft.com/office/drawing/2014/main" id="{3D9B9488-A9D6-481A-9CF6-81B3E0D4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/mcp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37455-7249-4562-92AE-A8B43578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5" name="intel-core">
            <a:extLst xmlns:a="http://schemas.openxmlformats.org/drawingml/2006/main">
              <a:ext uri="{FF2B5EF4-FFF2-40B4-BE49-F238E27FC236}">
                <a16:creationId xmlns:a16="http://schemas.microsoft.com/office/drawing/2014/main" id="{45B1D884-0191-4573-A2FF-6CADC135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38125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C07CC-39B0-40E3-84A2-A4D1583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266700"/>
            <a:ext cx="15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9" name="凭据 / scope / 限流 / 审计">
            <a:extLst xmlns:a="http://schemas.openxmlformats.org/drawingml/2006/main">
              <a:ext uri="{FF2B5EF4-FFF2-40B4-BE49-F238E27FC236}">
                <a16:creationId xmlns:a16="http://schemas.microsoft.com/office/drawing/2014/main" id="{35945EE5-8289-49A9-BDB4-AE1A0768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62000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凭据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scope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限流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审计</a:t>
            </a:r>
          </a:p>
        </p:txBody>
      </p:sp>
      <p:sp>
        <p:nvSpPr>
          <p:cNvPr id="10" name="耗时估计">
            <a:extLst xmlns:a="http://schemas.openxmlformats.org/drawingml/2006/main">
              <a:ext uri="{FF2B5EF4-FFF2-40B4-BE49-F238E27FC236}">
                <a16:creationId xmlns:a16="http://schemas.microsoft.com/office/drawing/2014/main" id="{A4E41094-984A-4088-A831-C7B2E42B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90625"/>
            <a:ext cx="1352550" cy="6667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耗时估计</a:t>
            </a:r>
          </a:p>
        </p:txBody>
      </p:sp>
      <p:sp>
        <p:nvSpPr>
          <p:cNvPr id="12" name="同步求解 版本 / QA + Critic">
            <a:extLst xmlns:a="http://schemas.openxmlformats.org/drawingml/2006/main">
              <a:ext uri="{FF2B5EF4-FFF2-40B4-BE49-F238E27FC236}">
                <a16:creationId xmlns:a16="http://schemas.microsoft.com/office/drawing/2014/main" id="{ED983C38-0EE5-4458-BEB4-D973C350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同步求解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版本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QA + Critic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0A091-0C15-4B89-BDA7-8C33D9B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38275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5" name="≤60 s">
            <a:extLst xmlns:a="http://schemas.openxmlformats.org/drawingml/2006/main">
              <a:ext uri="{FF2B5EF4-FFF2-40B4-BE49-F238E27FC236}">
                <a16:creationId xmlns:a16="http://schemas.microsoft.com/office/drawing/2014/main" id="{D088E37E-1FB1-4AAA-9D19-3C9010B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716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≤60 s</a:t>
            </a:r>
          </a:p>
        </p:txBody>
      </p:sp>
      <p:sp>
        <p:nvSpPr>
          <p:cNvPr id="16" name="TaskHandle get_task_result">
            <a:extLst xmlns:a="http://schemas.openxmlformats.org/drawingml/2006/main">
              <a:ext uri="{FF2B5EF4-FFF2-40B4-BE49-F238E27FC236}">
                <a16:creationId xmlns:a16="http://schemas.microsoft.com/office/drawing/2014/main" id="{1E7CFD3B-CB4C-446B-BBE8-9CECC48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33625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TaskHandle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get_task_result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7593A8-A85F-4244-8FE6-2AAE7673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622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9" name="&gt;60 s">
            <a:extLst xmlns:a="http://schemas.openxmlformats.org/drawingml/2006/main">
              <a:ext uri="{FF2B5EF4-FFF2-40B4-BE49-F238E27FC236}">
                <a16:creationId xmlns:a16="http://schemas.microsoft.com/office/drawing/2014/main" id="{BE533AF9-4969-460B-B8A8-2FCF9D6E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7167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&gt;60 s</a:t>
            </a:r>
          </a:p>
        </p:txBody>
      </p:sp>
      <p:sp>
        <p:nvSpPr>
          <p:cNvPr id="20" name="合规过滤">
            <a:extLst xmlns:a="http://schemas.openxmlformats.org/drawingml/2006/main">
              <a:ext uri="{FF2B5EF4-FFF2-40B4-BE49-F238E27FC236}">
                <a16:creationId xmlns:a16="http://schemas.microsoft.com/office/drawing/2014/main" id="{1DD5D865-1192-47BB-B849-60E82234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62225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合规过滤</a:t>
            </a:r>
          </a:p>
        </p:txBody>
      </p:sp>
      <p:sp>
        <p:nvSpPr>
          <p:cNvPr id="22" name="结果裁剪 ≤8k tokens">
            <a:extLst xmlns:a="http://schemas.openxmlformats.org/drawingml/2006/main">
              <a:ext uri="{FF2B5EF4-FFF2-40B4-BE49-F238E27FC236}">
                <a16:creationId xmlns:a16="http://schemas.microsoft.com/office/drawing/2014/main" id="{F5C46694-ADD3-4897-BD6C-24B7EFC1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2225"/>
            <a:ext cx="1181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结果裁剪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≤8k tokens</a:t>
            </a:r>
          </a:p>
        </p:txBody>
      </p:sp>
      <p:sp>
        <p:nvSpPr>
          <p:cNvPr id="25" name="返回 / 分页续取">
            <a:extLst xmlns:a="http://schemas.openxmlformats.org/drawingml/2006/main">
              <a:ext uri="{FF2B5EF4-FFF2-40B4-BE49-F238E27FC236}">
                <a16:creationId xmlns:a16="http://schemas.microsoft.com/office/drawing/2014/main" id="{AFA1394A-DCFA-41BA-AEB3-624B3575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324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返回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分页续取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D0F4B4-794F-418E-ACE5-83D2357C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1409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</p:spTree>
    <p:extLst>
      <p:ext uri="{BB962C8B-B14F-4D97-AF65-F5344CB8AC3E}">
        <p14:creationId xmlns:p14="http://schemas.microsoft.com/office/powerpoint/2010/main" val="380989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F1C8A-A442-4C95-88AC-F43B182C1647}"/>
              </a:ext>
            </a:extLst>
          </p:cNvPr>
          <p:cNvCxnSpPr>
            <a:stCxn xmlns:a="http://schemas.openxmlformats.org/drawingml/2006/main" id="17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3935730" y="1590675"/>
            <a:ext cx="30289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FC08BC-E38E-4E53-BAE1-33D54669CCB4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3457575" y="1590675"/>
            <a:ext cx="47815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B20DB-9A32-4A83-8CC4-0E38E4C2A76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1457325" y="1352550"/>
            <a:ext cx="201549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355B42-02A4-4DC0-84B7-F625C65B657A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852988" y="1590675"/>
            <a:ext cx="160972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EAB873-81C8-43C9-8BD2-F1AD34EC2360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701040" y="628650"/>
            <a:ext cx="2677954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6BEAA-076C-41B9-B76D-D0203D4FA8BC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9864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84A44-1D1E-4CD4-9114-AFB8F54113B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2041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DA642-D452-4785-AC87-F99236ADEAE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4218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F0725-FC4F-42C8-93B0-696FE75E494D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163955" y="13525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0" name="Orchestrator">
            <a:extLst xmlns:a="http://schemas.openxmlformats.org/drawingml/2006/main">
              <a:ext uri="{FF2B5EF4-FFF2-40B4-BE49-F238E27FC236}">
                <a16:creationId xmlns:a16="http://schemas.microsoft.com/office/drawing/2014/main" id="{60B8BE3A-56EC-4089-9366-40BC7C2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61925"/>
            <a:ext cx="1276350" cy="466725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Orchestrator</a:t>
            </a:r>
          </a:p>
        </p:txBody>
      </p:sp>
      <p:sp>
        <p:nvSpPr>
          <p:cNvPr id="2" name="Collector">
            <a:extLst xmlns:a="http://schemas.openxmlformats.org/drawingml/2006/main">
              <a:ext uri="{FF2B5EF4-FFF2-40B4-BE49-F238E27FC236}">
                <a16:creationId xmlns:a16="http://schemas.microsoft.com/office/drawing/2014/main" id="{79069FA2-0ADF-4F38-BAFC-4A9AD08C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Collector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94CC2-88AD-4F2F-9749-D8683D1E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4" name="Triage">
            <a:extLst xmlns:a="http://schemas.openxmlformats.org/drawingml/2006/main">
              <a:ext uri="{FF2B5EF4-FFF2-40B4-BE49-F238E27FC236}">
                <a16:creationId xmlns:a16="http://schemas.microsoft.com/office/drawing/2014/main" id="{55A439AD-CD81-4A78-9275-9AAED941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35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Triage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81055D-6661-47E2-8444-F0886B43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6" name="Enricher">
            <a:extLst xmlns:a="http://schemas.openxmlformats.org/drawingml/2006/main">
              <a:ext uri="{FF2B5EF4-FFF2-40B4-BE49-F238E27FC236}">
                <a16:creationId xmlns:a16="http://schemas.microsoft.com/office/drawing/2014/main" id="{416247B6-2FAF-4FD9-937E-D2C570F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58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5A0A4-1A7B-4144-9A43-583A34B6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8" name="Critic">
            <a:extLst xmlns:a="http://schemas.openxmlformats.org/drawingml/2006/main">
              <a:ext uri="{FF2B5EF4-FFF2-40B4-BE49-F238E27FC236}">
                <a16:creationId xmlns:a16="http://schemas.microsoft.com/office/drawing/2014/main" id="{EC1E9533-70E8-4CF5-82FF-20ADCE0D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81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B7AAE-CC9A-40F4-82A3-D19822D5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86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0" name="GraphWriter">
            <a:extLst xmlns:a="http://schemas.openxmlformats.org/drawingml/2006/main">
              <a:ext uri="{FF2B5EF4-FFF2-40B4-BE49-F238E27FC236}">
                <a16:creationId xmlns:a16="http://schemas.microsoft.com/office/drawing/2014/main" id="{4E0F19CA-D9CC-4904-9B2D-76D57561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1045" y="1114425"/>
            <a:ext cx="92583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GraphWriter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4EAF97-9405-401C-8F4D-76AD7495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095" y="1162050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7" name="Assessor">
            <a:extLst xmlns:a="http://schemas.openxmlformats.org/drawingml/2006/main">
              <a:ext uri="{FF2B5EF4-FFF2-40B4-BE49-F238E27FC236}">
                <a16:creationId xmlns:a16="http://schemas.microsoft.com/office/drawing/2014/main" id="{50CCF7C2-D592-4B9D-9AC2-D0BC442C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38375"/>
            <a:ext cx="12287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Assessor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8A9C22-2B99-4663-BB39-C4123147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0" name="QA">
            <a:extLst xmlns:a="http://schemas.openxmlformats.org/drawingml/2006/main">
              <a:ext uri="{FF2B5EF4-FFF2-40B4-BE49-F238E27FC236}">
                <a16:creationId xmlns:a16="http://schemas.microsoft.com/office/drawing/2014/main" id="{BEC43ED3-C50B-48BB-848A-2024233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238375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506B0-C512-41CB-A001-9B5D5244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2" name="Reporter">
            <a:extLst xmlns:a="http://schemas.openxmlformats.org/drawingml/2006/main">
              <a:ext uri="{FF2B5EF4-FFF2-40B4-BE49-F238E27FC236}">
                <a16:creationId xmlns:a16="http://schemas.microsoft.com/office/drawing/2014/main" id="{57AA5DC9-5713-4EDF-BB01-1BCE2986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1219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Reporter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D0F40-AB1E-4A6B-BB7D-9331DA24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286000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7" name="DLQ 失败任务">
            <a:extLst xmlns:a="http://schemas.openxmlformats.org/drawingml/2006/main">
              <a:ext uri="{FF2B5EF4-FFF2-40B4-BE49-F238E27FC236}">
                <a16:creationId xmlns:a16="http://schemas.microsoft.com/office/drawing/2014/main" id="{04E708B6-4BD1-434B-9C52-8441F4E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14675"/>
            <a:ext cx="120015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失败任务</a:t>
            </a:r>
          </a:p>
        </p:txBody>
      </p:sp>
      <p:sp>
        <p:nvSpPr>
          <p:cNvPr id="28" name="调度器重放">
            <a:extLst xmlns:a="http://schemas.openxmlformats.org/drawingml/2006/main">
              <a:ext uri="{FF2B5EF4-FFF2-40B4-BE49-F238E27FC236}">
                <a16:creationId xmlns:a16="http://schemas.microsoft.com/office/drawing/2014/main" id="{D77926CB-F9E8-48DD-A36A-B72B047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098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A33A3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A33A3A"/>
                </a:solidFill>
                <a:latin typeface="SimSun"/>
                <a:ea typeface="SimSun"/>
                <a:cs typeface="SimSun"/>
              </a:rPr>
              <a:t>调度器重放</a:t>
            </a:r>
          </a:p>
        </p:txBody>
      </p:sp>
      <p:sp>
        <p:nvSpPr>
          <p:cNvPr id="29" name="所有对外产出经 Critic 角色通过数据与任务状态交接">
            <a:extLst xmlns:a="http://schemas.openxmlformats.org/drawingml/2006/main">
              <a:ext uri="{FF2B5EF4-FFF2-40B4-BE49-F238E27FC236}">
                <a16:creationId xmlns:a16="http://schemas.microsoft.com/office/drawing/2014/main" id="{1083170A-68D2-4665-A2B0-F0233A6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86100"/>
            <a:ext cx="35718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所有对外产出经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角色通过数据与任务状态交接</a:t>
            </a:r>
          </a:p>
        </p:txBody>
      </p:sp>
    </p:spTree>
    <p:extLst>
      <p:ext uri="{BB962C8B-B14F-4D97-AF65-F5344CB8AC3E}">
        <p14:creationId xmlns:p14="http://schemas.microsoft.com/office/powerpoint/2010/main" val="191467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97D272-7A5B-4679-91CA-4E1F7193D2EC}"/>
              </a:ext>
            </a:extLst>
          </p:cNvPr>
          <p:cNvCxnSpPr>
            <a:stCxn xmlns:a="http://schemas.openxmlformats.org/drawingml/2006/main" id="9" idx="4"/>
            <a:endCxn xmlns:a="http://schemas.openxmlformats.org/drawingml/2006/main" id="2" idx="3"/>
          </p:cNvCxnSpPr>
          <p:nvPr/>
        </p:nvCxnSpPr>
        <p:spPr>
          <a:xfrm xmlns:a="http://schemas.openxmlformats.org/drawingml/2006/main" flipV="1">
            <a:off x="3429000" y="590550"/>
            <a:ext cx="0" cy="2343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1489C-0AA0-46D1-98DA-0F5138368C7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4857750" y="8001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1E06A-63F8-4AE7-8FCE-74ADC7C60D51}"/>
              </a:ext>
            </a:extLst>
          </p:cNvPr>
          <p:cNvCxnSpPr>
            <a:stCxn xmlns:a="http://schemas.openxmlformats.org/drawingml/2006/main" id="2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1428750" y="590550"/>
            <a:ext cx="857250" cy="1190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762D3-122A-46DA-8B90-124266899B5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57500" y="20193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F6FF73-8AAE-41FD-AFF7-24EF366FDEC5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857500" y="800100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F20B1-A67B-4D34-8A4A-C13511C1C01D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429000" y="590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D933C-081A-48C0-967D-134FD434BFFD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428750" y="5905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1" name="queued">
            <a:extLst xmlns:a="http://schemas.openxmlformats.org/drawingml/2006/main">
              <a:ext uri="{FF2B5EF4-FFF2-40B4-BE49-F238E27FC236}">
                <a16:creationId xmlns:a16="http://schemas.microsoft.com/office/drawing/2014/main" id="{41F146E8-A7BB-491F-9C83-863CE831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queued</a:t>
            </a:r>
          </a:p>
        </p:txBody>
      </p:sp>
      <p:sp>
        <p:nvSpPr>
          <p:cNvPr id="2" name="running">
            <a:extLst xmlns:a="http://schemas.openxmlformats.org/drawingml/2006/main">
              <a:ext uri="{FF2B5EF4-FFF2-40B4-BE49-F238E27FC236}">
                <a16:creationId xmlns:a16="http://schemas.microsoft.com/office/drawing/2014/main" id="{BAF79B4D-B346-4147-9B32-52C345B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3" name="succeeded">
            <a:extLst xmlns:a="http://schemas.openxmlformats.org/drawingml/2006/main">
              <a:ext uri="{FF2B5EF4-FFF2-40B4-BE49-F238E27FC236}">
                <a16:creationId xmlns:a16="http://schemas.microsoft.com/office/drawing/2014/main" id="{CFF15B25-A2B5-4CCB-AAD1-C4A23CD4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succeeded</a:t>
            </a:r>
          </a:p>
        </p:txBody>
      </p:sp>
      <p:sp>
        <p:nvSpPr>
          <p:cNvPr id="6" name="retrying 内部状态">
            <a:extLst xmlns:a="http://schemas.openxmlformats.org/drawingml/2006/main">
              <a:ext uri="{FF2B5EF4-FFF2-40B4-BE49-F238E27FC236}">
                <a16:creationId xmlns:a16="http://schemas.microsoft.com/office/drawing/2014/main" id="{EF2578DB-2354-4508-8EB6-A4B7E9CD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retrying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内部状态</a:t>
            </a:r>
          </a:p>
        </p:txBody>
      </p:sp>
      <p:sp>
        <p:nvSpPr>
          <p:cNvPr id="8" name="429 / 5xx / 超时">
            <a:extLst xmlns:a="http://schemas.openxmlformats.org/drawingml/2006/main">
              <a:ext uri="{FF2B5EF4-FFF2-40B4-BE49-F238E27FC236}">
                <a16:creationId xmlns:a16="http://schemas.microsoft.com/office/drawing/2014/main" id="{ACCD61C6-C2C0-4FF8-805E-CDCF4CDF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9906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429 / 5xx /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超时</a:t>
            </a:r>
          </a:p>
        </p:txBody>
      </p:sp>
      <p:sp>
        <p:nvSpPr>
          <p:cNvPr id="9" name="DLQ">
            <a:extLst xmlns:a="http://schemas.openxmlformats.org/drawingml/2006/main">
              <a:ext uri="{FF2B5EF4-FFF2-40B4-BE49-F238E27FC236}">
                <a16:creationId xmlns:a16="http://schemas.microsoft.com/office/drawing/2014/main" id="{821D6E07-5F69-4158-A767-98579169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114300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</a:t>
            </a:r>
          </a:p>
        </p:txBody>
      </p:sp>
      <p:sp>
        <p:nvSpPr>
          <p:cNvPr id="11" name="超过 6 次">
            <a:extLst xmlns:a="http://schemas.openxmlformats.org/drawingml/2006/main">
              <a:ext uri="{FF2B5EF4-FFF2-40B4-BE49-F238E27FC236}">
                <a16:creationId xmlns:a16="http://schemas.microsoft.com/office/drawing/2014/main" id="{D4414A80-76A8-40C2-ACDF-D5FF5E0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3360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超过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6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次</a:t>
            </a:r>
          </a:p>
        </p:txBody>
      </p:sp>
      <p:sp>
        <p:nvSpPr>
          <p:cNvPr id="12" name="failed">
            <a:extLst xmlns:a="http://schemas.openxmlformats.org/drawingml/2006/main">
              <a:ext uri="{FF2B5EF4-FFF2-40B4-BE49-F238E27FC236}">
                <a16:creationId xmlns:a16="http://schemas.microsoft.com/office/drawing/2014/main" id="{D9A0F06E-410D-4FE0-A9D7-E02C22F6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failed</a:t>
            </a:r>
          </a:p>
        </p:txBody>
      </p:sp>
      <p:sp>
        <p:nvSpPr>
          <p:cNvPr id="14" name="4xx（非 429）">
            <a:extLst xmlns:a="http://schemas.openxmlformats.org/drawingml/2006/main">
              <a:ext uri="{FF2B5EF4-FFF2-40B4-BE49-F238E27FC236}">
                <a16:creationId xmlns:a16="http://schemas.microsoft.com/office/drawing/2014/main" id="{54EF80E2-F5CF-4402-9F0F-D823AF0C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24075"/>
            <a:ext cx="14001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4xx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（非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429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）</a:t>
            </a:r>
          </a:p>
        </p:txBody>
      </p:sp>
      <p:sp>
        <p:nvSpPr>
          <p:cNvPr id="15" name="expired">
            <a:extLst xmlns:a="http://schemas.openxmlformats.org/drawingml/2006/main">
              <a:ext uri="{FF2B5EF4-FFF2-40B4-BE49-F238E27FC236}">
                <a16:creationId xmlns:a16="http://schemas.microsoft.com/office/drawing/2014/main" id="{C879665A-D6EA-4017-90CA-C3569E1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expired</a:t>
            </a:r>
          </a:p>
        </p:txBody>
      </p:sp>
      <p:sp>
        <p:nvSpPr>
          <p:cNvPr id="17" name="结果保留 24 h">
            <a:extLst xmlns:a="http://schemas.openxmlformats.org/drawingml/2006/main">
              <a:ext uri="{FF2B5EF4-FFF2-40B4-BE49-F238E27FC236}">
                <a16:creationId xmlns:a16="http://schemas.microsoft.com/office/drawing/2014/main" id="{3CB4C3BB-0FDF-4AFA-87C2-A68C66A5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906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结果保留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24 h</a:t>
            </a:r>
          </a:p>
        </p:txBody>
      </p:sp>
      <p:sp>
        <p:nvSpPr>
          <p:cNvPr id="19" name="每 15 min 重放">
            <a:extLst xmlns:a="http://schemas.openxmlformats.org/drawingml/2006/main">
              <a:ext uri="{FF2B5EF4-FFF2-40B4-BE49-F238E27FC236}">
                <a16:creationId xmlns:a16="http://schemas.microsoft.com/office/drawing/2014/main" id="{EEDE3DCF-D2E5-4CB3-90B3-4CBD5B55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09850"/>
            <a:ext cx="18288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每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15 min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重放</a:t>
            </a:r>
          </a:p>
        </p:txBody>
      </p:sp>
      <p:sp>
        <p:nvSpPr>
          <p:cNvPr id="20" name="retrying 与死信对外均显示为 running">
            <a:extLst xmlns:a="http://schemas.openxmlformats.org/drawingml/2006/main">
              <a:ext uri="{FF2B5EF4-FFF2-40B4-BE49-F238E27FC236}">
                <a16:creationId xmlns:a16="http://schemas.microsoft.com/office/drawing/2014/main" id="{A791C982-993F-4F87-82E3-F488B524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24250"/>
            <a:ext cx="533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retrying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与死信对外均显示为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running</a:t>
            </a:r>
          </a:p>
        </p:txBody>
      </p:sp>
    </p:spTree>
    <p:extLst>
      <p:ext uri="{BB962C8B-B14F-4D97-AF65-F5344CB8AC3E}">
        <p14:creationId xmlns:p14="http://schemas.microsoft.com/office/powerpoint/2010/main" val="1851139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FABF3-31A8-4B6C-9F50-781A6ED31A8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19500" y="2128838"/>
            <a:ext cx="2127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E11E3-96E8-4484-AC7F-AB975CE6773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2857500" y="22860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DE52C6-373D-4847-98D3-43F199D9D1F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882775" y="2128838"/>
            <a:ext cx="21272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971B3F-57F9-4AFE-BADD-B7315888D65A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619500" y="1357313"/>
            <a:ext cx="21272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0F532-047F-46F5-8282-51126468D6C2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962025" y="390525"/>
            <a:ext cx="228600" cy="609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7046F-025B-4ECA-9A1A-6E4D3DC989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79825" y="13573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297DD-82E5-4008-B5CD-DF382CA2220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882775" y="13573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8" name="富化 / 评估 / 问答 / 报告">
            <a:extLst xmlns:a="http://schemas.openxmlformats.org/drawingml/2006/main">
              <a:ext uri="{FF2B5EF4-FFF2-40B4-BE49-F238E27FC236}">
                <a16:creationId xmlns:a16="http://schemas.microsoft.com/office/drawing/2014/main" id="{6B3B0C6E-3F0A-4FCB-BF4F-DC3A6ADC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0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评估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问答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569A-2B9F-4E7F-9841-4E37A4CC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38125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3" name="引用 可回溯">
            <a:extLst xmlns:a="http://schemas.openxmlformats.org/drawingml/2006/main">
              <a:ext uri="{FF2B5EF4-FFF2-40B4-BE49-F238E27FC236}">
                <a16:creationId xmlns:a16="http://schemas.microsoft.com/office/drawing/2014/main" id="{57BCD069-A5B9-4BF7-8874-0C7FEF18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可回溯</a:t>
            </a:r>
          </a:p>
        </p:txBody>
      </p:sp>
      <p:sp>
        <p:nvSpPr>
          <p:cNvPr id="4" name="置信度 达门槛">
            <a:extLst xmlns:a="http://schemas.openxmlformats.org/drawingml/2006/main">
              <a:ext uri="{FF2B5EF4-FFF2-40B4-BE49-F238E27FC236}">
                <a16:creationId xmlns:a16="http://schemas.microsoft.com/office/drawing/2014/main" id="{5F7D772F-12C8-4D0D-814F-6989B107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置信度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达门槛</a:t>
            </a:r>
          </a:p>
        </p:txBody>
      </p:sp>
      <p:sp>
        <p:nvSpPr>
          <p:cNvPr id="5" name="无违规 内容">
            <a:extLst xmlns:a="http://schemas.openxmlformats.org/drawingml/2006/main">
              <a:ext uri="{FF2B5EF4-FFF2-40B4-BE49-F238E27FC236}">
                <a16:creationId xmlns:a16="http://schemas.microsoft.com/office/drawing/2014/main" id="{EF59BD6D-FDF9-422B-8032-2C7F4FB2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000125"/>
            <a:ext cx="1644650" cy="7143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无违规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内容</a:t>
            </a:r>
          </a:p>
        </p:txBody>
      </p:sp>
      <p:sp>
        <p:nvSpPr>
          <p:cNvPr id="9" name="综合校验结论">
            <a:extLst xmlns:a="http://schemas.openxmlformats.org/drawingml/2006/main">
              <a:ext uri="{FF2B5EF4-FFF2-40B4-BE49-F238E27FC236}">
                <a16:creationId xmlns:a16="http://schemas.microsoft.com/office/drawing/2014/main" id="{A44CC18E-D563-45D8-AED5-807AC942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71675"/>
            <a:ext cx="1524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综合校验结论</a:t>
            </a:r>
          </a:p>
        </p:txBody>
      </p:sp>
      <p:sp>
        <p:nvSpPr>
          <p:cNvPr id="11" name="pass 写入或返回">
            <a:extLst xmlns:a="http://schemas.openxmlformats.org/drawingml/2006/main">
              <a:ext uri="{FF2B5EF4-FFF2-40B4-BE49-F238E27FC236}">
                <a16:creationId xmlns:a16="http://schemas.microsoft.com/office/drawing/2014/main" id="{5AD71C70-9721-433C-BC7B-EDC0C7A9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pass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写入或返回</a:t>
            </a:r>
          </a:p>
        </p:txBody>
      </p:sp>
      <p:sp>
        <p:nvSpPr>
          <p:cNvPr id="12" name="partial 标明不受支持句">
            <a:extLst xmlns:a="http://schemas.openxmlformats.org/drawingml/2006/main">
              <a:ext uri="{FF2B5EF4-FFF2-40B4-BE49-F238E27FC236}">
                <a16:creationId xmlns:a16="http://schemas.microsoft.com/office/drawing/2014/main" id="{9D72D1CB-A230-48CB-94B7-AA3377E5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partial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标明不受支持句</a:t>
            </a:r>
          </a:p>
        </p:txBody>
      </p:sp>
      <p:sp>
        <p:nvSpPr>
          <p:cNvPr id="13" name="reject / fail 重新检索或富化">
            <a:extLst xmlns:a="http://schemas.openxmlformats.org/drawingml/2006/main">
              <a:ext uri="{FF2B5EF4-FFF2-40B4-BE49-F238E27FC236}">
                <a16:creationId xmlns:a16="http://schemas.microsoft.com/office/drawing/2014/main" id="{C91FC86C-3939-4774-9FDE-87AD0A9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476500"/>
            <a:ext cx="16446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reject / fail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重新检索或富化</a:t>
            </a:r>
          </a:p>
        </p:txBody>
      </p:sp>
      <p:sp>
        <p:nvSpPr>
          <p:cNvPr id="17" name="关系边门槛 0.6；问答 partial 比例 ≤30%；LLM 产出 20% 抽检">
            <a:extLst xmlns:a="http://schemas.openxmlformats.org/drawingml/2006/main">
              <a:ext uri="{FF2B5EF4-FFF2-40B4-BE49-F238E27FC236}">
                <a16:creationId xmlns:a16="http://schemas.microsoft.com/office/drawing/2014/main" id="{7E621AAA-F5FE-4B36-A0BE-531EB642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24250"/>
            <a:ext cx="533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关系边门槛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0.6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；问答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partial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比例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≤30%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LLM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产出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20%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抽检</a:t>
            </a:r>
          </a:p>
        </p:txBody>
      </p:sp>
    </p:spTree>
    <p:extLst>
      <p:ext uri="{BB962C8B-B14F-4D97-AF65-F5344CB8AC3E}">
        <p14:creationId xmlns:p14="http://schemas.microsoft.com/office/powerpoint/2010/main" val="9662506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93927-0B70-4B80-8A03-E55121A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一级 官方 权重 1.0">
            <a:extLst xmlns:a="http://schemas.openxmlformats.org/drawingml/2006/main">
              <a:ext uri="{FF2B5EF4-FFF2-40B4-BE49-F238E27FC236}">
                <a16:creationId xmlns:a16="http://schemas.microsoft.com/office/drawing/2014/main" id="{F6085B2A-7E85-4B22-9105-28B4067B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857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一级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官方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1.0</a:t>
            </a:r>
          </a:p>
        </p:txBody>
      </p:sp>
      <p:sp>
        <p:nvSpPr>
          <p:cNvPr id="3" name="NVD / GHSA reviewed OSV / KEV / EPSS ATLAS / 厂商公告 CNNVD / 标准法规 CNVD：人工">
            <a:extLst xmlns:a="http://schemas.openxmlformats.org/drawingml/2006/main">
              <a:ext uri="{FF2B5EF4-FFF2-40B4-BE49-F238E27FC236}">
                <a16:creationId xmlns:a16="http://schemas.microsoft.com/office/drawing/2014/main" id="{3A264BEA-1BFB-4EF3-BFB9-FF171C3C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942975"/>
            <a:ext cx="15430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NVD / GHSA reviewed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 / KEV / EPSS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ATLAS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厂商公告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CNNVD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标准法规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CNVD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：人工导入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D4263-DF0A-42DE-A013-2111182C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5" name="二级 专业平台 权重 0.7">
            <a:extLst xmlns:a="http://schemas.openxmlformats.org/drawingml/2006/main">
              <a:ext uri="{FF2B5EF4-FFF2-40B4-BE49-F238E27FC236}">
                <a16:creationId xmlns:a16="http://schemas.microsoft.com/office/drawing/2014/main" id="{9483A7DC-7745-4480-9A90-781806EB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57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二级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专业平台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0.7</a:t>
            </a:r>
          </a:p>
        </p:txBody>
      </p:sp>
      <p:sp>
        <p:nvSpPr>
          <p:cNvPr id="6" name="huntr / AVID GHSA unreviewed  测绘平台仅供暴露面 不增加来源类别">
            <a:extLst xmlns:a="http://schemas.openxmlformats.org/drawingml/2006/main">
              <a:ext uri="{FF2B5EF4-FFF2-40B4-BE49-F238E27FC236}">
                <a16:creationId xmlns:a16="http://schemas.microsoft.com/office/drawing/2014/main" id="{1FFCDC6F-6471-479B-B9C1-0985EDC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942975"/>
            <a:ext cx="15430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huntr / AVID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GHSA unreviewed</a:t>
            </a:r>
          </a:p>
          <a:p xmlns:a="http://schemas.openxmlformats.org/drawingml/2006/main">
            <a:r>
              <a:rPr sz="975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测绘平台仅供暴露面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不增加来源类别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8C90F-4C42-409C-B3F0-CA62E9A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"/>
            <a:ext cx="16954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三级 研究资讯 权重 0.4">
            <a:extLst xmlns:a="http://schemas.openxmlformats.org/drawingml/2006/main">
              <a:ext uri="{FF2B5EF4-FFF2-40B4-BE49-F238E27FC236}">
                <a16:creationId xmlns:a16="http://schemas.microsoft.com/office/drawing/2014/main" id="{6EDCC779-943E-4196-8319-D56D37B4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三级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研究资讯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权重</a:t>
            </a:r>
            <a:r>
              <a:rPr sz="1050" b="0">
                <a:solidFill>
                  <a:srgbClr val="1F3A5F"/>
                </a:solidFill>
                <a:latin typeface="Times New Roman"/>
                <a:ea typeface="Times New Roman"/>
                <a:cs typeface="Times New Roman"/>
              </a:rPr>
              <a:t> 0.4</a:t>
            </a:r>
          </a:p>
        </p:txBody>
      </p:sp>
      <p:sp>
        <p:nvSpPr>
          <p:cNvPr id="9" name="arXiv 安全博客 RSS  仅三级支撑：unconfirmed 不进入高危告警">
            <a:extLst xmlns:a="http://schemas.openxmlformats.org/drawingml/2006/main">
              <a:ext uri="{FF2B5EF4-FFF2-40B4-BE49-F238E27FC236}">
                <a16:creationId xmlns:a16="http://schemas.microsoft.com/office/drawing/2014/main" id="{CC36160D-1FD8-4616-885F-3F0341E3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942975"/>
            <a:ext cx="15430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arXiv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安全博客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RSS</a:t>
            </a:r>
          </a:p>
          <a:p xmlns:a="http://schemas.openxmlformats.org/drawingml/2006/main">
            <a:r>
              <a:rPr sz="975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仅三级支撑：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unconfirmed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不进入高危告警</a:t>
            </a:r>
          </a:p>
        </p:txBody>
      </p:sp>
      <p:sp>
        <p:nvSpPr>
          <p:cNvPr id="10" name="平台审核只可下调可信度；CNNVD 主力，CNVD 加分项">
            <a:extLst xmlns:a="http://schemas.openxmlformats.org/drawingml/2006/main">
              <a:ext uri="{FF2B5EF4-FFF2-40B4-BE49-F238E27FC236}">
                <a16:creationId xmlns:a16="http://schemas.microsoft.com/office/drawing/2014/main" id="{43023B41-F1F6-4E97-9FFB-191E967F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平台审核只可下调可信度；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CNNVD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主力，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CNVD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加分项</a:t>
            </a:r>
          </a:p>
        </p:txBody>
      </p:sp>
    </p:spTree>
    <p:extLst>
      <p:ext uri="{BB962C8B-B14F-4D97-AF65-F5344CB8AC3E}">
        <p14:creationId xmlns:p14="http://schemas.microsoft.com/office/powerpoint/2010/main" val="13121423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事件">
            <a:extLst xmlns:a="http://schemas.openxmlformats.org/drawingml/2006/main">
              <a:ext uri="{FF2B5EF4-FFF2-40B4-BE49-F238E27FC236}">
                <a16:creationId xmlns:a16="http://schemas.microsoft.com/office/drawing/2014/main" id="{397B9C71-AB02-461B-B482-88C539FC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事件</a:t>
            </a:r>
          </a:p>
        </p:txBody>
      </p:sp>
      <p:sp>
        <p:nvSpPr>
          <p:cNvPr id="2" name="自有仓库 / DEMO">
            <a:extLst xmlns:a="http://schemas.openxmlformats.org/drawingml/2006/main">
              <a:ext uri="{FF2B5EF4-FFF2-40B4-BE49-F238E27FC236}">
                <a16:creationId xmlns:a16="http://schemas.microsoft.com/office/drawing/2014/main" id="{4AEA0C5E-93E2-4660-AEBE-F77AEFEF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自有仓库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DEMO</a:t>
            </a:r>
          </a:p>
        </p:txBody>
      </p:sp>
      <p:sp>
        <p:nvSpPr>
          <p:cNvPr id="3" name="目标值 ≤1 min（待测）">
            <a:extLst xmlns:a="http://schemas.openxmlformats.org/drawingml/2006/main">
              <a:ext uri="{FF2B5EF4-FFF2-40B4-BE49-F238E27FC236}">
                <a16:creationId xmlns:a16="http://schemas.microsoft.com/office/drawing/2014/main" id="{A1347BA3-AD94-4CB0-866B-AC528266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5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4" name="5 min">
            <a:extLst xmlns:a="http://schemas.openxmlformats.org/drawingml/2006/main">
              <a:ext uri="{FF2B5EF4-FFF2-40B4-BE49-F238E27FC236}">
                <a16:creationId xmlns:a16="http://schemas.microsoft.com/office/drawing/2014/main" id="{CF399682-11DE-4C95-B763-1D06986D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482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5 min</a:t>
            </a:r>
          </a:p>
        </p:txBody>
      </p:sp>
      <p:sp>
        <p:nvSpPr>
          <p:cNvPr id="5" name="P0 厂商公告">
            <a:extLst xmlns:a="http://schemas.openxmlformats.org/drawingml/2006/main">
              <a:ext uri="{FF2B5EF4-FFF2-40B4-BE49-F238E27FC236}">
                <a16:creationId xmlns:a16="http://schemas.microsoft.com/office/drawing/2014/main" id="{DA6C4EDA-E03C-41BA-8270-1BC71526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P0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厂商公告</a:t>
            </a:r>
          </a:p>
        </p:txBody>
      </p:sp>
      <p:sp>
        <p:nvSpPr>
          <p:cNvPr id="6" name="目标值 ≤10 min（待测）">
            <a:extLst xmlns:a="http://schemas.openxmlformats.org/drawingml/2006/main">
              <a:ext uri="{FF2B5EF4-FFF2-40B4-BE49-F238E27FC236}">
                <a16:creationId xmlns:a16="http://schemas.microsoft.com/office/drawing/2014/main" id="{80E71E87-C64D-4A2E-A836-4768395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48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7" name="10 min">
            <a:extLst xmlns:a="http://schemas.openxmlformats.org/drawingml/2006/main">
              <a:ext uri="{FF2B5EF4-FFF2-40B4-BE49-F238E27FC236}">
                <a16:creationId xmlns:a16="http://schemas.microsoft.com/office/drawing/2014/main" id="{9438EF6E-1294-4BD5-8521-1775325C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1440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10 min</a:t>
            </a:r>
          </a:p>
        </p:txBody>
      </p:sp>
      <p:sp>
        <p:nvSpPr>
          <p:cNvPr id="8" name="GHSA / NVD / RSS">
            <a:extLst xmlns:a="http://schemas.openxmlformats.org/drawingml/2006/main">
              <a:ext uri="{FF2B5EF4-FFF2-40B4-BE49-F238E27FC236}">
                <a16:creationId xmlns:a16="http://schemas.microsoft.com/office/drawing/2014/main" id="{E885BDA0-D6D4-4E9F-8138-6FF3A881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GHSA / NVD / RSS</a:t>
            </a:r>
          </a:p>
        </p:txBody>
      </p:sp>
      <p:sp>
        <p:nvSpPr>
          <p:cNvPr id="9" name="目标值 ≤15 / 30 / 30 min（待测）">
            <a:extLst xmlns:a="http://schemas.openxmlformats.org/drawingml/2006/main">
              <a:ext uri="{FF2B5EF4-FFF2-40B4-BE49-F238E27FC236}">
                <a16:creationId xmlns:a16="http://schemas.microsoft.com/office/drawing/2014/main" id="{753CEC9D-0E61-414B-9143-1D85CDE0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9144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≤15 / 30 / 30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0" name="15 min">
            <a:extLst xmlns:a="http://schemas.openxmlformats.org/drawingml/2006/main">
              <a:ext uri="{FF2B5EF4-FFF2-40B4-BE49-F238E27FC236}">
                <a16:creationId xmlns:a16="http://schemas.microsoft.com/office/drawing/2014/main" id="{2452D3E7-B24E-4863-B10F-D683CBE7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2397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15 min</a:t>
            </a:r>
          </a:p>
        </p:txBody>
      </p:sp>
      <p:sp>
        <p:nvSpPr>
          <p:cNvPr id="11" name="OSV">
            <a:extLst xmlns:a="http://schemas.openxmlformats.org/drawingml/2006/main">
              <a:ext uri="{FF2B5EF4-FFF2-40B4-BE49-F238E27FC236}">
                <a16:creationId xmlns:a16="http://schemas.microsoft.com/office/drawing/2014/main" id="{52B8E1C7-F7D3-4DDB-81DC-F8EC413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239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</a:t>
            </a:r>
          </a:p>
        </p:txBody>
      </p:sp>
      <p:sp>
        <p:nvSpPr>
          <p:cNvPr id="12" name="目标值 ≤30 min（待测）">
            <a:extLst xmlns:a="http://schemas.openxmlformats.org/drawingml/2006/main">
              <a:ext uri="{FF2B5EF4-FFF2-40B4-BE49-F238E27FC236}">
                <a16:creationId xmlns:a16="http://schemas.microsoft.com/office/drawing/2014/main" id="{0122123E-A4AF-466B-98B3-0B5BC335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239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≤30 min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1 h">
            <a:extLst xmlns:a="http://schemas.openxmlformats.org/drawingml/2006/main">
              <a:ext uri="{FF2B5EF4-FFF2-40B4-BE49-F238E27FC236}">
                <a16:creationId xmlns:a16="http://schemas.microsoft.com/office/drawing/2014/main" id="{0E28A053-E066-4BD4-9AD3-902317F2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3355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h</a:t>
            </a:r>
          </a:p>
        </p:txBody>
      </p:sp>
      <p:sp>
        <p:nvSpPr>
          <p:cNvPr id="14" name="huntr / KEV">
            <a:extLst xmlns:a="http://schemas.openxmlformats.org/drawingml/2006/main">
              <a:ext uri="{FF2B5EF4-FFF2-40B4-BE49-F238E27FC236}">
                <a16:creationId xmlns:a16="http://schemas.microsoft.com/office/drawing/2014/main" id="{03B0AACB-EF07-49D7-96AD-E69DDC6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huntr / KEV</a:t>
            </a:r>
          </a:p>
        </p:txBody>
      </p:sp>
      <p:sp>
        <p:nvSpPr>
          <p:cNvPr id="15" name="目标值 ≤2 h（待测）">
            <a:extLst xmlns:a="http://schemas.openxmlformats.org/drawingml/2006/main">
              <a:ext uri="{FF2B5EF4-FFF2-40B4-BE49-F238E27FC236}">
                <a16:creationId xmlns:a16="http://schemas.microsoft.com/office/drawing/2014/main" id="{B4C069AB-D0C9-418B-9132-02D23B32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≤2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6" name="6 h">
            <a:extLst xmlns:a="http://schemas.openxmlformats.org/drawingml/2006/main">
              <a:ext uri="{FF2B5EF4-FFF2-40B4-BE49-F238E27FC236}">
                <a16:creationId xmlns:a16="http://schemas.microsoft.com/office/drawing/2014/main" id="{E5D9B3F3-7C92-4F64-BF5E-F5FB3684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14312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6 h</a:t>
            </a:r>
          </a:p>
        </p:txBody>
      </p:sp>
      <p:sp>
        <p:nvSpPr>
          <p:cNvPr id="17" name="AVID">
            <a:extLst xmlns:a="http://schemas.openxmlformats.org/drawingml/2006/main">
              <a:ext uri="{FF2B5EF4-FFF2-40B4-BE49-F238E27FC236}">
                <a16:creationId xmlns:a16="http://schemas.microsoft.com/office/drawing/2014/main" id="{612D1D46-087A-4984-99F7-0F3A92E1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4312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AVID</a:t>
            </a:r>
          </a:p>
        </p:txBody>
      </p:sp>
      <p:sp>
        <p:nvSpPr>
          <p:cNvPr id="18" name="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E389E9A9-46AE-4A15-8C48-A593E485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431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9" name="1 d">
            <a:extLst xmlns:a="http://schemas.openxmlformats.org/drawingml/2006/main">
              <a:ext uri="{FF2B5EF4-FFF2-40B4-BE49-F238E27FC236}">
                <a16:creationId xmlns:a16="http://schemas.microsoft.com/office/drawing/2014/main" id="{6EB0C7CB-8218-4760-AA5E-4444311B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d</a:t>
            </a:r>
          </a:p>
        </p:txBody>
      </p:sp>
      <p:sp>
        <p:nvSpPr>
          <p:cNvPr id="20" name="EPSS / arXiv / CNNVD">
            <a:extLst xmlns:a="http://schemas.openxmlformats.org/drawingml/2006/main">
              <a:ext uri="{FF2B5EF4-FFF2-40B4-BE49-F238E27FC236}">
                <a16:creationId xmlns:a16="http://schemas.microsoft.com/office/drawing/2014/main" id="{622281B8-998C-416C-BD6B-6A48361C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527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EPSS / arXiv / CNNVD</a:t>
            </a:r>
          </a:p>
        </p:txBody>
      </p:sp>
      <p:sp>
        <p:nvSpPr>
          <p:cNvPr id="21" name="目标值 ≤24 h（待测）">
            <a:extLst xmlns:a="http://schemas.openxmlformats.org/drawingml/2006/main">
              <a:ext uri="{FF2B5EF4-FFF2-40B4-BE49-F238E27FC236}">
                <a16:creationId xmlns:a16="http://schemas.microsoft.com/office/drawing/2014/main" id="{5351EBD7-52F6-4019-B58D-C97FBD2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≤24 h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2" name="1 周">
            <a:extLst xmlns:a="http://schemas.openxmlformats.org/drawingml/2006/main">
              <a:ext uri="{FF2B5EF4-FFF2-40B4-BE49-F238E27FC236}">
                <a16:creationId xmlns:a16="http://schemas.microsoft.com/office/drawing/2014/main" id="{C7AC59C9-9821-456C-8D8F-EF1F5D69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962275"/>
            <a:ext cx="76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周</a:t>
            </a:r>
          </a:p>
        </p:txBody>
      </p:sp>
      <p:sp>
        <p:nvSpPr>
          <p:cNvPr id="23" name="标准法规 / CNVD">
            <a:extLst xmlns:a="http://schemas.openxmlformats.org/drawingml/2006/main">
              <a:ext uri="{FF2B5EF4-FFF2-40B4-BE49-F238E27FC236}">
                <a16:creationId xmlns:a16="http://schemas.microsoft.com/office/drawing/2014/main" id="{4D314E4C-7CBE-4A83-B28B-2A5CAD0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标准法规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CNVD</a:t>
            </a:r>
          </a:p>
        </p:txBody>
      </p:sp>
      <p:sp>
        <p:nvSpPr>
          <p:cNvPr id="24" name="版本监测 / 人工">
            <a:extLst xmlns:a="http://schemas.openxmlformats.org/drawingml/2006/main">
              <a:ext uri="{FF2B5EF4-FFF2-40B4-BE49-F238E27FC236}">
                <a16:creationId xmlns:a16="http://schemas.microsoft.com/office/drawing/2014/main" id="{3F2F6B73-9E9D-4048-9105-2EDC1C8D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622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版本监测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人工</a:t>
            </a:r>
          </a:p>
        </p:txBody>
      </p:sp>
      <p:sp>
        <p:nvSpPr>
          <p:cNvPr id="25" name="6 h 端到端口径：NVD、GHSA、OSV、厂商公告、huntr 首次发现；其余单列">
            <a:extLst xmlns:a="http://schemas.openxmlformats.org/drawingml/2006/main">
              <a:ext uri="{FF2B5EF4-FFF2-40B4-BE49-F238E27FC236}">
                <a16:creationId xmlns:a16="http://schemas.microsoft.com/office/drawing/2014/main" id="{C9D897DC-A45E-472F-B76D-D90A7CC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6 h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端到端口径：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NVD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GHSA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、厂商公告、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huntr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首次发现；其余单列</a:t>
            </a:r>
          </a:p>
        </p:txBody>
      </p:sp>
    </p:spTree>
    <p:extLst>
      <p:ext uri="{BB962C8B-B14F-4D97-AF65-F5344CB8AC3E}">
        <p14:creationId xmlns:p14="http://schemas.microsoft.com/office/powerpoint/2010/main" val="6563247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C1E55-6AAB-4CFF-ABD4-A37569A39998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838450"/>
            <a:ext cx="238125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A2076-096E-466F-8C28-E279AF49E27F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2857500" y="18288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65665-938B-412C-BD45-BFFF59F46FD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2857500" y="819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0" name="同源幂等 (source, external_id)">
            <a:extLst xmlns:a="http://schemas.openxmlformats.org/drawingml/2006/main">
              <a:ext uri="{FF2B5EF4-FFF2-40B4-BE49-F238E27FC236}">
                <a16:creationId xmlns:a16="http://schemas.microsoft.com/office/drawing/2014/main" id="{CA2F2384-FA20-4EC3-B25F-EF24EACE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同源幂等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(source, external_id)</a:t>
            </a:r>
          </a:p>
        </p:txBody>
      </p:sp>
      <p:sp>
        <p:nvSpPr>
          <p:cNvPr id="2" name="跨源别名并查集 CVE &gt; GHSA &gt; OSV &gt; huntr &gt; SW">
            <a:extLst xmlns:a="http://schemas.openxmlformats.org/drawingml/2006/main">
              <a:ext uri="{FF2B5EF4-FFF2-40B4-BE49-F238E27FC236}">
                <a16:creationId xmlns:a16="http://schemas.microsoft.com/office/drawing/2014/main" id="{9892CDF8-64B0-4667-92F7-5FBC645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81100"/>
            <a:ext cx="361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跨源别名并查集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CVE &gt; GHSA &gt; OSV &gt; huntr &gt; SW</a:t>
            </a:r>
          </a:p>
        </p:txBody>
      </p:sp>
      <p:sp>
        <p:nvSpPr>
          <p:cNvPr id="3" name="无编号相似候选 purl + SimHash ≥0.9 + 日期 ±3 天">
            <a:extLst xmlns:a="http://schemas.openxmlformats.org/drawingml/2006/main">
              <a:ext uri="{FF2B5EF4-FFF2-40B4-BE49-F238E27FC236}">
                <a16:creationId xmlns:a16="http://schemas.microsoft.com/office/drawing/2014/main" id="{3A98F004-CF42-4D64-A54C-ACD1D5FF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无编号相似候选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purl + SimHash ≥0.9 +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日期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±3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天</a:t>
            </a:r>
          </a:p>
        </p:txBody>
      </p:sp>
      <p:sp>
        <p:nvSpPr>
          <p:cNvPr id="6" name="双 CVE 不合并 DUPLICATE_OF 候选">
            <a:extLst xmlns:a="http://schemas.openxmlformats.org/drawingml/2006/main">
              <a:ext uri="{FF2B5EF4-FFF2-40B4-BE49-F238E27FC236}">
                <a16:creationId xmlns:a16="http://schemas.microsoft.com/office/drawing/2014/main" id="{7641D854-1CE8-48B5-A64B-46C823CF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3114675"/>
            <a:ext cx="24098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双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CVE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不合并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DUPLICATE_OF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候选</a:t>
            </a:r>
          </a:p>
        </p:txBody>
      </p:sp>
      <p:sp>
        <p:nvSpPr>
          <p:cNvPr id="7" name="Critic 复核 候选不自动合并">
            <a:extLst xmlns:a="http://schemas.openxmlformats.org/drawingml/2006/main">
              <a:ext uri="{FF2B5EF4-FFF2-40B4-BE49-F238E27FC236}">
                <a16:creationId xmlns:a16="http://schemas.microsoft.com/office/drawing/2014/main" id="{FA7BF201-96FA-4831-B683-E0B8035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14675"/>
            <a:ext cx="24098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复核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候选不自动合并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64222-4676-491F-A5DD-36022B74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285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72000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漏洞实体 → 九维富化画像">
            <a:extLst xmlns:a="http://schemas.openxmlformats.org/drawingml/2006/main">
              <a:ext uri="{FF2B5EF4-FFF2-40B4-BE49-F238E27FC236}">
                <a16:creationId xmlns:a16="http://schemas.microsoft.com/office/drawing/2014/main" id="{C369FB1F-5B21-4BCC-940F-FA5417D8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23825"/>
            <a:ext cx="3524250" cy="371475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漏洞实体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→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九维富化画像</a:t>
            </a:r>
          </a:p>
        </p:txBody>
      </p:sp>
      <p:sp>
        <p:nvSpPr>
          <p:cNvPr id="2" name="CVSS NVD / GHSA，保留分歧">
            <a:extLst xmlns:a="http://schemas.openxmlformats.org/drawingml/2006/main">
              <a:ext uri="{FF2B5EF4-FFF2-40B4-BE49-F238E27FC236}">
                <a16:creationId xmlns:a16="http://schemas.microsoft.com/office/drawing/2014/main" id="{70A25A7B-B3F5-4245-BA5E-111BC1C8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NVD / GHSA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，保留分歧</a:t>
            </a:r>
          </a:p>
        </p:txBody>
      </p:sp>
      <p:sp>
        <p:nvSpPr>
          <p:cNvPr id="3" name="EPSS FIRST，每日更新">
            <a:extLst xmlns:a="http://schemas.openxmlformats.org/drawingml/2006/main">
              <a:ext uri="{FF2B5EF4-FFF2-40B4-BE49-F238E27FC236}">
                <a16:creationId xmlns:a16="http://schemas.microsoft.com/office/drawing/2014/main" id="{3B504FB4-A029-43B8-AA69-56960718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EPSS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FIRST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，每日更新</a:t>
            </a:r>
          </a:p>
        </p:txBody>
      </p:sp>
      <p:sp>
        <p:nvSpPr>
          <p:cNvPr id="4" name="KEV 仅 KEV 置位">
            <a:extLst xmlns:a="http://schemas.openxmlformats.org/drawingml/2006/main">
              <a:ext uri="{FF2B5EF4-FFF2-40B4-BE49-F238E27FC236}">
                <a16:creationId xmlns:a16="http://schemas.microsoft.com/office/drawing/2014/main" id="{FE430934-D89A-46A1-976D-E38D9305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5247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KEV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KEV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置位</a:t>
            </a:r>
          </a:p>
        </p:txBody>
      </p:sp>
      <p:sp>
        <p:nvSpPr>
          <p:cNvPr id="5" name="CWE 来源字段与规则">
            <a:extLst xmlns:a="http://schemas.openxmlformats.org/drawingml/2006/main">
              <a:ext uri="{FF2B5EF4-FFF2-40B4-BE49-F238E27FC236}">
                <a16:creationId xmlns:a16="http://schemas.microsoft.com/office/drawing/2014/main" id="{6AD86D3C-DE2A-49AC-8891-4EA5504B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来源字段与规则</a:t>
            </a:r>
          </a:p>
        </p:txBody>
      </p:sp>
      <p:sp>
        <p:nvSpPr>
          <p:cNvPr id="6" name="ATLAS 规则召回 + LLM">
            <a:extLst xmlns:a="http://schemas.openxmlformats.org/drawingml/2006/main">
              <a:ext uri="{FF2B5EF4-FFF2-40B4-BE49-F238E27FC236}">
                <a16:creationId xmlns:a16="http://schemas.microsoft.com/office/drawing/2014/main" id="{5E804F5D-62A5-4C83-80D3-A2BF0AC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规则召回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LLM</a:t>
            </a:r>
          </a:p>
        </p:txBody>
      </p:sp>
      <p:sp>
        <p:nvSpPr>
          <p:cNvPr id="7" name="受影响与修复版本 OSV 区间语义">
            <a:extLst xmlns:a="http://schemas.openxmlformats.org/drawingml/2006/main">
              <a:ext uri="{FF2B5EF4-FFF2-40B4-BE49-F238E27FC236}">
                <a16:creationId xmlns:a16="http://schemas.microsoft.com/office/drawing/2014/main" id="{CAC817FF-751E-4AC0-9384-B005FD3C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19250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受影响与修复版本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区间语义</a:t>
            </a:r>
          </a:p>
        </p:txBody>
      </p:sp>
      <p:sp>
        <p:nvSpPr>
          <p:cNvPr id="8" name="论文与文章 嵌入 + 组件共现">
            <a:extLst xmlns:a="http://schemas.openxmlformats.org/drawingml/2006/main">
              <a:ext uri="{FF2B5EF4-FFF2-40B4-BE49-F238E27FC236}">
                <a16:creationId xmlns:a16="http://schemas.microsoft.com/office/drawing/2014/main" id="{247E548A-2B21-4AD5-85D6-73EB4364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论文与文章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嵌入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组件共现</a:t>
            </a:r>
          </a:p>
        </p:txBody>
      </p:sp>
      <p:sp>
        <p:nvSpPr>
          <p:cNvPr id="9" name="PoC 存在性 仅链接与标题">
            <a:extLst xmlns:a="http://schemas.openxmlformats.org/drawingml/2006/main">
              <a:ext uri="{FF2B5EF4-FFF2-40B4-BE49-F238E27FC236}">
                <a16:creationId xmlns:a16="http://schemas.microsoft.com/office/drawing/2014/main" id="{BF6D20C8-F282-41A4-8B22-44C7500C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存在性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仅链接与标题</a:t>
            </a:r>
          </a:p>
        </p:txBody>
      </p:sp>
      <p:sp>
        <p:nvSpPr>
          <p:cNvPr id="10" name="公网暴露面 仅聚合计数">
            <a:extLst xmlns:a="http://schemas.openxmlformats.org/drawingml/2006/main">
              <a:ext uri="{FF2B5EF4-FFF2-40B4-BE49-F238E27FC236}">
                <a16:creationId xmlns:a16="http://schemas.microsoft.com/office/drawing/2014/main" id="{DC4C4818-D84B-4DC0-8120-CA2FBB05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86025"/>
            <a:ext cx="1647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公网暴露面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仅聚合计数</a:t>
            </a:r>
          </a:p>
        </p:txBody>
      </p:sp>
      <p:sp>
        <p:nvSpPr>
          <p:cNvPr id="11" name="规则 / 确定性：深蓝；弱关联须 Critic：灰紫；合规约束：青灰">
            <a:extLst xmlns:a="http://schemas.openxmlformats.org/drawingml/2006/main">
              <a:ext uri="{FF2B5EF4-FFF2-40B4-BE49-F238E27FC236}">
                <a16:creationId xmlns:a16="http://schemas.microsoft.com/office/drawing/2014/main" id="{2ACA0569-E619-4270-A7EE-84AD2B2F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规则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确定性：深蓝；弱关联须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：灰紫；合规约束：青灰</a:t>
            </a:r>
          </a:p>
        </p:txBody>
      </p:sp>
    </p:spTree>
    <p:extLst>
      <p:ext uri="{BB962C8B-B14F-4D97-AF65-F5344CB8AC3E}">
        <p14:creationId xmlns:p14="http://schemas.microsoft.com/office/powerpoint/2010/main" val="10843583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B66F7-DB4F-4360-A127-6D2B5A0B5A87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>
            <a:off x="1905000" y="183832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BB50C-4918-4416-9779-A4953A8FAE03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1905000" y="8572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0" name="宽口径 823 690 仅作上限参考">
            <a:extLst xmlns:a="http://schemas.openxmlformats.org/drawingml/2006/main">
              <a:ext uri="{FF2B5EF4-FFF2-40B4-BE49-F238E27FC236}">
                <a16:creationId xmlns:a16="http://schemas.microsoft.com/office/drawing/2014/main" id="{F5414C9C-0F37-47BC-9EBC-1FEE1760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A94A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宽口径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823 690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仅作上限参考</a:t>
            </a:r>
          </a:p>
        </p:txBody>
      </p:sp>
      <p:sp>
        <p:nvSpPr>
          <p:cNvPr id="2" name="收窄全球 172 411 端口 + 响应特征">
            <a:extLst xmlns:a="http://schemas.openxmlformats.org/drawingml/2006/main">
              <a:ext uri="{FF2B5EF4-FFF2-40B4-BE49-F238E27FC236}">
                <a16:creationId xmlns:a16="http://schemas.microsoft.com/office/drawing/2014/main" id="{C3BF817E-DCEB-4AD4-B12B-62543DA6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19200"/>
            <a:ext cx="276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收窄全球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172 411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端口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响应特征</a:t>
            </a:r>
          </a:p>
        </p:txBody>
      </p:sp>
      <p:sp>
        <p:nvSpPr>
          <p:cNvPr id="3" name="国内 51 612 按平台国家字段">
            <a:extLst xmlns:a="http://schemas.openxmlformats.org/drawingml/2006/main">
              <a:ext uri="{FF2B5EF4-FFF2-40B4-BE49-F238E27FC236}">
                <a16:creationId xmlns:a16="http://schemas.microsoft.com/office/drawing/2014/main" id="{F6175F79-B52A-4AF5-965E-DC6E08F5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2286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国内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51 612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按平台国家字段</a:t>
            </a:r>
          </a:p>
        </p:txBody>
      </p:sp>
      <p:sp>
        <p:nvSpPr>
          <p:cNvPr id="6" name="元数据抽样 44 / 50 命中 精确率 88% ≥80% verified">
            <a:extLst xmlns:a="http://schemas.openxmlformats.org/drawingml/2006/main">
              <a:ext uri="{FF2B5EF4-FFF2-40B4-BE49-F238E27FC236}">
                <a16:creationId xmlns:a16="http://schemas.microsoft.com/office/drawing/2014/main" id="{4BE4A7C5-7341-48CB-9E0B-0358A132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019175"/>
            <a:ext cx="1743075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F7D4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元数据抽样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44 / 50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精确率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88% ≥80%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verified</a:t>
            </a:r>
          </a:p>
        </p:txBody>
      </p:sp>
      <p:sp>
        <p:nvSpPr>
          <p:cNvPr id="7" name="计数：15:57">
            <a:extLst xmlns:a="http://schemas.openxmlformats.org/drawingml/2006/main">
              <a:ext uri="{FF2B5EF4-FFF2-40B4-BE49-F238E27FC236}">
                <a16:creationId xmlns:a16="http://schemas.microsoft.com/office/drawing/2014/main" id="{3A4AE292-060B-4257-A865-A1EC0713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计数：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15:57</a:t>
            </a:r>
          </a:p>
        </p:txBody>
      </p:sp>
      <p:sp>
        <p:nvSpPr>
          <p:cNvPr id="8" name="抽样：19:55 当时总数 172 401">
            <a:extLst xmlns:a="http://schemas.openxmlformats.org/drawingml/2006/main">
              <a:ext uri="{FF2B5EF4-FFF2-40B4-BE49-F238E27FC236}">
                <a16:creationId xmlns:a16="http://schemas.microsoft.com/office/drawing/2014/main" id="{F2A0BBBB-AD78-44A1-B446-7BEB59CF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81275"/>
            <a:ext cx="2238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抽样：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19:55</a:t>
            </a:r>
          </a:p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当时总数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172 401</a:t>
            </a:r>
          </a:p>
        </p:txBody>
      </p:sp>
      <p:sp>
        <p:nvSpPr>
          <p:cNvPr id="9" name="Quake，2026-10-15；仅计数，无资产明细 Talos / Shodan 文献对照为 1139 个，覆盖口径不同，不直接比较">
            <a:extLst xmlns:a="http://schemas.openxmlformats.org/drawingml/2006/main">
              <a:ext uri="{FF2B5EF4-FFF2-40B4-BE49-F238E27FC236}">
                <a16:creationId xmlns:a16="http://schemas.microsoft.com/office/drawing/2014/main" id="{BBADB4F8-C82F-4812-A5A1-748874ED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67075"/>
            <a:ext cx="533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Quake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2026-10-15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；仅计数，无资产明细</a:t>
            </a:r>
          </a:p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Talos / Shodan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文献对照为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1139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个，覆盖口径不同，不直接比较</a:t>
            </a:r>
          </a:p>
        </p:txBody>
      </p:sp>
    </p:spTree>
    <p:extLst>
      <p:ext uri="{BB962C8B-B14F-4D97-AF65-F5344CB8AC3E}">
        <p14:creationId xmlns:p14="http://schemas.microsoft.com/office/powerpoint/2010/main" val="2818620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CDFB0-E6E9-494E-AAD4-6D628B57D1A9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 flipV="1">
            <a:off x="1714500" y="1900238"/>
            <a:ext cx="400050" cy="428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9B8AE-9364-4932-A90E-E1E13528CCD6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1714500" y="1943100"/>
            <a:ext cx="40005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F81CB-8562-499A-A65A-CF2DE94F0660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00450" y="1943100"/>
            <a:ext cx="390525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B62F6-FACE-4962-9682-C7216E8ECE99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600450" y="1900238"/>
            <a:ext cx="390525" cy="42863"/>
          </a:xfrm>
          <a:prstGeom xmlns:a="http://schemas.openxmlformats.org/drawingml/2006/main" prst="straightConnector1">
            <a:avLst/>
          </a:prstGeom>
          <a:ln xmlns:a="http://schemas.openxmlformats.org/drawingml/2006/main" w="12668">
            <a:solidFill>
              <a:srgbClr val="5B4E8C"/>
            </a:solidFill>
            <a:prstDash val="dashDot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FD37B4-BC2A-4B87-B49B-1CCF84DC9C43}"/>
              </a:ext>
            </a:extLst>
          </p:cNvPr>
          <p:cNvCxnSpPr>
            <a:stCxn xmlns:a="http://schemas.openxmlformats.org/drawingml/2006/main" id="22" idx="4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600450" y="547688"/>
            <a:ext cx="390525" cy="13954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6C008-4206-4478-A2CF-D9E82A9D8136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1714500" y="547688"/>
            <a:ext cx="400050" cy="13954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2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DC2622FB-1311-4151-A96D-A71593CD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85925"/>
            <a:ext cx="1485900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2" name="Advisory">
            <a:extLst xmlns:a="http://schemas.openxmlformats.org/drawingml/2006/main">
              <a:ext uri="{FF2B5EF4-FFF2-40B4-BE49-F238E27FC236}">
                <a16:creationId xmlns:a16="http://schemas.microsoft.com/office/drawing/2014/main" id="{E82542AF-5633-4404-AFAD-754388C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33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4" name="DESCRIBES">
            <a:extLst xmlns:a="http://schemas.openxmlformats.org/drawingml/2006/main">
              <a:ext uri="{FF2B5EF4-FFF2-40B4-BE49-F238E27FC236}">
                <a16:creationId xmlns:a16="http://schemas.microsoft.com/office/drawing/2014/main" id="{12816C12-4279-4195-8AA3-7254EC5D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52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DESCRIBES</a:t>
            </a:r>
          </a:p>
        </p:txBody>
      </p:sp>
      <p:sp>
        <p:nvSpPr>
          <p:cNvPr id="5" name="Component">
            <a:extLst xmlns:a="http://schemas.openxmlformats.org/drawingml/2006/main">
              <a:ext uri="{FF2B5EF4-FFF2-40B4-BE49-F238E27FC236}">
                <a16:creationId xmlns:a16="http://schemas.microsoft.com/office/drawing/2014/main" id="{D01E3FB0-EB10-4610-9561-E5600BF4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33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7" name="AFFECTS">
            <a:extLst xmlns:a="http://schemas.openxmlformats.org/drawingml/2006/main">
              <a:ext uri="{FF2B5EF4-FFF2-40B4-BE49-F238E27FC236}">
                <a16:creationId xmlns:a16="http://schemas.microsoft.com/office/drawing/2014/main" id="{173F443D-7816-40DC-851E-12ED9DBA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9525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AFFECTS</a:t>
            </a:r>
          </a:p>
        </p:txBody>
      </p:sp>
      <p:sp>
        <p:nvSpPr>
          <p:cNvPr id="8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2CC70C43-4EEA-42A1-BFC6-737B2CA8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6859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AtlasTechnique</a:t>
            </a:r>
          </a:p>
        </p:txBody>
      </p:sp>
      <p:sp>
        <p:nvSpPr>
          <p:cNvPr id="10" name="MAPS_TO">
            <a:extLst xmlns:a="http://schemas.openxmlformats.org/drawingml/2006/main">
              <a:ext uri="{FF2B5EF4-FFF2-40B4-BE49-F238E27FC236}">
                <a16:creationId xmlns:a16="http://schemas.microsoft.com/office/drawing/2014/main" id="{A13ECFF4-F7F6-41A1-BCB7-2D69612E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MAPS_TO</a:t>
            </a:r>
          </a:p>
        </p:txBody>
      </p:sp>
      <p:sp>
        <p:nvSpPr>
          <p:cNvPr id="11" name="Paper / Article">
            <a:extLst xmlns:a="http://schemas.openxmlformats.org/drawingml/2006/main">
              <a:ext uri="{FF2B5EF4-FFF2-40B4-BE49-F238E27FC236}">
                <a16:creationId xmlns:a16="http://schemas.microsoft.com/office/drawing/2014/main" id="{1C9DC12A-DEC5-473F-AE79-E302F953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48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Paper / Article</a:t>
            </a:r>
          </a:p>
        </p:txBody>
      </p:sp>
      <p:sp>
        <p:nvSpPr>
          <p:cNvPr id="13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5F48B5F6-6E33-41A2-BECB-5B12370B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336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DISCUSSED_IN</a:t>
            </a:r>
          </a:p>
        </p:txBody>
      </p:sp>
      <p:sp>
        <p:nvSpPr>
          <p:cNvPr id="14" name="PocRef">
            <a:extLst xmlns:a="http://schemas.openxmlformats.org/drawingml/2006/main">
              <a:ext uri="{FF2B5EF4-FFF2-40B4-BE49-F238E27FC236}">
                <a16:creationId xmlns:a16="http://schemas.microsoft.com/office/drawing/2014/main" id="{6FF72E35-5883-4D99-BDE7-75559BD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48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PocRef</a:t>
            </a:r>
          </a:p>
        </p:txBody>
      </p:sp>
      <p:sp>
        <p:nvSpPr>
          <p:cNvPr id="16" name="HAS_POC_REF">
            <a:extLst xmlns:a="http://schemas.openxmlformats.org/drawingml/2006/main">
              <a:ext uri="{FF2B5EF4-FFF2-40B4-BE49-F238E27FC236}">
                <a16:creationId xmlns:a16="http://schemas.microsoft.com/office/drawing/2014/main" id="{9E27DF0A-0E4F-4936-BA5C-05A076BE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3675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</p:txBody>
      </p:sp>
      <p:sp>
        <p:nvSpPr>
          <p:cNvPr id="17" name="CWE">
            <a:extLst xmlns:a="http://schemas.openxmlformats.org/drawingml/2006/main">
              <a:ext uri="{FF2B5EF4-FFF2-40B4-BE49-F238E27FC236}">
                <a16:creationId xmlns:a16="http://schemas.microsoft.com/office/drawing/2014/main" id="{9A138E2D-423A-481D-AFA9-2D544CF9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859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</p:txBody>
      </p:sp>
      <p:sp>
        <p:nvSpPr>
          <p:cNvPr id="19" name="HAS_CWE">
            <a:extLst xmlns:a="http://schemas.openxmlformats.org/drawingml/2006/main">
              <a:ext uri="{FF2B5EF4-FFF2-40B4-BE49-F238E27FC236}">
                <a16:creationId xmlns:a16="http://schemas.microsoft.com/office/drawing/2014/main" id="{5E4CA9F1-B0D6-476A-8365-7EB189B9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431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HAS_CWE</a:t>
            </a:r>
          </a:p>
        </p:txBody>
      </p:sp>
      <p:sp>
        <p:nvSpPr>
          <p:cNvPr id="20" name="规则理由：aliases 含 CVE 弱关联：摘要相似 + 组件共现">
            <a:extLst xmlns:a="http://schemas.openxmlformats.org/drawingml/2006/main">
              <a:ext uri="{FF2B5EF4-FFF2-40B4-BE49-F238E27FC236}">
                <a16:creationId xmlns:a16="http://schemas.microsoft.com/office/drawing/2014/main" id="{61B6BD55-E502-4948-B471-84221FA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0975"/>
            <a:ext cx="21050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规则理由：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aliases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含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CVE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弱关联：摘要相似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组件共现</a:t>
            </a:r>
          </a:p>
        </p:txBody>
      </p:sp>
      <p:sp>
        <p:nvSpPr>
          <p:cNvPr id="21" name="处置关联：修复 + 缓解模板 版本求解：清单 × 影响区间">
            <a:extLst xmlns:a="http://schemas.openxmlformats.org/drawingml/2006/main">
              <a:ext uri="{FF2B5EF4-FFF2-40B4-BE49-F238E27FC236}">
                <a16:creationId xmlns:a16="http://schemas.microsoft.com/office/drawing/2014/main" id="{A0C610D0-92B7-4CC7-9E3C-AB01A4D5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623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处置关联：修复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+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缓解模板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版本求解：清单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×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影响区间</a:t>
            </a:r>
          </a:p>
        </p:txBody>
      </p:sp>
    </p:spTree>
    <p:extLst>
      <p:ext uri="{BB962C8B-B14F-4D97-AF65-F5344CB8AC3E}">
        <p14:creationId xmlns:p14="http://schemas.microsoft.com/office/powerpoint/2010/main" val="1236930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04295-4150-4ACC-9357-9DBB67D4657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4210050" y="2428875"/>
            <a:ext cx="44450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61D19-D86E-4C0A-BBAD-4D76E52DD4B8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1524000" y="2428875"/>
            <a:ext cx="313055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B3B67-77D8-49C5-A9C9-3814902A383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060450" y="1400175"/>
            <a:ext cx="3818732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3AAE9-B1F8-4677-8502-E27A1F7906E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679825" y="22098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BA55E-AEF0-4466-ACC4-CF11AAE46AD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882775" y="220980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8CBD-6CBA-4AE6-AF8A-591D821F3126}"/>
              </a:ext>
            </a:extLst>
          </p:cNvPr>
          <p:cNvCxnSpPr>
            <a:stCxn xmlns:a="http://schemas.openxmlformats.org/drawingml/2006/main" id="22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 flipH="1">
            <a:off x="835819" y="447675"/>
            <a:ext cx="2021681" cy="333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FC3D1-4D84-406F-A145-94DD59ED585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29088" y="10906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8C34C-9382-4BC8-AA80-06DDDD60D38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781301" y="1090613"/>
            <a:ext cx="1523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F473F-2E54-4F50-BD8A-7AE7932F0A5A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1433513" y="10906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2" name="字段候选">
            <a:extLst xmlns:a="http://schemas.openxmlformats.org/drawingml/2006/main">
              <a:ext uri="{FF2B5EF4-FFF2-40B4-BE49-F238E27FC236}">
                <a16:creationId xmlns:a16="http://schemas.microsoft.com/office/drawing/2014/main" id="{8EB6B2FE-EEDA-4CAB-93EA-F3E1B7A3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14300"/>
            <a:ext cx="1619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字段候选</a:t>
            </a:r>
          </a:p>
        </p:txBody>
      </p:sp>
      <p:sp>
        <p:nvSpPr>
          <p:cNvPr id="2" name="KEV 专属">
            <a:extLst xmlns:a="http://schemas.openxmlformats.org/drawingml/2006/main">
              <a:ext uri="{FF2B5EF4-FFF2-40B4-BE49-F238E27FC236}">
                <a16:creationId xmlns:a16="http://schemas.microsoft.com/office/drawing/2014/main" id="{59761826-1F3A-4280-89DC-0B2E8A55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KEV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专属</a:t>
            </a:r>
          </a:p>
        </p:txBody>
      </p:sp>
      <p:sp>
        <p:nvSpPr>
          <p:cNvPr id="3" name="一级撤回">
            <a:extLst xmlns:a="http://schemas.openxmlformats.org/drawingml/2006/main">
              <a:ext uri="{FF2B5EF4-FFF2-40B4-BE49-F238E27FC236}">
                <a16:creationId xmlns:a16="http://schemas.microsoft.com/office/drawing/2014/main" id="{B84A6C44-77B7-47B8-8F2E-559890D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3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一级撤回</a:t>
            </a:r>
          </a:p>
        </p:txBody>
      </p:sp>
      <p:sp>
        <p:nvSpPr>
          <p:cNvPr id="4" name="区间互斥">
            <a:extLst xmlns:a="http://schemas.openxmlformats.org/drawingml/2006/main">
              <a:ext uri="{FF2B5EF4-FFF2-40B4-BE49-F238E27FC236}">
                <a16:creationId xmlns:a16="http://schemas.microsoft.com/office/drawing/2014/main" id="{279D171C-4EED-402A-AE8E-06556867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区间互斥</a:t>
            </a:r>
          </a:p>
        </p:txBody>
      </p:sp>
      <p:sp>
        <p:nvSpPr>
          <p:cNvPr id="5" name="双 CVE">
            <a:extLst xmlns:a="http://schemas.openxmlformats.org/drawingml/2006/main">
              <a:ext uri="{FF2B5EF4-FFF2-40B4-BE49-F238E27FC236}">
                <a16:creationId xmlns:a16="http://schemas.microsoft.com/office/drawing/2014/main" id="{CE1414DD-F293-4A0A-A8CA-D426631F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488" y="781050"/>
            <a:ext cx="1195388" cy="6191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双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CVE</a:t>
            </a:r>
          </a:p>
        </p:txBody>
      </p:sp>
      <p:sp>
        <p:nvSpPr>
          <p:cNvPr id="10" name="先处理特例：并集、撤回、保留候选">
            <a:extLst xmlns:a="http://schemas.openxmlformats.org/drawingml/2006/main">
              <a:ext uri="{FF2B5EF4-FFF2-40B4-BE49-F238E27FC236}">
                <a16:creationId xmlns:a16="http://schemas.microsoft.com/office/drawing/2014/main" id="{121963E6-7DA7-408D-AE74-1A280D2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先处理特例：并集、撤回、保留候选</a:t>
            </a:r>
          </a:p>
        </p:txBody>
      </p:sp>
      <p:sp>
        <p:nvSpPr>
          <p:cNvPr id="11" name="可信度等级">
            <a:extLst xmlns:a="http://schemas.openxmlformats.org/drawingml/2006/main">
              <a:ext uri="{FF2B5EF4-FFF2-40B4-BE49-F238E27FC236}">
                <a16:creationId xmlns:a16="http://schemas.microsoft.com/office/drawing/2014/main" id="{20AC636E-A52E-46B0-B00E-E783D11F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可信度等级</a:t>
            </a:r>
          </a:p>
        </p:txBody>
      </p:sp>
      <p:sp>
        <p:nvSpPr>
          <p:cNvPr id="12" name="置信度">
            <a:extLst xmlns:a="http://schemas.openxmlformats.org/drawingml/2006/main">
              <a:ext uri="{FF2B5EF4-FFF2-40B4-BE49-F238E27FC236}">
                <a16:creationId xmlns:a16="http://schemas.microsoft.com/office/drawing/2014/main" id="{D18DA454-D48C-4C36-ACBC-EE86BB0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置信度</a:t>
            </a:r>
          </a:p>
        </p:txBody>
      </p:sp>
      <p:sp>
        <p:nvSpPr>
          <p:cNvPr id="13" name="更新时间">
            <a:extLst xmlns:a="http://schemas.openxmlformats.org/drawingml/2006/main">
              <a:ext uri="{FF2B5EF4-FFF2-40B4-BE49-F238E27FC236}">
                <a16:creationId xmlns:a16="http://schemas.microsoft.com/office/drawing/2014/main" id="{04B6C886-EAFC-4557-B70F-D6974980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990725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更新时间</a:t>
            </a:r>
          </a:p>
        </p:txBody>
      </p:sp>
      <p:sp>
        <p:nvSpPr>
          <p:cNvPr id="17" name="主值 + provenance">
            <a:extLst xmlns:a="http://schemas.openxmlformats.org/drawingml/2006/main">
              <a:ext uri="{FF2B5EF4-FFF2-40B4-BE49-F238E27FC236}">
                <a16:creationId xmlns:a16="http://schemas.microsoft.com/office/drawing/2014/main" id="{691323FD-42D7-44D5-8C41-E38C789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+ provenance</a:t>
            </a:r>
          </a:p>
        </p:txBody>
      </p:sp>
      <p:sp>
        <p:nvSpPr>
          <p:cNvPr id="18" name="落选值 → conflicts[]">
            <a:extLst xmlns:a="http://schemas.openxmlformats.org/drawingml/2006/main">
              <a:ext uri="{FF2B5EF4-FFF2-40B4-BE49-F238E27FC236}">
                <a16:creationId xmlns:a16="http://schemas.microsoft.com/office/drawing/2014/main" id="{CD1BA9D9-6C8F-4B7C-966E-C390A99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337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落选值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→ conflicts[]</a:t>
            </a:r>
          </a:p>
        </p:txBody>
      </p:sp>
      <p:sp>
        <p:nvSpPr>
          <p:cNvPr id="21" name="CVSS 10.0 与 9.8 均保留；主值选择不抹去分歧">
            <a:extLst xmlns:a="http://schemas.openxmlformats.org/drawingml/2006/main">
              <a:ext uri="{FF2B5EF4-FFF2-40B4-BE49-F238E27FC236}">
                <a16:creationId xmlns:a16="http://schemas.microsoft.com/office/drawing/2014/main" id="{E6DF8ECC-15D7-47EF-ACD4-2A9799C0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CVSS 10.0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与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9.8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均保留；主值选择不抹去分歧</a:t>
            </a:r>
          </a:p>
        </p:txBody>
      </p:sp>
    </p:spTree>
    <p:extLst>
      <p:ext uri="{BB962C8B-B14F-4D97-AF65-F5344CB8AC3E}">
        <p14:creationId xmlns:p14="http://schemas.microsoft.com/office/powerpoint/2010/main" val="1720294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AC6C7-0BD3-4803-BCF1-6705511A752E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857500" y="1428750"/>
            <a:ext cx="17970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57F2B-848D-44FE-8044-3C1C44A339A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57500" y="1428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118E0-AA02-4299-92CE-7AAA63AA3CA5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060450" y="1428750"/>
            <a:ext cx="17970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592AE-46CA-41E7-BF52-8B3206A13A6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857500" y="619125"/>
            <a:ext cx="99060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E2712-E4D1-4513-AF0C-AC494AEA64F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2781300" y="404813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6" name="依赖文件 / 清单">
            <a:extLst xmlns:a="http://schemas.openxmlformats.org/drawingml/2006/main">
              <a:ext uri="{FF2B5EF4-FFF2-40B4-BE49-F238E27FC236}">
                <a16:creationId xmlns:a16="http://schemas.microsoft.com/office/drawing/2014/main" id="{BF8FAC27-D94B-429A-966E-C6C0D75F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依赖文件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清单</a:t>
            </a:r>
          </a:p>
        </p:txBody>
      </p:sp>
      <p:sp>
        <p:nvSpPr>
          <p:cNvPr id="2" name="purl 与生态">
            <a:extLst xmlns:a="http://schemas.openxmlformats.org/drawingml/2006/main">
              <a:ext uri="{FF2B5EF4-FFF2-40B4-BE49-F238E27FC236}">
                <a16:creationId xmlns:a16="http://schemas.microsoft.com/office/drawing/2014/main" id="{FF82655D-D891-42A5-82DE-931F1CDD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0500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purl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与生态</a:t>
            </a:r>
          </a:p>
        </p:txBody>
      </p:sp>
      <p:sp>
        <p:nvSpPr>
          <p:cNvPr id="4" name="OSV 区间求解">
            <a:extLst xmlns:a="http://schemas.openxmlformats.org/drawingml/2006/main">
              <a:ext uri="{FF2B5EF4-FFF2-40B4-BE49-F238E27FC236}">
                <a16:creationId xmlns:a16="http://schemas.microsoft.com/office/drawing/2014/main" id="{D74BEFDF-9132-4D12-885B-3ED06B0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287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区间求解</a:t>
            </a:r>
          </a:p>
        </p:txBody>
      </p:sp>
      <p:sp>
        <p:nvSpPr>
          <p:cNvPr id="6" name="introduced / fixed / last_affected / limit">
            <a:extLst xmlns:a="http://schemas.openxmlformats.org/drawingml/2006/main">
              <a:ext uri="{FF2B5EF4-FFF2-40B4-BE49-F238E27FC236}">
                <a16:creationId xmlns:a16="http://schemas.microsoft.com/office/drawing/2014/main" id="{02681FD9-77D8-489E-B2DE-5C738945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introduced / fixed / last_affected / limit</a:t>
            </a:r>
          </a:p>
        </p:txBody>
      </p:sp>
      <p:sp>
        <p:nvSpPr>
          <p:cNvPr id="7" name="受影响">
            <a:extLst xmlns:a="http://schemas.openxmlformats.org/drawingml/2006/main">
              <a:ext uri="{FF2B5EF4-FFF2-40B4-BE49-F238E27FC236}">
                <a16:creationId xmlns:a16="http://schemas.microsoft.com/office/drawing/2014/main" id="{E00D3C49-45A0-4777-B121-0B6EDB35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095500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受影响</a:t>
            </a:r>
          </a:p>
        </p:txBody>
      </p:sp>
      <p:sp>
        <p:nvSpPr>
          <p:cNvPr id="8" name="未发现已知影响">
            <a:extLst xmlns:a="http://schemas.openxmlformats.org/drawingml/2006/main">
              <a:ext uri="{FF2B5EF4-FFF2-40B4-BE49-F238E27FC236}">
                <a16:creationId xmlns:a16="http://schemas.microsoft.com/office/drawing/2014/main" id="{6C55D567-767E-453A-B4BF-BED86B9F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2095500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未发现已知影响</a:t>
            </a:r>
          </a:p>
        </p:txBody>
      </p:sp>
      <p:sp>
        <p:nvSpPr>
          <p:cNvPr id="9" name="组件未收录">
            <a:extLst xmlns:a="http://schemas.openxmlformats.org/drawingml/2006/main">
              <a:ext uri="{FF2B5EF4-FFF2-40B4-BE49-F238E27FC236}">
                <a16:creationId xmlns:a16="http://schemas.microsoft.com/office/drawing/2014/main" id="{66BA3D51-D126-4F6C-BB53-30C6A7B2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2095500"/>
            <a:ext cx="164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组件未收录</a:t>
            </a:r>
          </a:p>
        </p:txBody>
      </p:sp>
      <p:sp>
        <p:nvSpPr>
          <p:cNvPr id="13" name="共享入口：Web / check_stack / shaowang check">
            <a:extLst xmlns:a="http://schemas.openxmlformats.org/drawingml/2006/main">
              <a:ext uri="{FF2B5EF4-FFF2-40B4-BE49-F238E27FC236}">
                <a16:creationId xmlns:a16="http://schemas.microsoft.com/office/drawing/2014/main" id="{5166B6F0-C401-4BB7-A4B9-CEC0F145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000375"/>
            <a:ext cx="5238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共享入口：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 / check_stack / shaowang check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B7E24-656C-4C67-A8F8-FB2D1E7F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8950"/>
            <a:ext cx="5181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5" name="区间有分歧时提示；高危退出码 1 可接 CI；未知不等于安全">
            <a:extLst xmlns:a="http://schemas.openxmlformats.org/drawingml/2006/main">
              <a:ext uri="{FF2B5EF4-FFF2-40B4-BE49-F238E27FC236}">
                <a16:creationId xmlns:a16="http://schemas.microsoft.com/office/drawing/2014/main" id="{0088076C-C505-4E61-AED6-54CC55C1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区间有分歧时提示；高危退出码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可接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CI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；未知不等于安全</a:t>
            </a:r>
          </a:p>
        </p:txBody>
      </p:sp>
    </p:spTree>
    <p:extLst>
      <p:ext uri="{BB962C8B-B14F-4D97-AF65-F5344CB8AC3E}">
        <p14:creationId xmlns:p14="http://schemas.microsoft.com/office/powerpoint/2010/main" val="13618993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B0218-B04D-476C-9E1D-BA5CFC045D82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H="1" flipV="1">
            <a:off x="714375" y="2009775"/>
            <a:ext cx="1285875" cy="1314450"/>
          </a:xfrm>
          <a:prstGeom xmlns:a="http://schemas.openxmlformats.org/drawingml/2006/main" prst="bentConnector2">
            <a:avLst/>
          </a:prstGeom>
          <a:ln xmlns:a="http://schemas.openxmlformats.org/drawingml/2006/main" w="12668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2A4E2C-FD29-4E00-B2F6-B5E1A18F831C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3238500" y="3324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AB060-9F3E-4F97-8CD2-7EED15B05300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4738688" y="2009775"/>
            <a:ext cx="238125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F47E5-B457-4EC4-8ACB-31273A46DECD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174307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2AF6E-C480-4678-8133-CCF167A5EFD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2800350" y="1743075"/>
            <a:ext cx="3429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957F1-B941-4C1C-9355-2C07CB2E94C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0350" y="1609725"/>
            <a:ext cx="34290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811C0-4391-4AB3-B077-A8859CF5B51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00350" y="771525"/>
            <a:ext cx="34290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35086-1DFA-4115-8ABA-0DD675931F9C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238250" y="1743075"/>
            <a:ext cx="32385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DDCF1-4A7C-425D-9B71-AD5D2307B718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238250" y="1609725"/>
            <a:ext cx="3238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FFE69-F3E0-4AF7-8218-A6DC85FBD49E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1238250" y="771525"/>
            <a:ext cx="32385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4" name="问题与规划器">
            <a:extLst xmlns:a="http://schemas.openxmlformats.org/drawingml/2006/main">
              <a:ext uri="{FF2B5EF4-FFF2-40B4-BE49-F238E27FC236}">
                <a16:creationId xmlns:a16="http://schemas.microsoft.com/office/drawing/2014/main" id="{32C48B8D-5AF6-4A8B-B04C-09A6B1B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76375"/>
            <a:ext cx="1047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问题与规划器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E7526-9030-4386-82E1-8641B6EE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524000"/>
            <a:ext cx="28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3" name="BM25">
            <a:extLst xmlns:a="http://schemas.openxmlformats.org/drawingml/2006/main">
              <a:ext uri="{FF2B5EF4-FFF2-40B4-BE49-F238E27FC236}">
                <a16:creationId xmlns:a16="http://schemas.microsoft.com/office/drawing/2014/main" id="{74241785-B7E6-4CBF-9E02-82CDA5D8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29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BM25</a:t>
            </a:r>
          </a:p>
        </p:txBody>
      </p:sp>
      <p:sp>
        <p:nvSpPr>
          <p:cNvPr id="4" name="向量 top-50">
            <a:extLst xmlns:a="http://schemas.openxmlformats.org/drawingml/2006/main">
              <a:ext uri="{FF2B5EF4-FFF2-40B4-BE49-F238E27FC236}">
                <a16:creationId xmlns:a16="http://schemas.microsoft.com/office/drawing/2014/main" id="{F0063C32-E8A0-4A98-A7A1-9BC4EAE1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811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向量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top-50</a:t>
            </a:r>
          </a:p>
        </p:txBody>
      </p:sp>
      <p:sp>
        <p:nvSpPr>
          <p:cNvPr id="5" name="图扩展 1–2 跳">
            <a:extLst xmlns:a="http://schemas.openxmlformats.org/drawingml/2006/main">
              <a:ext uri="{FF2B5EF4-FFF2-40B4-BE49-F238E27FC236}">
                <a16:creationId xmlns:a16="http://schemas.microsoft.com/office/drawing/2014/main" id="{154DA198-FE4E-4C86-940D-44CFF7BF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19325"/>
            <a:ext cx="1238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图扩展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1–2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跳</a:t>
            </a:r>
          </a:p>
        </p:txBody>
      </p:sp>
      <p:sp>
        <p:nvSpPr>
          <p:cNvPr id="9" name="RRF k=60">
            <a:extLst xmlns:a="http://schemas.openxmlformats.org/drawingml/2006/main">
              <a:ext uri="{FF2B5EF4-FFF2-40B4-BE49-F238E27FC236}">
                <a16:creationId xmlns:a16="http://schemas.microsoft.com/office/drawing/2014/main" id="{CF9450E6-C9FB-4A79-A10B-C0C2F717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95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RRF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k=60</a:t>
            </a:r>
          </a:p>
        </p:txBody>
      </p:sp>
      <p:sp>
        <p:nvSpPr>
          <p:cNvPr id="13" name="前 50 重排 8–12 证据块">
            <a:extLst xmlns:a="http://schemas.openxmlformats.org/drawingml/2006/main">
              <a:ext uri="{FF2B5EF4-FFF2-40B4-BE49-F238E27FC236}">
                <a16:creationId xmlns:a16="http://schemas.microsoft.com/office/drawing/2014/main" id="{6F351F7B-9C88-42BE-A75B-D303D6F9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76375"/>
            <a:ext cx="1095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前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50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重排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8–12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证据块</a:t>
            </a:r>
          </a:p>
        </p:txBody>
      </p:sp>
      <p:sp>
        <p:nvSpPr>
          <p:cNvPr id="15" name="生成并逐句引用">
            <a:extLst xmlns:a="http://schemas.openxmlformats.org/drawingml/2006/main">
              <a:ext uri="{FF2B5EF4-FFF2-40B4-BE49-F238E27FC236}">
                <a16:creationId xmlns:a16="http://schemas.microsoft.com/office/drawing/2014/main" id="{CB471201-B2E4-4F83-BC3B-0E86E988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05150"/>
            <a:ext cx="1571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生成并逐句引用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8EEA6-47D3-4D40-98A8-9B244AC9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5277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18" name="Critic">
            <a:extLst xmlns:a="http://schemas.openxmlformats.org/drawingml/2006/main">
              <a:ext uri="{FF2B5EF4-FFF2-40B4-BE49-F238E27FC236}">
                <a16:creationId xmlns:a16="http://schemas.microsoft.com/office/drawing/2014/main" id="{91DF5600-76B0-419C-8DBB-73FCBC83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05150"/>
            <a:ext cx="1238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B4E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020DE-5473-4692-9201-343F2C4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15277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8C"/>
          </a:solidFill>
          <a:ln xmlns:a="http://schemas.openxmlformats.org/drawingml/2006/main" w="0">
            <a:noFill/>
          </a:ln>
        </p:spPr>
      </p:sp>
      <p:sp>
        <p:nvSpPr>
          <p:cNvPr id="22" name="fail 重新规划">
            <a:extLst xmlns:a="http://schemas.openxmlformats.org/drawingml/2006/main">
              <a:ext uri="{FF2B5EF4-FFF2-40B4-BE49-F238E27FC236}">
                <a16:creationId xmlns:a16="http://schemas.microsoft.com/office/drawing/2014/main" id="{61FAE1D3-EE77-4C4B-BE7C-2D3FAD91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3190875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fail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重新规划</a:t>
            </a:r>
          </a:p>
        </p:txBody>
      </p:sp>
      <p:sp>
        <p:nvSpPr>
          <p:cNvPr id="23" name="校验通过后返回答案；三路排名融合，不混加原始分数">
            <a:extLst xmlns:a="http://schemas.openxmlformats.org/drawingml/2006/main">
              <a:ext uri="{FF2B5EF4-FFF2-40B4-BE49-F238E27FC236}">
                <a16:creationId xmlns:a16="http://schemas.microsoft.com/office/drawing/2014/main" id="{5FD8D735-F30D-4EF6-BEA5-2D5BD6C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校验通过后返回答案；三路排名融合，不混加原始分数</a:t>
            </a:r>
          </a:p>
        </p:txBody>
      </p:sp>
    </p:spTree>
    <p:extLst>
      <p:ext uri="{BB962C8B-B14F-4D97-AF65-F5344CB8AC3E}">
        <p14:creationId xmlns:p14="http://schemas.microsoft.com/office/powerpoint/2010/main" val="19042469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4DEED-01AA-411F-ABE2-E9A99347CFD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17195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55FAE-02B5-462D-B521-C7EC1510698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78130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82DE8-6684-4F74-9BE1-261FC3F5A9B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390650" y="165258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0" name="影响哪些漏洞 AFFECTS → vllm 图检索 / 命中 n">
            <a:extLst xmlns:a="http://schemas.openxmlformats.org/drawingml/2006/main">
              <a:ext uri="{FF2B5EF4-FFF2-40B4-BE49-F238E27FC236}">
                <a16:creationId xmlns:a16="http://schemas.microsoft.com/office/drawing/2014/main" id="{2B9E1C0A-D2D2-4F11-92C8-087EAEE5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影响哪些漏洞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AFFECTS → vllm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图检索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2" name="是否有公开引用 HAS_POC_REF 图过滤 / 命中 n">
            <a:extLst xmlns:a="http://schemas.openxmlformats.org/drawingml/2006/main">
              <a:ext uri="{FF2B5EF4-FFF2-40B4-BE49-F238E27FC236}">
                <a16:creationId xmlns:a16="http://schemas.microsoft.com/office/drawing/2014/main" id="{7A8127A2-CFEC-48FC-9EC0-21F2AC8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是否有公开引用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图过滤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3" name="是否在时间内 近 90 天 时间过滤 / 命中 n">
            <a:extLst xmlns:a="http://schemas.openxmlformats.org/drawingml/2006/main">
              <a:ext uri="{FF2B5EF4-FFF2-40B4-BE49-F238E27FC236}">
                <a16:creationId xmlns:a16="http://schemas.microsoft.com/office/drawing/2014/main" id="{F7EA6482-54D0-4DFB-B06C-457DDA53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是否在时间内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近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90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天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时间过滤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4" name="对应什么技术 MAPS_TO → ATLAS 图扩展 / 命中 n">
            <a:extLst xmlns:a="http://schemas.openxmlformats.org/drawingml/2006/main">
              <a:ext uri="{FF2B5EF4-FFF2-40B4-BE49-F238E27FC236}">
                <a16:creationId xmlns:a16="http://schemas.microsoft.com/office/drawing/2014/main" id="{39AC78E7-4A70-4C7C-9362-6063F6D3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019175"/>
            <a:ext cx="12382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对应什么技术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MAPS_TO → ATLAS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图扩展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命中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n</a:t>
            </a:r>
          </a:p>
        </p:txBody>
      </p:sp>
      <p:sp>
        <p:nvSpPr>
          <p:cNvPr id="8" name="近 90 天影响 vLLM 且有公开 PoC 链接的漏洞及其 ATLAS 技术">
            <a:extLst xmlns:a="http://schemas.openxmlformats.org/drawingml/2006/main">
              <a:ext uri="{FF2B5EF4-FFF2-40B4-BE49-F238E27FC236}">
                <a16:creationId xmlns:a16="http://schemas.microsoft.com/office/drawing/2014/main" id="{C643A15C-F118-4D77-A8C5-545254A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近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90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天影响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vLLM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且有公开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PoC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链接的漏洞及其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ATLAS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技术</a:t>
            </a:r>
          </a:p>
        </p:txBody>
      </p:sp>
      <p:sp>
        <p:nvSpPr>
          <p:cNvPr id="9" name="reasoning_steps 记录子问题、检索方式、查询语句与命中数 n 是结构示意占位，不是实测结果">
            <a:extLst xmlns:a="http://schemas.openxmlformats.org/drawingml/2006/main">
              <a:ext uri="{FF2B5EF4-FFF2-40B4-BE49-F238E27FC236}">
                <a16:creationId xmlns:a16="http://schemas.microsoft.com/office/drawing/2014/main" id="{49525695-EC7A-4A65-925B-13D7B8C2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83845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reasoning_steps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记录子问题、检索方式、查询语句与命中数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n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是结构示意占位，不是实测结果</a:t>
            </a:r>
          </a:p>
        </p:txBody>
      </p:sp>
    </p:spTree>
    <p:extLst>
      <p:ext uri="{BB962C8B-B14F-4D97-AF65-F5344CB8AC3E}">
        <p14:creationId xmlns:p14="http://schemas.microsoft.com/office/powerpoint/2010/main" val="20503797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4C573-3C4A-43DC-A988-6A58886DB9F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3552825" y="833438"/>
            <a:ext cx="466725" cy="981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96B22-92A6-4274-B487-C141FD3F82D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666875" y="1814513"/>
            <a:ext cx="457200" cy="1104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0B2D2-55E6-4A16-A56D-95774182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90500"/>
            <a:ext cx="16954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数据面扩展">
            <a:extLst xmlns:a="http://schemas.openxmlformats.org/drawingml/2006/main">
              <a:ext uri="{FF2B5EF4-FFF2-40B4-BE49-F238E27FC236}">
                <a16:creationId xmlns:a16="http://schemas.microsoft.com/office/drawing/2014/main" id="{D25C347D-CEFD-4473-A9FA-7F035B9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数据面扩展</a:t>
            </a:r>
          </a:p>
        </p:txBody>
      </p:sp>
      <p:sp>
        <p:nvSpPr>
          <p:cNvPr id="3" name="Source Connector">
            <a:extLst xmlns:a="http://schemas.openxmlformats.org/drawingml/2006/main">
              <a:ext uri="{FF2B5EF4-FFF2-40B4-BE49-F238E27FC236}">
                <a16:creationId xmlns:a16="http://schemas.microsoft.com/office/drawing/2014/main" id="{894F6300-D035-45AF-8FC4-98625741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657225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Source Connector</a:t>
            </a:r>
          </a:p>
        </p:txBody>
      </p:sp>
      <p:sp>
        <p:nvSpPr>
          <p:cNvPr id="4" name="Enricher">
            <a:extLst xmlns:a="http://schemas.openxmlformats.org/drawingml/2006/main">
              <a:ext uri="{FF2B5EF4-FFF2-40B4-BE49-F238E27FC236}">
                <a16:creationId xmlns:a16="http://schemas.microsoft.com/office/drawing/2014/main" id="{EBD88B2F-2B0F-4F6D-AB91-6F35F3B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276350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Enricher</a:t>
            </a:r>
          </a:p>
        </p:txBody>
      </p:sp>
      <p:sp>
        <p:nvSpPr>
          <p:cNvPr id="5" name="Tool / Skill">
            <a:extLst xmlns:a="http://schemas.openxmlformats.org/drawingml/2006/main">
              <a:ext uri="{FF2B5EF4-FFF2-40B4-BE49-F238E27FC236}">
                <a16:creationId xmlns:a16="http://schemas.microsoft.com/office/drawing/2014/main" id="{B144886A-EAF3-449C-BD00-4C89A324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1895475"/>
            <a:ext cx="1409700" cy="428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Tool / Skill</a:t>
            </a:r>
          </a:p>
        </p:txBody>
      </p:sp>
      <p:sp>
        <p:nvSpPr>
          <p:cNvPr id="6" name="shaowang-sdk 签名索引">
            <a:extLst xmlns:a="http://schemas.openxmlformats.org/drawingml/2006/main">
              <a:ext uri="{FF2B5EF4-FFF2-40B4-BE49-F238E27FC236}">
                <a16:creationId xmlns:a16="http://schemas.microsoft.com/office/drawing/2014/main" id="{C556CDE6-A842-4E23-8977-7D1550D3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647950"/>
            <a:ext cx="14097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shaowang-sdk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签名索引</a:t>
            </a:r>
          </a:p>
        </p:txBody>
      </p:sp>
      <p:sp>
        <p:nvSpPr>
          <p:cNvPr id="7" name="intel-core">
            <a:extLst xmlns:a="http://schemas.openxmlformats.org/drawingml/2006/main">
              <a:ext uri="{FF2B5EF4-FFF2-40B4-BE49-F238E27FC236}">
                <a16:creationId xmlns:a16="http://schemas.microsoft.com/office/drawing/2014/main" id="{CC70E102-8DD0-4EC3-AE3F-A25D9CC1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524000"/>
            <a:ext cx="1428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intel-core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E2C9D-C075-4A9D-8466-580B5ECA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52575"/>
            <a:ext cx="1371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68C92-0666-4F93-A79D-E04A329D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90500"/>
            <a:ext cx="168592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1" name="智能体接入">
            <a:extLst xmlns:a="http://schemas.openxmlformats.org/drawingml/2006/main">
              <a:ext uri="{FF2B5EF4-FFF2-40B4-BE49-F238E27FC236}">
                <a16:creationId xmlns:a16="http://schemas.microsoft.com/office/drawing/2014/main" id="{375DA8D4-F7BF-4E48-9F33-6C649BDB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8125"/>
            <a:ext cx="1533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智能体接入</a:t>
            </a:r>
          </a:p>
        </p:txBody>
      </p:sp>
      <p:sp>
        <p:nvSpPr>
          <p:cNvPr id="12" name="MCP / OpenAPI / CLI">
            <a:extLst xmlns:a="http://schemas.openxmlformats.org/drawingml/2006/main">
              <a:ext uri="{FF2B5EF4-FFF2-40B4-BE49-F238E27FC236}">
                <a16:creationId xmlns:a16="http://schemas.microsoft.com/office/drawing/2014/main" id="{1C784D89-FBEA-43A6-8074-4E836A9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19125"/>
            <a:ext cx="1476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MCP / OpenAPI / CLI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A7821-01BC-4BF3-BC0E-79ED42F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47700"/>
            <a:ext cx="14192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2E7D8C"/>
            </a:solidFill>
          </a:ln>
        </p:spPr>
      </p:sp>
      <p:sp>
        <p:nvSpPr>
          <p:cNvPr id="14" name="Agent Plugins 包">
            <a:extLst xmlns:a="http://schemas.openxmlformats.org/drawingml/2006/main">
              <a:ext uri="{FF2B5EF4-FFF2-40B4-BE49-F238E27FC236}">
                <a16:creationId xmlns:a16="http://schemas.microsoft.com/office/drawing/2014/main" id="{81EA883F-FEAA-4238-9BA2-4A171F5F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52550"/>
            <a:ext cx="1476375" cy="409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Agent Plugins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包</a:t>
            </a:r>
          </a:p>
        </p:txBody>
      </p:sp>
      <p:sp>
        <p:nvSpPr>
          <p:cNvPr id="15" name="Claude Code / Codex Cursor / Gemini CLI Kimi 等：待核实">
            <a:extLst xmlns:a="http://schemas.openxmlformats.org/drawingml/2006/main">
              <a:ext uri="{FF2B5EF4-FFF2-40B4-BE49-F238E27FC236}">
                <a16:creationId xmlns:a16="http://schemas.microsoft.com/office/drawing/2014/main" id="{DFF34886-9F07-4049-9394-9FAB88A9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05025"/>
            <a:ext cx="14763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Claude Code / Codex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Cursor / Gemini CLI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Kimi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等：待核实</a:t>
            </a:r>
          </a:p>
        </p:txBody>
      </p:sp>
      <p:sp>
        <p:nvSpPr>
          <p:cNvPr id="17" name="一个服务层统一鉴权、限流、审计与长任务句柄">
            <a:extLst xmlns:a="http://schemas.openxmlformats.org/drawingml/2006/main">
              <a:ext uri="{FF2B5EF4-FFF2-40B4-BE49-F238E27FC236}">
                <a16:creationId xmlns:a16="http://schemas.microsoft.com/office/drawing/2014/main" id="{C3DCADC1-550F-4413-B7FE-05D0AE3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一个服务层统一鉴权、限流、审计与长任务句柄</a:t>
            </a:r>
          </a:p>
        </p:txBody>
      </p:sp>
    </p:spTree>
    <p:extLst>
      <p:ext uri="{BB962C8B-B14F-4D97-AF65-F5344CB8AC3E}">
        <p14:creationId xmlns:p14="http://schemas.microsoft.com/office/powerpoint/2010/main" val="39187410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30634-19B1-4E12-847D-44F2A2C3644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654550" y="2171700"/>
            <a:ext cx="41275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FBD0C-9ACB-46DC-A777-4C0B95169F66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060450" y="781050"/>
            <a:ext cx="35941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E4B23-048C-4BF0-A075-9D27CBE82C12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679825" y="1952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BDEF3-A21D-4732-B051-B20DB05C4E4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882775" y="19526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9333B-45DF-4399-B5E4-96896914EC19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679825" y="561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9E781-5F37-4E70-BD2A-228598B2E5FE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882775" y="56197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20" name="Discovered">
            <a:extLst xmlns:a="http://schemas.openxmlformats.org/drawingml/2006/main">
              <a:ext uri="{FF2B5EF4-FFF2-40B4-BE49-F238E27FC236}">
                <a16:creationId xmlns:a16="http://schemas.microsoft.com/office/drawing/2014/main" id="{5D88EB21-C567-4189-BC5C-1D27424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Discovered</a:t>
            </a:r>
          </a:p>
        </p:txBody>
      </p:sp>
      <p:sp>
        <p:nvSpPr>
          <p:cNvPr id="2" name="Validated">
            <a:extLst xmlns:a="http://schemas.openxmlformats.org/drawingml/2006/main">
              <a:ext uri="{FF2B5EF4-FFF2-40B4-BE49-F238E27FC236}">
                <a16:creationId xmlns:a16="http://schemas.microsoft.com/office/drawing/2014/main" id="{34475AF9-892F-4A51-92DB-2115FCC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Validated</a:t>
            </a:r>
          </a:p>
        </p:txBody>
      </p:sp>
      <p:sp>
        <p:nvSpPr>
          <p:cNvPr id="3" name="Installed">
            <a:extLst xmlns:a="http://schemas.openxmlformats.org/drawingml/2006/main">
              <a:ext uri="{FF2B5EF4-FFF2-40B4-BE49-F238E27FC236}">
                <a16:creationId xmlns:a16="http://schemas.microsoft.com/office/drawing/2014/main" id="{01227C61-35F9-4B70-9C63-1C604127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34290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Installed</a:t>
            </a:r>
          </a:p>
        </p:txBody>
      </p:sp>
      <p:sp>
        <p:nvSpPr>
          <p:cNvPr id="6" name="清单 / Schema / 签名">
            <a:extLst xmlns:a="http://schemas.openxmlformats.org/drawingml/2006/main">
              <a:ext uri="{FF2B5EF4-FFF2-40B4-BE49-F238E27FC236}">
                <a16:creationId xmlns:a16="http://schemas.microsoft.com/office/drawing/2014/main" id="{402153D0-4B01-45C1-B6A2-637997B7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8953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清单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Schema /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签名</a:t>
            </a:r>
          </a:p>
        </p:txBody>
      </p:sp>
      <p:sp>
        <p:nvSpPr>
          <p:cNvPr id="7" name="管理员审批权限">
            <a:extLst xmlns:a="http://schemas.openxmlformats.org/drawingml/2006/main">
              <a:ext uri="{FF2B5EF4-FFF2-40B4-BE49-F238E27FC236}">
                <a16:creationId xmlns:a16="http://schemas.microsoft.com/office/drawing/2014/main" id="{49557DC9-05B2-4B59-8F9A-D0F8EBFB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895350"/>
            <a:ext cx="18192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管理员审批权限</a:t>
            </a:r>
          </a:p>
        </p:txBody>
      </p:sp>
      <p:sp>
        <p:nvSpPr>
          <p:cNvPr id="8" name="Loaded">
            <a:extLst xmlns:a="http://schemas.openxmlformats.org/drawingml/2006/main">
              <a:ext uri="{FF2B5EF4-FFF2-40B4-BE49-F238E27FC236}">
                <a16:creationId xmlns:a16="http://schemas.microsoft.com/office/drawing/2014/main" id="{97164996-41C4-4805-AD82-DACC4E9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Loaded</a:t>
            </a:r>
          </a:p>
        </p:txBody>
      </p:sp>
      <p:sp>
        <p:nvSpPr>
          <p:cNvPr id="9" name="Running">
            <a:extLst xmlns:a="http://schemas.openxmlformats.org/drawingml/2006/main">
              <a:ext uri="{FF2B5EF4-FFF2-40B4-BE49-F238E27FC236}">
                <a16:creationId xmlns:a16="http://schemas.microsoft.com/office/drawing/2014/main" id="{7B6117F8-A2D3-454A-9C07-BD4C3784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17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Running</a:t>
            </a:r>
          </a:p>
        </p:txBody>
      </p:sp>
      <p:sp>
        <p:nvSpPr>
          <p:cNvPr id="10" name="Degraded">
            <a:extLst xmlns:a="http://schemas.openxmlformats.org/drawingml/2006/main">
              <a:ext uri="{FF2B5EF4-FFF2-40B4-BE49-F238E27FC236}">
                <a16:creationId xmlns:a16="http://schemas.microsoft.com/office/drawing/2014/main" id="{FF462519-3890-4288-938E-ECAB0AF9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225" y="1733550"/>
            <a:ext cx="1644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Degraded</a:t>
            </a:r>
          </a:p>
        </p:txBody>
      </p:sp>
      <p:sp>
        <p:nvSpPr>
          <p:cNvPr id="14" name="Disabled">
            <a:extLst xmlns:a="http://schemas.openxmlformats.org/drawingml/2006/main">
              <a:ext uri="{FF2B5EF4-FFF2-40B4-BE49-F238E27FC236}">
                <a16:creationId xmlns:a16="http://schemas.microsoft.com/office/drawing/2014/main" id="{720BD85B-A0A2-4C01-9199-834DC2AB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Disabled</a:t>
            </a:r>
          </a:p>
        </p:txBody>
      </p:sp>
      <p:sp>
        <p:nvSpPr>
          <p:cNvPr id="16" name="连续失败 ≥3 或 Schema 违规率 &gt;5%">
            <a:extLst xmlns:a="http://schemas.openxmlformats.org/drawingml/2006/main">
              <a:ext uri="{FF2B5EF4-FFF2-40B4-BE49-F238E27FC236}">
                <a16:creationId xmlns:a16="http://schemas.microsoft.com/office/drawing/2014/main" id="{28B123AC-E431-40AA-AFED-C8C17A99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1920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连续失败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≥3</a:t>
            </a:r>
          </a:p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或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Schema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违规率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&gt;5%</a:t>
            </a:r>
          </a:p>
        </p:txBody>
      </p:sp>
      <p:sp>
        <p:nvSpPr>
          <p:cNvPr id="17" name="healthcheck 恢复 → Running">
            <a:extLst xmlns:a="http://schemas.openxmlformats.org/drawingml/2006/main">
              <a:ext uri="{FF2B5EF4-FFF2-40B4-BE49-F238E27FC236}">
                <a16:creationId xmlns:a16="http://schemas.microsoft.com/office/drawing/2014/main" id="{CEC26E98-4D73-43FC-885F-068DBEDF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476500"/>
            <a:ext cx="18288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healthcheck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恢复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→ Running</a:t>
            </a:r>
          </a:p>
        </p:txBody>
      </p:sp>
      <p:sp>
        <p:nvSpPr>
          <p:cNvPr id="18" name="24 h 未恢复 或 Critic 违规">
            <a:extLst xmlns:a="http://schemas.openxmlformats.org/drawingml/2006/main">
              <a:ext uri="{FF2B5EF4-FFF2-40B4-BE49-F238E27FC236}">
                <a16:creationId xmlns:a16="http://schemas.microsoft.com/office/drawing/2014/main" id="{0622BCD7-A27D-4C1A-B676-EA58BAEF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76475"/>
            <a:ext cx="2000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2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24 h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未恢复</a:t>
            </a:r>
          </a:p>
          <a:p xmlns:a="http://schemas.openxmlformats.org/drawingml/2006/main">
            <a:pPr algn="ctr">
              <a:defRPr sz="1200">
                <a:solidFill>
                  <a:srgbClr val="1A1A1A"/>
                </a:solidFill>
              </a:defRPr>
            </a:pP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或</a:t>
            </a:r>
            <a:r>
              <a:rPr sz="12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Critic </a:t>
            </a:r>
            <a:r>
              <a:rPr sz="12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违规</a:t>
            </a:r>
          </a:p>
        </p:txBody>
      </p:sp>
      <p:sp>
        <p:nvSpPr>
          <p:cNvPr id="19" name="升级 MINOR 热升级 / MAJOR 重审">
            <a:extLst xmlns:a="http://schemas.openxmlformats.org/drawingml/2006/main">
              <a:ext uri="{FF2B5EF4-FFF2-40B4-BE49-F238E27FC236}">
                <a16:creationId xmlns:a16="http://schemas.microsoft.com/office/drawing/2014/main" id="{6D8001E0-E091-42B3-8E36-4761241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2952750"/>
            <a:ext cx="285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3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升级</a:t>
            </a:r>
          </a:p>
          <a:p xmlns:a="http://schemas.openxmlformats.org/drawingml/2006/main">
            <a:pPr algn="ctr">
              <a:defRPr sz="1350">
                <a:solidFill>
                  <a:srgbClr val="1A1A1A"/>
                </a:solidFill>
              </a:defRPr>
            </a:pP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MINOR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热升级</a:t>
            </a:r>
            <a:r>
              <a:rPr sz="13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MAJOR </a:t>
            </a:r>
            <a:r>
              <a:rPr sz="13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重审</a:t>
            </a:r>
          </a:p>
        </p:txBody>
      </p:sp>
    </p:spTree>
    <p:extLst>
      <p:ext uri="{BB962C8B-B14F-4D97-AF65-F5344CB8AC3E}">
        <p14:creationId xmlns:p14="http://schemas.microsoft.com/office/powerpoint/2010/main" val="14271201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8 类公开 Schema">
            <a:extLst xmlns:a="http://schemas.openxmlformats.org/drawingml/2006/main">
              <a:ext uri="{FF2B5EF4-FFF2-40B4-BE49-F238E27FC236}">
                <a16:creationId xmlns:a16="http://schemas.microsoft.com/office/drawing/2014/main" id="{6E8C8E3A-A493-46EF-8AF7-42864F4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66675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Times New Roman"/>
                <a:ea typeface="Times New Roman"/>
                <a:cs typeface="Times New Roman"/>
              </a:rPr>
              <a:t>8 </a:t>
            </a: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类公开</a:t>
            </a:r>
            <a:r>
              <a:rPr sz="1050" b="0">
                <a:solidFill>
                  <a:srgbClr val="2E7D8C"/>
                </a:solidFill>
                <a:latin typeface="Times New Roman"/>
                <a:ea typeface="Times New Roman"/>
                <a:cs typeface="Times New Roman"/>
              </a:rPr>
              <a:t> Schema</a:t>
            </a:r>
          </a:p>
        </p:txBody>
      </p:sp>
      <p:sp>
        <p:nvSpPr>
          <p:cNvPr id="2" name="common">
            <a:extLst xmlns:a="http://schemas.openxmlformats.org/drawingml/2006/main">
              <a:ext uri="{FF2B5EF4-FFF2-40B4-BE49-F238E27FC236}">
                <a16:creationId xmlns:a16="http://schemas.microsoft.com/office/drawing/2014/main" id="{7DC45563-6103-430D-8245-057E0B3E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common</a:t>
            </a:r>
          </a:p>
        </p:txBody>
      </p:sp>
      <p:sp>
        <p:nvSpPr>
          <p:cNvPr id="3" name="normalized-intel">
            <a:extLst xmlns:a="http://schemas.openxmlformats.org/drawingml/2006/main">
              <a:ext uri="{FF2B5EF4-FFF2-40B4-BE49-F238E27FC236}">
                <a16:creationId xmlns:a16="http://schemas.microsoft.com/office/drawing/2014/main" id="{9C5F7209-350F-4D96-8CD3-86FF4CB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normalized-intel</a:t>
            </a:r>
          </a:p>
        </p:txBody>
      </p:sp>
      <p:sp>
        <p:nvSpPr>
          <p:cNvPr id="4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A9FD9007-A94A-4C9F-8157-07CD7905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5" name="advisory">
            <a:extLst xmlns:a="http://schemas.openxmlformats.org/drawingml/2006/main">
              <a:ext uri="{FF2B5EF4-FFF2-40B4-BE49-F238E27FC236}">
                <a16:creationId xmlns:a16="http://schemas.microsoft.com/office/drawing/2014/main" id="{4EC8BE99-70F2-4F70-820F-BCEEF1A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0005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6" name="component">
            <a:extLst xmlns:a="http://schemas.openxmlformats.org/drawingml/2006/main">
              <a:ext uri="{FF2B5EF4-FFF2-40B4-BE49-F238E27FC236}">
                <a16:creationId xmlns:a16="http://schemas.microsoft.com/office/drawing/2014/main" id="{484EAE76-DF39-4C62-87C1-F733E9C7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7" name="enrichment">
            <a:extLst xmlns:a="http://schemas.openxmlformats.org/drawingml/2006/main">
              <a:ext uri="{FF2B5EF4-FFF2-40B4-BE49-F238E27FC236}">
                <a16:creationId xmlns:a16="http://schemas.microsoft.com/office/drawing/2014/main" id="{6B7041C6-A306-40E7-8754-A801B7E1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enrichment</a:t>
            </a:r>
          </a:p>
        </p:txBody>
      </p:sp>
      <p:sp>
        <p:nvSpPr>
          <p:cNvPr id="8" name="relation">
            <a:extLst xmlns:a="http://schemas.openxmlformats.org/drawingml/2006/main">
              <a:ext uri="{FF2B5EF4-FFF2-40B4-BE49-F238E27FC236}">
                <a16:creationId xmlns:a16="http://schemas.microsoft.com/office/drawing/2014/main" id="{7888DDEC-1FC6-402D-8544-DD34293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relation</a:t>
            </a:r>
          </a:p>
        </p:txBody>
      </p:sp>
      <p:sp>
        <p:nvSpPr>
          <p:cNvPr id="9" name="qa-answer">
            <a:extLst xmlns:a="http://schemas.openxmlformats.org/drawingml/2006/main">
              <a:ext uri="{FF2B5EF4-FFF2-40B4-BE49-F238E27FC236}">
                <a16:creationId xmlns:a16="http://schemas.microsoft.com/office/drawing/2014/main" id="{40758081-31CB-4114-AC0B-C243C6C4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838200"/>
            <a:ext cx="12858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63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63">
                <a:solidFill>
                  <a:srgbClr val="1A1A1A"/>
                </a:solidFill>
              </a:defRPr>
            </a:pPr>
            <a:r>
              <a:rPr sz="863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qa-answer</a:t>
            </a:r>
          </a:p>
        </p:txBody>
      </p:sp>
      <p:sp>
        <p:nvSpPr>
          <p:cNvPr id="10" name="映射对象">
            <a:extLst xmlns:a="http://schemas.openxmlformats.org/drawingml/2006/main">
              <a:ext uri="{FF2B5EF4-FFF2-40B4-BE49-F238E27FC236}">
                <a16:creationId xmlns:a16="http://schemas.microsoft.com/office/drawing/2014/main" id="{30CD7140-56E1-48A3-9A24-495FDD8D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4287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映射对象</a:t>
            </a:r>
          </a:p>
        </p:txBody>
      </p:sp>
      <p:sp>
        <p:nvSpPr>
          <p:cNvPr id="11" name="OSV">
            <a:extLst xmlns:a="http://schemas.openxmlformats.org/drawingml/2006/main">
              <a:ext uri="{FF2B5EF4-FFF2-40B4-BE49-F238E27FC236}">
                <a16:creationId xmlns:a16="http://schemas.microsoft.com/office/drawing/2014/main" id="{95ADBAC9-15DB-4F86-A861-BBF3280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4287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OSV</a:t>
            </a:r>
          </a:p>
        </p:txBody>
      </p:sp>
      <p:sp>
        <p:nvSpPr>
          <p:cNvPr id="12" name="STIX 2.1">
            <a:extLst xmlns:a="http://schemas.openxmlformats.org/drawingml/2006/main">
              <a:ext uri="{FF2B5EF4-FFF2-40B4-BE49-F238E27FC236}">
                <a16:creationId xmlns:a16="http://schemas.microsoft.com/office/drawing/2014/main" id="{C2841F17-4BE8-41C8-A062-BAA01457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STIX 2.1</a:t>
            </a:r>
          </a:p>
        </p:txBody>
      </p:sp>
      <p:sp>
        <p:nvSpPr>
          <p:cNvPr id="13" name="CSAF 2.0">
            <a:extLst xmlns:a="http://schemas.openxmlformats.org/drawingml/2006/main">
              <a:ext uri="{FF2B5EF4-FFF2-40B4-BE49-F238E27FC236}">
                <a16:creationId xmlns:a16="http://schemas.microsoft.com/office/drawing/2014/main" id="{B8B49B26-502E-49B5-9C4D-D5B88CB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287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CSAF 2.0</a:t>
            </a:r>
          </a:p>
        </p:txBody>
      </p:sp>
      <p:sp>
        <p:nvSpPr>
          <p:cNvPr id="14" name="标识 / 别名">
            <a:extLst xmlns:a="http://schemas.openxmlformats.org/drawingml/2006/main">
              <a:ext uri="{FF2B5EF4-FFF2-40B4-BE49-F238E27FC236}">
                <a16:creationId xmlns:a16="http://schemas.microsoft.com/office/drawing/2014/main" id="{A202C8E7-1B3A-47EE-8D32-5527D40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7240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标识</a:t>
            </a: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别名</a:t>
            </a:r>
          </a:p>
        </p:txBody>
      </p:sp>
      <p:sp>
        <p:nvSpPr>
          <p:cNvPr id="15" name="id / aliases">
            <a:extLst xmlns:a="http://schemas.openxmlformats.org/drawingml/2006/main">
              <a:ext uri="{FF2B5EF4-FFF2-40B4-BE49-F238E27FC236}">
                <a16:creationId xmlns:a16="http://schemas.microsoft.com/office/drawing/2014/main" id="{4615BF5C-8E53-4DD7-8A92-2A282D4F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240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id / aliases</a:t>
            </a:r>
          </a:p>
        </p:txBody>
      </p:sp>
      <p:sp>
        <p:nvSpPr>
          <p:cNvPr id="16" name="external_references">
            <a:extLst xmlns:a="http://schemas.openxmlformats.org/drawingml/2006/main">
              <a:ext uri="{FF2B5EF4-FFF2-40B4-BE49-F238E27FC236}">
                <a16:creationId xmlns:a16="http://schemas.microsoft.com/office/drawing/2014/main" id="{7CD4C8A7-3BF4-434F-90E3-9F720433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240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external_references</a:t>
            </a:r>
          </a:p>
        </p:txBody>
      </p:sp>
      <p:sp>
        <p:nvSpPr>
          <p:cNvPr id="17" name="cve / ids">
            <a:extLst xmlns:a="http://schemas.openxmlformats.org/drawingml/2006/main">
              <a:ext uri="{FF2B5EF4-FFF2-40B4-BE49-F238E27FC236}">
                <a16:creationId xmlns:a16="http://schemas.microsoft.com/office/drawing/2014/main" id="{B487F197-A149-4F1E-99AF-06B8187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240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cve / ids</a:t>
            </a:r>
          </a:p>
        </p:txBody>
      </p:sp>
      <p:sp>
        <p:nvSpPr>
          <p:cNvPr id="18" name="影响区间">
            <a:extLst xmlns:a="http://schemas.openxmlformats.org/drawingml/2006/main">
              <a:ext uri="{FF2B5EF4-FFF2-40B4-BE49-F238E27FC236}">
                <a16:creationId xmlns:a16="http://schemas.microsoft.com/office/drawing/2014/main" id="{2614E205-A08D-444B-9AA9-B7B4940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193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影响区间</a:t>
            </a:r>
          </a:p>
        </p:txBody>
      </p:sp>
      <p:sp>
        <p:nvSpPr>
          <p:cNvPr id="19" name="ranges.events">
            <a:extLst xmlns:a="http://schemas.openxmlformats.org/drawingml/2006/main">
              <a:ext uri="{FF2B5EF4-FFF2-40B4-BE49-F238E27FC236}">
                <a16:creationId xmlns:a16="http://schemas.microsoft.com/office/drawing/2014/main" id="{B2A29E55-736A-4AC0-AE33-2AB9CC53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ranges.events</a:t>
            </a:r>
          </a:p>
        </p:txBody>
      </p:sp>
      <p:sp>
        <p:nvSpPr>
          <p:cNvPr id="20" name="software + relation">
            <a:extLst xmlns:a="http://schemas.openxmlformats.org/drawingml/2006/main">
              <a:ext uri="{FF2B5EF4-FFF2-40B4-BE49-F238E27FC236}">
                <a16:creationId xmlns:a16="http://schemas.microsoft.com/office/drawing/2014/main" id="{4F130E6B-B328-4A22-A3C8-C819EA44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software + relation</a:t>
            </a:r>
          </a:p>
        </p:txBody>
      </p:sp>
      <p:sp>
        <p:nvSpPr>
          <p:cNvPr id="21" name="product_status">
            <a:extLst xmlns:a="http://schemas.openxmlformats.org/drawingml/2006/main">
              <a:ext uri="{FF2B5EF4-FFF2-40B4-BE49-F238E27FC236}">
                <a16:creationId xmlns:a16="http://schemas.microsoft.com/office/drawing/2014/main" id="{4958FC5B-8C9C-4FBF-8FD2-F77460E5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193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product_status</a:t>
            </a:r>
          </a:p>
        </p:txBody>
      </p:sp>
      <p:sp>
        <p:nvSpPr>
          <p:cNvPr id="22" name="处置建议">
            <a:extLst xmlns:a="http://schemas.openxmlformats.org/drawingml/2006/main">
              <a:ext uri="{FF2B5EF4-FFF2-40B4-BE49-F238E27FC236}">
                <a16:creationId xmlns:a16="http://schemas.microsoft.com/office/drawing/2014/main" id="{2BE76048-B87A-430B-9A5A-4B3E0944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31457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处置建议</a:t>
            </a:r>
          </a:p>
        </p:txBody>
      </p:sp>
      <p:sp>
        <p:nvSpPr>
          <p:cNvPr id="23" name="FIX 引用">
            <a:extLst xmlns:a="http://schemas.openxmlformats.org/drawingml/2006/main">
              <a:ext uri="{FF2B5EF4-FFF2-40B4-BE49-F238E27FC236}">
                <a16:creationId xmlns:a16="http://schemas.microsoft.com/office/drawing/2014/main" id="{20795839-6312-45DC-90B2-9D18C759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1457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FIX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24" name="course-of-action">
            <a:extLst xmlns:a="http://schemas.openxmlformats.org/drawingml/2006/main">
              <a:ext uri="{FF2B5EF4-FFF2-40B4-BE49-F238E27FC236}">
                <a16:creationId xmlns:a16="http://schemas.microsoft.com/office/drawing/2014/main" id="{16FDFCC8-AA77-471E-96F6-8A51013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1457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course-of-action</a:t>
            </a:r>
          </a:p>
        </p:txBody>
      </p:sp>
      <p:sp>
        <p:nvSpPr>
          <p:cNvPr id="25" name="remediations">
            <a:extLst xmlns:a="http://schemas.openxmlformats.org/drawingml/2006/main">
              <a:ext uri="{FF2B5EF4-FFF2-40B4-BE49-F238E27FC236}">
                <a16:creationId xmlns:a16="http://schemas.microsoft.com/office/drawing/2014/main" id="{EF24A32F-C4C7-4F32-A49B-18B83D95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1457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remediations</a:t>
            </a:r>
          </a:p>
        </p:txBody>
      </p:sp>
      <p:sp>
        <p:nvSpPr>
          <p:cNvPr id="26" name="ATLAS">
            <a:extLst xmlns:a="http://schemas.openxmlformats.org/drawingml/2006/main">
              <a:ext uri="{FF2B5EF4-FFF2-40B4-BE49-F238E27FC236}">
                <a16:creationId xmlns:a16="http://schemas.microsoft.com/office/drawing/2014/main" id="{21585950-86A4-44EF-B3EB-7A3D7A44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6098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</a:t>
            </a:r>
          </a:p>
        </p:txBody>
      </p:sp>
      <p:sp>
        <p:nvSpPr>
          <p:cNvPr id="27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0B2D6550-585B-492E-837E-C699139A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098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28" name="attack-pattern">
            <a:extLst xmlns:a="http://schemas.openxmlformats.org/drawingml/2006/main">
              <a:ext uri="{FF2B5EF4-FFF2-40B4-BE49-F238E27FC236}">
                <a16:creationId xmlns:a16="http://schemas.microsoft.com/office/drawing/2014/main" id="{13EBEDCC-5A20-4AB4-B560-AE46E1C8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attack-pattern</a:t>
            </a:r>
          </a:p>
        </p:txBody>
      </p:sp>
      <p:sp>
        <p:nvSpPr>
          <p:cNvPr id="29" name="notes">
            <a:extLst xmlns:a="http://schemas.openxmlformats.org/drawingml/2006/main">
              <a:ext uri="{FF2B5EF4-FFF2-40B4-BE49-F238E27FC236}">
                <a16:creationId xmlns:a16="http://schemas.microsoft.com/office/drawing/2014/main" id="{2FDBB17A-CE06-4895-86BC-30CE013D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notes</a:t>
            </a:r>
          </a:p>
        </p:txBody>
      </p:sp>
      <p:sp>
        <p:nvSpPr>
          <p:cNvPr id="30" name="关系与置信度">
            <a:extLst xmlns:a="http://schemas.openxmlformats.org/drawingml/2006/main">
              <a:ext uri="{FF2B5EF4-FFF2-40B4-BE49-F238E27FC236}">
                <a16:creationId xmlns:a16="http://schemas.microsoft.com/office/drawing/2014/main" id="{EF99AD68-A6F9-4EE9-9A38-73170EF1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9051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关系与置信度</a:t>
            </a:r>
          </a:p>
        </p:txBody>
      </p:sp>
      <p:sp>
        <p:nvSpPr>
          <p:cNvPr id="31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1981746E-ABCA-49A1-9BD0-381B57BE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051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32" name="relationship">
            <a:extLst xmlns:a="http://schemas.openxmlformats.org/drawingml/2006/main">
              <a:ext uri="{FF2B5EF4-FFF2-40B4-BE49-F238E27FC236}">
                <a16:creationId xmlns:a16="http://schemas.microsoft.com/office/drawing/2014/main" id="{3F04F821-E4EB-4024-850E-4CD3AB4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relationship</a:t>
            </a:r>
          </a:p>
        </p:txBody>
      </p:sp>
      <p:sp>
        <p:nvSpPr>
          <p:cNvPr id="33" name="无原生项">
            <a:extLst xmlns:a="http://schemas.openxmlformats.org/drawingml/2006/main">
              <a:ext uri="{FF2B5EF4-FFF2-40B4-BE49-F238E27FC236}">
                <a16:creationId xmlns:a16="http://schemas.microsoft.com/office/drawing/2014/main" id="{568E0CAE-C321-4BAA-B079-B3FC2D31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05125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无原生项</a:t>
            </a:r>
          </a:p>
        </p:txBody>
      </p:sp>
      <p:sp>
        <p:nvSpPr>
          <p:cNvPr id="34" name="PoC 引用">
            <a:extLst xmlns:a="http://schemas.openxmlformats.org/drawingml/2006/main">
              <a:ext uri="{FF2B5EF4-FFF2-40B4-BE49-F238E27FC236}">
                <a16:creationId xmlns:a16="http://schemas.microsoft.com/office/drawing/2014/main" id="{9D13AC3B-5C5C-437E-B15B-D54A0A31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32004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35" name="EVIDENCE 链接">
            <a:extLst xmlns:a="http://schemas.openxmlformats.org/drawingml/2006/main">
              <a:ext uri="{FF2B5EF4-FFF2-40B4-BE49-F238E27FC236}">
                <a16:creationId xmlns:a16="http://schemas.microsoft.com/office/drawing/2014/main" id="{15539A39-DE4B-447D-8017-9AFCA2A6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004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EVIDENCE </a:t>
            </a:r>
            <a:r>
              <a:rPr sz="8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链接</a:t>
            </a:r>
          </a:p>
        </p:txBody>
      </p:sp>
      <p:sp>
        <p:nvSpPr>
          <p:cNvPr id="36" name="external_references">
            <a:extLst xmlns:a="http://schemas.openxmlformats.org/drawingml/2006/main">
              <a:ext uri="{FF2B5EF4-FFF2-40B4-BE49-F238E27FC236}">
                <a16:creationId xmlns:a16="http://schemas.microsoft.com/office/drawing/2014/main" id="{85BACA50-7812-48C8-81DE-D944A7F0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004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external_references</a:t>
            </a:r>
          </a:p>
        </p:txBody>
      </p:sp>
      <p:sp>
        <p:nvSpPr>
          <p:cNvPr id="37" name="references">
            <a:extLst xmlns:a="http://schemas.openxmlformats.org/drawingml/2006/main">
              <a:ext uri="{FF2B5EF4-FFF2-40B4-BE49-F238E27FC236}">
                <a16:creationId xmlns:a16="http://schemas.microsoft.com/office/drawing/2014/main" id="{6DE7CCA4-B4E7-4036-98CA-16C043D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00400"/>
            <a:ext cx="13716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38" name="按映射表保留语义；没有原生字段的内容使用扩展，不能宣称天然无损">
            <a:extLst xmlns:a="http://schemas.openxmlformats.org/drawingml/2006/main">
              <a:ext uri="{FF2B5EF4-FFF2-40B4-BE49-F238E27FC236}">
                <a16:creationId xmlns:a16="http://schemas.microsoft.com/office/drawing/2014/main" id="{6D866C8D-4645-4655-ACAA-A9D2A05A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按映射表保留语义；没有原生字段的内容使用扩展，不能宣称天然无损</a:t>
            </a:r>
          </a:p>
        </p:txBody>
      </p:sp>
    </p:spTree>
    <p:extLst>
      <p:ext uri="{BB962C8B-B14F-4D97-AF65-F5344CB8AC3E}">
        <p14:creationId xmlns:p14="http://schemas.microsoft.com/office/powerpoint/2010/main" val="16156218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采集">
            <a:extLst xmlns:a="http://schemas.openxmlformats.org/drawingml/2006/main">
              <a:ext uri="{FF2B5EF4-FFF2-40B4-BE49-F238E27FC236}">
                <a16:creationId xmlns:a16="http://schemas.microsoft.com/office/drawing/2014/main" id="{FA3C43AB-A59A-4F6F-AA1A-1C1FD5DA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95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</a:t>
            </a:r>
          </a:p>
        </p:txBody>
      </p:sp>
      <p:sp>
        <p:nvSpPr>
          <p:cNvPr id="2" name="Python / httpx（建议）">
            <a:extLst xmlns:a="http://schemas.openxmlformats.org/drawingml/2006/main">
              <a:ext uri="{FF2B5EF4-FFF2-40B4-BE49-F238E27FC236}">
                <a16:creationId xmlns:a16="http://schemas.microsoft.com/office/drawing/2014/main" id="{08B2AF22-4C50-4F3E-B46A-73001B74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95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Python / httpx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（建议）</a:t>
            </a:r>
          </a:p>
        </p:txBody>
      </p:sp>
      <p:sp>
        <p:nvSpPr>
          <p:cNvPr id="3" name="requests / Scrapy">
            <a:extLst xmlns:a="http://schemas.openxmlformats.org/drawingml/2006/main">
              <a:ext uri="{FF2B5EF4-FFF2-40B4-BE49-F238E27FC236}">
                <a16:creationId xmlns:a16="http://schemas.microsoft.com/office/drawing/2014/main" id="{E2902DCB-6FEA-4B64-A72D-BECF6AE9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952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requests / Scrapy</a:t>
            </a:r>
          </a:p>
        </p:txBody>
      </p:sp>
      <p:sp>
        <p:nvSpPr>
          <p:cNvPr id="4" name="消息调度">
            <a:extLst xmlns:a="http://schemas.openxmlformats.org/drawingml/2006/main">
              <a:ext uri="{FF2B5EF4-FFF2-40B4-BE49-F238E27FC236}">
                <a16:creationId xmlns:a16="http://schemas.microsoft.com/office/drawing/2014/main" id="{64C5AB3C-60BF-4FD7-B7B5-8E04FC51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191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消息调度</a:t>
            </a:r>
          </a:p>
        </p:txBody>
      </p:sp>
      <p:sp>
        <p:nvSpPr>
          <p:cNvPr id="5" name="Redis Streams / NATS">
            <a:extLst xmlns:a="http://schemas.openxmlformats.org/drawingml/2006/main">
              <a:ext uri="{FF2B5EF4-FFF2-40B4-BE49-F238E27FC236}">
                <a16:creationId xmlns:a16="http://schemas.microsoft.com/office/drawing/2014/main" id="{44E34AFE-B87D-4251-9651-B22A5E1D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Redis Streams / NATS</a:t>
            </a:r>
          </a:p>
        </p:txBody>
      </p:sp>
      <p:sp>
        <p:nvSpPr>
          <p:cNvPr id="6" name="Kafka">
            <a:extLst xmlns:a="http://schemas.openxmlformats.org/drawingml/2006/main">
              <a:ext uri="{FF2B5EF4-FFF2-40B4-BE49-F238E27FC236}">
                <a16:creationId xmlns:a16="http://schemas.microsoft.com/office/drawing/2014/main" id="{0BF2133F-5BBD-4BD3-8EE0-1DFED04B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191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Kafka</a:t>
            </a:r>
          </a:p>
        </p:txBody>
      </p:sp>
      <p:sp>
        <p:nvSpPr>
          <p:cNvPr id="7" name="编排">
            <a:extLst xmlns:a="http://schemas.openxmlformats.org/drawingml/2006/main">
              <a:ext uri="{FF2B5EF4-FFF2-40B4-BE49-F238E27FC236}">
                <a16:creationId xmlns:a16="http://schemas.microsoft.com/office/drawing/2014/main" id="{880FB3AB-C3CF-4FBB-83B1-3B0EFC59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429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编排</a:t>
            </a:r>
          </a:p>
        </p:txBody>
      </p:sp>
      <p:sp>
        <p:nvSpPr>
          <p:cNvPr id="8" name="LangGraph">
            <a:extLst xmlns:a="http://schemas.openxmlformats.org/drawingml/2006/main">
              <a:ext uri="{FF2B5EF4-FFF2-40B4-BE49-F238E27FC236}">
                <a16:creationId xmlns:a16="http://schemas.microsoft.com/office/drawing/2014/main" id="{4C84B841-8999-4103-8607-0C5793DA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2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LangGraph</a:t>
            </a:r>
          </a:p>
        </p:txBody>
      </p:sp>
      <p:sp>
        <p:nvSpPr>
          <p:cNvPr id="9" name="AutoGen / CrewAI">
            <a:extLst xmlns:a="http://schemas.openxmlformats.org/drawingml/2006/main">
              <a:ext uri="{FF2B5EF4-FFF2-40B4-BE49-F238E27FC236}">
                <a16:creationId xmlns:a16="http://schemas.microsoft.com/office/drawing/2014/main" id="{FD304159-3F0B-48AA-813B-72F1E78F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7429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AutoGen / CrewAI</a:t>
            </a:r>
          </a:p>
        </p:txBody>
      </p:sp>
      <p:sp>
        <p:nvSpPr>
          <p:cNvPr id="10" name="模型">
            <a:extLst xmlns:a="http://schemas.openxmlformats.org/drawingml/2006/main">
              <a:ext uri="{FF2B5EF4-FFF2-40B4-BE49-F238E27FC236}">
                <a16:creationId xmlns:a16="http://schemas.microsoft.com/office/drawing/2014/main" id="{B433A3A4-AC24-4EDA-8E96-9572ACAA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0668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模型</a:t>
            </a:r>
          </a:p>
        </p:txBody>
      </p:sp>
      <p:sp>
        <p:nvSpPr>
          <p:cNvPr id="11" name="Qwen / DeepSeek（建议）">
            <a:extLst xmlns:a="http://schemas.openxmlformats.org/drawingml/2006/main">
              <a:ext uri="{FF2B5EF4-FFF2-40B4-BE49-F238E27FC236}">
                <a16:creationId xmlns:a16="http://schemas.microsoft.com/office/drawing/2014/main" id="{86D57757-6DFE-4C8C-AE7F-612A1762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066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Qwen / DeepSeek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（建议）</a:t>
            </a:r>
          </a:p>
        </p:txBody>
      </p:sp>
      <p:sp>
        <p:nvSpPr>
          <p:cNvPr id="12" name="私有化模型">
            <a:extLst xmlns:a="http://schemas.openxmlformats.org/drawingml/2006/main">
              <a:ext uri="{FF2B5EF4-FFF2-40B4-BE49-F238E27FC236}">
                <a16:creationId xmlns:a16="http://schemas.microsoft.com/office/drawing/2014/main" id="{2406B926-E115-47F6-A68F-FE1597FF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0668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私有化模型</a:t>
            </a:r>
          </a:p>
        </p:txBody>
      </p:sp>
      <p:sp>
        <p:nvSpPr>
          <p:cNvPr id="13" name="主存储">
            <a:extLst xmlns:a="http://schemas.openxmlformats.org/drawingml/2006/main">
              <a:ext uri="{FF2B5EF4-FFF2-40B4-BE49-F238E27FC236}">
                <a16:creationId xmlns:a16="http://schemas.microsoft.com/office/drawing/2014/main" id="{289AD937-2877-4DC3-BFCC-14643F1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906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主存储</a:t>
            </a:r>
          </a:p>
        </p:txBody>
      </p:sp>
      <p:sp>
        <p:nvSpPr>
          <p:cNvPr id="14" name="PostgreSQL + pgvector">
            <a:extLst xmlns:a="http://schemas.openxmlformats.org/drawingml/2006/main">
              <a:ext uri="{FF2B5EF4-FFF2-40B4-BE49-F238E27FC236}">
                <a16:creationId xmlns:a16="http://schemas.microsoft.com/office/drawing/2014/main" id="{92A03672-CF37-420D-94A2-E59506F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PostgreSQL + pgvector</a:t>
            </a:r>
          </a:p>
        </p:txBody>
      </p:sp>
      <p:sp>
        <p:nvSpPr>
          <p:cNvPr id="15" name="Milvus">
            <a:extLst xmlns:a="http://schemas.openxmlformats.org/drawingml/2006/main">
              <a:ext uri="{FF2B5EF4-FFF2-40B4-BE49-F238E27FC236}">
                <a16:creationId xmlns:a16="http://schemas.microsoft.com/office/drawing/2014/main" id="{1A5FA9A4-F55B-4384-B280-FF0FFC9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3906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Milvus</a:t>
            </a:r>
          </a:p>
        </p:txBody>
      </p:sp>
      <p:sp>
        <p:nvSpPr>
          <p:cNvPr id="16" name="图谱与检索">
            <a:extLst xmlns:a="http://schemas.openxmlformats.org/drawingml/2006/main">
              <a:ext uri="{FF2B5EF4-FFF2-40B4-BE49-F238E27FC236}">
                <a16:creationId xmlns:a16="http://schemas.microsoft.com/office/drawing/2014/main" id="{03C4725F-67CC-47C0-A546-8ABBC22D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145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图谱与检索</a:t>
            </a:r>
          </a:p>
        </p:txBody>
      </p:sp>
      <p:sp>
        <p:nvSpPr>
          <p:cNvPr id="17" name="Neo4j / OpenSearch + IK">
            <a:extLst xmlns:a="http://schemas.openxmlformats.org/drawingml/2006/main">
              <a:ext uri="{FF2B5EF4-FFF2-40B4-BE49-F238E27FC236}">
                <a16:creationId xmlns:a16="http://schemas.microsoft.com/office/drawing/2014/main" id="{08FBFC1A-3C42-456D-9F4C-7135A69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Neo4j / OpenSearch + IK</a:t>
            </a:r>
          </a:p>
        </p:txBody>
      </p:sp>
      <p:sp>
        <p:nvSpPr>
          <p:cNvPr id="18" name="AGE / Meilisearch">
            <a:extLst xmlns:a="http://schemas.openxmlformats.org/drawingml/2006/main">
              <a:ext uri="{FF2B5EF4-FFF2-40B4-BE49-F238E27FC236}">
                <a16:creationId xmlns:a16="http://schemas.microsoft.com/office/drawing/2014/main" id="{D36CD089-E179-4FC9-A050-61FB4E5B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145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 / Meilisearch</a:t>
            </a:r>
          </a:p>
        </p:txBody>
      </p:sp>
      <p:sp>
        <p:nvSpPr>
          <p:cNvPr id="19" name="嵌入与重排">
            <a:extLst xmlns:a="http://schemas.openxmlformats.org/drawingml/2006/main">
              <a:ext uri="{FF2B5EF4-FFF2-40B4-BE49-F238E27FC236}">
                <a16:creationId xmlns:a16="http://schemas.microsoft.com/office/drawing/2014/main" id="{D67191FC-9918-44B1-9DD6-ACCF14D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383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嵌入与重排</a:t>
            </a:r>
          </a:p>
        </p:txBody>
      </p:sp>
      <p:sp>
        <p:nvSpPr>
          <p:cNvPr id="20" name="bge-m3 / bge-reranker">
            <a:extLst xmlns:a="http://schemas.openxmlformats.org/drawingml/2006/main">
              <a:ext uri="{FF2B5EF4-FFF2-40B4-BE49-F238E27FC236}">
                <a16:creationId xmlns:a16="http://schemas.microsoft.com/office/drawing/2014/main" id="{E97A9B5E-5286-4BCB-80D8-1D8544748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bge-m3 / bge-reranker</a:t>
            </a:r>
          </a:p>
        </p:txBody>
      </p:sp>
      <p:sp>
        <p:nvSpPr>
          <p:cNvPr id="21" name="商用嵌入">
            <a:extLst xmlns:a="http://schemas.openxmlformats.org/drawingml/2006/main">
              <a:ext uri="{FF2B5EF4-FFF2-40B4-BE49-F238E27FC236}">
                <a16:creationId xmlns:a16="http://schemas.microsoft.com/office/drawing/2014/main" id="{CC561D55-C09C-47CD-8C64-3E17D12E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383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商用嵌入</a:t>
            </a:r>
          </a:p>
        </p:txBody>
      </p:sp>
      <p:sp>
        <p:nvSpPr>
          <p:cNvPr id="22" name="后端与 MCP">
            <a:extLst xmlns:a="http://schemas.openxmlformats.org/drawingml/2006/main">
              <a:ext uri="{FF2B5EF4-FFF2-40B4-BE49-F238E27FC236}">
                <a16:creationId xmlns:a16="http://schemas.microsoft.com/office/drawing/2014/main" id="{85D3C89F-2D97-479A-B15C-997229BB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3622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后端与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MCP</a:t>
            </a:r>
          </a:p>
        </p:txBody>
      </p:sp>
      <p:sp>
        <p:nvSpPr>
          <p:cNvPr id="23" name="FastAPI / 官方 Python SDK">
            <a:extLst xmlns:a="http://schemas.openxmlformats.org/drawingml/2006/main">
              <a:ext uri="{FF2B5EF4-FFF2-40B4-BE49-F238E27FC236}">
                <a16:creationId xmlns:a16="http://schemas.microsoft.com/office/drawing/2014/main" id="{7D830B56-77E2-4C51-B3F3-62D90249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FastAPI /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官方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Python SDK</a:t>
            </a:r>
          </a:p>
        </p:txBody>
      </p:sp>
      <p:sp>
        <p:nvSpPr>
          <p:cNvPr id="24" name="Litestar / FastMCP">
            <a:extLst xmlns:a="http://schemas.openxmlformats.org/drawingml/2006/main">
              <a:ext uri="{FF2B5EF4-FFF2-40B4-BE49-F238E27FC236}">
                <a16:creationId xmlns:a16="http://schemas.microsoft.com/office/drawing/2014/main" id="{73C87EE5-B4EE-4638-A92B-8AF00F95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622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Litestar / FastMCP</a:t>
            </a:r>
          </a:p>
        </p:txBody>
      </p:sp>
      <p:sp>
        <p:nvSpPr>
          <p:cNvPr id="25" name="前端">
            <a:extLst xmlns:a="http://schemas.openxmlformats.org/drawingml/2006/main">
              <a:ext uri="{FF2B5EF4-FFF2-40B4-BE49-F238E27FC236}">
                <a16:creationId xmlns:a16="http://schemas.microsoft.com/office/drawing/2014/main" id="{D42DFF61-1281-4B19-A472-135B781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860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前端</a:t>
            </a:r>
          </a:p>
        </p:txBody>
      </p:sp>
      <p:sp>
        <p:nvSpPr>
          <p:cNvPr id="26" name="React / ECharts / Cytoscape">
            <a:extLst xmlns:a="http://schemas.openxmlformats.org/drawingml/2006/main">
              <a:ext uri="{FF2B5EF4-FFF2-40B4-BE49-F238E27FC236}">
                <a16:creationId xmlns:a16="http://schemas.microsoft.com/office/drawing/2014/main" id="{C3A7128B-5CDA-46BA-9795-CC776839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React / ECharts / Cytoscape</a:t>
            </a:r>
          </a:p>
        </p:txBody>
      </p:sp>
      <p:sp>
        <p:nvSpPr>
          <p:cNvPr id="27" name="Vue / AntV G6">
            <a:extLst xmlns:a="http://schemas.openxmlformats.org/drawingml/2006/main">
              <a:ext uri="{FF2B5EF4-FFF2-40B4-BE49-F238E27FC236}">
                <a16:creationId xmlns:a16="http://schemas.microsoft.com/office/drawing/2014/main" id="{DF1019FF-8743-47C6-AF5E-1B8F668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860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Vue / AntV G6</a:t>
            </a:r>
          </a:p>
        </p:txBody>
      </p:sp>
      <p:sp>
        <p:nvSpPr>
          <p:cNvPr id="28" name="可观测">
            <a:extLst xmlns:a="http://schemas.openxmlformats.org/drawingml/2006/main">
              <a:ext uri="{FF2B5EF4-FFF2-40B4-BE49-F238E27FC236}">
                <a16:creationId xmlns:a16="http://schemas.microsoft.com/office/drawing/2014/main" id="{17E90789-82CD-4B6A-8EB0-145F79FE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00990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可观测</a:t>
            </a:r>
          </a:p>
        </p:txBody>
      </p:sp>
      <p:sp>
        <p:nvSpPr>
          <p:cNvPr id="29" name="Langfuse / Prometheus / Grafana">
            <a:extLst xmlns:a="http://schemas.openxmlformats.org/drawingml/2006/main">
              <a:ext uri="{FF2B5EF4-FFF2-40B4-BE49-F238E27FC236}">
                <a16:creationId xmlns:a16="http://schemas.microsoft.com/office/drawing/2014/main" id="{9066816F-70CE-4A6E-8397-E7D5563F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Langfuse / Prometheus / Grafana</a:t>
            </a:r>
          </a:p>
        </p:txBody>
      </p:sp>
      <p:sp>
        <p:nvSpPr>
          <p:cNvPr id="30" name="OpenTelemetry 后端">
            <a:extLst xmlns:a="http://schemas.openxmlformats.org/drawingml/2006/main">
              <a:ext uri="{FF2B5EF4-FFF2-40B4-BE49-F238E27FC236}">
                <a16:creationId xmlns:a16="http://schemas.microsoft.com/office/drawing/2014/main" id="{9A7EA85B-C244-41F5-BD38-99F7155C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0990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OpenTelemetry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后端</a:t>
            </a:r>
          </a:p>
        </p:txBody>
      </p:sp>
      <p:sp>
        <p:nvSpPr>
          <p:cNvPr id="31" name="部署">
            <a:extLst xmlns:a="http://schemas.openxmlformats.org/drawingml/2006/main">
              <a:ext uri="{FF2B5EF4-FFF2-40B4-BE49-F238E27FC236}">
                <a16:creationId xmlns:a16="http://schemas.microsoft.com/office/drawing/2014/main" id="{EE51B01C-CA8D-429B-9731-49987372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3337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部署</a:t>
            </a:r>
          </a:p>
        </p:txBody>
      </p:sp>
      <p:sp>
        <p:nvSpPr>
          <p:cNvPr id="32" name="docker compose">
            <a:extLst xmlns:a="http://schemas.openxmlformats.org/drawingml/2006/main">
              <a:ext uri="{FF2B5EF4-FFF2-40B4-BE49-F238E27FC236}">
                <a16:creationId xmlns:a16="http://schemas.microsoft.com/office/drawing/2014/main" id="{27AD21F6-E979-4837-8998-25EF189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337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docker compose</a:t>
            </a:r>
          </a:p>
        </p:txBody>
      </p:sp>
      <p:sp>
        <p:nvSpPr>
          <p:cNvPr id="33" name="Kubernetes / Helm">
            <a:extLst xmlns:a="http://schemas.openxmlformats.org/drawingml/2006/main">
              <a:ext uri="{FF2B5EF4-FFF2-40B4-BE49-F238E27FC236}">
                <a16:creationId xmlns:a16="http://schemas.microsoft.com/office/drawing/2014/main" id="{43E096C5-42CC-491F-BF61-1C751146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33750"/>
            <a:ext cx="166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Kubernetes / Helm</a:t>
            </a:r>
          </a:p>
        </p:txBody>
      </p:sp>
      <p:sp>
        <p:nvSpPr>
          <p:cNvPr id="34" name="右列为备选；建议项与规划项不等于已经部署">
            <a:extLst xmlns:a="http://schemas.openxmlformats.org/drawingml/2006/main">
              <a:ext uri="{FF2B5EF4-FFF2-40B4-BE49-F238E27FC236}">
                <a16:creationId xmlns:a16="http://schemas.microsoft.com/office/drawing/2014/main" id="{2E82C1E3-1456-4EF7-BA86-C53C00F5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右列为备选；建议项与规划项不等于已经部署</a:t>
            </a:r>
          </a:p>
        </p:txBody>
      </p:sp>
    </p:spTree>
    <p:extLst>
      <p:ext uri="{BB962C8B-B14F-4D97-AF65-F5344CB8AC3E}">
        <p14:creationId xmlns:p14="http://schemas.microsoft.com/office/powerpoint/2010/main" val="17732241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53B79C-3D8A-4678-90EB-B46B736A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38125"/>
            <a:ext cx="5334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应用容器">
            <a:extLst xmlns:a="http://schemas.openxmlformats.org/drawingml/2006/main">
              <a:ext uri="{FF2B5EF4-FFF2-40B4-BE49-F238E27FC236}">
                <a16:creationId xmlns:a16="http://schemas.microsoft.com/office/drawing/2014/main" id="{15AA939A-7E72-420E-817F-739FC850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518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应用容器</a:t>
            </a:r>
          </a:p>
        </p:txBody>
      </p:sp>
      <p:sp>
        <p:nvSpPr>
          <p:cNvPr id="3" name="api /api/v1">
            <a:extLst xmlns:a="http://schemas.openxmlformats.org/drawingml/2006/main">
              <a:ext uri="{FF2B5EF4-FFF2-40B4-BE49-F238E27FC236}">
                <a16:creationId xmlns:a16="http://schemas.microsoft.com/office/drawing/2014/main" id="{8FB02B22-D377-400D-B9AC-7A03CE19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api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/api/v1</a:t>
            </a:r>
          </a:p>
        </p:txBody>
      </p:sp>
      <p:sp>
        <p:nvSpPr>
          <p:cNvPr id="4" name="mcp /mcp">
            <a:extLst xmlns:a="http://schemas.openxmlformats.org/drawingml/2006/main">
              <a:ext uri="{FF2B5EF4-FFF2-40B4-BE49-F238E27FC236}">
                <a16:creationId xmlns:a16="http://schemas.microsoft.com/office/drawing/2014/main" id="{771A3F3E-EA34-4673-BD18-1A0D48CD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mcp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/mcp</a:t>
            </a:r>
          </a:p>
        </p:txBody>
      </p:sp>
      <p:sp>
        <p:nvSpPr>
          <p:cNvPr id="5" name="workers 9 个角色">
            <a:extLst xmlns:a="http://schemas.openxmlformats.org/drawingml/2006/main">
              <a:ext uri="{FF2B5EF4-FFF2-40B4-BE49-F238E27FC236}">
                <a16:creationId xmlns:a16="http://schemas.microsoft.com/office/drawing/2014/main" id="{02DF043A-58B8-4CAD-9CB3-71B2DF0B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workers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个角色</a:t>
            </a:r>
          </a:p>
        </p:txBody>
      </p:sp>
      <p:sp>
        <p:nvSpPr>
          <p:cNvPr id="6" name="scheduler">
            <a:extLst xmlns:a="http://schemas.openxmlformats.org/drawingml/2006/main">
              <a:ext uri="{FF2B5EF4-FFF2-40B4-BE49-F238E27FC236}">
                <a16:creationId xmlns:a16="http://schemas.microsoft.com/office/drawing/2014/main" id="{8E9F2D73-635E-4C3B-9655-1B9C7418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905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scheduler</a:t>
            </a:r>
          </a:p>
        </p:txBody>
      </p:sp>
      <p:sp>
        <p:nvSpPr>
          <p:cNvPr id="7" name="web">
            <a:extLst xmlns:a="http://schemas.openxmlformats.org/drawingml/2006/main">
              <a:ext uri="{FF2B5EF4-FFF2-40B4-BE49-F238E27FC236}">
                <a16:creationId xmlns:a16="http://schemas.microsoft.com/office/drawing/2014/main" id="{6D753382-C0F2-4B4D-A296-3128D53C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40" y="666750"/>
            <a:ext cx="93726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52A62-CB64-4196-B869-3C0B9251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695450"/>
            <a:ext cx="533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9" name="数据容器">
            <a:extLst xmlns:a="http://schemas.openxmlformats.org/drawingml/2006/main">
              <a:ext uri="{FF2B5EF4-FFF2-40B4-BE49-F238E27FC236}">
                <a16:creationId xmlns:a16="http://schemas.microsoft.com/office/drawing/2014/main" id="{AEEB9934-6F91-4BD0-99A8-DDB16FDC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43075"/>
            <a:ext cx="518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3E6E9E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3E6E9E"/>
                </a:solidFill>
                <a:latin typeface="SimSun"/>
                <a:ea typeface="SimSun"/>
                <a:cs typeface="SimSun"/>
              </a:rPr>
              <a:t>数据容器</a:t>
            </a:r>
          </a:p>
        </p:txBody>
      </p:sp>
      <p:sp>
        <p:nvSpPr>
          <p:cNvPr id="10" name="postgres pgvector">
            <a:extLst xmlns:a="http://schemas.openxmlformats.org/drawingml/2006/main">
              <a:ext uri="{FF2B5EF4-FFF2-40B4-BE49-F238E27FC236}">
                <a16:creationId xmlns:a16="http://schemas.microsoft.com/office/drawing/2014/main" id="{813361A7-E98B-44D8-BF28-71F96416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postgres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pgvector</a:t>
            </a:r>
          </a:p>
        </p:txBody>
      </p:sp>
      <p:sp>
        <p:nvSpPr>
          <p:cNvPr id="11" name="neo4j">
            <a:extLst xmlns:a="http://schemas.openxmlformats.org/drawingml/2006/main">
              <a:ext uri="{FF2B5EF4-FFF2-40B4-BE49-F238E27FC236}">
                <a16:creationId xmlns:a16="http://schemas.microsoft.com/office/drawing/2014/main" id="{A8EE9582-7FF4-429B-842A-D3E3CF5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neo4j</a:t>
            </a:r>
          </a:p>
        </p:txBody>
      </p:sp>
      <p:sp>
        <p:nvSpPr>
          <p:cNvPr id="12" name="opensearch IK">
            <a:extLst xmlns:a="http://schemas.openxmlformats.org/drawingml/2006/main">
              <a:ext uri="{FF2B5EF4-FFF2-40B4-BE49-F238E27FC236}">
                <a16:creationId xmlns:a16="http://schemas.microsoft.com/office/drawing/2014/main" id="{2E88B0F6-55E5-47A8-92FA-560743CD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887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opensearch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IK</a:t>
            </a:r>
          </a:p>
        </p:txBody>
      </p:sp>
      <p:sp>
        <p:nvSpPr>
          <p:cNvPr id="13" name="redis / nats">
            <a:extLst xmlns:a="http://schemas.openxmlformats.org/drawingml/2006/main">
              <a:ext uri="{FF2B5EF4-FFF2-40B4-BE49-F238E27FC236}">
                <a16:creationId xmlns:a16="http://schemas.microsoft.com/office/drawing/2014/main" id="{5D6D30F0-2BBC-4A90-A82A-8920983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0905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redis / nats</a:t>
            </a:r>
          </a:p>
        </p:txBody>
      </p:sp>
      <p:sp>
        <p:nvSpPr>
          <p:cNvPr id="14" name="minio">
            <a:extLst xmlns:a="http://schemas.openxmlformats.org/drawingml/2006/main">
              <a:ext uri="{FF2B5EF4-FFF2-40B4-BE49-F238E27FC236}">
                <a16:creationId xmlns:a16="http://schemas.microsoft.com/office/drawing/2014/main" id="{0EAAB6C2-0324-4769-8CEA-D2B19A85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2940" y="2085975"/>
            <a:ext cx="93726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E6E9E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minio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D44DD-3B5E-4F57-92F6-4C8DEEB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05150"/>
            <a:ext cx="5334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6" name="可观测容器">
            <a:extLst xmlns:a="http://schemas.openxmlformats.org/drawingml/2006/main">
              <a:ext uri="{FF2B5EF4-FFF2-40B4-BE49-F238E27FC236}">
                <a16:creationId xmlns:a16="http://schemas.microsoft.com/office/drawing/2014/main" id="{44043DB0-D2FD-4636-B50D-08A3459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152775"/>
            <a:ext cx="518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可观测容器</a:t>
            </a:r>
          </a:p>
        </p:txBody>
      </p:sp>
      <p:sp>
        <p:nvSpPr>
          <p:cNvPr id="17" name="langfuse">
            <a:extLst xmlns:a="http://schemas.openxmlformats.org/drawingml/2006/main">
              <a:ext uri="{FF2B5EF4-FFF2-40B4-BE49-F238E27FC236}">
                <a16:creationId xmlns:a16="http://schemas.microsoft.com/office/drawing/2014/main" id="{64BC1377-C8D8-4D7B-86FB-76F8A7F3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langfuse</a:t>
            </a:r>
          </a:p>
        </p:txBody>
      </p:sp>
      <p:sp>
        <p:nvSpPr>
          <p:cNvPr id="18" name="prometheus">
            <a:extLst xmlns:a="http://schemas.openxmlformats.org/drawingml/2006/main">
              <a:ext uri="{FF2B5EF4-FFF2-40B4-BE49-F238E27FC236}">
                <a16:creationId xmlns:a16="http://schemas.microsoft.com/office/drawing/2014/main" id="{65222924-F60D-4475-ACD2-7C617A33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42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prometheus</a:t>
            </a:r>
          </a:p>
        </p:txBody>
      </p:sp>
      <p:sp>
        <p:nvSpPr>
          <p:cNvPr id="19" name="grafana">
            <a:extLst xmlns:a="http://schemas.openxmlformats.org/drawingml/2006/main">
              <a:ext uri="{FF2B5EF4-FFF2-40B4-BE49-F238E27FC236}">
                <a16:creationId xmlns:a16="http://schemas.microsoft.com/office/drawing/2014/main" id="{58AD3B0C-C5CB-4300-AEC0-40186BDE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975" y="3390900"/>
            <a:ext cx="1454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grafana</a:t>
            </a:r>
          </a:p>
        </p:txBody>
      </p:sp>
      <p:sp>
        <p:nvSpPr>
          <p:cNvPr id="20" name="网络与消息队列">
            <a:extLst xmlns:a="http://schemas.openxmlformats.org/drawingml/2006/main">
              <a:ext uri="{FF2B5EF4-FFF2-40B4-BE49-F238E27FC236}">
                <a16:creationId xmlns:a16="http://schemas.microsoft.com/office/drawing/2014/main" id="{346B4BB2-2F54-4BA7-9330-041C5D1A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2857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网络与消息队列</a:t>
            </a:r>
          </a:p>
        </p:txBody>
      </p:sp>
      <p:sp>
        <p:nvSpPr>
          <p:cNvPr id="21" name="调用追踪 / 任务与时效指标">
            <a:extLst xmlns:a="http://schemas.openxmlformats.org/drawingml/2006/main">
              <a:ext uri="{FF2B5EF4-FFF2-40B4-BE49-F238E27FC236}">
                <a16:creationId xmlns:a16="http://schemas.microsoft.com/office/drawing/2014/main" id="{715C2A71-D42A-424E-B795-69031792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71775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调用追踪</a:t>
            </a:r>
            <a:r>
              <a:rPr sz="97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7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任务与时效指标</a:t>
            </a:r>
          </a:p>
        </p:txBody>
      </p:sp>
    </p:spTree>
    <p:extLst>
      <p:ext uri="{BB962C8B-B14F-4D97-AF65-F5344CB8AC3E}">
        <p14:creationId xmlns:p14="http://schemas.microsoft.com/office/powerpoint/2010/main" val="17068671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D41E9-FEAF-49F2-96C1-A908991EEE6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838450" y="28956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11E6C4-A725-42D2-BE0D-6FE7F1AB1F82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838450" y="20002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7139D-96D6-4844-98D1-E808F913B08F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1514475" y="1771650"/>
            <a:ext cx="561975" cy="947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F0E7F2-F756-4662-8471-59B95397D12C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00450" y="1771650"/>
            <a:ext cx="590550" cy="153828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AB975F-73E0-4F26-A597-4F846EAF2B9C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00450" y="1771650"/>
            <a:ext cx="590550" cy="947738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7A620-99F1-4D7D-BD5C-8FBF1DA0BD1D}"/>
              </a:ext>
            </a:extLst>
          </p:cNvPr>
          <p:cNvCxnSpPr>
            <a:stCxn xmlns:a="http://schemas.openxmlformats.org/drawingml/2006/main" id="31" idx="2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1514475" y="1733550"/>
            <a:ext cx="56197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EA3AB-ED64-44BF-B26C-4967C676F6DD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600450" y="1733550"/>
            <a:ext cx="59055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BB7C1-1ACD-4364-9CE6-0A6816BF79D1}"/>
              </a:ext>
            </a:extLst>
          </p:cNvPr>
          <p:cNvCxnSpPr>
            <a:stCxn xmlns:a="http://schemas.openxmlformats.org/drawingml/2006/main" id="31" idx="4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3600450" y="428625"/>
            <a:ext cx="590550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38182-BB64-4AB9-BE41-A8714920CED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1514475" y="428625"/>
            <a:ext cx="561975" cy="13430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31" name="Vulnerability">
            <a:extLst xmlns:a="http://schemas.openxmlformats.org/drawingml/2006/main">
              <a:ext uri="{FF2B5EF4-FFF2-40B4-BE49-F238E27FC236}">
                <a16:creationId xmlns:a16="http://schemas.microsoft.com/office/drawing/2014/main" id="{D14ECB5C-107C-4068-98A0-AC9C433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43050"/>
            <a:ext cx="1524000" cy="4572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Vulnerability</a:t>
            </a:r>
          </a:p>
        </p:txBody>
      </p:sp>
      <p:sp>
        <p:nvSpPr>
          <p:cNvPr id="2" name="Advisory">
            <a:extLst xmlns:a="http://schemas.openxmlformats.org/drawingml/2006/main">
              <a:ext uri="{FF2B5EF4-FFF2-40B4-BE49-F238E27FC236}">
                <a16:creationId xmlns:a16="http://schemas.microsoft.com/office/drawing/2014/main" id="{F6070571-709E-4A06-9D13-7DC4B12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47650"/>
            <a:ext cx="1323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Advisory</a:t>
            </a:r>
          </a:p>
        </p:txBody>
      </p:sp>
      <p:sp>
        <p:nvSpPr>
          <p:cNvPr id="3" name="Component">
            <a:extLst xmlns:a="http://schemas.openxmlformats.org/drawingml/2006/main">
              <a:ext uri="{FF2B5EF4-FFF2-40B4-BE49-F238E27FC236}">
                <a16:creationId xmlns:a16="http://schemas.microsoft.com/office/drawing/2014/main" id="{53681916-BB9C-441A-B75B-6DBA0105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Component</a:t>
            </a:r>
          </a:p>
        </p:txBody>
      </p:sp>
      <p:sp>
        <p:nvSpPr>
          <p:cNvPr id="4" name="Version">
            <a:extLst xmlns:a="http://schemas.openxmlformats.org/drawingml/2006/main">
              <a:ext uri="{FF2B5EF4-FFF2-40B4-BE49-F238E27FC236}">
                <a16:creationId xmlns:a16="http://schemas.microsoft.com/office/drawing/2014/main" id="{0792F2EE-0B58-4C27-805E-5683DCC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85825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Version</a:t>
            </a:r>
          </a:p>
        </p:txBody>
      </p:sp>
      <p:sp>
        <p:nvSpPr>
          <p:cNvPr id="5" name="AtlasTechnique">
            <a:extLst xmlns:a="http://schemas.openxmlformats.org/drawingml/2006/main">
              <a:ext uri="{FF2B5EF4-FFF2-40B4-BE49-F238E27FC236}">
                <a16:creationId xmlns:a16="http://schemas.microsoft.com/office/drawing/2014/main" id="{5A3C2768-0A82-4391-B55B-7A57986C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AtlasTechnique</a:t>
            </a:r>
          </a:p>
        </p:txBody>
      </p:sp>
      <p:sp>
        <p:nvSpPr>
          <p:cNvPr id="6" name="CWE">
            <a:extLst xmlns:a="http://schemas.openxmlformats.org/drawingml/2006/main">
              <a:ext uri="{FF2B5EF4-FFF2-40B4-BE49-F238E27FC236}">
                <a16:creationId xmlns:a16="http://schemas.microsoft.com/office/drawing/2014/main" id="{64E9788C-5136-45C5-A62A-E3680511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543050"/>
            <a:ext cx="13239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CWE</a:t>
            </a:r>
          </a:p>
        </p:txBody>
      </p:sp>
      <p:sp>
        <p:nvSpPr>
          <p:cNvPr id="7" name="Paper">
            <a:extLst xmlns:a="http://schemas.openxmlformats.org/drawingml/2006/main">
              <a:ext uri="{FF2B5EF4-FFF2-40B4-BE49-F238E27FC236}">
                <a16:creationId xmlns:a16="http://schemas.microsoft.com/office/drawing/2014/main" id="{0BC5C0E9-39FB-43A2-BDF8-9262D537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43175"/>
            <a:ext cx="1333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Paper</a:t>
            </a:r>
          </a:p>
        </p:txBody>
      </p:sp>
      <p:sp>
        <p:nvSpPr>
          <p:cNvPr id="8" name="Article">
            <a:extLst xmlns:a="http://schemas.openxmlformats.org/drawingml/2006/main">
              <a:ext uri="{FF2B5EF4-FFF2-40B4-BE49-F238E27FC236}">
                <a16:creationId xmlns:a16="http://schemas.microsoft.com/office/drawing/2014/main" id="{A6F974CD-C6B3-421F-8430-0D0F2634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33725"/>
            <a:ext cx="13335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Article</a:t>
            </a:r>
          </a:p>
        </p:txBody>
      </p:sp>
      <p:sp>
        <p:nvSpPr>
          <p:cNvPr id="9" name="PocRef">
            <a:extLst xmlns:a="http://schemas.openxmlformats.org/drawingml/2006/main">
              <a:ext uri="{FF2B5EF4-FFF2-40B4-BE49-F238E27FC236}">
                <a16:creationId xmlns:a16="http://schemas.microsoft.com/office/drawing/2014/main" id="{3CC13C80-618F-4375-94C3-76E56F3E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43175"/>
            <a:ext cx="13239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PocRef</a:t>
            </a:r>
          </a:p>
        </p:txBody>
      </p:sp>
      <p:sp>
        <p:nvSpPr>
          <p:cNvPr id="10" name="RiskCategory">
            <a:extLst xmlns:a="http://schemas.openxmlformats.org/drawingml/2006/main">
              <a:ext uri="{FF2B5EF4-FFF2-40B4-BE49-F238E27FC236}">
                <a16:creationId xmlns:a16="http://schemas.microsoft.com/office/drawing/2014/main" id="{56CDB029-3CEE-48DD-BAA2-DFB0826D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1524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RiskCategory</a:t>
            </a:r>
          </a:p>
        </p:txBody>
      </p:sp>
      <p:sp>
        <p:nvSpPr>
          <p:cNvPr id="11" name="Regulation">
            <a:extLst xmlns:a="http://schemas.openxmlformats.org/drawingml/2006/main">
              <a:ext uri="{FF2B5EF4-FFF2-40B4-BE49-F238E27FC236}">
                <a16:creationId xmlns:a16="http://schemas.microsoft.com/office/drawing/2014/main" id="{9F18882A-4816-4718-9D21-2C4DC12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33725"/>
            <a:ext cx="15240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Regulation</a:t>
            </a:r>
          </a:p>
        </p:txBody>
      </p:sp>
      <p:sp>
        <p:nvSpPr>
          <p:cNvPr id="21" name="DESCRIBES">
            <a:extLst xmlns:a="http://schemas.openxmlformats.org/drawingml/2006/main">
              <a:ext uri="{FF2B5EF4-FFF2-40B4-BE49-F238E27FC236}">
                <a16:creationId xmlns:a16="http://schemas.microsoft.com/office/drawing/2014/main" id="{EC00F17C-15C1-40A5-8E8E-BAA28C4E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914400"/>
            <a:ext cx="1266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DESCRIBES</a:t>
            </a:r>
          </a:p>
        </p:txBody>
      </p:sp>
      <p:sp>
        <p:nvSpPr>
          <p:cNvPr id="22" name="AFFECTS">
            <a:extLst xmlns:a="http://schemas.openxmlformats.org/drawingml/2006/main">
              <a:ext uri="{FF2B5EF4-FFF2-40B4-BE49-F238E27FC236}">
                <a16:creationId xmlns:a16="http://schemas.microsoft.com/office/drawing/2014/main" id="{3A7FBC47-491D-404C-91F3-4356E31D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857250"/>
            <a:ext cx="981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AFFECTS</a:t>
            </a:r>
          </a:p>
        </p:txBody>
      </p:sp>
      <p:sp>
        <p:nvSpPr>
          <p:cNvPr id="23" name="区间 / fixed">
            <a:extLst xmlns:a="http://schemas.openxmlformats.org/drawingml/2006/main">
              <a:ext uri="{FF2B5EF4-FFF2-40B4-BE49-F238E27FC236}">
                <a16:creationId xmlns:a16="http://schemas.microsoft.com/office/drawing/2014/main" id="{2DD3C7F8-857A-427C-A879-70284AF8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638175"/>
            <a:ext cx="1333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区间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fixed</a:t>
            </a:r>
          </a:p>
        </p:txBody>
      </p:sp>
      <p:sp>
        <p:nvSpPr>
          <p:cNvPr id="24" name="MAPS_TO">
            <a:extLst xmlns:a="http://schemas.openxmlformats.org/drawingml/2006/main">
              <a:ext uri="{FF2B5EF4-FFF2-40B4-BE49-F238E27FC236}">
                <a16:creationId xmlns:a16="http://schemas.microsoft.com/office/drawing/2014/main" id="{7746A118-A7DB-44A6-871B-C0A84AAA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335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MAPS_TO</a:t>
            </a:r>
          </a:p>
        </p:txBody>
      </p:sp>
      <p:sp>
        <p:nvSpPr>
          <p:cNvPr id="25" name="HAS_CWE">
            <a:extLst xmlns:a="http://schemas.openxmlformats.org/drawingml/2006/main">
              <a:ext uri="{FF2B5EF4-FFF2-40B4-BE49-F238E27FC236}">
                <a16:creationId xmlns:a16="http://schemas.microsoft.com/office/drawing/2014/main" id="{47319276-A515-44A3-A4D1-1851EE5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3355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HAS_CWE</a:t>
            </a:r>
          </a:p>
        </p:txBody>
      </p:sp>
      <p:sp>
        <p:nvSpPr>
          <p:cNvPr id="26" name="DISCUSSED_IN">
            <a:extLst xmlns:a="http://schemas.openxmlformats.org/drawingml/2006/main">
              <a:ext uri="{FF2B5EF4-FFF2-40B4-BE49-F238E27FC236}">
                <a16:creationId xmlns:a16="http://schemas.microsoft.com/office/drawing/2014/main" id="{E37757B3-6B0F-4FD4-9726-00130BB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28850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DISCUSSED_IN</a:t>
            </a:r>
          </a:p>
        </p:txBody>
      </p:sp>
      <p:sp>
        <p:nvSpPr>
          <p:cNvPr id="27" name="HAS_POC_REF">
            <a:extLst xmlns:a="http://schemas.openxmlformats.org/drawingml/2006/main">
              <a:ext uri="{FF2B5EF4-FFF2-40B4-BE49-F238E27FC236}">
                <a16:creationId xmlns:a16="http://schemas.microsoft.com/office/drawing/2014/main" id="{77B205FE-E1FE-4847-A070-A814137E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HAS_POC_REF</a:t>
            </a:r>
          </a:p>
        </p:txBody>
      </p:sp>
      <p:sp>
        <p:nvSpPr>
          <p:cNvPr id="28" name="IN_CATEGORY">
            <a:extLst xmlns:a="http://schemas.openxmlformats.org/drawingml/2006/main">
              <a:ext uri="{FF2B5EF4-FFF2-40B4-BE49-F238E27FC236}">
                <a16:creationId xmlns:a16="http://schemas.microsoft.com/office/drawing/2014/main" id="{9FEA9839-E102-4898-90EA-66481490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812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IN_CATEGORY</a:t>
            </a:r>
          </a:p>
        </p:txBody>
      </p:sp>
      <p:sp>
        <p:nvSpPr>
          <p:cNvPr id="29" name="GOVERNED_BY">
            <a:extLst xmlns:a="http://schemas.openxmlformats.org/drawingml/2006/main">
              <a:ext uri="{FF2B5EF4-FFF2-40B4-BE49-F238E27FC236}">
                <a16:creationId xmlns:a16="http://schemas.microsoft.com/office/drawing/2014/main" id="{C6193C7B-A370-459A-9981-73FF115E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95600"/>
            <a:ext cx="14287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00">
                <a:solidFill>
                  <a:srgbClr val="1A1A1A"/>
                </a:solidFill>
              </a:defRPr>
            </a:pPr>
            <a:r>
              <a:rPr sz="8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GOVERNED_BY</a:t>
            </a:r>
          </a:p>
        </p:txBody>
      </p:sp>
      <p:sp>
        <p:nvSpPr>
          <p:cNvPr id="30" name="边属性：reason / confidence / method / created_by_agent">
            <a:extLst xmlns:a="http://schemas.openxmlformats.org/drawingml/2006/main">
              <a:ext uri="{FF2B5EF4-FFF2-40B4-BE49-F238E27FC236}">
                <a16:creationId xmlns:a16="http://schemas.microsoft.com/office/drawing/2014/main" id="{DA49803B-7EAC-429C-8226-2658C9A9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638550"/>
            <a:ext cx="542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边属性：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reason / confidence / method / created_by_agent</a:t>
            </a:r>
          </a:p>
        </p:txBody>
      </p:sp>
    </p:spTree>
    <p:extLst>
      <p:ext uri="{BB962C8B-B14F-4D97-AF65-F5344CB8AC3E}">
        <p14:creationId xmlns:p14="http://schemas.microsoft.com/office/powerpoint/2010/main" val="1775403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99D8E-E21F-46EE-8214-6842CA2AA17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4"/>
          </p:cNvCxnSpPr>
          <p:nvPr/>
        </p:nvCxnSpPr>
        <p:spPr>
          <a:xfrm xmlns:a="http://schemas.openxmlformats.org/drawingml/2006/main" flipH="1">
            <a:off x="4143375" y="2524125"/>
            <a:ext cx="214313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3C1D2-A1C9-4246-B453-47F214D3FECF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357313" y="2524125"/>
            <a:ext cx="214313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F6AE1-53EF-4EF2-8D0D-D978B2FC8BF9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57500" y="1457325"/>
            <a:ext cx="381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2225C-969F-4EB3-9049-5091EA6DE6C0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2476500" y="1457325"/>
            <a:ext cx="38100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33A3A"/>
            </a:solidFill>
            <a:prstDash val="dash"/>
            <a:tailEnd type="triangle" w="sm" len="sm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3F674-1EAA-47DD-891A-91723DB52701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" idx="0"/>
          </p:cNvCxnSpPr>
          <p:nvPr/>
        </p:nvCxnSpPr>
        <p:spPr>
          <a:xfrm xmlns:a="http://schemas.openxmlformats.org/drawingml/2006/main">
            <a:off x="2857500" y="5143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2" name="请求失败">
            <a:extLst xmlns:a="http://schemas.openxmlformats.org/drawingml/2006/main">
              <a:ext uri="{FF2B5EF4-FFF2-40B4-BE49-F238E27FC236}">
                <a16:creationId xmlns:a16="http://schemas.microsoft.com/office/drawing/2014/main" id="{964094D4-838D-4EA6-84F8-9AE82479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52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请求失败</a:t>
            </a:r>
          </a:p>
        </p:txBody>
      </p:sp>
      <p:sp>
        <p:nvSpPr>
          <p:cNvPr id="2" name="错误类型">
            <a:extLst xmlns:a="http://schemas.openxmlformats.org/drawingml/2006/main">
              <a:ext uri="{FF2B5EF4-FFF2-40B4-BE49-F238E27FC236}">
                <a16:creationId xmlns:a16="http://schemas.microsoft.com/office/drawing/2014/main" id="{CEE4D9BF-10E3-4693-A1D3-809D2C5A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819150"/>
            <a:ext cx="1447800" cy="6381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错误类型</a:t>
            </a:r>
          </a:p>
        </p:txBody>
      </p:sp>
      <p:sp>
        <p:nvSpPr>
          <p:cNvPr id="4" name="429 / 5xx / 超时 退避重试 ≤6 次">
            <a:extLst xmlns:a="http://schemas.openxmlformats.org/drawingml/2006/main">
              <a:ext uri="{FF2B5EF4-FFF2-40B4-BE49-F238E27FC236}">
                <a16:creationId xmlns:a16="http://schemas.microsoft.com/office/drawing/2014/main" id="{271EC319-7616-4486-83F7-32B675CF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952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429 / 5xx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超时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退避重试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次</a:t>
            </a:r>
          </a:p>
        </p:txBody>
      </p:sp>
      <p:sp>
        <p:nvSpPr>
          <p:cNvPr id="5" name="4xx（非 429） 直接死信并告警">
            <a:extLst xmlns:a="http://schemas.openxmlformats.org/drawingml/2006/main">
              <a:ext uri="{FF2B5EF4-FFF2-40B4-BE49-F238E27FC236}">
                <a16:creationId xmlns:a16="http://schemas.microsoft.com/office/drawing/2014/main" id="{9AC4DA98-9134-4CBE-834D-9C63D730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238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4xx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（非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429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）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直接死信并告警</a:t>
            </a:r>
          </a:p>
        </p:txBody>
      </p:sp>
      <p:sp>
        <p:nvSpPr>
          <p:cNvPr id="8" name="DLQ / 每 15 min 重放">
            <a:extLst xmlns:a="http://schemas.openxmlformats.org/drawingml/2006/main">
              <a:ext uri="{FF2B5EF4-FFF2-40B4-BE49-F238E27FC236}">
                <a16:creationId xmlns:a16="http://schemas.microsoft.com/office/drawing/2014/main" id="{AC95A28C-4CC8-4E7E-97C7-3E607C8A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00375"/>
            <a:ext cx="2571750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DLQ /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每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15 min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重放</a:t>
            </a:r>
          </a:p>
        </p:txBody>
      </p:sp>
      <p:sp>
        <p:nvSpPr>
          <p:cNvPr id="11" name="Retry-After 优先；否则 1 s 起 ×2，上限 5 min，±20% 抖动 连续 3 周期失败 → degraded → 降级通">
            <a:extLst xmlns:a="http://schemas.openxmlformats.org/drawingml/2006/main">
              <a:ext uri="{FF2B5EF4-FFF2-40B4-BE49-F238E27FC236}">
                <a16:creationId xmlns:a16="http://schemas.microsoft.com/office/drawing/2014/main" id="{5F4A6FFB-B27D-40E4-BC10-21DA7F7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337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Retry-After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优先；否则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 s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起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×2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，上限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5 min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，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±20%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抖动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连续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3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周期失败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→ degraded →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降级通道</a:t>
            </a:r>
          </a:p>
        </p:txBody>
      </p:sp>
    </p:spTree>
    <p:extLst>
      <p:ext uri="{BB962C8B-B14F-4D97-AF65-F5344CB8AC3E}">
        <p14:creationId xmlns:p14="http://schemas.microsoft.com/office/powerpoint/2010/main" val="16179412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ED985-2D32-4AE9-86E5-E6290B2B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42900"/>
            <a:ext cx="1571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2E7D8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提供">
            <a:extLst xmlns:a="http://schemas.openxmlformats.org/drawingml/2006/main">
              <a:ext uri="{FF2B5EF4-FFF2-40B4-BE49-F238E27FC236}">
                <a16:creationId xmlns:a16="http://schemas.microsoft.com/office/drawing/2014/main" id="{6BF8811A-D231-4889-9FD3-A991A54F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390525"/>
            <a:ext cx="1419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2E7D8C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2E7D8C"/>
                </a:solidFill>
                <a:latin typeface="SimSun"/>
                <a:ea typeface="SimSun"/>
                <a:cs typeface="SimSun"/>
              </a:rPr>
              <a:t>提供</a:t>
            </a:r>
          </a:p>
        </p:txBody>
      </p:sp>
      <p:sp>
        <p:nvSpPr>
          <p:cNvPr id="3" name="聚合计数与分布  PoC 链接与标题  修复版本与缓解">
            <a:extLst xmlns:a="http://schemas.openxmlformats.org/drawingml/2006/main">
              <a:ext uri="{FF2B5EF4-FFF2-40B4-BE49-F238E27FC236}">
                <a16:creationId xmlns:a16="http://schemas.microsoft.com/office/drawing/2014/main" id="{10E96E59-8081-4DE2-B578-182A6AF5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981075"/>
            <a:ext cx="14192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聚合计数与分布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PoC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链接与标题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修复版本与缓解</a:t>
            </a:r>
          </a:p>
        </p:txBody>
      </p:sp>
      <p:sp>
        <p:nvSpPr>
          <p:cNvPr id="4" name="只读服务层 Critic 输出过滤">
            <a:extLst xmlns:a="http://schemas.openxmlformats.org/drawingml/2006/main">
              <a:ext uri="{FF2B5EF4-FFF2-40B4-BE49-F238E27FC236}">
                <a16:creationId xmlns:a16="http://schemas.microsoft.com/office/drawing/2014/main" id="{78A773B4-0F20-429A-B281-B0C9F0F8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52550"/>
            <a:ext cx="1638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只读服务层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Critic</a:t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输出过滤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0D9D5-6D91-48F3-A595-CB1D77D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381125"/>
            <a:ext cx="158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1F3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1B22D-73A2-4CCD-BEC6-2A6EBC33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2900"/>
            <a:ext cx="15716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A33A3A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7" name="禁止提供">
            <a:extLst xmlns:a="http://schemas.openxmlformats.org/drawingml/2006/main">
              <a:ext uri="{FF2B5EF4-FFF2-40B4-BE49-F238E27FC236}">
                <a16:creationId xmlns:a16="http://schemas.microsoft.com/office/drawing/2014/main" id="{69C2D0AB-CD94-4890-A43A-46732EDE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0525"/>
            <a:ext cx="14192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A33A3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A33A3A"/>
                </a:solidFill>
                <a:latin typeface="SimSun"/>
                <a:ea typeface="SimSun"/>
                <a:cs typeface="SimSun"/>
              </a:rPr>
              <a:t>禁止提供</a:t>
            </a:r>
          </a:p>
        </p:txBody>
      </p:sp>
      <p:sp>
        <p:nvSpPr>
          <p:cNvPr id="8" name="IP / 主机明细  利用代码  执行能力 / 主动扫描">
            <a:extLst xmlns:a="http://schemas.openxmlformats.org/drawingml/2006/main">
              <a:ext uri="{FF2B5EF4-FFF2-40B4-BE49-F238E27FC236}">
                <a16:creationId xmlns:a16="http://schemas.microsoft.com/office/drawing/2014/main" id="{0B33C8C2-4A5E-481E-9258-2196D19D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981075"/>
            <a:ext cx="14192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IP /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主机明细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利用代码</a:t>
            </a:r>
          </a:p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执行能力</a:t>
            </a:r>
            <a:r>
              <a:rPr sz="105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105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主动扫描</a:t>
            </a:r>
          </a:p>
        </p:txBody>
      </p:sp>
      <p:sp>
        <p:nvSpPr>
          <p:cNvPr id="9" name="合规限制在采集、存储、服务与校验多个边界执行">
            <a:extLst xmlns:a="http://schemas.openxmlformats.org/drawingml/2006/main">
              <a:ext uri="{FF2B5EF4-FFF2-40B4-BE49-F238E27FC236}">
                <a16:creationId xmlns:a16="http://schemas.microsoft.com/office/drawing/2014/main" id="{226CEC6F-09CA-4618-A806-C538A44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合规限制在采集、存储、服务与校验多个边界执行</a:t>
            </a:r>
          </a:p>
        </p:txBody>
      </p:sp>
    </p:spTree>
    <p:extLst>
      <p:ext uri="{BB962C8B-B14F-4D97-AF65-F5344CB8AC3E}">
        <p14:creationId xmlns:p14="http://schemas.microsoft.com/office/powerpoint/2010/main" val="18933471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9C5EC-21E1-4CAA-B59F-D819F190CF3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04360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1130A-6AC4-4208-B896-ABD380A0F99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31845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FEFDB-4168-4254-B800-F629C82B434D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259330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C6329-A980-4306-91D2-3568F9E1882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186815" y="1119188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3A5F"/>
            </a:solidFill>
            <a:prstDash val="solid"/>
            <a:tailEnd type="triangle" w="sm" len="sm"/>
          </a:ln>
        </p:spPr>
      </p:cxnSp>
      <p:sp>
        <p:nvSpPr>
          <p:cNvPr id="14" name="source_ published_at">
            <a:extLst xmlns:a="http://schemas.openxmlformats.org/drawingml/2006/main">
              <a:ext uri="{FF2B5EF4-FFF2-40B4-BE49-F238E27FC236}">
                <a16:creationId xmlns:a16="http://schemas.microsoft.com/office/drawing/2014/main" id="{CB2BD67D-FD35-47D5-AD2A-443C0534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source_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published_at</a:t>
            </a:r>
          </a:p>
        </p:txBody>
      </p:sp>
      <p:sp>
        <p:nvSpPr>
          <p:cNvPr id="2" name="first_seen_at">
            <a:extLst xmlns:a="http://schemas.openxmlformats.org/drawingml/2006/main">
              <a:ext uri="{FF2B5EF4-FFF2-40B4-BE49-F238E27FC236}">
                <a16:creationId xmlns:a16="http://schemas.microsoft.com/office/drawing/2014/main" id="{8497B25E-0F26-4F66-BACE-F062666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first_seen_at</a:t>
            </a:r>
          </a:p>
        </p:txBody>
      </p:sp>
      <p:sp>
        <p:nvSpPr>
          <p:cNvPr id="3" name="normalized_at">
            <a:extLst xmlns:a="http://schemas.openxmlformats.org/drawingml/2006/main">
              <a:ext uri="{FF2B5EF4-FFF2-40B4-BE49-F238E27FC236}">
                <a16:creationId xmlns:a16="http://schemas.microsoft.com/office/drawing/2014/main" id="{40335C69-27AE-4820-8133-57AA9DF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5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normalized_at</a:t>
            </a:r>
          </a:p>
        </p:txBody>
      </p:sp>
      <p:sp>
        <p:nvSpPr>
          <p:cNvPr id="4" name="enriched_at">
            <a:extLst xmlns:a="http://schemas.openxmlformats.org/drawingml/2006/main">
              <a:ext uri="{FF2B5EF4-FFF2-40B4-BE49-F238E27FC236}">
                <a16:creationId xmlns:a16="http://schemas.microsoft.com/office/drawing/2014/main" id="{8EA67ADC-2EA2-4E0F-9773-609E8694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670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enriched_at</a:t>
            </a:r>
          </a:p>
        </p:txBody>
      </p:sp>
      <p:sp>
        <p:nvSpPr>
          <p:cNvPr id="5" name="queryable_at">
            <a:extLst xmlns:a="http://schemas.openxmlformats.org/drawingml/2006/main">
              <a:ext uri="{FF2B5EF4-FFF2-40B4-BE49-F238E27FC236}">
                <a16:creationId xmlns:a16="http://schemas.microsoft.com/office/drawing/2014/main" id="{0C4227D4-D0EC-40D7-A91A-0599E44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185" y="857250"/>
            <a:ext cx="94869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queryable_at</a:t>
            </a:r>
          </a:p>
        </p:txBody>
      </p:sp>
      <p:sp>
        <p:nvSpPr>
          <p:cNvPr id="10" name="采集时延 = 首见 − 发布">
            <a:extLst xmlns:a="http://schemas.openxmlformats.org/drawingml/2006/main">
              <a:ext uri="{FF2B5EF4-FFF2-40B4-BE49-F238E27FC236}">
                <a16:creationId xmlns:a16="http://schemas.microsoft.com/office/drawing/2014/main" id="{049566AB-A447-41B7-B3C0-FD1C5EA4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84785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采集时延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首见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发布</a:t>
            </a:r>
          </a:p>
        </p:txBody>
      </p:sp>
      <p:sp>
        <p:nvSpPr>
          <p:cNvPr id="11" name="处理时延 = 可查询 − 首见">
            <a:extLst xmlns:a="http://schemas.openxmlformats.org/drawingml/2006/main">
              <a:ext uri="{FF2B5EF4-FFF2-40B4-BE49-F238E27FC236}">
                <a16:creationId xmlns:a16="http://schemas.microsoft.com/office/drawing/2014/main" id="{4C446792-D515-4E0F-8BBD-5B18238B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47850"/>
            <a:ext cx="3114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处理时延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首见</a:t>
            </a:r>
          </a:p>
        </p:txBody>
      </p:sp>
      <p:sp>
        <p:nvSpPr>
          <p:cNvPr id="12" name="端到端 = 可查询 − 发布；目标值 ≤6 h（待测）">
            <a:extLst xmlns:a="http://schemas.openxmlformats.org/drawingml/2006/main">
              <a:ext uri="{FF2B5EF4-FFF2-40B4-BE49-F238E27FC236}">
                <a16:creationId xmlns:a16="http://schemas.microsoft.com/office/drawing/2014/main" id="{BADCEF2C-26EE-48B4-89B2-0618FD07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657475"/>
            <a:ext cx="523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端到端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=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可查询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− 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发布；目标值</a:t>
            </a: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  <a:r>
              <a:rPr sz="105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仅漏洞类首次发现；日更源单列；DEMO 不计 日期精度不足时按当日零点计，保守高估">
            <a:extLst xmlns:a="http://schemas.openxmlformats.org/drawingml/2006/main">
              <a:ext uri="{FF2B5EF4-FFF2-40B4-BE49-F238E27FC236}">
                <a16:creationId xmlns:a16="http://schemas.microsoft.com/office/drawing/2014/main" id="{4C632204-6868-4FEE-86E0-F0DCB00F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4766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仅漏洞类首次发现；日更源单列；</a:t>
            </a:r>
            <a:r>
              <a:rPr sz="825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DEMO </a:t>
            </a: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不计</a:t>
            </a:r>
          </a:p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日期精度不足时按当日零点计，保守高估</a:t>
            </a:r>
          </a:p>
        </p:txBody>
      </p:sp>
    </p:spTree>
    <p:extLst>
      <p:ext uri="{BB962C8B-B14F-4D97-AF65-F5344CB8AC3E}">
        <p14:creationId xmlns:p14="http://schemas.microsoft.com/office/powerpoint/2010/main" val="15125459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1">
            <a:extLst xmlns:a="http://schemas.openxmlformats.org/drawingml/2006/main">
              <a:ext uri="{FF2B5EF4-FFF2-40B4-BE49-F238E27FC236}">
                <a16:creationId xmlns:a16="http://schemas.microsoft.com/office/drawing/2014/main" id="{485D50F3-DD7B-4645-A454-86CA9778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430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" name="面向 AI 基础设施的 垂直多源融合">
            <a:extLst xmlns:a="http://schemas.openxmlformats.org/drawingml/2006/main">
              <a:ext uri="{FF2B5EF4-FFF2-40B4-BE49-F238E27FC236}">
                <a16:creationId xmlns:a16="http://schemas.microsoft.com/office/drawing/2014/main" id="{18B1FE66-46D6-47A7-AB95-1CA71640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1430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面向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AI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基础设施的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垂直多源融合</a:t>
            </a:r>
          </a:p>
        </p:txBody>
      </p:sp>
      <p:sp>
        <p:nvSpPr>
          <p:cNvPr id="3" name="P0 5 min / 无 CVE 入库">
            <a:extLst xmlns:a="http://schemas.openxmlformats.org/drawingml/2006/main">
              <a:ext uri="{FF2B5EF4-FFF2-40B4-BE49-F238E27FC236}">
                <a16:creationId xmlns:a16="http://schemas.microsoft.com/office/drawing/2014/main" id="{6DC29E95-59A1-4879-B35F-20DDAC39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P0 5 min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无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CVE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入库</a:t>
            </a:r>
          </a:p>
        </p:txBody>
      </p:sp>
      <p:sp>
        <p:nvSpPr>
          <p:cNvPr id="4" name="监测 / 时效">
            <a:extLst xmlns:a="http://schemas.openxmlformats.org/drawingml/2006/main">
              <a:ext uri="{FF2B5EF4-FFF2-40B4-BE49-F238E27FC236}">
                <a16:creationId xmlns:a16="http://schemas.microsoft.com/office/drawing/2014/main" id="{CAE2671E-C3DF-4FC3-87C9-2A877198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4300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监测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</a:t>
            </a:r>
          </a:p>
        </p:txBody>
      </p:sp>
      <p:sp>
        <p:nvSpPr>
          <p:cNvPr id="5" name="2">
            <a:extLst xmlns:a="http://schemas.openxmlformats.org/drawingml/2006/main">
              <a:ext uri="{FF2B5EF4-FFF2-40B4-BE49-F238E27FC236}">
                <a16:creationId xmlns:a16="http://schemas.microsoft.com/office/drawing/2014/main" id="{C954D49D-83EA-4FBF-8599-8E2C1CA9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61912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6" name="可解释的 自动关联推理引擎">
            <a:extLst xmlns:a="http://schemas.openxmlformats.org/drawingml/2006/main">
              <a:ext uri="{FF2B5EF4-FFF2-40B4-BE49-F238E27FC236}">
                <a16:creationId xmlns:a16="http://schemas.microsoft.com/office/drawing/2014/main" id="{268A27F8-A460-45FE-A416-EFCC4CE3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1912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可解释的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自动关联推理引擎</a:t>
            </a:r>
          </a:p>
        </p:txBody>
      </p:sp>
      <p:sp>
        <p:nvSpPr>
          <p:cNvPr id="7" name="边带理由 / Critic 门槛">
            <a:extLst xmlns:a="http://schemas.openxmlformats.org/drawingml/2006/main">
              <a:ext uri="{FF2B5EF4-FFF2-40B4-BE49-F238E27FC236}">
                <a16:creationId xmlns:a16="http://schemas.microsoft.com/office/drawing/2014/main" id="{516E8EAD-E056-4633-83E5-FEAC8B1C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1912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边带理由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Critic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门槛</a:t>
            </a:r>
          </a:p>
        </p:txBody>
      </p:sp>
      <p:sp>
        <p:nvSpPr>
          <p:cNvPr id="8" name="富化 / 准确">
            <a:extLst xmlns:a="http://schemas.openxmlformats.org/drawingml/2006/main">
              <a:ext uri="{FF2B5EF4-FFF2-40B4-BE49-F238E27FC236}">
                <a16:creationId xmlns:a16="http://schemas.microsoft.com/office/drawing/2014/main" id="{0BBA7AA9-D905-4DC5-B75C-9134F8A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19125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</a:t>
            </a:r>
          </a:p>
        </p:txBody>
      </p:sp>
      <p:sp>
        <p:nvSpPr>
          <p:cNvPr id="9" name="3">
            <a:extLst xmlns:a="http://schemas.openxmlformats.org/drawingml/2006/main">
              <a:ext uri="{FF2B5EF4-FFF2-40B4-BE49-F238E27FC236}">
                <a16:creationId xmlns:a16="http://schemas.microsoft.com/office/drawing/2014/main" id="{020CA2B0-481E-4155-AD6F-926EC5C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2395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0" name="从依赖文件出发的 “我受不受影响”自查">
            <a:extLst xmlns:a="http://schemas.openxmlformats.org/drawingml/2006/main">
              <a:ext uri="{FF2B5EF4-FFF2-40B4-BE49-F238E27FC236}">
                <a16:creationId xmlns:a16="http://schemas.microsoft.com/office/drawing/2014/main" id="{FC877315-56F0-4889-B67D-E96A1E8D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12395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从依赖文件出发的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“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我受不受影响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”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自查</a:t>
            </a:r>
          </a:p>
        </p:txBody>
      </p:sp>
      <p:sp>
        <p:nvSpPr>
          <p:cNvPr id="11" name="OSV 求解 / 三种结果">
            <a:extLst xmlns:a="http://schemas.openxmlformats.org/drawingml/2006/main">
              <a:ext uri="{FF2B5EF4-FFF2-40B4-BE49-F238E27FC236}">
                <a16:creationId xmlns:a16="http://schemas.microsoft.com/office/drawing/2014/main" id="{4BADC573-05DF-43E5-B0C5-0EDE7C60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2395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OSV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求解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三种结果</a:t>
            </a:r>
          </a:p>
        </p:txBody>
      </p:sp>
      <p:sp>
        <p:nvSpPr>
          <p:cNvPr id="12" name="富化 / Agent">
            <a:extLst xmlns:a="http://schemas.openxmlformats.org/drawingml/2006/main">
              <a:ext uri="{FF2B5EF4-FFF2-40B4-BE49-F238E27FC236}">
                <a16:creationId xmlns:a16="http://schemas.microsoft.com/office/drawing/2014/main" id="{A30FD6A6-0C05-420C-B105-AE51FDF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123950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富化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Agent</a:t>
            </a:r>
          </a:p>
        </p:txBody>
      </p:sp>
      <p:sp>
        <p:nvSpPr>
          <p:cNvPr id="13" name="4">
            <a:extLst xmlns:a="http://schemas.openxmlformats.org/drawingml/2006/main">
              <a:ext uri="{FF2B5EF4-FFF2-40B4-BE49-F238E27FC236}">
                <a16:creationId xmlns:a16="http://schemas.microsoft.com/office/drawing/2014/main" id="{ACC5B520-429A-43E3-A185-F34122B7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2877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14" name="可解释 GraphRAG 问答">
            <a:extLst xmlns:a="http://schemas.openxmlformats.org/drawingml/2006/main">
              <a:ext uri="{FF2B5EF4-FFF2-40B4-BE49-F238E27FC236}">
                <a16:creationId xmlns:a16="http://schemas.microsoft.com/office/drawing/2014/main" id="{EB98BEA9-DF02-4A0D-B746-CE3F191C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62877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可解释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GraphRAG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问答</a:t>
            </a:r>
          </a:p>
        </p:txBody>
      </p:sp>
      <p:sp>
        <p:nvSpPr>
          <p:cNvPr id="15" name="三路检索 / 逐句引用">
            <a:extLst xmlns:a="http://schemas.openxmlformats.org/drawingml/2006/main">
              <a:ext uri="{FF2B5EF4-FFF2-40B4-BE49-F238E27FC236}">
                <a16:creationId xmlns:a16="http://schemas.microsoft.com/office/drawing/2014/main" id="{B5CC98D9-9205-4C23-A9F7-95917A15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2877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三路检索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逐句引用</a:t>
            </a:r>
          </a:p>
        </p:txBody>
      </p:sp>
      <p:sp>
        <p:nvSpPr>
          <p:cNvPr id="16" name="问答 / 准确">
            <a:extLst xmlns:a="http://schemas.openxmlformats.org/drawingml/2006/main">
              <a:ext uri="{FF2B5EF4-FFF2-40B4-BE49-F238E27FC236}">
                <a16:creationId xmlns:a16="http://schemas.microsoft.com/office/drawing/2014/main" id="{3AC162A5-F015-4D68-B577-32FC1EC9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28775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问答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</a:t>
            </a:r>
          </a:p>
        </p:txBody>
      </p:sp>
      <p:sp>
        <p:nvSpPr>
          <p:cNvPr id="17" name="5">
            <a:extLst xmlns:a="http://schemas.openxmlformats.org/drawingml/2006/main">
              <a:ext uri="{FF2B5EF4-FFF2-40B4-BE49-F238E27FC236}">
                <a16:creationId xmlns:a16="http://schemas.microsoft.com/office/drawing/2014/main" id="{B85433B6-798C-4E8A-B7A7-58B17F4D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13360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18" name="内部多智能体编排与 外部 MCP 开放统一">
            <a:extLst xmlns:a="http://schemas.openxmlformats.org/drawingml/2006/main">
              <a:ext uri="{FF2B5EF4-FFF2-40B4-BE49-F238E27FC236}">
                <a16:creationId xmlns:a16="http://schemas.microsoft.com/office/drawing/2014/main" id="{A08F522F-62BF-428A-9422-3FEAB85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13360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内部多智能体编排与</a:t>
            </a:r>
          </a:p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外部</a:t>
            </a:r>
            <a:r>
              <a:rPr sz="975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MCP </a:t>
            </a: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开放统一</a:t>
            </a:r>
          </a:p>
        </p:txBody>
      </p:sp>
      <p:sp>
        <p:nvSpPr>
          <p:cNvPr id="19" name="9 角色 / 统一服务层">
            <a:extLst xmlns:a="http://schemas.openxmlformats.org/drawingml/2006/main">
              <a:ext uri="{FF2B5EF4-FFF2-40B4-BE49-F238E27FC236}">
                <a16:creationId xmlns:a16="http://schemas.microsoft.com/office/drawing/2014/main" id="{318A6BBC-B150-43C7-9935-502DF733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13360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9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角色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统一服务层</a:t>
            </a:r>
          </a:p>
        </p:txBody>
      </p:sp>
      <p:sp>
        <p:nvSpPr>
          <p:cNvPr id="20" name="Agent">
            <a:extLst xmlns:a="http://schemas.openxmlformats.org/drawingml/2006/main">
              <a:ext uri="{FF2B5EF4-FFF2-40B4-BE49-F238E27FC236}">
                <a16:creationId xmlns:a16="http://schemas.microsoft.com/office/drawing/2014/main" id="{FDE75A6F-0AAE-44B9-B765-A9A7609D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</p:txBody>
      </p:sp>
      <p:sp>
        <p:nvSpPr>
          <p:cNvPr id="21" name="6">
            <a:extLst xmlns:a="http://schemas.openxmlformats.org/drawingml/2006/main">
              <a:ext uri="{FF2B5EF4-FFF2-40B4-BE49-F238E27FC236}">
                <a16:creationId xmlns:a16="http://schemas.microsoft.com/office/drawing/2014/main" id="{311B1E99-0123-4726-A358-6CE7F263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638425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2" name="时效可观测与故障自愈">
            <a:extLst xmlns:a="http://schemas.openxmlformats.org/drawingml/2006/main">
              <a:ext uri="{FF2B5EF4-FFF2-40B4-BE49-F238E27FC236}">
                <a16:creationId xmlns:a16="http://schemas.microsoft.com/office/drawing/2014/main" id="{A5F7610C-3C48-4B4B-B31A-D4018C60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638425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时效可观测与故障自愈</a:t>
            </a:r>
          </a:p>
        </p:txBody>
      </p:sp>
      <p:sp>
        <p:nvSpPr>
          <p:cNvPr id="23" name="五段时间戳 / 故障恢复">
            <a:extLst xmlns:a="http://schemas.openxmlformats.org/drawingml/2006/main">
              <a:ext uri="{FF2B5EF4-FFF2-40B4-BE49-F238E27FC236}">
                <a16:creationId xmlns:a16="http://schemas.microsoft.com/office/drawing/2014/main" id="{05493942-13E1-49F7-BF56-DDE7FE7E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38425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五段时间戳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故障恢复</a:t>
            </a:r>
          </a:p>
        </p:txBody>
      </p:sp>
      <p:sp>
        <p:nvSpPr>
          <p:cNvPr id="24" name="时效 / 自动化">
            <a:extLst xmlns:a="http://schemas.openxmlformats.org/drawingml/2006/main">
              <a:ext uri="{FF2B5EF4-FFF2-40B4-BE49-F238E27FC236}">
                <a16:creationId xmlns:a16="http://schemas.microsoft.com/office/drawing/2014/main" id="{69C5D69A-D594-4495-9927-E9B8904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时效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自动化</a:t>
            </a:r>
          </a:p>
        </p:txBody>
      </p:sp>
      <p:sp>
        <p:nvSpPr>
          <p:cNvPr id="25" name="7">
            <a:extLst xmlns:a="http://schemas.openxmlformats.org/drawingml/2006/main">
              <a:ext uri="{FF2B5EF4-FFF2-40B4-BE49-F238E27FC236}">
                <a16:creationId xmlns:a16="http://schemas.microsoft.com/office/drawing/2014/main" id="{3C955A71-A861-4402-8B75-48A09F9F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143250"/>
            <a:ext cx="3238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26" name="开放的插件生态">
            <a:extLst xmlns:a="http://schemas.openxmlformats.org/drawingml/2006/main">
              <a:ext uri="{FF2B5EF4-FFF2-40B4-BE49-F238E27FC236}">
                <a16:creationId xmlns:a16="http://schemas.microsoft.com/office/drawing/2014/main" id="{4A404033-A02D-48C4-942A-AD08264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43250"/>
            <a:ext cx="15049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75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75">
                <a:solidFill>
                  <a:srgbClr val="1A1A1A"/>
                </a:solidFill>
              </a:defRPr>
            </a:pPr>
            <a:r>
              <a:rPr sz="975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开放的插件生态</a:t>
            </a:r>
          </a:p>
        </p:txBody>
      </p:sp>
      <p:sp>
        <p:nvSpPr>
          <p:cNvPr id="27" name="8 Schema / 三类扩展点">
            <a:extLst xmlns:a="http://schemas.openxmlformats.org/drawingml/2006/main">
              <a:ext uri="{FF2B5EF4-FFF2-40B4-BE49-F238E27FC236}">
                <a16:creationId xmlns:a16="http://schemas.microsoft.com/office/drawing/2014/main" id="{4BC4EBD9-CADB-4F6F-99E3-89938EBF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43250"/>
            <a:ext cx="22383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8 Schema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三类扩展点</a:t>
            </a:r>
          </a:p>
        </p:txBody>
      </p:sp>
      <p:sp>
        <p:nvSpPr>
          <p:cNvPr id="28" name="Agent / 文档">
            <a:extLst xmlns:a="http://schemas.openxmlformats.org/drawingml/2006/main">
              <a:ext uri="{FF2B5EF4-FFF2-40B4-BE49-F238E27FC236}">
                <a16:creationId xmlns:a16="http://schemas.microsoft.com/office/drawing/2014/main" id="{222B698E-C678-4303-A617-1D6A8CF9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1162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Agent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文档</a:t>
            </a:r>
          </a:p>
        </p:txBody>
      </p:sp>
      <p:sp>
        <p:nvSpPr>
          <p:cNvPr id="29" name="七项创新均以第四章评测验证，当前未测结果保持占位">
            <a:extLst xmlns:a="http://schemas.openxmlformats.org/drawingml/2006/main">
              <a:ext uri="{FF2B5EF4-FFF2-40B4-BE49-F238E27FC236}">
                <a16:creationId xmlns:a16="http://schemas.microsoft.com/office/drawing/2014/main" id="{026ADCBF-F418-482D-BD3E-B1997E1C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6712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七项创新均以第四章评测验证，当前未测结果保持占位</a:t>
            </a:r>
          </a:p>
        </p:txBody>
      </p:sp>
    </p:spTree>
    <p:extLst>
      <p:ext uri="{BB962C8B-B14F-4D97-AF65-F5344CB8AC3E}">
        <p14:creationId xmlns:p14="http://schemas.microsoft.com/office/powerpoint/2010/main" val="15634708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27E7B-0FD4-4CE8-92F7-2A987679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" name="时效">
            <a:extLst xmlns:a="http://schemas.openxmlformats.org/drawingml/2006/main">
              <a:ext uri="{FF2B5EF4-FFF2-40B4-BE49-F238E27FC236}">
                <a16:creationId xmlns:a16="http://schemas.microsoft.com/office/drawing/2014/main" id="{9E8CAC62-C621-4B59-87A6-9307B205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23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时效</a:t>
            </a:r>
          </a:p>
        </p:txBody>
      </p:sp>
      <p:sp>
        <p:nvSpPr>
          <p:cNvPr id="3" name="五段时间戳">
            <a:extLst xmlns:a="http://schemas.openxmlformats.org/drawingml/2006/main">
              <a:ext uri="{FF2B5EF4-FFF2-40B4-BE49-F238E27FC236}">
                <a16:creationId xmlns:a16="http://schemas.microsoft.com/office/drawing/2014/main" id="{4C3AC62F-4102-458F-857F-977DB583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86677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五段时间戳</a:t>
            </a:r>
          </a:p>
        </p:txBody>
      </p:sp>
      <p:sp>
        <p:nvSpPr>
          <p:cNvPr id="4" name="按源分项">
            <a:extLst xmlns:a="http://schemas.openxmlformats.org/drawingml/2006/main">
              <a:ext uri="{FF2B5EF4-FFF2-40B4-BE49-F238E27FC236}">
                <a16:creationId xmlns:a16="http://schemas.microsoft.com/office/drawing/2014/main" id="{EFD4B976-4512-41E2-AA68-C0F0DFDA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390650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按源分项</a:t>
            </a:r>
          </a:p>
        </p:txBody>
      </p:sp>
      <p:sp>
        <p:nvSpPr>
          <p:cNvPr id="5" name="P50 / P95">
            <a:extLst xmlns:a="http://schemas.openxmlformats.org/drawingml/2006/main">
              <a:ext uri="{FF2B5EF4-FFF2-40B4-BE49-F238E27FC236}">
                <a16:creationId xmlns:a16="http://schemas.microsoft.com/office/drawing/2014/main" id="{A2C8F838-4B84-4F38-8D2C-41E5EAF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" y="191452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P50 / P95</a:t>
            </a:r>
          </a:p>
        </p:txBody>
      </p:sp>
      <p:sp>
        <p:nvSpPr>
          <p:cNvPr id="6" name="目标值 ≤6 h （待测）">
            <a:extLst xmlns:a="http://schemas.openxmlformats.org/drawingml/2006/main">
              <a:ext uri="{FF2B5EF4-FFF2-40B4-BE49-F238E27FC236}">
                <a16:creationId xmlns:a16="http://schemas.microsoft.com/office/drawing/2014/main" id="{F9FAF37A-7735-4339-9FBE-8329477E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≤6 h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DF232-27F8-419F-9D18-5939C77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8" name="富化">
            <a:extLst xmlns:a="http://schemas.openxmlformats.org/drawingml/2006/main">
              <a:ext uri="{FF2B5EF4-FFF2-40B4-BE49-F238E27FC236}">
                <a16:creationId xmlns:a16="http://schemas.microsoft.com/office/drawing/2014/main" id="{EFCD207A-D8FD-4EA9-B819-3F5FD534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富化</a:t>
            </a:r>
          </a:p>
        </p:txBody>
      </p:sp>
      <p:sp>
        <p:nvSpPr>
          <p:cNvPr id="9" name="200 条金标">
            <a:extLst xmlns:a="http://schemas.openxmlformats.org/drawingml/2006/main">
              <a:ext uri="{FF2B5EF4-FFF2-40B4-BE49-F238E27FC236}">
                <a16:creationId xmlns:a16="http://schemas.microsoft.com/office/drawing/2014/main" id="{7C930E34-D9A4-4C45-855B-3CFEEBD0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6677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200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条金标</a:t>
            </a:r>
          </a:p>
        </p:txBody>
      </p:sp>
      <p:sp>
        <p:nvSpPr>
          <p:cNvPr id="10" name="Critic 前后">
            <a:extLst xmlns:a="http://schemas.openxmlformats.org/drawingml/2006/main">
              <a:ext uri="{FF2B5EF4-FFF2-40B4-BE49-F238E27FC236}">
                <a16:creationId xmlns:a16="http://schemas.microsoft.com/office/drawing/2014/main" id="{F5576FEA-C95D-468A-8528-8524E319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90650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Critic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前后</a:t>
            </a:r>
          </a:p>
        </p:txBody>
      </p:sp>
      <p:sp>
        <p:nvSpPr>
          <p:cNvPr id="11" name="准确率 / κ">
            <a:extLst xmlns:a="http://schemas.openxmlformats.org/drawingml/2006/main">
              <a:ext uri="{FF2B5EF4-FFF2-40B4-BE49-F238E27FC236}">
                <a16:creationId xmlns:a16="http://schemas.microsoft.com/office/drawing/2014/main" id="{40422B28-B135-42ED-B3C7-2790C94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1452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准确率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κ</a:t>
            </a:r>
          </a:p>
        </p:txBody>
      </p:sp>
      <p:sp>
        <p:nvSpPr>
          <p:cNvPr id="12" name="目标值 ≥95% （待测）">
            <a:extLst xmlns:a="http://schemas.openxmlformats.org/drawingml/2006/main">
              <a:ext uri="{FF2B5EF4-FFF2-40B4-BE49-F238E27FC236}">
                <a16:creationId xmlns:a16="http://schemas.microsoft.com/office/drawing/2014/main" id="{1D2FF8B2-392C-4C05-ABDD-536F0DF4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</a:t>
            </a:r>
            <a:r>
              <a:rPr sz="900" b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</a:rPr>
              <a:t> ≥95%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7AB73-F618-4299-94D3-5E660CC9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14" name="问答">
            <a:extLst xmlns:a="http://schemas.openxmlformats.org/drawingml/2006/main">
              <a:ext uri="{FF2B5EF4-FFF2-40B4-BE49-F238E27FC236}">
                <a16:creationId xmlns:a16="http://schemas.microsoft.com/office/drawing/2014/main" id="{E7BCFFE0-82C8-47FE-BE81-7D4341AA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问答</a:t>
            </a:r>
          </a:p>
        </p:txBody>
      </p:sp>
      <p:sp>
        <p:nvSpPr>
          <p:cNvPr id="15" name="约 100 题">
            <a:extLst xmlns:a="http://schemas.openxmlformats.org/drawingml/2006/main">
              <a:ext uri="{FF2B5EF4-FFF2-40B4-BE49-F238E27FC236}">
                <a16:creationId xmlns:a16="http://schemas.microsoft.com/office/drawing/2014/main" id="{931ADE6B-3BB7-4EFB-8F59-49B6DE2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6677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约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100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题</a:t>
            </a:r>
          </a:p>
        </p:txBody>
      </p:sp>
      <p:sp>
        <p:nvSpPr>
          <p:cNvPr id="16" name="三组对照">
            <a:extLst xmlns:a="http://schemas.openxmlformats.org/drawingml/2006/main">
              <a:ext uri="{FF2B5EF4-FFF2-40B4-BE49-F238E27FC236}">
                <a16:creationId xmlns:a16="http://schemas.microsoft.com/office/drawing/2014/main" id="{597262A1-042D-435F-82E0-DBA6F93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390650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三组对照</a:t>
            </a:r>
          </a:p>
        </p:txBody>
      </p:sp>
      <p:sp>
        <p:nvSpPr>
          <p:cNvPr id="17" name="答案 / 引用">
            <a:extLst xmlns:a="http://schemas.openxmlformats.org/drawingml/2006/main">
              <a:ext uri="{FF2B5EF4-FFF2-40B4-BE49-F238E27FC236}">
                <a16:creationId xmlns:a16="http://schemas.microsoft.com/office/drawing/2014/main" id="{BB93003B-B4F9-4432-8563-9A257AE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91452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答案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引用</a:t>
            </a:r>
          </a:p>
        </p:txBody>
      </p:sp>
      <p:sp>
        <p:nvSpPr>
          <p:cNvPr id="18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F9FDEBC6-5FAE-4D0A-ACB1-FDEB3F3A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50049-D69C-4032-8867-A586066E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0" name="自愈">
            <a:extLst xmlns:a="http://schemas.openxmlformats.org/drawingml/2006/main">
              <a:ext uri="{FF2B5EF4-FFF2-40B4-BE49-F238E27FC236}">
                <a16:creationId xmlns:a16="http://schemas.microsoft.com/office/drawing/2014/main" id="{577223DF-A538-4C84-BC98-083D3898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自愈</a:t>
            </a:r>
          </a:p>
        </p:txBody>
      </p:sp>
      <p:sp>
        <p:nvSpPr>
          <p:cNvPr id="21" name="6 个场景">
            <a:extLst xmlns:a="http://schemas.openxmlformats.org/drawingml/2006/main">
              <a:ext uri="{FF2B5EF4-FFF2-40B4-BE49-F238E27FC236}">
                <a16:creationId xmlns:a16="http://schemas.microsoft.com/office/drawing/2014/main" id="{97E6167B-2B04-4690-B66A-8FAC982A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86677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6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个场景</a:t>
            </a:r>
          </a:p>
        </p:txBody>
      </p:sp>
      <p:sp>
        <p:nvSpPr>
          <p:cNvPr id="22" name="故障注入">
            <a:extLst xmlns:a="http://schemas.openxmlformats.org/drawingml/2006/main">
              <a:ext uri="{FF2B5EF4-FFF2-40B4-BE49-F238E27FC236}">
                <a16:creationId xmlns:a16="http://schemas.microsoft.com/office/drawing/2014/main" id="{BBF18EA2-4463-4DC5-9CE7-E367BE1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390650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故障注入</a:t>
            </a:r>
          </a:p>
        </p:txBody>
      </p:sp>
      <p:sp>
        <p:nvSpPr>
          <p:cNvPr id="23" name="成功率 / 恢复">
            <a:extLst xmlns:a="http://schemas.openxmlformats.org/drawingml/2006/main">
              <a:ext uri="{FF2B5EF4-FFF2-40B4-BE49-F238E27FC236}">
                <a16:creationId xmlns:a16="http://schemas.microsoft.com/office/drawing/2014/main" id="{E8045552-40E1-448F-A733-61C901B3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1452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成功率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恢复</a:t>
            </a:r>
          </a:p>
        </p:txBody>
      </p:sp>
      <p:sp>
        <p:nvSpPr>
          <p:cNvPr id="24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82EDA33F-9A17-46CA-9FBD-6A68A272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F2473-B424-4464-AA4E-4A373951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6225"/>
            <a:ext cx="1028700" cy="3019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1F3A5F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A1A1A"/>
                </a:solidFill>
              </a:defRPr>
            </a:defPPr>
          </a:lstStyle>
          <a:p xmlns:a="http://schemas.openxmlformats.org/drawingml/2006/main">
            <a:r>
              <a:rPr sz="1050" b="0">
                <a:latin typeface="Times New Roman"/>
                <a:ea typeface="Times New Roman"/>
                <a:cs typeface="Times New Roman"/>
              </a:rPr>
              <a:t/>
            </a:r>
          </a:p>
        </p:txBody>
      </p:sp>
      <p:sp>
        <p:nvSpPr>
          <p:cNvPr id="26" name="兼容">
            <a:extLst xmlns:a="http://schemas.openxmlformats.org/drawingml/2006/main">
              <a:ext uri="{FF2B5EF4-FFF2-40B4-BE49-F238E27FC236}">
                <a16:creationId xmlns:a16="http://schemas.microsoft.com/office/drawing/2014/main" id="{7ED572B4-01C9-462C-B6D6-61DD99C7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1050">
                <a:solidFill>
                  <a:srgbClr val="1F3A5F"/>
                </a:solidFill>
              </a:defRPr>
            </a:defPPr>
          </a:lstStyle>
          <a:p xmlns:a="http://schemas.openxmlformats.org/drawingml/2006/main">
            <a:pPr algn="ctr">
              <a:defRPr sz="1050">
                <a:solidFill>
                  <a:srgbClr val="1A1A1A"/>
                </a:solidFill>
              </a:defRPr>
            </a:pPr>
            <a:r>
              <a:rPr sz="1050" b="0">
                <a:solidFill>
                  <a:srgbClr val="1F3A5F"/>
                </a:solidFill>
                <a:latin typeface="SimSun"/>
                <a:ea typeface="SimSun"/>
                <a:cs typeface="SimSun"/>
              </a:rPr>
              <a:t>兼容</a:t>
            </a:r>
          </a:p>
        </p:txBody>
      </p:sp>
      <p:sp>
        <p:nvSpPr>
          <p:cNvPr id="27" name="4 类客户端">
            <a:extLst xmlns:a="http://schemas.openxmlformats.org/drawingml/2006/main">
              <a:ext uri="{FF2B5EF4-FFF2-40B4-BE49-F238E27FC236}">
                <a16:creationId xmlns:a16="http://schemas.microsoft.com/office/drawing/2014/main" id="{4D1D5F36-3A87-44DD-9CA1-5D9960E0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86677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4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类客户端</a:t>
            </a:r>
          </a:p>
        </p:txBody>
      </p:sp>
      <p:sp>
        <p:nvSpPr>
          <p:cNvPr id="28" name="远程 / stdio">
            <a:extLst xmlns:a="http://schemas.openxmlformats.org/drawingml/2006/main">
              <a:ext uri="{FF2B5EF4-FFF2-40B4-BE49-F238E27FC236}">
                <a16:creationId xmlns:a16="http://schemas.microsoft.com/office/drawing/2014/main" id="{84C7E424-2F0D-4B9F-9E12-3B01683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90650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远程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stdio</a:t>
            </a:r>
          </a:p>
        </p:txBody>
      </p:sp>
      <p:sp>
        <p:nvSpPr>
          <p:cNvPr id="29" name="加载 / 续取">
            <a:extLst xmlns:a="http://schemas.openxmlformats.org/drawingml/2006/main">
              <a:ext uri="{FF2B5EF4-FFF2-40B4-BE49-F238E27FC236}">
                <a16:creationId xmlns:a16="http://schemas.microsoft.com/office/drawing/2014/main" id="{A6066933-B353-42A2-AC6E-8C7BEEB9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14525"/>
            <a:ext cx="9334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加载</a:t>
            </a:r>
            <a:r>
              <a:rPr sz="9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 / </a:t>
            </a:r>
            <a:r>
              <a:rPr sz="900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续取</a:t>
            </a:r>
          </a:p>
        </p:txBody>
      </p:sp>
      <p:sp>
        <p:nvSpPr>
          <p:cNvPr id="30" name="目标值待定 （待测）">
            <a:extLst xmlns:a="http://schemas.openxmlformats.org/drawingml/2006/main">
              <a:ext uri="{FF2B5EF4-FFF2-40B4-BE49-F238E27FC236}">
                <a16:creationId xmlns:a16="http://schemas.microsoft.com/office/drawing/2014/main" id="{12DE3AF1-5ABA-4DB4-8543-D1B0FC60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914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791F"/>
            </a:solidFill>
            <a:prstDash val="dash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900">
                <a:solidFill>
                  <a:srgbClr val="1A1A1A"/>
                </a:solidFill>
              </a:defRPr>
            </a:defPPr>
          </a:lstStyle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目标值待定</a:t>
            </a:r>
          </a:p>
          <a:p xmlns:a="http://schemas.openxmlformats.org/drawingml/2006/main">
            <a:pPr algn="ctr">
              <a:defRPr sz="900">
                <a:solidFill>
                  <a:srgbClr val="1A1A1A"/>
                </a:solidFill>
              </a:defRPr>
            </a:pPr>
            <a:r>
              <a:rPr sz="900" b="0">
                <a:solidFill>
                  <a:srgbClr val="1A1A1A"/>
                </a:solidFill>
                <a:latin typeface="SimSun"/>
                <a:ea typeface="SimSun"/>
                <a:cs typeface="SimSun"/>
              </a:rPr>
              <a:t>（待测）</a:t>
            </a:r>
          </a:p>
        </p:txBody>
      </p:sp>
      <p:sp>
        <p:nvSpPr>
          <p:cNvPr id="31" name="同模型同提示；保存原始结果；未执行不计为通过">
            <a:extLst xmlns:a="http://schemas.openxmlformats.org/drawingml/2006/main">
              <a:ext uri="{FF2B5EF4-FFF2-40B4-BE49-F238E27FC236}">
                <a16:creationId xmlns:a16="http://schemas.microsoft.com/office/drawing/2014/main" id="{0E2C8A53-5D59-4540-A877-1D7004F5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71875"/>
            <a:ext cx="533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>
            <a:defPPr algn="ctr">
              <a:defRPr sz="825">
                <a:solidFill>
                  <a:srgbClr val="555555"/>
                </a:solidFill>
              </a:defRPr>
            </a:defPPr>
          </a:lstStyle>
          <a:p xmlns:a="http://schemas.openxmlformats.org/drawingml/2006/main">
            <a:pPr algn="ctr">
              <a:defRPr sz="825">
                <a:solidFill>
                  <a:srgbClr val="1A1A1A"/>
                </a:solidFill>
              </a:defRPr>
            </a:pPr>
            <a:r>
              <a:rPr sz="825" b="0">
                <a:solidFill>
                  <a:srgbClr val="555555"/>
                </a:solidFill>
                <a:latin typeface="SimSun"/>
                <a:ea typeface="SimSun"/>
                <a:cs typeface="SimSun"/>
              </a:rPr>
              <a:t>同模型同提示；保存原始结果；未执行不计为通过</a:t>
            </a:r>
          </a:p>
        </p:txBody>
      </p:sp>
    </p:spTree>
    <p:extLst>
      <p:ext uri="{BB962C8B-B14F-4D97-AF65-F5344CB8AC3E}">
        <p14:creationId xmlns:p14="http://schemas.microsoft.com/office/powerpoint/2010/main" val="1747509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2026-10-15T23:12:00.7190000Z</dcterms:created>
  <dcterms:modified xsi:type="dcterms:W3CDTF">2026-10-15T23:12:00.7190000Z</dcterms:modified>
</coreProperties>
</file>