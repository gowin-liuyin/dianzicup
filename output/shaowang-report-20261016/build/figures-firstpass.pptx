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fdd1145804716" /><Relationship Type="http://schemas.openxmlformats.org/officeDocument/2006/relationships/extended-properties" Target="/docProps/app.xml" Id="R172a30a64a3c4903" /><Relationship Type="http://schemas.openxmlformats.org/officeDocument/2006/relationships/officeDocument" Target="/ppt/presentation.xml" Id="R251a16eb30dd43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04e4918108415c"/>
  </p:sldMasterIdLst>
  <p:notesMasterIdLst>
    <p:notesMasterId xmlns:r="http://schemas.openxmlformats.org/officeDocument/2006/relationships" r:id="Rae9d1819d5064bd6"/>
  </p:notesMasterIdLst>
  <p:sldIdLst>
    <p:sldId xmlns:r="http://schemas.openxmlformats.org/officeDocument/2006/relationships" id="256" r:id="Rfa040531e59a4d28"/>
    <p:sldId xmlns:r="http://schemas.openxmlformats.org/officeDocument/2006/relationships" id="257" r:id="R04f47b18fa3a49be"/>
    <p:sldId xmlns:r="http://schemas.openxmlformats.org/officeDocument/2006/relationships" id="258" r:id="R7031a3a6ad5a4794"/>
    <p:sldId xmlns:r="http://schemas.openxmlformats.org/officeDocument/2006/relationships" id="259" r:id="R8be3e7d682894bd7"/>
    <p:sldId xmlns:r="http://schemas.openxmlformats.org/officeDocument/2006/relationships" id="260" r:id="R6ef83260265e4e18"/>
    <p:sldId xmlns:r="http://schemas.openxmlformats.org/officeDocument/2006/relationships" id="261" r:id="R0adb23c7a86149d6"/>
    <p:sldId xmlns:r="http://schemas.openxmlformats.org/officeDocument/2006/relationships" id="262" r:id="R5cf3b41a53064b5d"/>
    <p:sldId xmlns:r="http://schemas.openxmlformats.org/officeDocument/2006/relationships" id="263" r:id="Rb55f3beba8784e5e"/>
    <p:sldId xmlns:r="http://schemas.openxmlformats.org/officeDocument/2006/relationships" id="264" r:id="R964b7e17926e41f4"/>
    <p:sldId xmlns:r="http://schemas.openxmlformats.org/officeDocument/2006/relationships" id="265" r:id="Rf6be243b6d2640f1"/>
    <p:sldId xmlns:r="http://schemas.openxmlformats.org/officeDocument/2006/relationships" id="266" r:id="R00b413be78a1426b"/>
    <p:sldId xmlns:r="http://schemas.openxmlformats.org/officeDocument/2006/relationships" id="267" r:id="R4c08a2d26e9b49e6"/>
    <p:sldId xmlns:r="http://schemas.openxmlformats.org/officeDocument/2006/relationships" id="268" r:id="R66a95db12a2e470b"/>
    <p:sldId xmlns:r="http://schemas.openxmlformats.org/officeDocument/2006/relationships" id="269" r:id="Reca1642e007a4923"/>
    <p:sldId xmlns:r="http://schemas.openxmlformats.org/officeDocument/2006/relationships" id="270" r:id="R40595a1d34cf424e"/>
    <p:sldId xmlns:r="http://schemas.openxmlformats.org/officeDocument/2006/relationships" id="271" r:id="Recf70d074a7e4ab4"/>
    <p:sldId xmlns:r="http://schemas.openxmlformats.org/officeDocument/2006/relationships" id="272" r:id="R4786d4b2db7243df"/>
    <p:sldId xmlns:r="http://schemas.openxmlformats.org/officeDocument/2006/relationships" id="273" r:id="Re6c9d2f1e3c44e1f"/>
    <p:sldId xmlns:r="http://schemas.openxmlformats.org/officeDocument/2006/relationships" id="274" r:id="Rb512d81355804ffd"/>
    <p:sldId xmlns:r="http://schemas.openxmlformats.org/officeDocument/2006/relationships" id="275" r:id="R095a368978264657"/>
    <p:sldId xmlns:r="http://schemas.openxmlformats.org/officeDocument/2006/relationships" id="276" r:id="Rd446044c4b314240"/>
    <p:sldId xmlns:r="http://schemas.openxmlformats.org/officeDocument/2006/relationships" id="277" r:id="R75cacf680e5d4acc"/>
    <p:sldId xmlns:r="http://schemas.openxmlformats.org/officeDocument/2006/relationships" id="278" r:id="Rc30de7dbad3f4a9e"/>
    <p:sldId xmlns:r="http://schemas.openxmlformats.org/officeDocument/2006/relationships" id="279" r:id="R5cce338722f8402a"/>
    <p:sldId xmlns:r="http://schemas.openxmlformats.org/officeDocument/2006/relationships" id="280" r:id="Rfedc227987db4519"/>
    <p:sldId xmlns:r="http://schemas.openxmlformats.org/officeDocument/2006/relationships" id="281" r:id="R5d95dab3d12d4843"/>
    <p:sldId xmlns:r="http://schemas.openxmlformats.org/officeDocument/2006/relationships" id="282" r:id="R62a0c61fdecb40ca"/>
    <p:sldId xmlns:r="http://schemas.openxmlformats.org/officeDocument/2006/relationships" id="283" r:id="Rb02f2ef9352f47ad"/>
    <p:sldId xmlns:r="http://schemas.openxmlformats.org/officeDocument/2006/relationships" id="284" r:id="R45e2e23afd1b41f0"/>
    <p:sldId xmlns:r="http://schemas.openxmlformats.org/officeDocument/2006/relationships" id="285" r:id="Re54ad07e8ea64fc3"/>
  </p:sldIdLst>
  <p:sldSz cx="5715000" cy="400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acceb8f58e4226" /><Relationship Type="http://schemas.openxmlformats.org/officeDocument/2006/relationships/slideMaster" Target="/ppt/slideMasters/slideMaster1.xml" Id="Rfb04e4918108415c" /><Relationship Type="http://schemas.openxmlformats.org/officeDocument/2006/relationships/notesMaster" Target="/ppt/notesMasters/notesMaster1.xml" Id="Rae9d1819d5064bd6" /><Relationship Type="http://schemas.openxmlformats.org/officeDocument/2006/relationships/presProps" Target="/ppt/presProps.xml" Id="Rafe8dbfde1c2443d" /><Relationship Type="http://schemas.openxmlformats.org/officeDocument/2006/relationships/tableStyles" Target="/ppt/tableStyles.xml" Id="R4d3db9db63274e85" /><Relationship Type="http://schemas.openxmlformats.org/officeDocument/2006/relationships/slide" Target="/ppt/slides/slide1.xml" Id="Rfa040531e59a4d28" /><Relationship Type="http://schemas.openxmlformats.org/officeDocument/2006/relationships/slide" Target="/ppt/slides/slide2.xml" Id="R04f47b18fa3a49be" /><Relationship Type="http://schemas.openxmlformats.org/officeDocument/2006/relationships/slide" Target="/ppt/slides/slide3.xml" Id="R7031a3a6ad5a4794" /><Relationship Type="http://schemas.openxmlformats.org/officeDocument/2006/relationships/slide" Target="/ppt/slides/slide4.xml" Id="R8be3e7d682894bd7" /><Relationship Type="http://schemas.openxmlformats.org/officeDocument/2006/relationships/slide" Target="/ppt/slides/slide5.xml" Id="R6ef83260265e4e18" /><Relationship Type="http://schemas.openxmlformats.org/officeDocument/2006/relationships/slide" Target="/ppt/slides/slide6.xml" Id="R0adb23c7a86149d6" /><Relationship Type="http://schemas.openxmlformats.org/officeDocument/2006/relationships/slide" Target="/ppt/slides/slide7.xml" Id="R5cf3b41a53064b5d" /><Relationship Type="http://schemas.openxmlformats.org/officeDocument/2006/relationships/slide" Target="/ppt/slides/slide8.xml" Id="Rb55f3beba8784e5e" /><Relationship Type="http://schemas.openxmlformats.org/officeDocument/2006/relationships/slide" Target="/ppt/slides/slide9.xml" Id="R964b7e17926e41f4" /><Relationship Type="http://schemas.openxmlformats.org/officeDocument/2006/relationships/slide" Target="/ppt/slides/slide10.xml" Id="Rf6be243b6d2640f1" /><Relationship Type="http://schemas.openxmlformats.org/officeDocument/2006/relationships/slide" Target="/ppt/slides/slide11.xml" Id="R00b413be78a1426b" /><Relationship Type="http://schemas.openxmlformats.org/officeDocument/2006/relationships/slide" Target="/ppt/slides/slide12.xml" Id="R4c08a2d26e9b49e6" /><Relationship Type="http://schemas.openxmlformats.org/officeDocument/2006/relationships/slide" Target="/ppt/slides/slide13.xml" Id="R66a95db12a2e470b" /><Relationship Type="http://schemas.openxmlformats.org/officeDocument/2006/relationships/slide" Target="/ppt/slides/slide14.xml" Id="Reca1642e007a4923" /><Relationship Type="http://schemas.openxmlformats.org/officeDocument/2006/relationships/slide" Target="/ppt/slides/slide15.xml" Id="R40595a1d34cf424e" /><Relationship Type="http://schemas.openxmlformats.org/officeDocument/2006/relationships/slide" Target="/ppt/slides/slide16.xml" Id="Recf70d074a7e4ab4" /><Relationship Type="http://schemas.openxmlformats.org/officeDocument/2006/relationships/slide" Target="/ppt/slides/slide17.xml" Id="R4786d4b2db7243df" /><Relationship Type="http://schemas.openxmlformats.org/officeDocument/2006/relationships/slide" Target="/ppt/slides/slide18.xml" Id="Re6c9d2f1e3c44e1f" /><Relationship Type="http://schemas.openxmlformats.org/officeDocument/2006/relationships/slide" Target="/ppt/slides/slide19.xml" Id="Rb512d81355804ffd" /><Relationship Type="http://schemas.openxmlformats.org/officeDocument/2006/relationships/slide" Target="/ppt/slides/slide20.xml" Id="R095a368978264657" /><Relationship Type="http://schemas.openxmlformats.org/officeDocument/2006/relationships/slide" Target="/ppt/slides/slide21.xml" Id="Rd446044c4b314240" /><Relationship Type="http://schemas.openxmlformats.org/officeDocument/2006/relationships/slide" Target="/ppt/slides/slide22.xml" Id="R75cacf680e5d4acc" /><Relationship Type="http://schemas.openxmlformats.org/officeDocument/2006/relationships/slide" Target="/ppt/slides/slide23.xml" Id="Rc30de7dbad3f4a9e" /><Relationship Type="http://schemas.openxmlformats.org/officeDocument/2006/relationships/slide" Target="/ppt/slides/slide24.xml" Id="R5cce338722f8402a" /><Relationship Type="http://schemas.openxmlformats.org/officeDocument/2006/relationships/slide" Target="/ppt/slides/slide25.xml" Id="Rfedc227987db4519" /><Relationship Type="http://schemas.openxmlformats.org/officeDocument/2006/relationships/slide" Target="/ppt/slides/slide26.xml" Id="R5d95dab3d12d4843" /><Relationship Type="http://schemas.openxmlformats.org/officeDocument/2006/relationships/slide" Target="/ppt/slides/slide27.xml" Id="R62a0c61fdecb40ca" /><Relationship Type="http://schemas.openxmlformats.org/officeDocument/2006/relationships/slide" Target="/ppt/slides/slide28.xml" Id="Rb02f2ef9352f47ad" /><Relationship Type="http://schemas.openxmlformats.org/officeDocument/2006/relationships/slide" Target="/ppt/slides/slide29.xml" Id="R45e2e23afd1b41f0" /><Relationship Type="http://schemas.openxmlformats.org/officeDocument/2006/relationships/slide" Target="/ppt/slides/slide30.xml" Id="Re54ad07e8ea64f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aec52bda6e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3ab03cfa04b35" /><Relationship Type="http://schemas.openxmlformats.org/officeDocument/2006/relationships/notesMaster" Target="/ppt/notesMasters/notesMaster1.xml" Id="R1ccc5d9aa8b842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750fb4c57b43e1" /><Relationship Type="http://schemas.openxmlformats.org/officeDocument/2006/relationships/notesMaster" Target="/ppt/notesMasters/notesMaster1.xml" Id="R458f6fb0796049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be20e9ea444e4e" /><Relationship Type="http://schemas.openxmlformats.org/officeDocument/2006/relationships/notesMaster" Target="/ppt/notesMasters/notesMaster1.xml" Id="Rcd504870a38646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e876fe3eaf4a24" /><Relationship Type="http://schemas.openxmlformats.org/officeDocument/2006/relationships/notesMaster" Target="/ppt/notesMasters/notesMaster1.xml" Id="R1a51faff4d92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02565c35ea44b2" /><Relationship Type="http://schemas.openxmlformats.org/officeDocument/2006/relationships/notesMaster" Target="/ppt/notesMasters/notesMaster1.xml" Id="Reed3640b052d42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3e574cec9044c7" /><Relationship Type="http://schemas.openxmlformats.org/officeDocument/2006/relationships/notesMaster" Target="/ppt/notesMasters/notesMaster1.xml" Id="Ra8cace3855484e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52930c852c40c1" /><Relationship Type="http://schemas.openxmlformats.org/officeDocument/2006/relationships/notesMaster" Target="/ppt/notesMasters/notesMaster1.xml" Id="R618c983bc79846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6dfe6481c54a28" /><Relationship Type="http://schemas.openxmlformats.org/officeDocument/2006/relationships/notesMaster" Target="/ppt/notesMasters/notesMaster1.xml" Id="R24311b3ecf6342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92df616ca745d5" /><Relationship Type="http://schemas.openxmlformats.org/officeDocument/2006/relationships/notesMaster" Target="/ppt/notesMasters/notesMaster1.xml" Id="R2f0ea7ea802c47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7eb89951484c56" /><Relationship Type="http://schemas.openxmlformats.org/officeDocument/2006/relationships/notesMaster" Target="/ppt/notesMasters/notesMaster1.xml" Id="Rf7e18e5b1bbf42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7892ca06434204" /><Relationship Type="http://schemas.openxmlformats.org/officeDocument/2006/relationships/notesMaster" Target="/ppt/notesMasters/notesMaster1.xml" Id="R9eeffbbf82ef40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f49ce5fe554fba" /><Relationship Type="http://schemas.openxmlformats.org/officeDocument/2006/relationships/notesMaster" Target="/ppt/notesMasters/notesMaster1.xml" Id="R23a181b542e948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7da8bddd8f4772" /><Relationship Type="http://schemas.openxmlformats.org/officeDocument/2006/relationships/notesMaster" Target="/ppt/notesMasters/notesMaster1.xml" Id="Rdf67288b8da843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de301b76a54eec" /><Relationship Type="http://schemas.openxmlformats.org/officeDocument/2006/relationships/notesMaster" Target="/ppt/notesMasters/notesMaster1.xml" Id="Rb16dc208f99144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f03f9c1c56420e" /><Relationship Type="http://schemas.openxmlformats.org/officeDocument/2006/relationships/notesMaster" Target="/ppt/notesMasters/notesMaster1.xml" Id="R9684c8a0536247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718922d39d4a5a" /><Relationship Type="http://schemas.openxmlformats.org/officeDocument/2006/relationships/notesMaster" Target="/ppt/notesMasters/notesMaster1.xml" Id="Rcb2eb87cd4564c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67b69fe1754656" /><Relationship Type="http://schemas.openxmlformats.org/officeDocument/2006/relationships/notesMaster" Target="/ppt/notesMasters/notesMaster1.xml" Id="Rc44abce69fb245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ad2629725b4efa" /><Relationship Type="http://schemas.openxmlformats.org/officeDocument/2006/relationships/notesMaster" Target="/ppt/notesMasters/notesMaster1.xml" Id="Rb93a95b39ac54a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f007ed5dff4474" /><Relationship Type="http://schemas.openxmlformats.org/officeDocument/2006/relationships/notesMaster" Target="/ppt/notesMasters/notesMaster1.xml" Id="R3ee668c3e33e4a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844c634dc84a98" /><Relationship Type="http://schemas.openxmlformats.org/officeDocument/2006/relationships/notesMaster" Target="/ppt/notesMasters/notesMaster1.xml" Id="Rf17a31b2dbb54f7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080631602c4589" /><Relationship Type="http://schemas.openxmlformats.org/officeDocument/2006/relationships/notesMaster" Target="/ppt/notesMasters/notesMaster1.xml" Id="Radf51b29209349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2983d2051a4c71" /><Relationship Type="http://schemas.openxmlformats.org/officeDocument/2006/relationships/notesMaster" Target="/ppt/notesMasters/notesMaster1.xml" Id="R7c555c31c3ee42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2388cf3c214ece" /><Relationship Type="http://schemas.openxmlformats.org/officeDocument/2006/relationships/notesMaster" Target="/ppt/notesMasters/notesMaster1.xml" Id="Ra0f62167f0e246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22338c0ef245f4" /><Relationship Type="http://schemas.openxmlformats.org/officeDocument/2006/relationships/notesMaster" Target="/ppt/notesMasters/notesMaster1.xml" Id="R796fc054f2cb47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96d40fda824bc1" /><Relationship Type="http://schemas.openxmlformats.org/officeDocument/2006/relationships/notesMaster" Target="/ppt/notesMasters/notesMaster1.xml" Id="R5d0788f369ff4b0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cf9ff65df4428b" /><Relationship Type="http://schemas.openxmlformats.org/officeDocument/2006/relationships/notesMaster" Target="/ppt/notesMasters/notesMaster1.xml" Id="R7640644c782246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f6032082984d62" /><Relationship Type="http://schemas.openxmlformats.org/officeDocument/2006/relationships/notesMaster" Target="/ppt/notesMasters/notesMaster1.xml" Id="R15dd9c2ce97d41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a5a47c1a8f94cc5" /><Relationship Type="http://schemas.openxmlformats.org/officeDocument/2006/relationships/notesMaster" Target="/ppt/notesMasters/notesMaster1.xml" Id="R8060dd6c8a7540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97d1915b67a42e9" /><Relationship Type="http://schemas.openxmlformats.org/officeDocument/2006/relationships/notesMaster" Target="/ppt/notesMasters/notesMaster1.xml" Id="Ra15e16892f32472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a573b547984813" /><Relationship Type="http://schemas.openxmlformats.org/officeDocument/2006/relationships/notesMaster" Target="/ppt/notesMasters/notesMaster1.xml" Id="Ra5bbc32b90c942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样式母版</a:t>
            </a:r>
          </a:p>
          <a:p xmlns:a="http://schemas.openxmlformats.org/drawingml/2006/main">
            <a:r>
              <a:t>依据：design-dossier.md D22.1</a:t>
            </a:r>
          </a:p>
          <a:p xmlns:a="http://schemas.openxmlformats.org/drawingml/2006/main">
            <a:r>
              <a:t>中文宋体，西文 Times New Roman。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 哨望总体架构</a:t>
            </a:r>
          </a:p>
          <a:p xmlns:a="http://schemas.openxmlformats.org/drawingml/2006/main">
            <a:r>
              <a:t>依据：design-dossier.md D3.1</a:t>
            </a:r>
          </a:p>
          <a:p xmlns:a="http://schemas.openxmlformats.org/drawingml/2006/main">
            <a:r>
              <a:t>报告位置：概述（缩略版）+ 2.1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F-02 监测—富化—问答闭环</a:t>
            </a:r>
          </a:p>
          <a:p xmlns:a="http://schemas.openxmlformats.org/drawingml/2006/main">
            <a:r>
              <a:t>依据：design-dossier.md D1.1、D3.2</a:t>
            </a:r>
          </a:p>
          <a:p xmlns:a="http://schemas.openxmlformats.org/drawingml/2006/main">
            <a:r>
              <a:t>报告位置：1.3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F-03 端到端数据流与阶段时间戳</a:t>
            </a:r>
          </a:p>
          <a:p xmlns:a="http://schemas.openxmlformats.org/drawingml/2006/main">
            <a:r>
              <a:t>依据：design-dossier.md D3.2、D2.8</a:t>
            </a:r>
          </a:p>
          <a:p xmlns:a="http://schemas.openxmlformats.org/drawingml/2006/main">
            <a:r>
              <a:t>报告位置：2.2.1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F-04 一条新公告从发布到可问答的时序</a:t>
            </a:r>
          </a:p>
          <a:p xmlns:a="http://schemas.openxmlformats.org/drawingml/2006/main">
            <a:r>
              <a:t>依据：design-dossier.md D3.2、D5.3</a:t>
            </a:r>
          </a:p>
          <a:p xmlns:a="http://schemas.openxmlformats.org/drawingml/2006/main">
            <a:r>
              <a:t>报告位置：2.2.2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F-05 查询请求的处理路径</a:t>
            </a:r>
          </a:p>
          <a:p xmlns:a="http://schemas.openxmlformats.org/drawingml/2006/main">
            <a:r>
              <a:t>依据：design-dossier.md D3.3、D3.4</a:t>
            </a:r>
          </a:p>
          <a:p xmlns:a="http://schemas.openxmlformats.org/drawingml/2006/main">
            <a:r>
              <a:t>报告位置：2.2.3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F-06 九个智能体的协作关系</a:t>
            </a:r>
          </a:p>
          <a:p xmlns:a="http://schemas.openxmlformats.org/drawingml/2006/main">
            <a:r>
              <a:t>依据：design-dossier.md D4.1、D4.2</a:t>
            </a:r>
          </a:p>
          <a:p xmlns:a="http://schemas.openxmlformats.org/drawingml/2006/main">
            <a:r>
              <a:t>报告位置：2.3.1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F-07 任务状态机</a:t>
            </a:r>
          </a:p>
          <a:p xmlns:a="http://schemas.openxmlformats.org/drawingml/2006/main">
            <a:r>
              <a:t>依据：design-dossier.md D4.3</a:t>
            </a:r>
          </a:p>
          <a:p xmlns:a="http://schemas.openxmlformats.org/drawingml/2006/main">
            <a:r>
              <a:t>报告位置：2.3.2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F-08 Critic 校验闭环</a:t>
            </a:r>
          </a:p>
          <a:p xmlns:a="http://schemas.openxmlformats.org/drawingml/2006/main">
            <a:r>
              <a:t>依据：design-dossier.md D4.4</a:t>
            </a:r>
          </a:p>
          <a:p xmlns:a="http://schemas.openxmlformats.org/drawingml/2006/main">
            <a:r>
              <a:t>报告位置：2.3.3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F-09 九类数据源与三级可信度</a:t>
            </a:r>
          </a:p>
          <a:p xmlns:a="http://schemas.openxmlformats.org/drawingml/2006/main">
            <a:r>
              <a:t>依据：design-dossier.md D5.1</a:t>
            </a:r>
          </a:p>
          <a:p xmlns:a="http://schemas.openxmlformats.org/drawingml/2006/main">
            <a:r>
              <a:t>报告位置：2.4.1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F-10 各来源采集节奏与目标时延</a:t>
            </a:r>
          </a:p>
          <a:p xmlns:a="http://schemas.openxmlformats.org/drawingml/2006/main">
            <a:r>
              <a:t>依据：design-dossier.md D5.2</a:t>
            </a:r>
          </a:p>
          <a:p xmlns:a="http://schemas.openxmlformats.org/drawingml/2006/main">
            <a:r>
              <a:t>报告位置：2.4.2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F-11 去重与合并的三层处理</a:t>
            </a:r>
          </a:p>
          <a:p xmlns:a="http://schemas.openxmlformats.org/drawingml/2006/main">
            <a:r>
              <a:t>依据：design-dossier.md D5.4</a:t>
            </a:r>
          </a:p>
          <a:p xmlns:a="http://schemas.openxmlformats.org/drawingml/2006/main">
            <a:r>
              <a:t>报告位置：2.4.3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F-12 九维富化画像</a:t>
            </a:r>
          </a:p>
          <a:p xmlns:a="http://schemas.openxmlformats.org/drawingml/2006/main">
            <a:r>
              <a:t>依据：design-dossier.md D6.1</a:t>
            </a:r>
          </a:p>
          <a:p xmlns:a="http://schemas.openxmlformats.org/drawingml/2006/main">
            <a:r>
              <a:t>报告位置：2.5.1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F-13 暴露面计数的语法校准</a:t>
            </a:r>
          </a:p>
          <a:p xmlns:a="http://schemas.openxmlformats.org/drawingml/2006/main">
            <a:r>
              <a:t>依据：design-dossier.md D18.2</a:t>
            </a:r>
          </a:p>
          <a:p xmlns:a="http://schemas.openxmlformats.org/drawingml/2006/main">
            <a:r>
              <a:t>报告位置：2.5.1 或 4.6.2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F-14 六类自动关联</a:t>
            </a:r>
          </a:p>
          <a:p xmlns:a="http://schemas.openxmlformats.org/drawingml/2006/main">
            <a:r>
              <a:t>依据：design-dossier.md D6.3</a:t>
            </a:r>
          </a:p>
          <a:p xmlns:a="http://schemas.openxmlformats.org/drawingml/2006/main">
            <a:r>
              <a:t>报告位置：2.5.2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F-15 多源冲突的逐字段裁决</a:t>
            </a:r>
          </a:p>
          <a:p xmlns:a="http://schemas.openxmlformats.org/drawingml/2006/main">
            <a:r>
              <a:t>依据：design-dossier.md D6.4</a:t>
            </a:r>
          </a:p>
          <a:p xmlns:a="http://schemas.openxmlformats.org/drawingml/2006/main">
            <a:r>
              <a:t>报告位置：2.5.3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F-16 版本自查流程</a:t>
            </a:r>
          </a:p>
          <a:p xmlns:a="http://schemas.openxmlformats.org/drawingml/2006/main">
            <a:r>
              <a:t>依据：design-dossier.md D6.5</a:t>
            </a:r>
          </a:p>
          <a:p xmlns:a="http://schemas.openxmlformats.org/drawingml/2006/main">
            <a:r>
              <a:t>报告位置：2.5.4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F-17 三路混合检索与 GraphRAG 问答流程</a:t>
            </a:r>
          </a:p>
          <a:p xmlns:a="http://schemas.openxmlformats.org/drawingml/2006/main">
            <a:r>
              <a:t>依据：design-dossier.md D7.1–D7.3</a:t>
            </a:r>
          </a:p>
          <a:p xmlns:a="http://schemas.openxmlformats.org/drawingml/2006/main">
            <a:r>
              <a:t>报告位置：2.6.1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F-18 多跳问答的推理链示例</a:t>
            </a:r>
          </a:p>
          <a:p xmlns:a="http://schemas.openxmlformats.org/drawingml/2006/main">
            <a:r>
              <a:t>依据：design-dossier.md D7.2</a:t>
            </a:r>
          </a:p>
          <a:p xmlns:a="http://schemas.openxmlformats.org/drawingml/2006/main">
            <a:r>
              <a:t>报告位置：2.6.2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F-19 MCP 与插件生态全景</a:t>
            </a:r>
          </a:p>
          <a:p xmlns:a="http://schemas.openxmlformats.org/drawingml/2006/main">
            <a:r>
              <a:t>依据：design-dossier.md D8、D9.3</a:t>
            </a:r>
          </a:p>
          <a:p xmlns:a="http://schemas.openxmlformats.org/drawingml/2006/main">
            <a:r>
              <a:t>报告位置：2.7.1 / 2.7.3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F-20 插件生命周期</a:t>
            </a:r>
          </a:p>
          <a:p xmlns:a="http://schemas.openxmlformats.org/drawingml/2006/main">
            <a:r>
              <a:t>依据：design-dossier.md D9.6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F-21 公开 Schema 与 OSV / STIX 2.1 / CSAF 2.0 的对应</a:t>
            </a:r>
          </a:p>
          <a:p xmlns:a="http://schemas.openxmlformats.org/drawingml/2006/main">
            <a:r>
              <a:t>依据：design-dossier.md D9.1、D9.2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F-22 技术栈分层</a:t>
            </a:r>
          </a:p>
          <a:p xmlns:a="http://schemas.openxmlformats.org/drawingml/2006/main">
            <a:r>
              <a:t>依据：design-dossier.md D10</a:t>
            </a:r>
          </a:p>
          <a:p xmlns:a="http://schemas.openxmlformats.org/drawingml/2006/main">
            <a:r>
              <a:t>报告位置：2.8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F-23 docker compose 单机部署结构</a:t>
            </a:r>
          </a:p>
          <a:p xmlns:a="http://schemas.openxmlformats.org/drawingml/2006/main">
            <a:r>
              <a:t>依据：design-dossier.md D3.5</a:t>
            </a:r>
          </a:p>
          <a:p xmlns:a="http://schemas.openxmlformats.org/drawingml/2006/main">
            <a:r>
              <a:t>报告位置：3.1.1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F-24 知识图谱数据模型</a:t>
            </a:r>
          </a:p>
          <a:p xmlns:a="http://schemas.openxmlformats.org/drawingml/2006/main">
            <a:r>
              <a:t>依据：design-dossier.md D11.2、D2.7</a:t>
            </a:r>
          </a:p>
          <a:p xmlns:a="http://schemas.openxmlformats.org/drawingml/2006/main">
            <a:r>
              <a:t>报告位置：3.1.2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  <a:p xmlns:a="http://schemas.openxmlformats.org/drawingml/2006/main">
            <a:br/>
            <a:r>
              <a:t>Version 的关联表达仅说明版本区间，不新增边类型。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F-25 失败重试、死信重放与熔断降级</a:t>
            </a:r>
          </a:p>
          <a:p xmlns:a="http://schemas.openxmlformats.org/drawingml/2006/main">
            <a:r>
              <a:t>依据：design-dossier.md D12.1、D12.2</a:t>
            </a:r>
          </a:p>
          <a:p xmlns:a="http://schemas.openxmlformats.org/drawingml/2006/main">
            <a:r>
              <a:t>报告位置：3.1.3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F-26 对外合规边界</a:t>
            </a:r>
          </a:p>
          <a:p xmlns:a="http://schemas.openxmlformats.org/drawingml/2006/main">
            <a:r>
              <a:t>依据：design-dossier.md D13</a:t>
            </a:r>
          </a:p>
          <a:p xmlns:a="http://schemas.openxmlformats.org/drawingml/2006/main">
            <a:r>
              <a:t>报告位置：3.1.5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F-27 时效统计的时间戳定义</a:t>
            </a:r>
          </a:p>
          <a:p xmlns:a="http://schemas.openxmlformats.org/drawingml/2006/main">
            <a:r>
              <a:t>依据：design-dossier.md D2.8、D16.3</a:t>
            </a:r>
          </a:p>
          <a:p xmlns:a="http://schemas.openxmlformats.org/drawingml/2006/main">
            <a:r>
              <a:t>报告位置：4.2.1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F-29 七项创新点总览</a:t>
            </a:r>
          </a:p>
          <a:p xmlns:a="http://schemas.openxmlformats.org/drawingml/2006/main">
            <a:r>
              <a:t>依据：design-dossier.md D17</a:t>
            </a:r>
          </a:p>
          <a:p xmlns:a="http://schemas.openxmlformats.org/drawingml/2006/main">
            <a:r>
              <a:t>报告位置：第五章开头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F-30 评测体系总览</a:t>
            </a:r>
          </a:p>
          <a:p xmlns:a="http://schemas.openxmlformats.org/drawingml/2006/main">
            <a:r>
              <a:t>依据：design-dossier.md D16</a:t>
            </a:r>
          </a:p>
          <a:p xmlns:a="http://schemas.openxmlformats.org/drawingml/2006/main">
            <a:r>
              <a:t>报告位置：4.1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699cc2be043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68e00f8204b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d01023c5c4d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cb2f7ca8d4f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b620a08d24c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c5e23499f4f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F9C730-8904-4819-ADDB-060D44218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1511300"/>
            <a:ext cx="4572000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3AA498-FE3B-48D4-8177-4F9705B2E5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57250" y="2200275"/>
            <a:ext cx="40005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8713E6-8387-423F-891C-3ADE0672A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D7921-3DF8-48AE-91C0-B67EBC199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469" y="311150"/>
            <a:ext cx="5072063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B90F4F-0A85-407C-80A2-F2FDF3A2A8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1469" y="1111250"/>
            <a:ext cx="5072063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1pPr>
            <a:lvl2pPr marL="2500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2pPr>
            <a:lvl3pPr marL="3929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3pPr>
            <a:lvl4pPr marL="5357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4pPr>
            <a:lvl5pPr marL="6786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5pPr>
            <a:lvl6pPr marL="8215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6pPr>
            <a:lvl7pPr marL="9644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7pPr>
            <a:lvl8pPr marL="11072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8pPr>
            <a:lvl9pPr marL="1250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DF68A0-FE16-41F3-BCAE-A437E23C2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469" y="311150"/>
            <a:ext cx="5072063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8DAB8-7B52-4D34-B87A-36C9748467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1469" y="1111250"/>
            <a:ext cx="2357438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1pPr>
            <a:lvl2pPr marL="2500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2pPr>
            <a:lvl3pPr marL="3929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3pPr>
            <a:lvl4pPr marL="5357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4pPr>
            <a:lvl5pPr marL="6786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5pPr>
            <a:lvl6pPr marL="8215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6pPr>
            <a:lvl7pPr marL="9644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7pPr>
            <a:lvl8pPr marL="11072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8pPr>
            <a:lvl9pPr marL="1250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AA275B-E897-4E43-BAB7-F8AEAB7916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36094" y="1111250"/>
            <a:ext cx="2357438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1pPr>
            <a:lvl2pPr marL="2500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2pPr>
            <a:lvl3pPr marL="3929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3pPr>
            <a:lvl4pPr marL="5357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4pPr>
            <a:lvl5pPr marL="6786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5pPr>
            <a:lvl6pPr marL="8215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6pPr>
            <a:lvl7pPr marL="9644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7pPr>
            <a:lvl8pPr marL="11072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8pPr>
            <a:lvl9pPr marL="1250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C76D5E-269F-47CF-8050-6E8001914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469" y="311150"/>
            <a:ext cx="5072063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E940ED-2D0D-492D-BBCD-A818E06C2F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1469" y="1111250"/>
            <a:ext cx="2357438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1pPr>
            <a:lvl2pPr marL="2500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2pPr>
            <a:lvl3pPr marL="3929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3pPr>
            <a:lvl4pPr marL="5357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4pPr>
            <a:lvl5pPr marL="6786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5pPr>
            <a:lvl6pPr marL="8215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6pPr>
            <a:lvl7pPr marL="9644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7pPr>
            <a:lvl8pPr marL="11072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8pPr>
            <a:lvl9pPr marL="1250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b1d5217bb24b50" /><Relationship Type="http://schemas.openxmlformats.org/officeDocument/2006/relationships/slideLayout" Target="/ppt/slideLayouts/slideLayout1.xml" Id="R01262056bcf74ca4" /><Relationship Type="http://schemas.openxmlformats.org/officeDocument/2006/relationships/slideLayout" Target="/ppt/slideLayouts/slideLayout2.xml" Id="R15ee16bc385e4334" /><Relationship Type="http://schemas.openxmlformats.org/officeDocument/2006/relationships/slideLayout" Target="/ppt/slideLayouts/slideLayout3.xml" Id="Rdf4758a71eda4735" /><Relationship Type="http://schemas.openxmlformats.org/officeDocument/2006/relationships/slideLayout" Target="/ppt/slideLayouts/slideLayout4.xml" Id="Ra96f18a382fb4446" /><Relationship Type="http://schemas.openxmlformats.org/officeDocument/2006/relationships/slideLayout" Target="/ppt/slideLayouts/slideLayout5.xml" Id="Rdeb2473b856f4689" /><Relationship Type="http://schemas.openxmlformats.org/officeDocument/2006/relationships/slideLayout" Target="/ppt/slideLayouts/slideLayout6.xml" Id="Rf8095d9372cc4c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262056bcf74ca4"/>
    <p:sldLayoutId xmlns:r="http://schemas.openxmlformats.org/officeDocument/2006/relationships" id="2147483650" r:id="R15ee16bc385e4334"/>
    <p:sldLayoutId xmlns:r="http://schemas.openxmlformats.org/officeDocument/2006/relationships" id="2147483651" r:id="Rdf4758a71eda4735"/>
    <p:sldLayoutId xmlns:r="http://schemas.openxmlformats.org/officeDocument/2006/relationships" id="2147483652" r:id="Ra96f18a382fb4446"/>
    <p:sldLayoutId xmlns:r="http://schemas.openxmlformats.org/officeDocument/2006/relationships" id="2147483653" r:id="Rdeb2473b856f4689"/>
    <p:sldLayoutId xmlns:r="http://schemas.openxmlformats.org/officeDocument/2006/relationships" id="2147483654" r:id="Rf8095d9372cc4c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e579dfeb348f4" /><Relationship Type="http://schemas.openxmlformats.org/officeDocument/2006/relationships/notesSlide" Target="/ppt/notesSlides/notesSlide1.xml" Id="R5f8bf45002f54c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472590b69410f" /><Relationship Type="http://schemas.openxmlformats.org/officeDocument/2006/relationships/notesSlide" Target="/ppt/notesSlides/notesSlide2.xml" Id="R47cfc07ee1c047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14774f01a45bd" /><Relationship Type="http://schemas.openxmlformats.org/officeDocument/2006/relationships/notesSlide" Target="/ppt/notesSlides/notesSlide3.xml" Id="Rbf23d692ceda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70dec0a644b63" /><Relationship Type="http://schemas.openxmlformats.org/officeDocument/2006/relationships/notesSlide" Target="/ppt/notesSlides/notesSlide4.xml" Id="Re973b11ed427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6edfcb6dd4ec9" /><Relationship Type="http://schemas.openxmlformats.org/officeDocument/2006/relationships/notesSlide" Target="/ppt/notesSlides/notesSlide5.xml" Id="Rad556c3bad8f4e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6cef155b24474" /><Relationship Type="http://schemas.openxmlformats.org/officeDocument/2006/relationships/notesSlide" Target="/ppt/notesSlides/notesSlide6.xml" Id="R3e9b25e92fd743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551b71d924250" /><Relationship Type="http://schemas.openxmlformats.org/officeDocument/2006/relationships/notesSlide" Target="/ppt/notesSlides/notesSlide7.xml" Id="R3aed3ec3d4954c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464b2f1b74d9f" /><Relationship Type="http://schemas.openxmlformats.org/officeDocument/2006/relationships/notesSlide" Target="/ppt/notesSlides/notesSlide8.xml" Id="R58800f52cc9648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a5d3fbb1b4c8e" /><Relationship Type="http://schemas.openxmlformats.org/officeDocument/2006/relationships/notesSlide" Target="/ppt/notesSlides/notesSlide9.xml" Id="R5cdd1dd7b1ab49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10493050d47be" /><Relationship Type="http://schemas.openxmlformats.org/officeDocument/2006/relationships/notesSlide" Target="/ppt/notesSlides/notesSlide10.xml" Id="Re75c2193c6e442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af5a3d28b4ed3" /><Relationship Type="http://schemas.openxmlformats.org/officeDocument/2006/relationships/notesSlide" Target="/ppt/notesSlides/notesSlide11.xml" Id="R3838287334d84a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e53599ad249a5" /><Relationship Type="http://schemas.openxmlformats.org/officeDocument/2006/relationships/notesSlide" Target="/ppt/notesSlides/notesSlide12.xml" Id="R506152a640b643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f0730bc5e49de" /><Relationship Type="http://schemas.openxmlformats.org/officeDocument/2006/relationships/notesSlide" Target="/ppt/notesSlides/notesSlide13.xml" Id="Rb8223eb5979e4b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0240a149d43f4" /><Relationship Type="http://schemas.openxmlformats.org/officeDocument/2006/relationships/notesSlide" Target="/ppt/notesSlides/notesSlide14.xml" Id="Raa0ca159ab594d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7fe29166c4940" /><Relationship Type="http://schemas.openxmlformats.org/officeDocument/2006/relationships/notesSlide" Target="/ppt/notesSlides/notesSlide15.xml" Id="R0bb8805cc11141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5a3b2b0944922" /><Relationship Type="http://schemas.openxmlformats.org/officeDocument/2006/relationships/notesSlide" Target="/ppt/notesSlides/notesSlide16.xml" Id="R8914f08c9d254b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7781e718e460b" /><Relationship Type="http://schemas.openxmlformats.org/officeDocument/2006/relationships/notesSlide" Target="/ppt/notesSlides/notesSlide17.xml" Id="Re8a9660a2c0f43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13d2724924ba9" /><Relationship Type="http://schemas.openxmlformats.org/officeDocument/2006/relationships/notesSlide" Target="/ppt/notesSlides/notesSlide18.xml" Id="R90cc83ab5b7e43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daf36f9644faf" /><Relationship Type="http://schemas.openxmlformats.org/officeDocument/2006/relationships/notesSlide" Target="/ppt/notesSlides/notesSlide19.xml" Id="R9faeb126e87549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89b1d242a4fd8" /><Relationship Type="http://schemas.openxmlformats.org/officeDocument/2006/relationships/notesSlide" Target="/ppt/notesSlides/notesSlide20.xml" Id="R7268e3034efd46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6aa60fb514b0e" /><Relationship Type="http://schemas.openxmlformats.org/officeDocument/2006/relationships/notesSlide" Target="/ppt/notesSlides/notesSlide21.xml" Id="R30bebf07c63743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ca95fd1794f07" /><Relationship Type="http://schemas.openxmlformats.org/officeDocument/2006/relationships/notesSlide" Target="/ppt/notesSlides/notesSlide22.xml" Id="R97ac4c36384640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d96b3db1f4136" /><Relationship Type="http://schemas.openxmlformats.org/officeDocument/2006/relationships/notesSlide" Target="/ppt/notesSlides/notesSlide23.xml" Id="R4713e9a82940472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d05b39cd94451" /><Relationship Type="http://schemas.openxmlformats.org/officeDocument/2006/relationships/notesSlide" Target="/ppt/notesSlides/notesSlide24.xml" Id="R211d6b802c5541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680876fef42e6" /><Relationship Type="http://schemas.openxmlformats.org/officeDocument/2006/relationships/notesSlide" Target="/ppt/notesSlides/notesSlide25.xml" Id="R27e30e5e789345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8c9e4693c4764" /><Relationship Type="http://schemas.openxmlformats.org/officeDocument/2006/relationships/notesSlide" Target="/ppt/notesSlides/notesSlide26.xml" Id="R67593e6847ca47b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8d3919a8b4d35" /><Relationship Type="http://schemas.openxmlformats.org/officeDocument/2006/relationships/notesSlide" Target="/ppt/notesSlides/notesSlide27.xml" Id="Rfd68a08272c249c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692d2895344b1" /><Relationship Type="http://schemas.openxmlformats.org/officeDocument/2006/relationships/notesSlide" Target="/ppt/notesSlides/notesSlide28.xml" Id="R0f4b24c52ebe4e3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5cef2b48b4bd9" /><Relationship Type="http://schemas.openxmlformats.org/officeDocument/2006/relationships/notesSlide" Target="/ppt/notesSlides/notesSlide29.xml" Id="Rc1a4361c8ff8409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8da5802f24f6b" /><Relationship Type="http://schemas.openxmlformats.org/officeDocument/2006/relationships/notesSlide" Target="/ppt/notesSlides/notesSlide30.xml" Id="Re47694b1d1de42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078238-94BC-45F6-89FD-686C84EE877C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4048125" y="30861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2F483-2EB1-4FDF-893B-1B1F9F4EAA7E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257300" y="30861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32" name="样式母版">
            <a:extLst xmlns:a="http://schemas.openxmlformats.org/drawingml/2006/main">
              <a:ext uri="{FF2B5EF4-FFF2-40B4-BE49-F238E27FC236}">
                <a16:creationId xmlns:a16="http://schemas.microsoft.com/office/drawing/2014/main" id="{26C671A4-24A1-4758-94AC-3A355220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样式母版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49AF5-BA76-43B2-BF58-8A81DF5D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#1F3A5F">
            <a:extLst xmlns:a="http://schemas.openxmlformats.org/drawingml/2006/main">
              <a:ext uri="{FF2B5EF4-FFF2-40B4-BE49-F238E27FC236}">
                <a16:creationId xmlns:a16="http://schemas.microsoft.com/office/drawing/2014/main" id="{17FB35F4-9B98-4C22-88E8-0B53970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781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#1F3A5F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D8ECA-9DAF-497D-9C70-612E049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C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#2E7D8C">
            <a:extLst xmlns:a="http://schemas.openxmlformats.org/drawingml/2006/main">
              <a:ext uri="{FF2B5EF4-FFF2-40B4-BE49-F238E27FC236}">
                <a16:creationId xmlns:a16="http://schemas.microsoft.com/office/drawing/2014/main" id="{C84535E9-FF96-40A6-B9C5-078548A2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81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#2E7D8C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DC051-314B-467A-A525-7039A05B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" name="#5B4E8C">
            <a:extLst xmlns:a="http://schemas.openxmlformats.org/drawingml/2006/main">
              <a:ext uri="{FF2B5EF4-FFF2-40B4-BE49-F238E27FC236}">
                <a16:creationId xmlns:a16="http://schemas.microsoft.com/office/drawing/2014/main" id="{4C35A817-7CBD-474F-9E07-AC4BAF33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81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#5B4E8C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A106F-8223-434C-A5CA-7EEE32D0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9E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#3E6E9E">
            <a:extLst xmlns:a="http://schemas.openxmlformats.org/drawingml/2006/main">
              <a:ext uri="{FF2B5EF4-FFF2-40B4-BE49-F238E27FC236}">
                <a16:creationId xmlns:a16="http://schemas.microsoft.com/office/drawing/2014/main" id="{35B88A49-F143-489B-85C8-668E9E89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781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#3E6E9E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C5854-300D-4288-B8E7-18D6FC60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#2F7D4F">
            <a:extLst xmlns:a="http://schemas.openxmlformats.org/drawingml/2006/main">
              <a:ext uri="{FF2B5EF4-FFF2-40B4-BE49-F238E27FC236}">
                <a16:creationId xmlns:a16="http://schemas.microsoft.com/office/drawing/2014/main" id="{02F7389A-A293-47FB-B68E-7107B2AB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81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#2F7D4F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A53B8-0EED-4391-99AE-77EEF049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3" name="#B7791F">
            <a:extLst xmlns:a="http://schemas.openxmlformats.org/drawingml/2006/main">
              <a:ext uri="{FF2B5EF4-FFF2-40B4-BE49-F238E27FC236}">
                <a16:creationId xmlns:a16="http://schemas.microsoft.com/office/drawing/2014/main" id="{CAC50346-DCBF-45E9-BCC7-3E24B38A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81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#B7791F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52FE2-85C1-48CE-97AB-A7F0152A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5" name="#A33A3A">
            <a:extLst xmlns:a="http://schemas.openxmlformats.org/drawingml/2006/main">
              <a:ext uri="{FF2B5EF4-FFF2-40B4-BE49-F238E27FC236}">
                <a16:creationId xmlns:a16="http://schemas.microsoft.com/office/drawing/2014/main" id="{04770831-D038-4621-92E0-B4F9AFE7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781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#A33A3A</a:t>
            </a:r>
          </a:p>
        </p:txBody>
      </p:sp>
      <p:sp>
        <p:nvSpPr>
          <p:cNvPr id="16" name="智能体">
            <a:extLst xmlns:a="http://schemas.openxmlformats.org/drawingml/2006/main">
              <a:ext uri="{FF2B5EF4-FFF2-40B4-BE49-F238E27FC236}">
                <a16:creationId xmlns:a16="http://schemas.microsoft.com/office/drawing/2014/main" id="{986611DA-F881-4C03-A05F-E7082E6B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8110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A2218-CAE0-4C1E-A7FB-0D859320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2287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8" name="调度中枢">
            <a:extLst xmlns:a="http://schemas.openxmlformats.org/drawingml/2006/main">
              <a:ext uri="{FF2B5EF4-FFF2-40B4-BE49-F238E27FC236}">
                <a16:creationId xmlns:a16="http://schemas.microsoft.com/office/drawing/2014/main" id="{283F4987-89E3-486B-A161-9EA29F4A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81100"/>
            <a:ext cx="1143000" cy="4953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调度中枢</a:t>
            </a:r>
          </a:p>
        </p:txBody>
      </p:sp>
      <p:sp>
        <p:nvSpPr>
          <p:cNvPr id="19" name="插件">
            <a:extLst xmlns:a="http://schemas.openxmlformats.org/drawingml/2006/main">
              <a:ext uri="{FF2B5EF4-FFF2-40B4-BE49-F238E27FC236}">
                <a16:creationId xmlns:a16="http://schemas.microsoft.com/office/drawing/2014/main" id="{0D0931A2-B381-454C-9E8D-D5DC8BF8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81100"/>
            <a:ext cx="1143000" cy="4953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插件</a:t>
            </a:r>
          </a:p>
        </p:txBody>
      </p:sp>
      <p:sp>
        <p:nvSpPr>
          <p:cNvPr id="20" name="存储">
            <a:extLst xmlns:a="http://schemas.openxmlformats.org/drawingml/2006/main">
              <a:ext uri="{FF2B5EF4-FFF2-40B4-BE49-F238E27FC236}">
                <a16:creationId xmlns:a16="http://schemas.microsoft.com/office/drawing/2014/main" id="{D9BA9AB3-8E38-4C46-BCED-8E108BA9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81100"/>
            <a:ext cx="1143000" cy="4953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存储</a:t>
            </a:r>
          </a:p>
        </p:txBody>
      </p:sp>
      <p:sp>
        <p:nvSpPr>
          <p:cNvPr id="21" name="对外接口">
            <a:extLst xmlns:a="http://schemas.openxmlformats.org/drawingml/2006/main">
              <a:ext uri="{FF2B5EF4-FFF2-40B4-BE49-F238E27FC236}">
                <a16:creationId xmlns:a16="http://schemas.microsoft.com/office/drawing/2014/main" id="{5EDB40F2-ABA1-49CC-A8F0-2C9D9D9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90725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对外接口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ED44E-CF74-4E7B-9E8B-D9A60645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1930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1F3A5F"/>
            </a:solidFill>
          </a:ln>
        </p:spPr>
      </p:sp>
      <p:sp>
        <p:nvSpPr>
          <p:cNvPr id="23" name="外部来源">
            <a:extLst xmlns:a="http://schemas.openxmlformats.org/drawingml/2006/main">
              <a:ext uri="{FF2B5EF4-FFF2-40B4-BE49-F238E27FC236}">
                <a16:creationId xmlns:a16="http://schemas.microsoft.com/office/drawing/2014/main" id="{EB6E396F-F768-407D-AE9F-A32F1C41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907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外部来源</a:t>
            </a:r>
          </a:p>
        </p:txBody>
      </p:sp>
      <p:sp>
        <p:nvSpPr>
          <p:cNvPr id="24" name="判断">
            <a:extLst xmlns:a="http://schemas.openxmlformats.org/drawingml/2006/main">
              <a:ext uri="{FF2B5EF4-FFF2-40B4-BE49-F238E27FC236}">
                <a16:creationId xmlns:a16="http://schemas.microsoft.com/office/drawing/2014/main" id="{4FF72077-FF7A-4CB4-A03F-B522EEAC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11430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判断</a:t>
            </a:r>
          </a:p>
        </p:txBody>
      </p:sp>
      <p:sp>
        <p:nvSpPr>
          <p:cNvPr id="25" name="主数据流">
            <a:extLst xmlns:a="http://schemas.openxmlformats.org/drawingml/2006/main">
              <a:ext uri="{FF2B5EF4-FFF2-40B4-BE49-F238E27FC236}">
                <a16:creationId xmlns:a16="http://schemas.microsoft.com/office/drawing/2014/main" id="{5BD02949-8E6E-46AD-94AA-AD2FEE1E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05125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主数据流</a:t>
            </a:r>
          </a:p>
        </p:txBody>
      </p:sp>
      <p:sp>
        <p:nvSpPr>
          <p:cNvPr id="26" name="目标节点">
            <a:extLst xmlns:a="http://schemas.openxmlformats.org/drawingml/2006/main">
              <a:ext uri="{FF2B5EF4-FFF2-40B4-BE49-F238E27FC236}">
                <a16:creationId xmlns:a16="http://schemas.microsoft.com/office/drawing/2014/main" id="{028B6701-D245-43B2-B39E-B3A64D8A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05125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目标节点</a:t>
            </a:r>
          </a:p>
        </p:txBody>
      </p:sp>
      <p:sp>
        <p:nvSpPr>
          <p:cNvPr id="28" name="失败与重试">
            <a:extLst xmlns:a="http://schemas.openxmlformats.org/drawingml/2006/main">
              <a:ext uri="{FF2B5EF4-FFF2-40B4-BE49-F238E27FC236}">
                <a16:creationId xmlns:a16="http://schemas.microsoft.com/office/drawing/2014/main" id="{3338C937-F24D-4B98-8D46-73E4211A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0512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失败与重试</a:t>
            </a:r>
          </a:p>
        </p:txBody>
      </p:sp>
      <p:sp>
        <p:nvSpPr>
          <p:cNvPr id="29" name="死信队列">
            <a:extLst xmlns:a="http://schemas.openxmlformats.org/drawingml/2006/main">
              <a:ext uri="{FF2B5EF4-FFF2-40B4-BE49-F238E27FC236}">
                <a16:creationId xmlns:a16="http://schemas.microsoft.com/office/drawing/2014/main" id="{46FEF359-0392-4D85-BA0F-1024EB50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1000125" cy="3619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死信队列</a:t>
            </a:r>
          </a:p>
        </p:txBody>
      </p:sp>
      <p:sp>
        <p:nvSpPr>
          <p:cNvPr id="31" name="宋体 SimSun  ·  Times New Roman  ·  节点 10.5 pt / 注释 9 pt / 最小 8 pt">
            <a:extLst xmlns:a="http://schemas.openxmlformats.org/drawingml/2006/main">
              <a:ext uri="{FF2B5EF4-FFF2-40B4-BE49-F238E27FC236}">
                <a16:creationId xmlns:a16="http://schemas.microsoft.com/office/drawing/2014/main" id="{C97374FF-BFD2-4BD5-A59F-2C3CD5AB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宋体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SimSun  ·  Times New Roman  · 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节点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10.5 pt /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注释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9 pt /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最小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8 pt</a:t>
            </a:r>
          </a:p>
        </p:txBody>
      </p:sp>
    </p:spTree>
    <p:extLst>
      <p:ext uri="{BB962C8B-B14F-4D97-AF65-F5344CB8AC3E}">
        <p14:creationId xmlns:p14="http://schemas.microsoft.com/office/powerpoint/2010/main" val="1360845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7A2EB-5753-41F4-A418-87D0072AC1E1}"/>
              </a:ext>
            </a:extLst>
          </p:cNvPr>
          <p:cNvCxnSpPr>
            <a:stCxn xmlns:a="http://schemas.openxmlformats.org/drawingml/2006/main" id="4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V="1">
            <a:off x="2809875" y="5905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05AA4-319D-4E25-B0E8-D48AAA245846}"/>
              </a:ext>
            </a:extLst>
          </p:cNvPr>
          <p:cNvCxnSpPr>
            <a:stCxn xmlns:a="http://schemas.openxmlformats.org/drawingml/2006/main" id="6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809875" y="11811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29F21-D56B-4939-B89B-048AACB755B9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809875" y="17716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C1E05-813C-4FC0-9AF4-F9A5D00AB066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2809875" y="2362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5E34F-96E8-4300-9DCE-FA732FAF99D0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809875" y="29527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3" name="接入层">
            <a:extLst xmlns:a="http://schemas.openxmlformats.org/drawingml/2006/main">
              <a:ext uri="{FF2B5EF4-FFF2-40B4-BE49-F238E27FC236}">
                <a16:creationId xmlns:a16="http://schemas.microsoft.com/office/drawing/2014/main" id="{036C86BA-C3DB-4495-99CC-55958816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33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接入层</a:t>
            </a:r>
          </a:p>
        </p:txBody>
      </p:sp>
      <p:sp>
        <p:nvSpPr>
          <p:cNvPr id="2" name="Web / MCP 7 工具 / OpenAPI / CLI / Agent Plugins">
            <a:extLst xmlns:a="http://schemas.openxmlformats.org/drawingml/2006/main">
              <a:ext uri="{FF2B5EF4-FFF2-40B4-BE49-F238E27FC236}">
                <a16:creationId xmlns:a16="http://schemas.microsoft.com/office/drawing/2014/main" id="{23EA3548-2599-41AB-B997-0BC7CD43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33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Web / MCP 7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工具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OpenAPI / CLI / Agent Plugins</a:t>
            </a:r>
          </a:p>
        </p:txBody>
      </p:sp>
      <p:sp>
        <p:nvSpPr>
          <p:cNvPr id="3" name="服务层">
            <a:extLst xmlns:a="http://schemas.openxmlformats.org/drawingml/2006/main">
              <a:ext uri="{FF2B5EF4-FFF2-40B4-BE49-F238E27FC236}">
                <a16:creationId xmlns:a16="http://schemas.microsoft.com/office/drawing/2014/main" id="{CF87FB7C-FEA7-4F18-A974-F0A63AC4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2390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服务层</a:t>
            </a:r>
          </a:p>
        </p:txBody>
      </p:sp>
      <p:sp>
        <p:nvSpPr>
          <p:cNvPr id="4" name="intel-core / GraphRAG / 鉴权与结果裁剪">
            <a:extLst xmlns:a="http://schemas.openxmlformats.org/drawingml/2006/main">
              <a:ext uri="{FF2B5EF4-FFF2-40B4-BE49-F238E27FC236}">
                <a16:creationId xmlns:a16="http://schemas.microsoft.com/office/drawing/2014/main" id="{037E3C62-3584-42DA-829A-D2409DE7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39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intel-core / GraphRAG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鉴权与结果裁剪</a:t>
            </a:r>
          </a:p>
        </p:txBody>
      </p:sp>
      <p:sp>
        <p:nvSpPr>
          <p:cNvPr id="5" name="智能体编排层">
            <a:extLst xmlns:a="http://schemas.openxmlformats.org/drawingml/2006/main">
              <a:ext uri="{FF2B5EF4-FFF2-40B4-BE49-F238E27FC236}">
                <a16:creationId xmlns:a16="http://schemas.microsoft.com/office/drawing/2014/main" id="{45D6A739-E5DA-4759-9B3E-5E423B9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14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智能体编排层</a:t>
            </a:r>
          </a:p>
        </p:txBody>
      </p:sp>
      <p:sp>
        <p:nvSpPr>
          <p:cNvPr id="6" name="Orchestrator + 8 个角色 / LangGraph">
            <a:extLst xmlns:a="http://schemas.openxmlformats.org/drawingml/2006/main">
              <a:ext uri="{FF2B5EF4-FFF2-40B4-BE49-F238E27FC236}">
                <a16:creationId xmlns:a16="http://schemas.microsoft.com/office/drawing/2014/main" id="{F6B83B69-1F80-479C-9F01-0A5E694F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Orchestrator + 8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个角色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LangGraph</a:t>
            </a:r>
          </a:p>
        </p:txBody>
      </p:sp>
      <p:sp>
        <p:nvSpPr>
          <p:cNvPr id="7" name="知识层">
            <a:extLst xmlns:a="http://schemas.openxmlformats.org/drawingml/2006/main">
              <a:ext uri="{FF2B5EF4-FFF2-40B4-BE49-F238E27FC236}">
                <a16:creationId xmlns:a16="http://schemas.microsoft.com/office/drawing/2014/main" id="{5C31A42E-9608-4536-8D2A-20D81226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90500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知识层</a:t>
            </a:r>
          </a:p>
        </p:txBody>
      </p:sp>
      <p:sp>
        <p:nvSpPr>
          <p:cNvPr id="8" name="PostgreSQL + pgvector / Neo4j / OpenSearch MinIO / Redis Streams 或 NAT">
            <a:extLst xmlns:a="http://schemas.openxmlformats.org/drawingml/2006/main">
              <a:ext uri="{FF2B5EF4-FFF2-40B4-BE49-F238E27FC236}">
                <a16:creationId xmlns:a16="http://schemas.microsoft.com/office/drawing/2014/main" id="{71BACD89-16C8-4C1D-90A8-7C8E5561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PostgreSQL + pgvector / Neo4j / OpenSearch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MinIO / Redis Streams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或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NATS JetStream</a:t>
            </a:r>
          </a:p>
        </p:txBody>
      </p:sp>
      <p:sp>
        <p:nvSpPr>
          <p:cNvPr id="9" name="采集层">
            <a:extLst xmlns:a="http://schemas.openxmlformats.org/drawingml/2006/main">
              <a:ext uri="{FF2B5EF4-FFF2-40B4-BE49-F238E27FC236}">
                <a16:creationId xmlns:a16="http://schemas.microsoft.com/office/drawing/2014/main" id="{CF2635D9-7EFF-47AB-98A2-0CB7FCA5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4955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采集层</a:t>
            </a:r>
          </a:p>
        </p:txBody>
      </p:sp>
      <p:sp>
        <p:nvSpPr>
          <p:cNvPr id="10" name="Connector × N / 自有仓库 webhook">
            <a:extLst xmlns:a="http://schemas.openxmlformats.org/drawingml/2006/main">
              <a:ext uri="{FF2B5EF4-FFF2-40B4-BE49-F238E27FC236}">
                <a16:creationId xmlns:a16="http://schemas.microsoft.com/office/drawing/2014/main" id="{96363C7A-B0F2-438E-BB3D-5C64E268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Connector × N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自有仓库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webhook</a:t>
            </a:r>
          </a:p>
        </p:txBody>
      </p:sp>
      <p:sp>
        <p:nvSpPr>
          <p:cNvPr id="11" name="数据源层">
            <a:extLst xmlns:a="http://schemas.openxmlformats.org/drawingml/2006/main">
              <a:ext uri="{FF2B5EF4-FFF2-40B4-BE49-F238E27FC236}">
                <a16:creationId xmlns:a16="http://schemas.microsoft.com/office/drawing/2014/main" id="{B268F186-9E62-4898-977D-6E7F7FAD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08610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数据源层</a:t>
            </a:r>
          </a:p>
        </p:txBody>
      </p:sp>
      <p:sp>
        <p:nvSpPr>
          <p:cNvPr id="12" name="9 类来源 / 三级可信度 / 分级轮询">
            <a:extLst xmlns:a="http://schemas.openxmlformats.org/drawingml/2006/main">
              <a:ext uri="{FF2B5EF4-FFF2-40B4-BE49-F238E27FC236}">
                <a16:creationId xmlns:a16="http://schemas.microsoft.com/office/drawing/2014/main" id="{BDF731D2-5BA3-40E0-B0C9-F0E25A93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类来源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三级可信度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分级轮询</a:t>
            </a:r>
          </a:p>
        </p:txBody>
      </p:sp>
      <p:sp>
        <p:nvSpPr>
          <p:cNvPr id="18" name="时效可观测">
            <a:extLst xmlns:a="http://schemas.openxmlformats.org/drawingml/2006/main">
              <a:ext uri="{FF2B5EF4-FFF2-40B4-BE49-F238E27FC236}">
                <a16:creationId xmlns:a16="http://schemas.microsoft.com/office/drawing/2014/main" id="{492073E5-046F-4166-B77F-CA131702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时效可观测</a:t>
            </a:r>
          </a:p>
        </p:txBody>
      </p:sp>
      <p:sp>
        <p:nvSpPr>
          <p:cNvPr id="19" name="可信与裁决">
            <a:extLst xmlns:a="http://schemas.openxmlformats.org/drawingml/2006/main">
              <a:ext uri="{FF2B5EF4-FFF2-40B4-BE49-F238E27FC236}">
                <a16:creationId xmlns:a16="http://schemas.microsoft.com/office/drawing/2014/main" id="{D05631FB-0956-43EE-AB1D-391709E5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066800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可信与裁决</a:t>
            </a:r>
          </a:p>
        </p:txBody>
      </p:sp>
      <p:sp>
        <p:nvSpPr>
          <p:cNvPr id="20" name="合规边界">
            <a:extLst xmlns:a="http://schemas.openxmlformats.org/drawingml/2006/main">
              <a:ext uri="{FF2B5EF4-FFF2-40B4-BE49-F238E27FC236}">
                <a16:creationId xmlns:a16="http://schemas.microsoft.com/office/drawing/2014/main" id="{B1CF9914-B9F8-4E89-9D1B-748EC7C9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合规边界</a:t>
            </a:r>
          </a:p>
        </p:txBody>
      </p:sp>
      <p:sp>
        <p:nvSpPr>
          <p:cNvPr id="21" name="开放生态">
            <a:extLst xmlns:a="http://schemas.openxmlformats.org/drawingml/2006/main">
              <a:ext uri="{FF2B5EF4-FFF2-40B4-BE49-F238E27FC236}">
                <a16:creationId xmlns:a16="http://schemas.microsoft.com/office/drawing/2014/main" id="{E2A6C2A9-12B2-4386-82D3-FEE6B31E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开放生态</a:t>
            </a:r>
          </a:p>
        </p:txBody>
      </p:sp>
      <p:sp>
        <p:nvSpPr>
          <p:cNvPr id="22" name="PostgreSQL 是事实源；outbox 同步图库与全文索引">
            <a:extLst xmlns:a="http://schemas.openxmlformats.org/drawingml/2006/main">
              <a:ext uri="{FF2B5EF4-FFF2-40B4-BE49-F238E27FC236}">
                <a16:creationId xmlns:a16="http://schemas.microsoft.com/office/drawing/2014/main" id="{12D40774-A795-41A5-9FCD-E55976FF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766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PostgreSQL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是事实源；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outbox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同步图库与全文索引</a:t>
            </a:r>
          </a:p>
        </p:txBody>
      </p:sp>
    </p:spTree>
    <p:extLst>
      <p:ext uri="{BB962C8B-B14F-4D97-AF65-F5344CB8AC3E}">
        <p14:creationId xmlns:p14="http://schemas.microsoft.com/office/powerpoint/2010/main" val="505587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4F782-4611-424E-A17B-7D5549E5FE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857500" y="21907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9BC78-5EEF-427D-941E-9EE997DF22E8}"/>
              </a:ext>
            </a:extLst>
          </p:cNvPr>
          <p:cNvCxnSpPr>
            <a:stCxn xmlns:a="http://schemas.openxmlformats.org/drawingml/2006/main" id="6" idx="4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3600450" y="847725"/>
            <a:ext cx="40005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F0CBC-C207-4113-A6CB-B974388518AF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714500" y="847725"/>
            <a:ext cx="40005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DAAC8-3FF5-4028-9364-B6730DA57D0C}"/>
              </a:ext>
            </a:extLst>
          </p:cNvPr>
          <p:cNvCxnSpPr>
            <a:stCxn xmlns:a="http://schemas.openxmlformats.org/drawingml/2006/main" id="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 flipV="1">
            <a:off x="1714500" y="847725"/>
            <a:ext cx="476250" cy="2152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B60C9-0CCA-4171-9F09-59768428DF62}"/>
              </a:ext>
            </a:extLst>
          </p:cNvPr>
          <p:cNvCxnSpPr>
            <a:stCxn xmlns:a="http://schemas.openxmlformats.org/drawingml/2006/main" id="2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524250" y="847725"/>
            <a:ext cx="476250" cy="2152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65121-5C85-4E6C-8875-D6DC308D55E3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714500" y="84772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7" name="监测 9 类来源">
            <a:extLst xmlns:a="http://schemas.openxmlformats.org/drawingml/2006/main">
              <a:ext uri="{FF2B5EF4-FFF2-40B4-BE49-F238E27FC236}">
                <a16:creationId xmlns:a16="http://schemas.microsoft.com/office/drawing/2014/main" id="{08F350F6-B2DD-4667-8125-E0634F3D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314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监测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类来源</a:t>
            </a:r>
          </a:p>
        </p:txBody>
      </p:sp>
      <p:sp>
        <p:nvSpPr>
          <p:cNvPr id="2" name="富化 9 个维度">
            <a:extLst xmlns:a="http://schemas.openxmlformats.org/drawingml/2006/main">
              <a:ext uri="{FF2B5EF4-FFF2-40B4-BE49-F238E27FC236}">
                <a16:creationId xmlns:a16="http://schemas.microsoft.com/office/drawing/2014/main" id="{45741304-C932-409F-AA79-C9413A15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1314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富化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个维度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338C9-C0CB-4317-914D-21FFA3C6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0007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4" name="问答 逐句引用">
            <a:extLst xmlns:a="http://schemas.openxmlformats.org/drawingml/2006/main">
              <a:ext uri="{FF2B5EF4-FFF2-40B4-BE49-F238E27FC236}">
                <a16:creationId xmlns:a16="http://schemas.microsoft.com/office/drawing/2014/main" id="{F2C80115-D5E8-4372-85FE-5FC75DFE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问答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逐句引用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363D8-3F1A-433E-9285-ACCD2EA8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5272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6" name="知识图谱 与事实库">
            <a:extLst xmlns:a="http://schemas.openxmlformats.org/drawingml/2006/main">
              <a:ext uri="{FF2B5EF4-FFF2-40B4-BE49-F238E27FC236}">
                <a16:creationId xmlns:a16="http://schemas.microsoft.com/office/drawing/2014/main" id="{AEEA9E30-9CDE-45BA-96B1-28FE45C3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66850"/>
            <a:ext cx="148590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知识图谱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与事实库</a:t>
            </a:r>
          </a:p>
        </p:txBody>
      </p:sp>
      <p:sp>
        <p:nvSpPr>
          <p:cNvPr id="13" name="版本自查">
            <a:extLst xmlns:a="http://schemas.openxmlformats.org/drawingml/2006/main">
              <a:ext uri="{FF2B5EF4-FFF2-40B4-BE49-F238E27FC236}">
                <a16:creationId xmlns:a16="http://schemas.microsoft.com/office/drawing/2014/main" id="{B6335DC2-5252-4C9D-950D-531CEECA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38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版本自查</a:t>
            </a:r>
          </a:p>
        </p:txBody>
      </p:sp>
      <p:sp>
        <p:nvSpPr>
          <p:cNvPr id="14" name="MCP 开放">
            <a:extLst xmlns:a="http://schemas.openxmlformats.org/drawingml/2006/main">
              <a:ext uri="{FF2B5EF4-FFF2-40B4-BE49-F238E27FC236}">
                <a16:creationId xmlns:a16="http://schemas.microsoft.com/office/drawing/2014/main" id="{6057FB9C-C27A-4DC4-ADFB-3CF220E8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MCP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开放</a:t>
            </a:r>
          </a:p>
        </p:txBody>
      </p:sp>
      <p:sp>
        <p:nvSpPr>
          <p:cNvPr id="15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01AF6442-3EE8-4178-9FE6-FDCB58AE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9525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Critic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校验</a:t>
            </a:r>
          </a:p>
        </p:txBody>
      </p:sp>
      <p:sp>
        <p:nvSpPr>
          <p:cNvPr id="16" name="时效可观测贯穿发现、富化、校验与服务">
            <a:extLst xmlns:a="http://schemas.openxmlformats.org/drawingml/2006/main">
              <a:ext uri="{FF2B5EF4-FFF2-40B4-BE49-F238E27FC236}">
                <a16:creationId xmlns:a16="http://schemas.microsoft.com/office/drawing/2014/main" id="{54DAF426-DE1A-4F1D-A665-A703F9F6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时效可观测贯穿发现、富化、校验与服务</a:t>
            </a:r>
          </a:p>
        </p:txBody>
      </p:sp>
    </p:spTree>
    <p:extLst>
      <p:ext uri="{BB962C8B-B14F-4D97-AF65-F5344CB8AC3E}">
        <p14:creationId xmlns:p14="http://schemas.microsoft.com/office/powerpoint/2010/main" val="2113952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BDBA6-5062-42A7-BCCA-71F7E2B6CC53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400550" y="19812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12989-07B1-4B96-A713-FD811E3AEFEB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324225" y="19812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CAD9A-FA9A-427D-ABC6-43CBEBF38F0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247900" y="19812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7FF1C-39BE-4BA8-B1FD-EF1BA703DA0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171575" y="19812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24C41-51DD-4674-8A66-D99DADC8E3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84700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2AA04-85C7-4810-B3D6-9E9ACECFDEC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92525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23221-2B8B-4CAF-9D9B-F0A70706E37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00350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31B2D-9536-45C1-BB09-97B0E6DB00B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908175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4C6A1-6B4F-4EEB-A91A-E35C658894A4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016000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30" name="采集">
            <a:extLst xmlns:a="http://schemas.openxmlformats.org/drawingml/2006/main">
              <a:ext uri="{FF2B5EF4-FFF2-40B4-BE49-F238E27FC236}">
                <a16:creationId xmlns:a16="http://schemas.microsoft.com/office/drawing/2014/main" id="{4A8FFEDB-27D4-422B-831C-2E2407BA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</a:t>
            </a:r>
          </a:p>
        </p:txBody>
      </p:sp>
      <p:sp>
        <p:nvSpPr>
          <p:cNvPr id="2" name="归一">
            <a:extLst xmlns:a="http://schemas.openxmlformats.org/drawingml/2006/main">
              <a:ext uri="{FF2B5EF4-FFF2-40B4-BE49-F238E27FC236}">
                <a16:creationId xmlns:a16="http://schemas.microsoft.com/office/drawing/2014/main" id="{89195DB5-7088-4228-A945-865C72CE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归一</a:t>
            </a:r>
          </a:p>
        </p:txBody>
      </p:sp>
      <p:sp>
        <p:nvSpPr>
          <p:cNvPr id="3" name="富化">
            <a:extLst xmlns:a="http://schemas.openxmlformats.org/drawingml/2006/main">
              <a:ext uri="{FF2B5EF4-FFF2-40B4-BE49-F238E27FC236}">
                <a16:creationId xmlns:a16="http://schemas.microsoft.com/office/drawing/2014/main" id="{463E71FA-08AA-4727-95E1-18774D6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475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富化</a:t>
            </a:r>
          </a:p>
        </p:txBody>
      </p:sp>
      <p:sp>
        <p:nvSpPr>
          <p:cNvPr id="4" name="校验">
            <a:extLst xmlns:a="http://schemas.openxmlformats.org/drawingml/2006/main">
              <a:ext uri="{FF2B5EF4-FFF2-40B4-BE49-F238E27FC236}">
                <a16:creationId xmlns:a16="http://schemas.microsoft.com/office/drawing/2014/main" id="{1C3D4B6F-7E9E-4C8F-8D45-73314AFE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校验</a:t>
            </a:r>
          </a:p>
        </p:txBody>
      </p:sp>
      <p:sp>
        <p:nvSpPr>
          <p:cNvPr id="5" name="存储">
            <a:extLst xmlns:a="http://schemas.openxmlformats.org/drawingml/2006/main">
              <a:ext uri="{FF2B5EF4-FFF2-40B4-BE49-F238E27FC236}">
                <a16:creationId xmlns:a16="http://schemas.microsoft.com/office/drawing/2014/main" id="{8D4F1720-1A96-439A-B0C6-E0883412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825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存储</a:t>
            </a:r>
          </a:p>
        </p:txBody>
      </p:sp>
      <p:sp>
        <p:nvSpPr>
          <p:cNvPr id="6" name="服务">
            <a:extLst xmlns:a="http://schemas.openxmlformats.org/drawingml/2006/main">
              <a:ext uri="{FF2B5EF4-FFF2-40B4-BE49-F238E27FC236}">
                <a16:creationId xmlns:a16="http://schemas.microsoft.com/office/drawing/2014/main" id="{0DE14D84-9D0B-4343-98EF-9EFB01D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服务</a:t>
            </a:r>
          </a:p>
        </p:txBody>
      </p:sp>
      <p:sp>
        <p:nvSpPr>
          <p:cNvPr id="12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9C9F6707-4A82-4366-ACA0-DF89A137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来源发布</a:t>
            </a:r>
          </a:p>
        </p:txBody>
      </p:sp>
      <p:sp>
        <p:nvSpPr>
          <p:cNvPr id="13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AE5578A6-0E8A-45E3-8EC3-7D0AD03B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首次发现</a:t>
            </a:r>
          </a:p>
        </p:txBody>
      </p:sp>
      <p:sp>
        <p:nvSpPr>
          <p:cNvPr id="14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1A28B7AF-551A-49D8-84BD-707D6EB9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完成归一</a:t>
            </a:r>
          </a:p>
        </p:txBody>
      </p:sp>
      <p:sp>
        <p:nvSpPr>
          <p:cNvPr id="15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ED6C2DF1-A31E-410E-BAAB-83F4EEE1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完成富化</a:t>
            </a:r>
          </a:p>
        </p:txBody>
      </p:sp>
      <p:sp>
        <p:nvSpPr>
          <p:cNvPr id="16" name="可查询">
            <a:extLst xmlns:a="http://schemas.openxmlformats.org/drawingml/2006/main">
              <a:ext uri="{FF2B5EF4-FFF2-40B4-BE49-F238E27FC236}">
                <a16:creationId xmlns:a16="http://schemas.microsoft.com/office/drawing/2014/main" id="{1CABE400-2096-4652-B81B-874BF247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可查询</a:t>
            </a:r>
          </a:p>
        </p:txBody>
      </p:sp>
      <p:sp>
        <p:nvSpPr>
          <p:cNvPr id="21" name="source_published_at">
            <a:extLst xmlns:a="http://schemas.openxmlformats.org/drawingml/2006/main">
              <a:ext uri="{FF2B5EF4-FFF2-40B4-BE49-F238E27FC236}">
                <a16:creationId xmlns:a16="http://schemas.microsoft.com/office/drawing/2014/main" id="{413715EB-470E-46FB-8642-D628CF36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2002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source_published_at</a:t>
            </a:r>
          </a:p>
        </p:txBody>
      </p:sp>
      <p:sp>
        <p:nvSpPr>
          <p:cNvPr id="22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2EBFCD68-8C75-4E4F-9A60-98296E49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first_seen_at</a:t>
            </a:r>
          </a:p>
        </p:txBody>
      </p:sp>
      <p:sp>
        <p:nvSpPr>
          <p:cNvPr id="23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41ADB522-DBC3-4F27-8524-9D6CE568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002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normalized_at</a:t>
            </a:r>
          </a:p>
        </p:txBody>
      </p:sp>
      <p:sp>
        <p:nvSpPr>
          <p:cNvPr id="24" name="enriched_at">
            <a:extLst xmlns:a="http://schemas.openxmlformats.org/drawingml/2006/main">
              <a:ext uri="{FF2B5EF4-FFF2-40B4-BE49-F238E27FC236}">
                <a16:creationId xmlns:a16="http://schemas.microsoft.com/office/drawing/2014/main" id="{301B5245-5051-46EC-9D6B-F220DA04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02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enriched_at</a:t>
            </a:r>
          </a:p>
        </p:txBody>
      </p:sp>
      <p:sp>
        <p:nvSpPr>
          <p:cNvPr id="25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08B73E0B-5ABE-470C-830D-9B47E650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002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queryable_at</a:t>
            </a:r>
          </a:p>
        </p:txBody>
      </p:sp>
      <p:sp>
        <p:nvSpPr>
          <p:cNvPr id="26" name="采集时延">
            <a:extLst xmlns:a="http://schemas.openxmlformats.org/drawingml/2006/main">
              <a:ext uri="{FF2B5EF4-FFF2-40B4-BE49-F238E27FC236}">
                <a16:creationId xmlns:a16="http://schemas.microsoft.com/office/drawing/2014/main" id="{1221C6D4-7BF9-4418-81EA-CD8DB7D3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6860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采集时延</a:t>
            </a:r>
          </a:p>
        </p:txBody>
      </p:sp>
      <p:sp>
        <p:nvSpPr>
          <p:cNvPr id="27" name="处理时延">
            <a:extLst xmlns:a="http://schemas.openxmlformats.org/drawingml/2006/main">
              <a:ext uri="{FF2B5EF4-FFF2-40B4-BE49-F238E27FC236}">
                <a16:creationId xmlns:a16="http://schemas.microsoft.com/office/drawing/2014/main" id="{F9A6B12B-8EB9-4617-AB99-CA04BAA8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31718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处理时延</a:t>
            </a:r>
          </a:p>
        </p:txBody>
      </p:sp>
      <p:sp>
        <p:nvSpPr>
          <p:cNvPr id="28" name="端到端时延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807918E1-B69C-4989-A5F1-4097E386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19450"/>
            <a:ext cx="523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端到端时延目标值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h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29" name="统计范围：漏洞类首次发现；日更源单列；DEMO 不计">
            <a:extLst xmlns:a="http://schemas.openxmlformats.org/drawingml/2006/main">
              <a:ext uri="{FF2B5EF4-FFF2-40B4-BE49-F238E27FC236}">
                <a16:creationId xmlns:a16="http://schemas.microsoft.com/office/drawing/2014/main" id="{8A17B5D1-5305-4AD1-A63F-A2F2AF9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67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统计范围：漏洞类首次发现；日更源单列；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DEMO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不计</a:t>
            </a:r>
          </a:p>
        </p:txBody>
      </p:sp>
    </p:spTree>
    <p:extLst>
      <p:ext uri="{BB962C8B-B14F-4D97-AF65-F5344CB8AC3E}">
        <p14:creationId xmlns:p14="http://schemas.microsoft.com/office/powerpoint/2010/main" val="403378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53E4CA-70D0-488B-AA04-B6D74118C0FF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4743450" y="31099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F83037-4E86-4554-8A4D-3861DF5563AD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4114800" y="27479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590B09-E17E-4343-BD28-C166CA53A9FE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3486150" y="24622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6EA42C-4208-4B4E-9B16-D51CC1DF33EE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2857500" y="21764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745196-7F0D-437B-9CD1-B3F0AE170DF5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2228850" y="18907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270F3E-CA67-4A0F-BF18-A5D60FA866DA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600200" y="16049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CF29C4-86A1-4A8F-A163-B2F2ADF45481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342900" y="1319213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D01B24-F4C7-4A94-93F2-33A5250578D2}"/>
              </a:ext>
            </a:extLst>
          </p:cNvPr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342900" y="1033463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CAFBCC-EC79-4ABD-9822-769522DCCC06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71550" y="7667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514675-8738-452D-BA14-D513B5766198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53673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315DEE-0666-4AF6-B6B2-D47A455B3C4F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473868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BBA12-2112-49FF-9271-A5C3CF075E9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41100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4A0E42-D0CC-4754-A6DF-2385BE58989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348138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D251B-32BF-4D3C-938D-22F84BCFAA3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28527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9C728-5794-440A-84A7-A42C9784E96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222408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2EDC17-2B14-4745-A72C-1E472B7B4CB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5954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22530-BC41-48A8-91F9-C4F93058E33E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96678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81F02-41A6-4FAF-80FA-3A9EDCC76BFA}"/>
              </a:ext>
            </a:extLst>
          </p:cNvPr>
          <p:cNvCxnSpPr>
            <a:stCxn xmlns:a="http://schemas.openxmlformats.org/drawingml/2006/main" id="7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3381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sp>
        <p:nvSpPr>
          <p:cNvPr id="73" name="厂商仓库">
            <a:extLst xmlns:a="http://schemas.openxmlformats.org/drawingml/2006/main">
              <a:ext uri="{FF2B5EF4-FFF2-40B4-BE49-F238E27FC236}">
                <a16:creationId xmlns:a16="http://schemas.microsoft.com/office/drawing/2014/main" id="{A3DC1AC8-5D7C-45C1-AF4E-F403C82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厂商仓库</a:t>
            </a:r>
          </a:p>
        </p:txBody>
      </p:sp>
      <p:sp>
        <p:nvSpPr>
          <p:cNvPr id="2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4177381B-C285-4C44-AD88-A08E4991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3D675-FACE-4AAA-810A-B3568F4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4" name="Collector">
            <a:extLst xmlns:a="http://schemas.openxmlformats.org/drawingml/2006/main">
              <a:ext uri="{FF2B5EF4-FFF2-40B4-BE49-F238E27FC236}">
                <a16:creationId xmlns:a16="http://schemas.microsoft.com/office/drawing/2014/main" id="{277B3F6A-380A-4855-A75C-FA666045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Collector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541C3-163F-431E-995C-5C344BAE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6" name="Triage">
            <a:extLst xmlns:a="http://schemas.openxmlformats.org/drawingml/2006/main">
              <a:ext uri="{FF2B5EF4-FFF2-40B4-BE49-F238E27FC236}">
                <a16:creationId xmlns:a16="http://schemas.microsoft.com/office/drawing/2014/main" id="{C3A01FC9-1545-46F5-B6A8-C39270F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Triage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F9BB8-F68E-4225-8ADC-207B612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8" name="Enricher">
            <a:extLst xmlns:a="http://schemas.openxmlformats.org/drawingml/2006/main">
              <a:ext uri="{FF2B5EF4-FFF2-40B4-BE49-F238E27FC236}">
                <a16:creationId xmlns:a16="http://schemas.microsoft.com/office/drawing/2014/main" id="{B3DDA63D-9EF5-4513-99F0-22F5F0F0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F389C-41C5-4C5C-AD83-AAA71DB3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0" name="Critic">
            <a:extLst xmlns:a="http://schemas.openxmlformats.org/drawingml/2006/main">
              <a:ext uri="{FF2B5EF4-FFF2-40B4-BE49-F238E27FC236}">
                <a16:creationId xmlns:a16="http://schemas.microsoft.com/office/drawing/2014/main" id="{A35C5DD9-9178-48EB-8D6C-7A3E7B54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9F705-D0AD-4F9A-A119-6E5A0882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2" name="GraphWriter">
            <a:extLst xmlns:a="http://schemas.openxmlformats.org/drawingml/2006/main">
              <a:ext uri="{FF2B5EF4-FFF2-40B4-BE49-F238E27FC236}">
                <a16:creationId xmlns:a16="http://schemas.microsoft.com/office/drawing/2014/main" id="{C5494A38-C2FB-4F20-90B3-25D7A7D9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GraphWriter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B4EEF-3F42-4A03-8D7E-F344016A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4" name="Assessor">
            <a:extLst xmlns:a="http://schemas.openxmlformats.org/drawingml/2006/main">
              <a:ext uri="{FF2B5EF4-FFF2-40B4-BE49-F238E27FC236}">
                <a16:creationId xmlns:a16="http://schemas.microsoft.com/office/drawing/2014/main" id="{4DC22805-A4FB-4DED-ABE4-B8CFE59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Assessor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38D4D-9D8C-46A4-9891-860B116A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6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E4E2F1AD-7180-42CA-9A33-3EDE1CE5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71450"/>
            <a:ext cx="600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编码智能体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6DEEC-0E27-478A-B1FE-B484D61A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"/>
            <a:ext cx="542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1F3A5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3BE0A-643A-4E4A-9A12-B783C362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3469B-E9DC-4753-8077-EAB8C80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10EFA-876D-45F0-95A4-58D44F25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11968-B07E-479D-BA01-6147702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A5C86-D667-4639-82FD-A9BE6F71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EF274-B1BE-430F-A7CA-16CC4841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330FA-E830-4D2E-866F-B72CAEC5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2AC55-9A3C-468D-B86E-CEAFEF6C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06C1A-E8EE-4BF2-B766-EDEE5C53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845FC3-06E6-4798-8146-A666AB2F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62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9B787A-45B7-4B43-8438-97B0CEE4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62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9" name="定时派发">
            <a:extLst xmlns:a="http://schemas.openxmlformats.org/drawingml/2006/main">
              <a:ext uri="{FF2B5EF4-FFF2-40B4-BE49-F238E27FC236}">
                <a16:creationId xmlns:a16="http://schemas.microsoft.com/office/drawing/2014/main" id="{07675DA2-556C-423F-B427-9850A09D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定时派发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43200E-EEFA-4043-AAF4-EA6EE2A9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028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8EBAC1-22DA-4DEA-BF0D-79315AE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28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3" name="增量轮询">
            <a:extLst xmlns:a="http://schemas.openxmlformats.org/drawingml/2006/main">
              <a:ext uri="{FF2B5EF4-FFF2-40B4-BE49-F238E27FC236}">
                <a16:creationId xmlns:a16="http://schemas.microsoft.com/office/drawing/2014/main" id="{F3915D01-BA75-4028-9C59-7FD386EE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增量轮询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DE4A94-2AF8-49B0-9769-D484C841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14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046194-0A82-42EE-BCC3-F8E460D3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314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7" name="公告内容">
            <a:extLst xmlns:a="http://schemas.openxmlformats.org/drawingml/2006/main">
              <a:ext uri="{FF2B5EF4-FFF2-40B4-BE49-F238E27FC236}">
                <a16:creationId xmlns:a16="http://schemas.microsoft.com/office/drawing/2014/main" id="{7897B554-057D-4609-80D9-5BD833A2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0490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公告内容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3EC0F5-4BB4-461E-AF13-FE14A27C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23F169-3581-4291-A477-3EFF82F2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1" name="RawEvent">
            <a:extLst xmlns:a="http://schemas.openxmlformats.org/drawingml/2006/main">
              <a:ext uri="{FF2B5EF4-FFF2-40B4-BE49-F238E27FC236}">
                <a16:creationId xmlns:a16="http://schemas.microsoft.com/office/drawing/2014/main" id="{236619E7-587A-43D8-91AC-5D0CA83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RawEvent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311D43-173C-4C27-A6F7-CFA7E3B5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885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9A3AF0-D330-40E9-B52B-A8AF3548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85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5" name="归一结果">
            <a:extLst xmlns:a="http://schemas.openxmlformats.org/drawingml/2006/main">
              <a:ext uri="{FF2B5EF4-FFF2-40B4-BE49-F238E27FC236}">
                <a16:creationId xmlns:a16="http://schemas.microsoft.com/office/drawing/2014/main" id="{28E5228C-D02A-41CF-AA83-05ABB006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764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归一结果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9BEBC0-C019-4B3B-86C5-06815543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71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AAE560-4D8D-443E-86E2-9F8B6F74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9" name="富化产出">
            <a:extLst xmlns:a="http://schemas.openxmlformats.org/drawingml/2006/main">
              <a:ext uri="{FF2B5EF4-FFF2-40B4-BE49-F238E27FC236}">
                <a16:creationId xmlns:a16="http://schemas.microsoft.com/office/drawing/2014/main" id="{270F2DFB-9236-46EE-B82A-4503B826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621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富化产出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44ECD0-FB79-4AC8-B367-FEBED13C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5C44B0-BBD6-4CD6-8F57-4D96C88C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3" name="校验通过">
            <a:extLst xmlns:a="http://schemas.openxmlformats.org/drawingml/2006/main">
              <a:ext uri="{FF2B5EF4-FFF2-40B4-BE49-F238E27FC236}">
                <a16:creationId xmlns:a16="http://schemas.microsoft.com/office/drawing/2014/main" id="{C40B53F2-C19D-4FF7-9E36-FDAFFE6F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校验通过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2498A3-9934-4C13-BCF7-098B289E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743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C88E2E-50AB-4AC3-A802-DA79BD23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43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7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4DCD4F7F-537A-471B-9673-7B0E3874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336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影响评估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18C68F-EC22-4B60-A99C-5F1A98B5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051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22627F-BB6D-411C-8890-DF909979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051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1" name="经 Critic 返回">
            <a:extLst xmlns:a="http://schemas.openxmlformats.org/drawingml/2006/main">
              <a:ext uri="{FF2B5EF4-FFF2-40B4-BE49-F238E27FC236}">
                <a16:creationId xmlns:a16="http://schemas.microsoft.com/office/drawing/2014/main" id="{F9594866-8363-4146-842B-F77FB699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经</a:t>
            </a: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Critic </a:t>
            </a: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返回</a:t>
            </a:r>
          </a:p>
        </p:txBody>
      </p:sp>
      <p:sp>
        <p:nvSpPr>
          <p:cNvPr id="72" name="演示注入 / 自有仓库 webhook 验签后触发立即 poll；DEMO 单列">
            <a:extLst xmlns:a="http://schemas.openxmlformats.org/drawingml/2006/main">
              <a:ext uri="{FF2B5EF4-FFF2-40B4-BE49-F238E27FC236}">
                <a16:creationId xmlns:a16="http://schemas.microsoft.com/office/drawing/2014/main" id="{542485DF-ED72-4A71-8A85-8330CE74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147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演示注入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自有仓库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webhook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验签后触发立即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poll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DEMO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单列</a:t>
            </a:r>
          </a:p>
        </p:txBody>
      </p:sp>
    </p:spTree>
    <p:extLst>
      <p:ext uri="{BB962C8B-B14F-4D97-AF65-F5344CB8AC3E}">
        <p14:creationId xmlns:p14="http://schemas.microsoft.com/office/powerpoint/2010/main" val="289522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594A6D-05DB-4840-8F38-C2043DB41117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2828925" y="3000375"/>
            <a:ext cx="285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8F3CA-FE67-419F-B894-888AC221A8A0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3419475" y="2581275"/>
            <a:ext cx="295275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CC7F1-08F5-4CF5-93AB-DFF2CC5A7D2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857375" y="2781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4F8A5-8E9F-4767-88D6-A1BBBBBEC028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190625" y="1943100"/>
            <a:ext cx="27622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3D4F1-7078-491C-A634-EF3AA84F057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391025" y="1857375"/>
            <a:ext cx="8572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DCCF1-2E07-4487-A354-EE2D99ED9226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514600" y="1524000"/>
            <a:ext cx="1200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BDD6-1AD2-4418-B278-F0A68EBC3A6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4391025" y="695325"/>
            <a:ext cx="263525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E9F5C-C540-42A0-9013-61A61CF4DBE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79825" y="4667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43733-91A7-4B3C-9170-FBB3F7FBB732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882775" y="4667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8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619CD9FB-70B3-4170-82AF-8D185A66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编码智能体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2899D-9154-4652-9C99-1306156B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5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3" name="/mcp">
            <a:extLst xmlns:a="http://schemas.openxmlformats.org/drawingml/2006/main">
              <a:ext uri="{FF2B5EF4-FFF2-40B4-BE49-F238E27FC236}">
                <a16:creationId xmlns:a16="http://schemas.microsoft.com/office/drawing/2014/main" id="{85A7D6E7-AD43-456E-9BA4-66C7DEF2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238125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/mcp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16D4E-61B3-4C0B-9F4D-4B6B80A1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266700"/>
            <a:ext cx="15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5" name="intel-core">
            <a:extLst xmlns:a="http://schemas.openxmlformats.org/drawingml/2006/main">
              <a:ext uri="{FF2B5EF4-FFF2-40B4-BE49-F238E27FC236}">
                <a16:creationId xmlns:a16="http://schemas.microsoft.com/office/drawing/2014/main" id="{4F425521-95A4-448B-944C-6BF8584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238125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intel-core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96CF6-E16D-4748-8664-71B061CF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800" y="266700"/>
            <a:ext cx="15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9" name="凭据 / scope / 限流 / 审计">
            <a:extLst xmlns:a="http://schemas.openxmlformats.org/drawingml/2006/main">
              <a:ext uri="{FF2B5EF4-FFF2-40B4-BE49-F238E27FC236}">
                <a16:creationId xmlns:a16="http://schemas.microsoft.com/office/drawing/2014/main" id="{CEE0654C-C8E9-49FE-82FB-D3A6C9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620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凭据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scope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限流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审计</a:t>
            </a:r>
          </a:p>
        </p:txBody>
      </p:sp>
      <p:sp>
        <p:nvSpPr>
          <p:cNvPr id="10" name="耗时估计">
            <a:extLst xmlns:a="http://schemas.openxmlformats.org/drawingml/2006/main">
              <a:ext uri="{FF2B5EF4-FFF2-40B4-BE49-F238E27FC236}">
                <a16:creationId xmlns:a16="http://schemas.microsoft.com/office/drawing/2014/main" id="{A209E8D9-2259-4AC0-9000-5FF165C5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90625"/>
            <a:ext cx="135255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耗时估计</a:t>
            </a:r>
          </a:p>
        </p:txBody>
      </p:sp>
      <p:sp>
        <p:nvSpPr>
          <p:cNvPr id="12" name="同步求解 版本 / QA + Critic">
            <a:extLst xmlns:a="http://schemas.openxmlformats.org/drawingml/2006/main">
              <a:ext uri="{FF2B5EF4-FFF2-40B4-BE49-F238E27FC236}">
                <a16:creationId xmlns:a16="http://schemas.microsoft.com/office/drawing/2014/main" id="{2FCAEC41-EBB9-40AA-9B80-52D4E99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同步求解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版本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QA + Critic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AF652-1176-4FA8-9290-BB9DDD3B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8275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5" name="≤60 s">
            <a:extLst xmlns:a="http://schemas.openxmlformats.org/drawingml/2006/main">
              <a:ext uri="{FF2B5EF4-FFF2-40B4-BE49-F238E27FC236}">
                <a16:creationId xmlns:a16="http://schemas.microsoft.com/office/drawing/2014/main" id="{A124648F-3395-4040-B80B-C2F40B04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71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≤60 s</a:t>
            </a:r>
          </a:p>
        </p:txBody>
      </p:sp>
      <p:sp>
        <p:nvSpPr>
          <p:cNvPr id="16" name="TaskHandle get_task_result">
            <a:extLst xmlns:a="http://schemas.openxmlformats.org/drawingml/2006/main">
              <a:ext uri="{FF2B5EF4-FFF2-40B4-BE49-F238E27FC236}">
                <a16:creationId xmlns:a16="http://schemas.microsoft.com/office/drawing/2014/main" id="{3C169F17-9CD7-4717-9812-DD91686C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TaskHandle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get_task_result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3817E-5A9F-4A48-A4D4-1134853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622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9" name="&gt;60 s">
            <a:extLst xmlns:a="http://schemas.openxmlformats.org/drawingml/2006/main">
              <a:ext uri="{FF2B5EF4-FFF2-40B4-BE49-F238E27FC236}">
                <a16:creationId xmlns:a16="http://schemas.microsoft.com/office/drawing/2014/main" id="{785A1D4A-0669-462C-8059-5D732054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716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&gt;60 s</a:t>
            </a:r>
          </a:p>
        </p:txBody>
      </p:sp>
      <p:sp>
        <p:nvSpPr>
          <p:cNvPr id="20" name="合规过滤">
            <a:extLst xmlns:a="http://schemas.openxmlformats.org/drawingml/2006/main">
              <a:ext uri="{FF2B5EF4-FFF2-40B4-BE49-F238E27FC236}">
                <a16:creationId xmlns:a16="http://schemas.microsoft.com/office/drawing/2014/main" id="{E51AB01D-F128-477D-BE8F-BDD5233B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合规过滤</a:t>
            </a:r>
          </a:p>
        </p:txBody>
      </p:sp>
      <p:sp>
        <p:nvSpPr>
          <p:cNvPr id="22" name="结果裁剪 ≤8k tokens">
            <a:extLst xmlns:a="http://schemas.openxmlformats.org/drawingml/2006/main">
              <a:ext uri="{FF2B5EF4-FFF2-40B4-BE49-F238E27FC236}">
                <a16:creationId xmlns:a16="http://schemas.microsoft.com/office/drawing/2014/main" id="{51E2AF67-26C1-4BE8-AB6B-F06D4B5D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62225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结果裁剪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≤8k tokens</a:t>
            </a:r>
          </a:p>
        </p:txBody>
      </p:sp>
      <p:sp>
        <p:nvSpPr>
          <p:cNvPr id="25" name="返回 / 分页续取">
            <a:extLst xmlns:a="http://schemas.openxmlformats.org/drawingml/2006/main">
              <a:ext uri="{FF2B5EF4-FFF2-40B4-BE49-F238E27FC236}">
                <a16:creationId xmlns:a16="http://schemas.microsoft.com/office/drawing/2014/main" id="{09BCA4C1-A23A-4B54-A934-3FCFD367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24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返回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分页续取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999EA-75E9-4118-BEF9-65D13921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</p:spTree>
    <p:extLst>
      <p:ext uri="{BB962C8B-B14F-4D97-AF65-F5344CB8AC3E}">
        <p14:creationId xmlns:p14="http://schemas.microsoft.com/office/powerpoint/2010/main" val="1763460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3FBB6-178F-4850-9C92-88F5839BDE43}"/>
              </a:ext>
            </a:extLst>
          </p:cNvPr>
          <p:cNvCxnSpPr>
            <a:stCxn xmlns:a="http://schemas.openxmlformats.org/drawingml/2006/main" id="27" idx="4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123825" y="628650"/>
            <a:ext cx="2212181" cy="2714625"/>
          </a:xfrm>
          <a:prstGeom xmlns:a="http://schemas.openxmlformats.org/drawingml/2006/main" prst="bentConnector4">
            <a:avLst/>
          </a:prstGeom>
          <a:ln xmlns:a="http://schemas.openxmlformats.org/drawingml/2006/main" w="12668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7C9C0-A07E-4CA9-AB4A-B41E80A8DCA6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3935730" y="1590675"/>
            <a:ext cx="30289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A1A4C-2914-4D15-BE40-C9253EB4F47E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3457575" y="1590675"/>
            <a:ext cx="47815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E864C-CEBE-443C-A20C-EDFBA3B2646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457325" y="1352550"/>
            <a:ext cx="201549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D6740-AF14-4C1A-BF78-7E5AC69324C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4852988" y="1590675"/>
            <a:ext cx="160972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8B227-B888-4F5A-AB3C-B8011A6C953A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1163955" y="628650"/>
            <a:ext cx="1172051" cy="7239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266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D9097-5391-439E-A3B5-697F2D60BE4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398645" y="1352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4BAA8-1BE2-4BD5-98F2-B84FA45DD38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20415" y="1352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D26EE-921F-4859-9B39-834715A12BC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42185" y="1352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FBEF6-20B3-4B0C-8D65-24D39FEC7A4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163955" y="1352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30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C2D6A575-C29B-44A2-93F1-6A0212A3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61925"/>
            <a:ext cx="1276350" cy="4667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2" name="Collector">
            <a:extLst xmlns:a="http://schemas.openxmlformats.org/drawingml/2006/main">
              <a:ext uri="{FF2B5EF4-FFF2-40B4-BE49-F238E27FC236}">
                <a16:creationId xmlns:a16="http://schemas.microsoft.com/office/drawing/2014/main" id="{41D09BBE-53E0-4E7B-A4DC-A45624A1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Collector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F93AD-55BB-437C-A913-DB9FD942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4" name="Triage">
            <a:extLst xmlns:a="http://schemas.openxmlformats.org/drawingml/2006/main">
              <a:ext uri="{FF2B5EF4-FFF2-40B4-BE49-F238E27FC236}">
                <a16:creationId xmlns:a16="http://schemas.microsoft.com/office/drawing/2014/main" id="{392BF529-A93D-419F-A91C-2A36FA0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Triage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57531-9C1C-4251-94CB-AD59DD8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6" name="Enricher">
            <a:extLst xmlns:a="http://schemas.openxmlformats.org/drawingml/2006/main">
              <a:ext uri="{FF2B5EF4-FFF2-40B4-BE49-F238E27FC236}">
                <a16:creationId xmlns:a16="http://schemas.microsoft.com/office/drawing/2014/main" id="{1C779C01-F12D-4540-A06A-5BC5A0DC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58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E47AF-760E-4C06-B6B5-FF759C82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63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8" name="Critic">
            <a:extLst xmlns:a="http://schemas.openxmlformats.org/drawingml/2006/main">
              <a:ext uri="{FF2B5EF4-FFF2-40B4-BE49-F238E27FC236}">
                <a16:creationId xmlns:a16="http://schemas.microsoft.com/office/drawing/2014/main" id="{C09D2773-C32D-42F6-9B45-CA773D1B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81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01344-E06A-43EA-A2DC-7D27678C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86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0" name="GraphWriter">
            <a:extLst xmlns:a="http://schemas.openxmlformats.org/drawingml/2006/main">
              <a:ext uri="{FF2B5EF4-FFF2-40B4-BE49-F238E27FC236}">
                <a16:creationId xmlns:a16="http://schemas.microsoft.com/office/drawing/2014/main" id="{421AFC89-FBBB-4F23-8A96-8727472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GraphWriter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60E8A-3B71-4F6D-BF7C-695EAE7C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9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7" name="Assessor">
            <a:extLst xmlns:a="http://schemas.openxmlformats.org/drawingml/2006/main">
              <a:ext uri="{FF2B5EF4-FFF2-40B4-BE49-F238E27FC236}">
                <a16:creationId xmlns:a16="http://schemas.microsoft.com/office/drawing/2014/main" id="{A691867A-0344-42D1-9B2B-D0883EA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38375"/>
            <a:ext cx="12287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Assessor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C3C6B-6E0D-4386-867D-B2773E12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860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20" name="QA">
            <a:extLst xmlns:a="http://schemas.openxmlformats.org/drawingml/2006/main">
              <a:ext uri="{FF2B5EF4-FFF2-40B4-BE49-F238E27FC236}">
                <a16:creationId xmlns:a16="http://schemas.microsoft.com/office/drawing/2014/main" id="{95E99286-F58A-4DE7-B0B5-C7C56DC7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38375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6C3CA-1C8A-49C5-9BCF-4930F25E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2860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22" name="Reporter">
            <a:extLst xmlns:a="http://schemas.openxmlformats.org/drawingml/2006/main">
              <a:ext uri="{FF2B5EF4-FFF2-40B4-BE49-F238E27FC236}">
                <a16:creationId xmlns:a16="http://schemas.microsoft.com/office/drawing/2014/main" id="{03E980AE-45B7-4BD9-AB6E-B5F9AF1B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38375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Reporter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81F3C-28FD-4747-9D5D-4281780D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27" name="DLQ 失败任务">
            <a:extLst xmlns:a="http://schemas.openxmlformats.org/drawingml/2006/main">
              <a:ext uri="{FF2B5EF4-FFF2-40B4-BE49-F238E27FC236}">
                <a16:creationId xmlns:a16="http://schemas.microsoft.com/office/drawing/2014/main" id="{FB373755-F829-4D33-9E2D-34B5172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14675"/>
            <a:ext cx="120015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DLQ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失败任务</a:t>
            </a:r>
          </a:p>
        </p:txBody>
      </p:sp>
      <p:sp>
        <p:nvSpPr>
          <p:cNvPr id="29" name="所有对外产出经 Critic 角色通过数据与任务状态交接">
            <a:extLst xmlns:a="http://schemas.openxmlformats.org/drawingml/2006/main">
              <a:ext uri="{FF2B5EF4-FFF2-40B4-BE49-F238E27FC236}">
                <a16:creationId xmlns:a16="http://schemas.microsoft.com/office/drawing/2014/main" id="{7F80E227-8C50-4D1F-B790-2BAEDA8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8610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所有对外产出经</a:t>
            </a: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Critic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角色通过数据与任务状态交接</a:t>
            </a:r>
          </a:p>
        </p:txBody>
      </p:sp>
    </p:spTree>
    <p:extLst>
      <p:ext uri="{BB962C8B-B14F-4D97-AF65-F5344CB8AC3E}">
        <p14:creationId xmlns:p14="http://schemas.microsoft.com/office/powerpoint/2010/main" val="1297456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ADF59-A08D-4948-82D4-37660FFCB070}"/>
              </a:ext>
            </a:extLst>
          </p:cNvPr>
          <p:cNvCxnSpPr>
            <a:stCxn xmlns:a="http://schemas.openxmlformats.org/drawingml/2006/main" id="9" idx="4"/>
            <a:endCxn xmlns:a="http://schemas.openxmlformats.org/drawingml/2006/main" id="2" idx="3"/>
          </p:cNvCxnSpPr>
          <p:nvPr/>
        </p:nvCxnSpPr>
        <p:spPr>
          <a:xfrm xmlns:a="http://schemas.openxmlformats.org/drawingml/2006/main" flipV="1">
            <a:off x="3429000" y="590550"/>
            <a:ext cx="0" cy="2343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0F2D6-A893-46E6-B6C9-830B5BA0C297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4857750" y="8001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9B93B-6C44-4506-9B15-2679CDC1F466}"/>
              </a:ext>
            </a:extLst>
          </p:cNvPr>
          <p:cNvCxnSpPr>
            <a:stCxn xmlns:a="http://schemas.openxmlformats.org/drawingml/2006/main" id="2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1428750" y="590550"/>
            <a:ext cx="8572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E7739-64F6-48D9-93ED-960780C460C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57500" y="20193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D8D95-68EE-41F6-8BB0-384CC9EF6A26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857500" y="8001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194E-12CE-4E6B-AE83-0056B5171A2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429000" y="590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E6D57-3F67-4961-BAD9-B0192B5298C9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428750" y="590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1" name="queued">
            <a:extLst xmlns:a="http://schemas.openxmlformats.org/drawingml/2006/main">
              <a:ext uri="{FF2B5EF4-FFF2-40B4-BE49-F238E27FC236}">
                <a16:creationId xmlns:a16="http://schemas.microsoft.com/office/drawing/2014/main" id="{ECA84AFB-3D31-4FA5-92BB-B5347D09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queued</a:t>
            </a:r>
          </a:p>
        </p:txBody>
      </p:sp>
      <p:sp>
        <p:nvSpPr>
          <p:cNvPr id="2" name="running">
            <a:extLst xmlns:a="http://schemas.openxmlformats.org/drawingml/2006/main">
              <a:ext uri="{FF2B5EF4-FFF2-40B4-BE49-F238E27FC236}">
                <a16:creationId xmlns:a16="http://schemas.microsoft.com/office/drawing/2014/main" id="{33ED484D-57E1-4D20-B5D7-F383D87A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running</a:t>
            </a:r>
          </a:p>
        </p:txBody>
      </p:sp>
      <p:sp>
        <p:nvSpPr>
          <p:cNvPr id="3" name="succeeded">
            <a:extLst xmlns:a="http://schemas.openxmlformats.org/drawingml/2006/main">
              <a:ext uri="{FF2B5EF4-FFF2-40B4-BE49-F238E27FC236}">
                <a16:creationId xmlns:a16="http://schemas.microsoft.com/office/drawing/2014/main" id="{2AC529DE-450F-4066-9179-9018145C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succeeded</a:t>
            </a:r>
          </a:p>
        </p:txBody>
      </p:sp>
      <p:sp>
        <p:nvSpPr>
          <p:cNvPr id="6" name="retrying 内部状态">
            <a:extLst xmlns:a="http://schemas.openxmlformats.org/drawingml/2006/main">
              <a:ext uri="{FF2B5EF4-FFF2-40B4-BE49-F238E27FC236}">
                <a16:creationId xmlns:a16="http://schemas.microsoft.com/office/drawing/2014/main" id="{006D3B5B-8F7A-4AA7-9884-F89509A7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430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retrying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内部状态</a:t>
            </a:r>
          </a:p>
        </p:txBody>
      </p:sp>
      <p:sp>
        <p:nvSpPr>
          <p:cNvPr id="8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01F96AC4-A477-40F7-8ECF-A2340E1E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906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429 / 5xx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超时</a:t>
            </a:r>
          </a:p>
        </p:txBody>
      </p:sp>
      <p:sp>
        <p:nvSpPr>
          <p:cNvPr id="9" name="DLQ">
            <a:extLst xmlns:a="http://schemas.openxmlformats.org/drawingml/2006/main">
              <a:ext uri="{FF2B5EF4-FFF2-40B4-BE49-F238E27FC236}">
                <a16:creationId xmlns:a16="http://schemas.microsoft.com/office/drawing/2014/main" id="{D6CF9421-AF02-4D05-B5C9-917BD02E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14625"/>
            <a:ext cx="1143000" cy="4381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DLQ</a:t>
            </a:r>
          </a:p>
        </p:txBody>
      </p:sp>
      <p:sp>
        <p:nvSpPr>
          <p:cNvPr id="11" name="超过 6 次">
            <a:extLst xmlns:a="http://schemas.openxmlformats.org/drawingml/2006/main">
              <a:ext uri="{FF2B5EF4-FFF2-40B4-BE49-F238E27FC236}">
                <a16:creationId xmlns:a16="http://schemas.microsoft.com/office/drawing/2014/main" id="{EB40E620-1AC9-4C2E-8938-DCCC7A2D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336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超过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6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次</a:t>
            </a:r>
          </a:p>
        </p:txBody>
      </p:sp>
      <p:sp>
        <p:nvSpPr>
          <p:cNvPr id="12" name="failed">
            <a:extLst xmlns:a="http://schemas.openxmlformats.org/drawingml/2006/main">
              <a:ext uri="{FF2B5EF4-FFF2-40B4-BE49-F238E27FC236}">
                <a16:creationId xmlns:a16="http://schemas.microsoft.com/office/drawing/2014/main" id="{9BB6AAF1-6F76-42C4-A8AD-C415618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430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failed</a:t>
            </a:r>
          </a:p>
        </p:txBody>
      </p:sp>
      <p:sp>
        <p:nvSpPr>
          <p:cNvPr id="14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B97125D3-469C-4DCF-B06E-45709BC2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1240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4xx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（非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429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）</a:t>
            </a:r>
          </a:p>
        </p:txBody>
      </p:sp>
      <p:sp>
        <p:nvSpPr>
          <p:cNvPr id="15" name="expired">
            <a:extLst xmlns:a="http://schemas.openxmlformats.org/drawingml/2006/main">
              <a:ext uri="{FF2B5EF4-FFF2-40B4-BE49-F238E27FC236}">
                <a16:creationId xmlns:a16="http://schemas.microsoft.com/office/drawing/2014/main" id="{C3F3F0DA-18F4-4745-B90E-847CA71C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expired</a:t>
            </a:r>
          </a:p>
        </p:txBody>
      </p:sp>
      <p:sp>
        <p:nvSpPr>
          <p:cNvPr id="17" name="结果保留 24 h">
            <a:extLst xmlns:a="http://schemas.openxmlformats.org/drawingml/2006/main">
              <a:ext uri="{FF2B5EF4-FFF2-40B4-BE49-F238E27FC236}">
                <a16:creationId xmlns:a16="http://schemas.microsoft.com/office/drawing/2014/main" id="{E6044277-8F49-43F7-A6B4-49B92F1E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90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结果保留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24 h</a:t>
            </a:r>
          </a:p>
        </p:txBody>
      </p:sp>
      <p:sp>
        <p:nvSpPr>
          <p:cNvPr id="19" name="每 15 min 重放">
            <a:extLst xmlns:a="http://schemas.openxmlformats.org/drawingml/2006/main">
              <a:ext uri="{FF2B5EF4-FFF2-40B4-BE49-F238E27FC236}">
                <a16:creationId xmlns:a16="http://schemas.microsoft.com/office/drawing/2014/main" id="{7D4A0268-249B-4DB1-916E-4B3DBB2E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0985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每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15 min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重放</a:t>
            </a:r>
          </a:p>
        </p:txBody>
      </p:sp>
      <p:sp>
        <p:nvSpPr>
          <p:cNvPr id="20" name="retrying 与死信对外均显示为 running">
            <a:extLst xmlns:a="http://schemas.openxmlformats.org/drawingml/2006/main">
              <a:ext uri="{FF2B5EF4-FFF2-40B4-BE49-F238E27FC236}">
                <a16:creationId xmlns:a16="http://schemas.microsoft.com/office/drawing/2014/main" id="{5C3BA2F2-B04E-4D4A-92F2-5BC123F8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retrying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与死信对外均显示为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running</a:t>
            </a:r>
          </a:p>
        </p:txBody>
      </p:sp>
    </p:spTree>
    <p:extLst>
      <p:ext uri="{BB962C8B-B14F-4D97-AF65-F5344CB8AC3E}">
        <p14:creationId xmlns:p14="http://schemas.microsoft.com/office/powerpoint/2010/main" val="436676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48CA5-B7F5-4DB7-86E3-3E215227523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19500" y="2128838"/>
            <a:ext cx="2127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47826-6E40-4BA8-858B-D28D16383080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857500" y="22860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B103F-8E98-472E-984B-A507E0227064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882775" y="2128838"/>
            <a:ext cx="2127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D1C81-E51A-4F94-A8E0-2658FD9177C4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619500" y="1357313"/>
            <a:ext cx="212725" cy="771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71183-2BA3-43EC-9B7A-49EA356AD938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962025" y="390525"/>
            <a:ext cx="228600" cy="609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7A8E1-36A9-44B9-81BC-CE4A599192C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79825" y="13573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5DB3F-2DD5-4139-9EEF-B2B51E79C6F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882775" y="13573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8" name="富化 / 评估 / 问答 / 报告">
            <a:extLst xmlns:a="http://schemas.openxmlformats.org/drawingml/2006/main">
              <a:ext uri="{FF2B5EF4-FFF2-40B4-BE49-F238E27FC236}">
                <a16:creationId xmlns:a16="http://schemas.microsoft.com/office/drawing/2014/main" id="{2472A9A4-B976-4050-9AE2-63FB61C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富化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评估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问答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CBFFD-6AB4-4611-BE9C-3B60F7C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8125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3" name="引用可回溯">
            <a:extLst xmlns:a="http://schemas.openxmlformats.org/drawingml/2006/main">
              <a:ext uri="{FF2B5EF4-FFF2-40B4-BE49-F238E27FC236}">
                <a16:creationId xmlns:a16="http://schemas.microsoft.com/office/drawing/2014/main" id="{81126E39-E74E-4794-BA30-9D264429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000125"/>
            <a:ext cx="1644650" cy="7143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引用可回溯</a:t>
            </a:r>
          </a:p>
        </p:txBody>
      </p:sp>
      <p:sp>
        <p:nvSpPr>
          <p:cNvPr id="4" name="置信度达门槛">
            <a:extLst xmlns:a="http://schemas.openxmlformats.org/drawingml/2006/main">
              <a:ext uri="{FF2B5EF4-FFF2-40B4-BE49-F238E27FC236}">
                <a16:creationId xmlns:a16="http://schemas.microsoft.com/office/drawing/2014/main" id="{818089BA-E486-4EEC-848E-93B8B2DB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000125"/>
            <a:ext cx="1644650" cy="7143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置信度达门槛</a:t>
            </a:r>
          </a:p>
        </p:txBody>
      </p:sp>
      <p:sp>
        <p:nvSpPr>
          <p:cNvPr id="5" name="无违规内容">
            <a:extLst xmlns:a="http://schemas.openxmlformats.org/drawingml/2006/main">
              <a:ext uri="{FF2B5EF4-FFF2-40B4-BE49-F238E27FC236}">
                <a16:creationId xmlns:a16="http://schemas.microsoft.com/office/drawing/2014/main" id="{1DD0B7BF-484D-4486-B6E3-F34BD02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1000125"/>
            <a:ext cx="1644650" cy="7143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无违规内容</a:t>
            </a:r>
          </a:p>
        </p:txBody>
      </p:sp>
      <p:sp>
        <p:nvSpPr>
          <p:cNvPr id="9" name="综合校验结论">
            <a:extLst xmlns:a="http://schemas.openxmlformats.org/drawingml/2006/main">
              <a:ext uri="{FF2B5EF4-FFF2-40B4-BE49-F238E27FC236}">
                <a16:creationId xmlns:a16="http://schemas.microsoft.com/office/drawing/2014/main" id="{4F334F54-DE77-4CE4-9317-99671DFE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71675"/>
            <a:ext cx="1524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综合校验结论</a:t>
            </a:r>
          </a:p>
        </p:txBody>
      </p:sp>
      <p:sp>
        <p:nvSpPr>
          <p:cNvPr id="11" name="pass 写入或返回">
            <a:extLst xmlns:a="http://schemas.openxmlformats.org/drawingml/2006/main">
              <a:ext uri="{FF2B5EF4-FFF2-40B4-BE49-F238E27FC236}">
                <a16:creationId xmlns:a16="http://schemas.microsoft.com/office/drawing/2014/main" id="{508898D7-576C-4A6D-9F6C-8B9598E2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476500"/>
            <a:ext cx="1644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pass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写入或返回</a:t>
            </a:r>
          </a:p>
        </p:txBody>
      </p:sp>
      <p:sp>
        <p:nvSpPr>
          <p:cNvPr id="12" name="partial 标明不受支持句">
            <a:extLst xmlns:a="http://schemas.openxmlformats.org/drawingml/2006/main">
              <a:ext uri="{FF2B5EF4-FFF2-40B4-BE49-F238E27FC236}">
                <a16:creationId xmlns:a16="http://schemas.microsoft.com/office/drawing/2014/main" id="{29289D5A-E586-4915-877F-7CDA7ED5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2476500"/>
            <a:ext cx="1644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partial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标明不受支持句</a:t>
            </a:r>
          </a:p>
        </p:txBody>
      </p:sp>
      <p:sp>
        <p:nvSpPr>
          <p:cNvPr id="13" name="reject / fail 重新检索或富化">
            <a:extLst xmlns:a="http://schemas.openxmlformats.org/drawingml/2006/main">
              <a:ext uri="{FF2B5EF4-FFF2-40B4-BE49-F238E27FC236}">
                <a16:creationId xmlns:a16="http://schemas.microsoft.com/office/drawing/2014/main" id="{80816B6E-3AFB-420A-8C40-A6EDEBC8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2476500"/>
            <a:ext cx="1644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reject / fail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重新检索或富化</a:t>
            </a:r>
          </a:p>
        </p:txBody>
      </p:sp>
      <p:sp>
        <p:nvSpPr>
          <p:cNvPr id="17" name="关系边门槛 0.6；问答 partial 比例 ≤30%；LLM 产出 20% 抽检">
            <a:extLst xmlns:a="http://schemas.openxmlformats.org/drawingml/2006/main">
              <a:ext uri="{FF2B5EF4-FFF2-40B4-BE49-F238E27FC236}">
                <a16:creationId xmlns:a16="http://schemas.microsoft.com/office/drawing/2014/main" id="{400F9AD1-3A61-449E-B7F9-DA322F96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关系边门槛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0.6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；问答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partial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比例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≤30%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LLM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产出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20%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抽检</a:t>
            </a:r>
          </a:p>
        </p:txBody>
      </p:sp>
    </p:spTree>
    <p:extLst>
      <p:ext uri="{BB962C8B-B14F-4D97-AF65-F5344CB8AC3E}">
        <p14:creationId xmlns:p14="http://schemas.microsoft.com/office/powerpoint/2010/main" val="20945429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B219A-3FE9-41CB-B766-5F29264E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8125"/>
            <a:ext cx="16954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一级 官方 权重 1.0">
            <a:extLst xmlns:a="http://schemas.openxmlformats.org/drawingml/2006/main">
              <a:ext uri="{FF2B5EF4-FFF2-40B4-BE49-F238E27FC236}">
                <a16:creationId xmlns:a16="http://schemas.microsoft.com/office/drawing/2014/main" id="{B004AF8E-7FB8-40F3-8E20-13F6A841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857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一级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官方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权重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1.0</a:t>
            </a:r>
          </a:p>
        </p:txBody>
      </p:sp>
      <p:sp>
        <p:nvSpPr>
          <p:cNvPr id="3" name="NVD / GHSA reviewed OSV / KEV / EPSS ATLAS / 厂商公告 CNNVD / 标准法规 CNVD：人工">
            <a:extLst xmlns:a="http://schemas.openxmlformats.org/drawingml/2006/main">
              <a:ext uri="{FF2B5EF4-FFF2-40B4-BE49-F238E27FC236}">
                <a16:creationId xmlns:a16="http://schemas.microsoft.com/office/drawing/2014/main" id="{E5DC587A-E4C2-4695-ACBB-7294FD7A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42975"/>
            <a:ext cx="154305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NVD / GHSA reviewed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OSV / KEV / EPSS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ATLAS / 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厂商公告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CNNVD / 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标准法规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CNVD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：人工导入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373FA-543B-40F0-B12D-CEAF5429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8125"/>
            <a:ext cx="16954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二级 专业平台 权重 0.7">
            <a:extLst xmlns:a="http://schemas.openxmlformats.org/drawingml/2006/main">
              <a:ext uri="{FF2B5EF4-FFF2-40B4-BE49-F238E27FC236}">
                <a16:creationId xmlns:a16="http://schemas.microsoft.com/office/drawing/2014/main" id="{EA2D9CEC-2FF6-49CC-94AB-6A2B1392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57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二级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专业平台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权重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0.7</a:t>
            </a:r>
          </a:p>
        </p:txBody>
      </p:sp>
      <p:sp>
        <p:nvSpPr>
          <p:cNvPr id="6" name="huntr / AVID GHSA unreviewed  测绘平台仅供暴露面 不增加来源类别">
            <a:extLst xmlns:a="http://schemas.openxmlformats.org/drawingml/2006/main">
              <a:ext uri="{FF2B5EF4-FFF2-40B4-BE49-F238E27FC236}">
                <a16:creationId xmlns:a16="http://schemas.microsoft.com/office/drawing/2014/main" id="{40718E5D-B506-4CCD-95E2-A6CF6A6A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942975"/>
            <a:ext cx="154305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huntr / AVID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GHSA unreviewed</a:t>
            </a:r>
          </a:p>
          <a:p xmlns:a="http://schemas.openxmlformats.org/drawingml/2006/main">
            <a:r>
              <a:rPr sz="975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测绘平台仅供暴露面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不增加来源类别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25C1B-9AC6-4B3F-B98F-FE222556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8125"/>
            <a:ext cx="16954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" name="三级 研究资讯 权重 0.4">
            <a:extLst xmlns:a="http://schemas.openxmlformats.org/drawingml/2006/main">
              <a:ext uri="{FF2B5EF4-FFF2-40B4-BE49-F238E27FC236}">
                <a16:creationId xmlns:a16="http://schemas.microsoft.com/office/drawing/2014/main" id="{43894188-CE3F-4393-B8BC-1169824B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三级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研究资讯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权重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0.4</a:t>
            </a:r>
          </a:p>
        </p:txBody>
      </p:sp>
      <p:sp>
        <p:nvSpPr>
          <p:cNvPr id="9" name="arXiv 安全博客 RSS  仅三级支撑：unconfirmed 不进入高危告警">
            <a:extLst xmlns:a="http://schemas.openxmlformats.org/drawingml/2006/main">
              <a:ext uri="{FF2B5EF4-FFF2-40B4-BE49-F238E27FC236}">
                <a16:creationId xmlns:a16="http://schemas.microsoft.com/office/drawing/2014/main" id="{1CC460CB-0F11-47FF-893C-E9644B2D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42975"/>
            <a:ext cx="154305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arXiv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安全博客</a:t>
            </a: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RSS</a:t>
            </a:r>
          </a:p>
          <a:p xmlns:a="http://schemas.openxmlformats.org/drawingml/2006/main">
            <a:r>
              <a:rPr sz="975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仅三级支撑：</a:t>
            </a: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unconfirmed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不进入高危告警</a:t>
            </a:r>
          </a:p>
        </p:txBody>
      </p:sp>
      <p:sp>
        <p:nvSpPr>
          <p:cNvPr id="10" name="平台审核只可下调可信度；CNNVD 主力，CNVD 加分项">
            <a:extLst xmlns:a="http://schemas.openxmlformats.org/drawingml/2006/main">
              <a:ext uri="{FF2B5EF4-FFF2-40B4-BE49-F238E27FC236}">
                <a16:creationId xmlns:a16="http://schemas.microsoft.com/office/drawing/2014/main" id="{EB43193F-A5BD-4CA8-9CE2-D45556B2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平台审核只可下调可信度；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CNNVD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主力，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CNVD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加分项</a:t>
            </a:r>
          </a:p>
        </p:txBody>
      </p:sp>
    </p:spTree>
    <p:extLst>
      <p:ext uri="{BB962C8B-B14F-4D97-AF65-F5344CB8AC3E}">
        <p14:creationId xmlns:p14="http://schemas.microsoft.com/office/powerpoint/2010/main" val="7497127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事件">
            <a:extLst xmlns:a="http://schemas.openxmlformats.org/drawingml/2006/main">
              <a:ext uri="{FF2B5EF4-FFF2-40B4-BE49-F238E27FC236}">
                <a16:creationId xmlns:a16="http://schemas.microsoft.com/office/drawing/2014/main" id="{0C6BA2FB-9513-453C-A721-2BDD3345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事件</a:t>
            </a:r>
          </a:p>
        </p:txBody>
      </p:sp>
      <p:sp>
        <p:nvSpPr>
          <p:cNvPr id="2" name="自有仓库 / DEMO">
            <a:extLst xmlns:a="http://schemas.openxmlformats.org/drawingml/2006/main">
              <a:ext uri="{FF2B5EF4-FFF2-40B4-BE49-F238E27FC236}">
                <a16:creationId xmlns:a16="http://schemas.microsoft.com/office/drawing/2014/main" id="{071C926F-D71D-4208-A27E-57ED7FC8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自有仓库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DEMO</a:t>
            </a:r>
          </a:p>
        </p:txBody>
      </p:sp>
      <p:sp>
        <p:nvSpPr>
          <p:cNvPr id="3" name="目标值 ≤1 min（待测）">
            <a:extLst xmlns:a="http://schemas.openxmlformats.org/drawingml/2006/main">
              <a:ext uri="{FF2B5EF4-FFF2-40B4-BE49-F238E27FC236}">
                <a16:creationId xmlns:a16="http://schemas.microsoft.com/office/drawing/2014/main" id="{FC928150-CF5C-4889-824F-EFE17BE1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5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≤1 min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4" name="5 min">
            <a:extLst xmlns:a="http://schemas.openxmlformats.org/drawingml/2006/main">
              <a:ext uri="{FF2B5EF4-FFF2-40B4-BE49-F238E27FC236}">
                <a16:creationId xmlns:a16="http://schemas.microsoft.com/office/drawing/2014/main" id="{AB506DA0-D75B-48F3-8463-4F90053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482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5 min</a:t>
            </a:r>
          </a:p>
        </p:txBody>
      </p:sp>
      <p:sp>
        <p:nvSpPr>
          <p:cNvPr id="5" name="P0 厂商公告">
            <a:extLst xmlns:a="http://schemas.openxmlformats.org/drawingml/2006/main">
              <a:ext uri="{FF2B5EF4-FFF2-40B4-BE49-F238E27FC236}">
                <a16:creationId xmlns:a16="http://schemas.microsoft.com/office/drawing/2014/main" id="{0A461AF3-3C87-46DA-9B50-AF05983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P0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厂商公告</a:t>
            </a:r>
          </a:p>
        </p:txBody>
      </p:sp>
      <p:sp>
        <p:nvSpPr>
          <p:cNvPr id="6" name="目标值 ≤10 min（待测）">
            <a:extLst xmlns:a="http://schemas.openxmlformats.org/drawingml/2006/main">
              <a:ext uri="{FF2B5EF4-FFF2-40B4-BE49-F238E27FC236}">
                <a16:creationId xmlns:a16="http://schemas.microsoft.com/office/drawing/2014/main" id="{592004EF-034B-45FA-B44A-D8FA231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≤10 min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7" name="10 min">
            <a:extLst xmlns:a="http://schemas.openxmlformats.org/drawingml/2006/main">
              <a:ext uri="{FF2B5EF4-FFF2-40B4-BE49-F238E27FC236}">
                <a16:creationId xmlns:a16="http://schemas.microsoft.com/office/drawing/2014/main" id="{A4EF2715-F0F2-42AB-925F-969E7A2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1440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10 min</a:t>
            </a:r>
          </a:p>
        </p:txBody>
      </p:sp>
      <p:sp>
        <p:nvSpPr>
          <p:cNvPr id="8" name="GHSA / NVD / RSS">
            <a:extLst xmlns:a="http://schemas.openxmlformats.org/drawingml/2006/main">
              <a:ext uri="{FF2B5EF4-FFF2-40B4-BE49-F238E27FC236}">
                <a16:creationId xmlns:a16="http://schemas.microsoft.com/office/drawing/2014/main" id="{3EDFEFF0-B599-41C9-9D85-376CB39C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GHSA / NVD / RSS</a:t>
            </a:r>
          </a:p>
        </p:txBody>
      </p:sp>
      <p:sp>
        <p:nvSpPr>
          <p:cNvPr id="9" name="目标值 ≤15 / 30 / 30 min（待测）">
            <a:extLst xmlns:a="http://schemas.openxmlformats.org/drawingml/2006/main">
              <a:ext uri="{FF2B5EF4-FFF2-40B4-BE49-F238E27FC236}">
                <a16:creationId xmlns:a16="http://schemas.microsoft.com/office/drawing/2014/main" id="{15D0E964-5215-46C9-8643-DB1A89D6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≤15 / 30 / 30 min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0" name="15 min">
            <a:extLst xmlns:a="http://schemas.openxmlformats.org/drawingml/2006/main">
              <a:ext uri="{FF2B5EF4-FFF2-40B4-BE49-F238E27FC236}">
                <a16:creationId xmlns:a16="http://schemas.microsoft.com/office/drawing/2014/main" id="{52AA9C53-683C-4533-A2A0-9E84E9F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2397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15 min</a:t>
            </a:r>
          </a:p>
        </p:txBody>
      </p:sp>
      <p:sp>
        <p:nvSpPr>
          <p:cNvPr id="11" name="OSV">
            <a:extLst xmlns:a="http://schemas.openxmlformats.org/drawingml/2006/main">
              <a:ext uri="{FF2B5EF4-FFF2-40B4-BE49-F238E27FC236}">
                <a16:creationId xmlns:a16="http://schemas.microsoft.com/office/drawing/2014/main" id="{353812DC-597B-436D-A634-4A1C477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2397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OSV</a:t>
            </a:r>
          </a:p>
        </p:txBody>
      </p:sp>
      <p:sp>
        <p:nvSpPr>
          <p:cNvPr id="12" name="目标值 ≤30 min（待测）">
            <a:extLst xmlns:a="http://schemas.openxmlformats.org/drawingml/2006/main">
              <a:ext uri="{FF2B5EF4-FFF2-40B4-BE49-F238E27FC236}">
                <a16:creationId xmlns:a16="http://schemas.microsoft.com/office/drawing/2014/main" id="{A77DDFF7-92EF-47D6-BFB6-797CEB5F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239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≤30 min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3" name="1 h">
            <a:extLst xmlns:a="http://schemas.openxmlformats.org/drawingml/2006/main">
              <a:ext uri="{FF2B5EF4-FFF2-40B4-BE49-F238E27FC236}">
                <a16:creationId xmlns:a16="http://schemas.microsoft.com/office/drawing/2014/main" id="{37176C10-372B-4735-9970-B6E21D9D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3355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 h</a:t>
            </a:r>
          </a:p>
        </p:txBody>
      </p:sp>
      <p:sp>
        <p:nvSpPr>
          <p:cNvPr id="14" name="huntr / KEV">
            <a:extLst xmlns:a="http://schemas.openxmlformats.org/drawingml/2006/main">
              <a:ext uri="{FF2B5EF4-FFF2-40B4-BE49-F238E27FC236}">
                <a16:creationId xmlns:a16="http://schemas.microsoft.com/office/drawing/2014/main" id="{92B2B4F8-91AD-455D-B26D-4D561FE5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huntr / KEV</a:t>
            </a:r>
          </a:p>
        </p:txBody>
      </p:sp>
      <p:sp>
        <p:nvSpPr>
          <p:cNvPr id="15" name="目标值 ≤2 h（待测）">
            <a:extLst xmlns:a="http://schemas.openxmlformats.org/drawingml/2006/main">
              <a:ext uri="{FF2B5EF4-FFF2-40B4-BE49-F238E27FC236}">
                <a16:creationId xmlns:a16="http://schemas.microsoft.com/office/drawing/2014/main" id="{C3A4D113-67B9-42B4-AD57-FD4D80CC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≤2 h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6" name="6 h">
            <a:extLst xmlns:a="http://schemas.openxmlformats.org/drawingml/2006/main">
              <a:ext uri="{FF2B5EF4-FFF2-40B4-BE49-F238E27FC236}">
                <a16:creationId xmlns:a16="http://schemas.microsoft.com/office/drawing/2014/main" id="{8DD33481-5058-4A63-A203-6794702D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4312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6 h</a:t>
            </a:r>
          </a:p>
        </p:txBody>
      </p:sp>
      <p:sp>
        <p:nvSpPr>
          <p:cNvPr id="17" name="AVID">
            <a:extLst xmlns:a="http://schemas.openxmlformats.org/drawingml/2006/main">
              <a:ext uri="{FF2B5EF4-FFF2-40B4-BE49-F238E27FC236}">
                <a16:creationId xmlns:a16="http://schemas.microsoft.com/office/drawing/2014/main" id="{10B91048-359E-43F6-9D45-3B506CFD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AVID</a:t>
            </a:r>
          </a:p>
        </p:txBody>
      </p:sp>
      <p:sp>
        <p:nvSpPr>
          <p:cNvPr id="18" name="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31A3FA59-2477-48EE-9D60-B6CEC30F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h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9" name="1 d">
            <a:extLst xmlns:a="http://schemas.openxmlformats.org/drawingml/2006/main">
              <a:ext uri="{FF2B5EF4-FFF2-40B4-BE49-F238E27FC236}">
                <a16:creationId xmlns:a16="http://schemas.microsoft.com/office/drawing/2014/main" id="{0653205E-C73F-4C71-9853-B07735B2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5270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 d</a:t>
            </a:r>
          </a:p>
        </p:txBody>
      </p:sp>
      <p:sp>
        <p:nvSpPr>
          <p:cNvPr id="20" name="EPSS / arXiv / CNNVD">
            <a:extLst xmlns:a="http://schemas.openxmlformats.org/drawingml/2006/main">
              <a:ext uri="{FF2B5EF4-FFF2-40B4-BE49-F238E27FC236}">
                <a16:creationId xmlns:a16="http://schemas.microsoft.com/office/drawing/2014/main" id="{543427F8-4C77-498F-A176-7A176D31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EPSS / arXiv / CNNVD</a:t>
            </a:r>
          </a:p>
        </p:txBody>
      </p:sp>
      <p:sp>
        <p:nvSpPr>
          <p:cNvPr id="21" name="目标值 ≤24 h（待测）">
            <a:extLst xmlns:a="http://schemas.openxmlformats.org/drawingml/2006/main">
              <a:ext uri="{FF2B5EF4-FFF2-40B4-BE49-F238E27FC236}">
                <a16:creationId xmlns:a16="http://schemas.microsoft.com/office/drawing/2014/main" id="{74A2F7C3-118E-4DC2-9E0F-0548647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≤24 h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22" name="1 周">
            <a:extLst xmlns:a="http://schemas.openxmlformats.org/drawingml/2006/main">
              <a:ext uri="{FF2B5EF4-FFF2-40B4-BE49-F238E27FC236}">
                <a16:creationId xmlns:a16="http://schemas.microsoft.com/office/drawing/2014/main" id="{991BCD28-30D6-48D3-86DF-3884180C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6227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周</a:t>
            </a:r>
          </a:p>
        </p:txBody>
      </p:sp>
      <p:sp>
        <p:nvSpPr>
          <p:cNvPr id="23" name="标准法规 / CNVD">
            <a:extLst xmlns:a="http://schemas.openxmlformats.org/drawingml/2006/main">
              <a:ext uri="{FF2B5EF4-FFF2-40B4-BE49-F238E27FC236}">
                <a16:creationId xmlns:a16="http://schemas.microsoft.com/office/drawing/2014/main" id="{04AB7C9D-0048-43BA-8A52-CA7AFA8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标准法规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CNVD</a:t>
            </a:r>
          </a:p>
        </p:txBody>
      </p:sp>
      <p:sp>
        <p:nvSpPr>
          <p:cNvPr id="24" name="版本监测 / 人工">
            <a:extLst xmlns:a="http://schemas.openxmlformats.org/drawingml/2006/main">
              <a:ext uri="{FF2B5EF4-FFF2-40B4-BE49-F238E27FC236}">
                <a16:creationId xmlns:a16="http://schemas.microsoft.com/office/drawing/2014/main" id="{8D0C84A1-691E-41A6-AB70-2E1C9C6A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622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版本监测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人工</a:t>
            </a:r>
          </a:p>
        </p:txBody>
      </p:sp>
      <p:sp>
        <p:nvSpPr>
          <p:cNvPr id="25" name="6 h 端到端口径：NVD、GHSA、OSV、厂商公告、huntr 首次发现；其余单列">
            <a:extLst xmlns:a="http://schemas.openxmlformats.org/drawingml/2006/main">
              <a:ext uri="{FF2B5EF4-FFF2-40B4-BE49-F238E27FC236}">
                <a16:creationId xmlns:a16="http://schemas.microsoft.com/office/drawing/2014/main" id="{1E09CDD9-2ED4-4AC8-B893-A5AA243E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766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6 h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端到端口径：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NVD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、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GHSA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、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OSV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、厂商公告、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huntr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首次发现；其余单列</a:t>
            </a:r>
          </a:p>
        </p:txBody>
      </p:sp>
    </p:spTree>
    <p:extLst>
      <p:ext uri="{BB962C8B-B14F-4D97-AF65-F5344CB8AC3E}">
        <p14:creationId xmlns:p14="http://schemas.microsoft.com/office/powerpoint/2010/main" val="229190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151BF-9002-4EFC-9628-A968FDA037F3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838450"/>
            <a:ext cx="238125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6BB37-D57C-40C4-B628-D0F724DDCCE9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2857500" y="18288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18302-62D0-4744-AC1D-E0835B48084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2857500" y="819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0" name="同源幂等 (source, external_id)">
            <a:extLst xmlns:a="http://schemas.openxmlformats.org/drawingml/2006/main">
              <a:ext uri="{FF2B5EF4-FFF2-40B4-BE49-F238E27FC236}">
                <a16:creationId xmlns:a16="http://schemas.microsoft.com/office/drawing/2014/main" id="{A4F6C22D-56BA-4143-94B3-072DCCD1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同源幂等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(source, external_id)</a:t>
            </a:r>
          </a:p>
        </p:txBody>
      </p:sp>
      <p:sp>
        <p:nvSpPr>
          <p:cNvPr id="2" name="跨源别名并查集 CVE &gt; GHSA &gt; OSV &gt; huntr &gt; SW">
            <a:extLst xmlns:a="http://schemas.openxmlformats.org/drawingml/2006/main">
              <a:ext uri="{FF2B5EF4-FFF2-40B4-BE49-F238E27FC236}">
                <a16:creationId xmlns:a16="http://schemas.microsoft.com/office/drawing/2014/main" id="{88BB3BB2-9DFD-4444-B6FC-B88B7AE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81100"/>
            <a:ext cx="361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跨源别名并查集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CVE &gt; GHSA &gt; OSV &gt; huntr &gt; SW</a:t>
            </a:r>
          </a:p>
        </p:txBody>
      </p:sp>
      <p:sp>
        <p:nvSpPr>
          <p:cNvPr id="3" name="无编号相似候选 purl + SimHash ≥0.9 + 日期 ±3 天">
            <a:extLst xmlns:a="http://schemas.openxmlformats.org/drawingml/2006/main">
              <a:ext uri="{FF2B5EF4-FFF2-40B4-BE49-F238E27FC236}">
                <a16:creationId xmlns:a16="http://schemas.microsoft.com/office/drawing/2014/main" id="{6BC37806-F421-4AD3-83E5-5D42DDFF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907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无编号相似候选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purl + SimHash ≥0.9 +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日期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±3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天</a:t>
            </a:r>
          </a:p>
        </p:txBody>
      </p:sp>
      <p:sp>
        <p:nvSpPr>
          <p:cNvPr id="6" name="双 CVE 不合并 DUPLICATE_OF 候选">
            <a:extLst xmlns:a="http://schemas.openxmlformats.org/drawingml/2006/main">
              <a:ext uri="{FF2B5EF4-FFF2-40B4-BE49-F238E27FC236}">
                <a16:creationId xmlns:a16="http://schemas.microsoft.com/office/drawing/2014/main" id="{BAC85E80-8B52-4227-876C-0BAC982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114675"/>
            <a:ext cx="2409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双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CVE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不合并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DUPLICATE_OF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候选</a:t>
            </a:r>
          </a:p>
        </p:txBody>
      </p:sp>
      <p:sp>
        <p:nvSpPr>
          <p:cNvPr id="7" name="Critic 复核 候选不自动合并">
            <a:extLst xmlns:a="http://schemas.openxmlformats.org/drawingml/2006/main">
              <a:ext uri="{FF2B5EF4-FFF2-40B4-BE49-F238E27FC236}">
                <a16:creationId xmlns:a16="http://schemas.microsoft.com/office/drawing/2014/main" id="{2F211933-AEA9-47DC-8861-42F46DA5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14675"/>
            <a:ext cx="24098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复核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候选不自动合并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5DF75-5169-4F93-A1F2-FA6A3529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6230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04081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漏洞实体 → 九维富化画像">
            <a:extLst xmlns:a="http://schemas.openxmlformats.org/drawingml/2006/main">
              <a:ext uri="{FF2B5EF4-FFF2-40B4-BE49-F238E27FC236}">
                <a16:creationId xmlns:a16="http://schemas.microsoft.com/office/drawing/2014/main" id="{49132389-1779-479A-82F1-758FEE1A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3825"/>
            <a:ext cx="3524250" cy="3714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漏洞实体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→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九维富化画像</a:t>
            </a:r>
          </a:p>
        </p:txBody>
      </p:sp>
      <p:sp>
        <p:nvSpPr>
          <p:cNvPr id="2" name="CVSS NVD / GHSA，保留分歧">
            <a:extLst xmlns:a="http://schemas.openxmlformats.org/drawingml/2006/main">
              <a:ext uri="{FF2B5EF4-FFF2-40B4-BE49-F238E27FC236}">
                <a16:creationId xmlns:a16="http://schemas.microsoft.com/office/drawing/2014/main" id="{D865F1DB-C22F-4C6D-AF17-55187F7F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5247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CVSS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NVD / GHSA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，保留分歧</a:t>
            </a:r>
          </a:p>
        </p:txBody>
      </p:sp>
      <p:sp>
        <p:nvSpPr>
          <p:cNvPr id="3" name="EPSS FIRST，每日更新">
            <a:extLst xmlns:a="http://schemas.openxmlformats.org/drawingml/2006/main">
              <a:ext uri="{FF2B5EF4-FFF2-40B4-BE49-F238E27FC236}">
                <a16:creationId xmlns:a16="http://schemas.microsoft.com/office/drawing/2014/main" id="{9F7ED6FD-1FB4-4867-A24E-A0889DDE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5247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EPSS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FIRST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，每日更新</a:t>
            </a:r>
          </a:p>
        </p:txBody>
      </p:sp>
      <p:sp>
        <p:nvSpPr>
          <p:cNvPr id="4" name="KEV 仅 KEV 置位">
            <a:extLst xmlns:a="http://schemas.openxmlformats.org/drawingml/2006/main">
              <a:ext uri="{FF2B5EF4-FFF2-40B4-BE49-F238E27FC236}">
                <a16:creationId xmlns:a16="http://schemas.microsoft.com/office/drawing/2014/main" id="{2604BB62-5FE1-4FAE-840F-EC24B04B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5247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KEV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仅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KEV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置位</a:t>
            </a:r>
          </a:p>
        </p:txBody>
      </p:sp>
      <p:sp>
        <p:nvSpPr>
          <p:cNvPr id="5" name="CWE 来源字段与规则">
            <a:extLst xmlns:a="http://schemas.openxmlformats.org/drawingml/2006/main">
              <a:ext uri="{FF2B5EF4-FFF2-40B4-BE49-F238E27FC236}">
                <a16:creationId xmlns:a16="http://schemas.microsoft.com/office/drawing/2014/main" id="{B8884C9F-35EF-4406-94EE-AD9216DE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19250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CWE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来源字段与规则</a:t>
            </a:r>
          </a:p>
        </p:txBody>
      </p:sp>
      <p:sp>
        <p:nvSpPr>
          <p:cNvPr id="6" name="ATLAS 规则召回 + LLM">
            <a:extLst xmlns:a="http://schemas.openxmlformats.org/drawingml/2006/main">
              <a:ext uri="{FF2B5EF4-FFF2-40B4-BE49-F238E27FC236}">
                <a16:creationId xmlns:a16="http://schemas.microsoft.com/office/drawing/2014/main" id="{B9EAB598-162B-481F-A09E-0EFA6B9B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619250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ATLAS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规则召回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+ LLM</a:t>
            </a:r>
          </a:p>
        </p:txBody>
      </p:sp>
      <p:sp>
        <p:nvSpPr>
          <p:cNvPr id="7" name="受影响与修复版本 OSV 区间语义">
            <a:extLst xmlns:a="http://schemas.openxmlformats.org/drawingml/2006/main">
              <a:ext uri="{FF2B5EF4-FFF2-40B4-BE49-F238E27FC236}">
                <a16:creationId xmlns:a16="http://schemas.microsoft.com/office/drawing/2014/main" id="{38375B24-40EF-42A4-8625-31CA1201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19250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受影响与修复版本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OSV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区间语义</a:t>
            </a:r>
          </a:p>
        </p:txBody>
      </p:sp>
      <p:sp>
        <p:nvSpPr>
          <p:cNvPr id="8" name="论文与文章 嵌入 + 组件共现">
            <a:extLst xmlns:a="http://schemas.openxmlformats.org/drawingml/2006/main">
              <a:ext uri="{FF2B5EF4-FFF2-40B4-BE49-F238E27FC236}">
                <a16:creationId xmlns:a16="http://schemas.microsoft.com/office/drawing/2014/main" id="{85C93974-C582-42A0-8B1D-7284F35B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8602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论文与文章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嵌入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组件共现</a:t>
            </a:r>
          </a:p>
        </p:txBody>
      </p:sp>
      <p:sp>
        <p:nvSpPr>
          <p:cNvPr id="9" name="PoC 存在性 仅链接与标题">
            <a:extLst xmlns:a="http://schemas.openxmlformats.org/drawingml/2006/main">
              <a:ext uri="{FF2B5EF4-FFF2-40B4-BE49-F238E27FC236}">
                <a16:creationId xmlns:a16="http://schemas.microsoft.com/office/drawing/2014/main" id="{0D856948-0471-4FAF-B227-B60454A8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48602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PoC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存在性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仅链接与标题</a:t>
            </a:r>
          </a:p>
        </p:txBody>
      </p:sp>
      <p:sp>
        <p:nvSpPr>
          <p:cNvPr id="10" name="公网暴露面 仅聚合计数">
            <a:extLst xmlns:a="http://schemas.openxmlformats.org/drawingml/2006/main">
              <a:ext uri="{FF2B5EF4-FFF2-40B4-BE49-F238E27FC236}">
                <a16:creationId xmlns:a16="http://schemas.microsoft.com/office/drawing/2014/main" id="{7782BF98-FEDA-4189-9F68-E741DB1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8602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公网暴露面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仅聚合计数</a:t>
            </a:r>
          </a:p>
        </p:txBody>
      </p:sp>
      <p:sp>
        <p:nvSpPr>
          <p:cNvPr id="11" name="规则 / 确定性：深蓝；弱关联须 Critic：灰紫；合规约束：青灰">
            <a:extLst xmlns:a="http://schemas.openxmlformats.org/drawingml/2006/main">
              <a:ext uri="{FF2B5EF4-FFF2-40B4-BE49-F238E27FC236}">
                <a16:creationId xmlns:a16="http://schemas.microsoft.com/office/drawing/2014/main" id="{2C9C0F5C-396C-442D-988C-2025749E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规则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确定性：深蓝；弱关联须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Critic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：灰紫；合规约束：青灰</a:t>
            </a:r>
          </a:p>
        </p:txBody>
      </p:sp>
    </p:spTree>
    <p:extLst>
      <p:ext uri="{BB962C8B-B14F-4D97-AF65-F5344CB8AC3E}">
        <p14:creationId xmlns:p14="http://schemas.microsoft.com/office/powerpoint/2010/main" val="20294666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E7B2D-20F7-4564-8114-5420FE51F053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1905000" y="183832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6AF27-4666-48B9-8871-2C38052058A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1905000" y="85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8" name="宽口径 823 690 仅作上限参考">
            <a:extLst xmlns:a="http://schemas.openxmlformats.org/drawingml/2006/main">
              <a:ext uri="{FF2B5EF4-FFF2-40B4-BE49-F238E27FC236}">
                <a16:creationId xmlns:a16="http://schemas.microsoft.com/office/drawing/2014/main" id="{D346E52F-8E7F-45B9-84EB-F4054501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81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宽口径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823 690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仅作上限参考</a:t>
            </a:r>
          </a:p>
        </p:txBody>
      </p:sp>
      <p:sp>
        <p:nvSpPr>
          <p:cNvPr id="2" name="收窄全球 172 411 端口 + 响应特征">
            <a:extLst xmlns:a="http://schemas.openxmlformats.org/drawingml/2006/main">
              <a:ext uri="{FF2B5EF4-FFF2-40B4-BE49-F238E27FC236}">
                <a16:creationId xmlns:a16="http://schemas.microsoft.com/office/drawing/2014/main" id="{C655547C-C501-492A-B89B-8304B5D2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276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收窄全球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172 411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端口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响应特征</a:t>
            </a:r>
          </a:p>
        </p:txBody>
      </p:sp>
      <p:sp>
        <p:nvSpPr>
          <p:cNvPr id="3" name="国内 51 612 按平台国家字段">
            <a:extLst xmlns:a="http://schemas.openxmlformats.org/drawingml/2006/main">
              <a:ext uri="{FF2B5EF4-FFF2-40B4-BE49-F238E27FC236}">
                <a16:creationId xmlns:a16="http://schemas.microsoft.com/office/drawing/2014/main" id="{D2183387-1764-4C35-AC03-04CF2C75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228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国内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51 612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按平台国家字段</a:t>
            </a:r>
          </a:p>
        </p:txBody>
      </p:sp>
      <p:sp>
        <p:nvSpPr>
          <p:cNvPr id="6" name="元数据抽样 44 / 50 命中 精确率 88% ≥80% verified">
            <a:extLst xmlns:a="http://schemas.openxmlformats.org/drawingml/2006/main">
              <a:ext uri="{FF2B5EF4-FFF2-40B4-BE49-F238E27FC236}">
                <a16:creationId xmlns:a16="http://schemas.microsoft.com/office/drawing/2014/main" id="{28231497-0E95-41D2-947B-02742BF9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019175"/>
            <a:ext cx="1743075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元数据抽样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44 / 50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精确率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88% ≥80%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verified</a:t>
            </a:r>
          </a:p>
        </p:txBody>
      </p:sp>
      <p:sp>
        <p:nvSpPr>
          <p:cNvPr id="7" name="Quake，2026-10-15；仅计数，无资产明细 Talos / Shodan 文献对照为 1139 个，覆盖口径不同，不直接比较">
            <a:extLst xmlns:a="http://schemas.openxmlformats.org/drawingml/2006/main">
              <a:ext uri="{FF2B5EF4-FFF2-40B4-BE49-F238E27FC236}">
                <a16:creationId xmlns:a16="http://schemas.microsoft.com/office/drawing/2014/main" id="{71B01DEF-A99B-476D-9DF7-00340ED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70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Quake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，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2026-10-15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；仅计数，无资产明细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Talos / Shodan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文献对照为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1139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个，覆盖口径不同，不直接比较</a:t>
            </a:r>
          </a:p>
        </p:txBody>
      </p:sp>
    </p:spTree>
    <p:extLst>
      <p:ext uri="{BB962C8B-B14F-4D97-AF65-F5344CB8AC3E}">
        <p14:creationId xmlns:p14="http://schemas.microsoft.com/office/powerpoint/2010/main" val="2923447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2B2E0-1738-4E55-A1B3-86AFBDDC11F5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 flipV="1">
            <a:off x="1714500" y="1900238"/>
            <a:ext cx="400050" cy="428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FCEAD-E4EB-427E-90DA-068EA32B17C7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1714500" y="1943100"/>
            <a:ext cx="40005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95441-90BC-46EF-8BC2-F9B6AF149514}"/>
              </a:ext>
            </a:extLst>
          </p:cNvPr>
          <p:cNvCxnSpPr>
            <a:stCxn xmlns:a="http://schemas.openxmlformats.org/drawingml/2006/main" id="22" idx="4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00450" y="1943100"/>
            <a:ext cx="390525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66929-D3D3-4B44-80D2-2DD7D7075B13}"/>
              </a:ext>
            </a:extLst>
          </p:cNvPr>
          <p:cNvCxnSpPr>
            <a:stCxn xmlns:a="http://schemas.openxmlformats.org/drawingml/2006/main" id="22" idx="4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600450" y="1900238"/>
            <a:ext cx="390525" cy="42863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68917-628B-4610-88C5-9B7BCE123AB5}"/>
              </a:ext>
            </a:extLst>
          </p:cNvPr>
          <p:cNvCxnSpPr>
            <a:stCxn xmlns:a="http://schemas.openxmlformats.org/drawingml/2006/main" id="22" idx="4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600450" y="547688"/>
            <a:ext cx="390525" cy="13954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FE0AC-FFB4-4835-8A69-1CDFE1F13F88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1714500" y="547688"/>
            <a:ext cx="400050" cy="13954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2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F19176FC-D101-4C76-B033-B2D7DB1C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85925"/>
            <a:ext cx="1485900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Vulnerability</a:t>
            </a:r>
          </a:p>
        </p:txBody>
      </p:sp>
      <p:sp>
        <p:nvSpPr>
          <p:cNvPr id="2" name="Advisory">
            <a:extLst xmlns:a="http://schemas.openxmlformats.org/drawingml/2006/main">
              <a:ext uri="{FF2B5EF4-FFF2-40B4-BE49-F238E27FC236}">
                <a16:creationId xmlns:a16="http://schemas.microsoft.com/office/drawing/2014/main" id="{D722FE78-1E3D-48D8-85E2-ED63D9C3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33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4" name="DESCRIBES">
            <a:extLst xmlns:a="http://schemas.openxmlformats.org/drawingml/2006/main">
              <a:ext uri="{FF2B5EF4-FFF2-40B4-BE49-F238E27FC236}">
                <a16:creationId xmlns:a16="http://schemas.microsoft.com/office/drawing/2014/main" id="{BD95EC2B-6F54-4610-B59D-1600F0A0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DESCRIBES</a:t>
            </a:r>
          </a:p>
        </p:txBody>
      </p:sp>
      <p:sp>
        <p:nvSpPr>
          <p:cNvPr id="5" name="Component">
            <a:extLst xmlns:a="http://schemas.openxmlformats.org/drawingml/2006/main">
              <a:ext uri="{FF2B5EF4-FFF2-40B4-BE49-F238E27FC236}">
                <a16:creationId xmlns:a16="http://schemas.microsoft.com/office/drawing/2014/main" id="{6301725F-10CA-46B8-BECD-10328D2E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33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</p:txBody>
      </p:sp>
      <p:sp>
        <p:nvSpPr>
          <p:cNvPr id="7" name="AFFECTS">
            <a:extLst xmlns:a="http://schemas.openxmlformats.org/drawingml/2006/main">
              <a:ext uri="{FF2B5EF4-FFF2-40B4-BE49-F238E27FC236}">
                <a16:creationId xmlns:a16="http://schemas.microsoft.com/office/drawing/2014/main" id="{C995A097-DAA7-4280-BD43-EE0B3C88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952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AFFECTS</a:t>
            </a:r>
          </a:p>
        </p:txBody>
      </p:sp>
      <p:sp>
        <p:nvSpPr>
          <p:cNvPr id="8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85000F14-DBFD-48A9-805A-1EDDEB52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6859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AtlasTechnique</a:t>
            </a:r>
          </a:p>
        </p:txBody>
      </p:sp>
      <p:sp>
        <p:nvSpPr>
          <p:cNvPr id="10" name="MAPS_TO">
            <a:extLst xmlns:a="http://schemas.openxmlformats.org/drawingml/2006/main">
              <a:ext uri="{FF2B5EF4-FFF2-40B4-BE49-F238E27FC236}">
                <a16:creationId xmlns:a16="http://schemas.microsoft.com/office/drawing/2014/main" id="{22E6C133-EAAF-4226-913B-FACD1F27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MAPS_TO</a:t>
            </a:r>
          </a:p>
        </p:txBody>
      </p:sp>
      <p:sp>
        <p:nvSpPr>
          <p:cNvPr id="11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123D86BB-718A-4A87-AED4-75B9CBBB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0480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Paper / Article</a:t>
            </a:r>
          </a:p>
        </p:txBody>
      </p:sp>
      <p:sp>
        <p:nvSpPr>
          <p:cNvPr id="13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0758DE0D-0FB1-4EB8-BB6F-CF543B86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336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DISCUSSED_IN</a:t>
            </a:r>
          </a:p>
        </p:txBody>
      </p:sp>
      <p:sp>
        <p:nvSpPr>
          <p:cNvPr id="14" name="PocRef">
            <a:extLst xmlns:a="http://schemas.openxmlformats.org/drawingml/2006/main">
              <a:ext uri="{FF2B5EF4-FFF2-40B4-BE49-F238E27FC236}">
                <a16:creationId xmlns:a16="http://schemas.microsoft.com/office/drawing/2014/main" id="{01D16D2B-B9B5-4511-9136-670272CD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PocRef</a:t>
            </a:r>
          </a:p>
        </p:txBody>
      </p:sp>
      <p:sp>
        <p:nvSpPr>
          <p:cNvPr id="16" name="HAS_POC_REF">
            <a:extLst xmlns:a="http://schemas.openxmlformats.org/drawingml/2006/main">
              <a:ext uri="{FF2B5EF4-FFF2-40B4-BE49-F238E27FC236}">
                <a16:creationId xmlns:a16="http://schemas.microsoft.com/office/drawing/2014/main" id="{2DBB0D92-E743-48C2-990C-827055B0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HAS_POC_REF</a:t>
            </a:r>
          </a:p>
        </p:txBody>
      </p:sp>
      <p:sp>
        <p:nvSpPr>
          <p:cNvPr id="17" name="CWE">
            <a:extLst xmlns:a="http://schemas.openxmlformats.org/drawingml/2006/main">
              <a:ext uri="{FF2B5EF4-FFF2-40B4-BE49-F238E27FC236}">
                <a16:creationId xmlns:a16="http://schemas.microsoft.com/office/drawing/2014/main" id="{D0D0C225-ACC6-4AB7-8052-D5EC48EB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859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CWE</a:t>
            </a:r>
          </a:p>
        </p:txBody>
      </p:sp>
      <p:sp>
        <p:nvSpPr>
          <p:cNvPr id="19" name="HAS_CWE">
            <a:extLst xmlns:a="http://schemas.openxmlformats.org/drawingml/2006/main">
              <a:ext uri="{FF2B5EF4-FFF2-40B4-BE49-F238E27FC236}">
                <a16:creationId xmlns:a16="http://schemas.microsoft.com/office/drawing/2014/main" id="{EDA33F2B-72B3-4E3C-A478-899E1888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HAS_CWE</a:t>
            </a:r>
          </a:p>
        </p:txBody>
      </p:sp>
      <p:sp>
        <p:nvSpPr>
          <p:cNvPr id="20" name="规则理由：aliases 含 CVE 弱关联：摘要相似 + 组件共现">
            <a:extLst xmlns:a="http://schemas.openxmlformats.org/drawingml/2006/main">
              <a:ext uri="{FF2B5EF4-FFF2-40B4-BE49-F238E27FC236}">
                <a16:creationId xmlns:a16="http://schemas.microsoft.com/office/drawing/2014/main" id="{40915F4C-BD44-46E0-A580-73DBC09F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0975"/>
            <a:ext cx="2105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规则理由：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aliases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含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CVE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弱关联：摘要相似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组件共现</a:t>
            </a:r>
          </a:p>
        </p:txBody>
      </p:sp>
      <p:sp>
        <p:nvSpPr>
          <p:cNvPr id="21" name="处置关联：修复 + 缓解模板 版本求解：清单 × 影响区间">
            <a:extLst xmlns:a="http://schemas.openxmlformats.org/drawingml/2006/main">
              <a:ext uri="{FF2B5EF4-FFF2-40B4-BE49-F238E27FC236}">
                <a16:creationId xmlns:a16="http://schemas.microsoft.com/office/drawing/2014/main" id="{9A4D97D5-730A-4985-AA5B-557313D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623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处置关联：修复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缓解模板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版本求解：清单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×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影响区间</a:t>
            </a:r>
          </a:p>
        </p:txBody>
      </p:sp>
    </p:spTree>
    <p:extLst>
      <p:ext uri="{BB962C8B-B14F-4D97-AF65-F5344CB8AC3E}">
        <p14:creationId xmlns:p14="http://schemas.microsoft.com/office/powerpoint/2010/main" val="11633245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39408-0BC6-41B8-9354-E93A8A1B801F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4210050" y="2428875"/>
            <a:ext cx="444500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C1712-8520-4585-ADBB-1E241F4C4FF0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2667000" y="2209800"/>
            <a:ext cx="1165225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70711-83E2-41C0-BC69-502FE9356AAB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882775" y="1090613"/>
            <a:ext cx="2398713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FFA9C-623C-4499-ACBC-A135942D51E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79825" y="22098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3654C-DAFC-4D32-AE93-15316D66220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882775" y="22098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79EC0-634C-4501-AB29-90977D3D6052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1433513" y="280988"/>
            <a:ext cx="614362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166A1-2AF7-4D7D-87D8-5B33DDE6732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29088" y="10906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9DCAB-E411-4B0D-85F8-51B75AA4D53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81301" y="1090613"/>
            <a:ext cx="15239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92E3E-4914-4464-866F-44A72F1C1727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433513" y="10906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2" name="字段候选">
            <a:extLst xmlns:a="http://schemas.openxmlformats.org/drawingml/2006/main">
              <a:ext uri="{FF2B5EF4-FFF2-40B4-BE49-F238E27FC236}">
                <a16:creationId xmlns:a16="http://schemas.microsoft.com/office/drawing/2014/main" id="{EA5C2005-E165-4F12-8595-F9F5B3D0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1430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字段候选</a:t>
            </a:r>
          </a:p>
        </p:txBody>
      </p:sp>
      <p:sp>
        <p:nvSpPr>
          <p:cNvPr id="2" name="KEV 专属">
            <a:extLst xmlns:a="http://schemas.openxmlformats.org/drawingml/2006/main">
              <a:ext uri="{FF2B5EF4-FFF2-40B4-BE49-F238E27FC236}">
                <a16:creationId xmlns:a16="http://schemas.microsoft.com/office/drawing/2014/main" id="{664F4648-B292-4968-838E-813D8293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81050"/>
            <a:ext cx="1195388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KEV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专属</a:t>
            </a:r>
          </a:p>
        </p:txBody>
      </p:sp>
      <p:sp>
        <p:nvSpPr>
          <p:cNvPr id="3" name="一级撤回">
            <a:extLst xmlns:a="http://schemas.openxmlformats.org/drawingml/2006/main">
              <a:ext uri="{FF2B5EF4-FFF2-40B4-BE49-F238E27FC236}">
                <a16:creationId xmlns:a16="http://schemas.microsoft.com/office/drawing/2014/main" id="{B67784DA-8DD8-4DEF-AFCF-FEB27835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781050"/>
            <a:ext cx="1195388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一级撤回</a:t>
            </a:r>
          </a:p>
        </p:txBody>
      </p:sp>
      <p:sp>
        <p:nvSpPr>
          <p:cNvPr id="4" name="区间互斥">
            <a:extLst xmlns:a="http://schemas.openxmlformats.org/drawingml/2006/main">
              <a:ext uri="{FF2B5EF4-FFF2-40B4-BE49-F238E27FC236}">
                <a16:creationId xmlns:a16="http://schemas.microsoft.com/office/drawing/2014/main" id="{8EA08D0E-D435-4895-AF36-E8DBFD2C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81050"/>
            <a:ext cx="1195388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区间互斥</a:t>
            </a:r>
          </a:p>
        </p:txBody>
      </p:sp>
      <p:sp>
        <p:nvSpPr>
          <p:cNvPr id="5" name="双 CVE">
            <a:extLst xmlns:a="http://schemas.openxmlformats.org/drawingml/2006/main">
              <a:ext uri="{FF2B5EF4-FFF2-40B4-BE49-F238E27FC236}">
                <a16:creationId xmlns:a16="http://schemas.microsoft.com/office/drawing/2014/main" id="{31B9A175-FC70-4264-B720-79CDCA2C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781050"/>
            <a:ext cx="1195388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双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CVE</a:t>
            </a:r>
          </a:p>
        </p:txBody>
      </p:sp>
      <p:sp>
        <p:nvSpPr>
          <p:cNvPr id="10" name="先处理特例：并集、撤回、保留候选">
            <a:extLst xmlns:a="http://schemas.openxmlformats.org/drawingml/2006/main">
              <a:ext uri="{FF2B5EF4-FFF2-40B4-BE49-F238E27FC236}">
                <a16:creationId xmlns:a16="http://schemas.microsoft.com/office/drawing/2014/main" id="{F7C4948E-F433-4B6B-9461-DC159F32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先处理特例：并集、撤回、保留候选</a:t>
            </a:r>
          </a:p>
        </p:txBody>
      </p:sp>
      <p:sp>
        <p:nvSpPr>
          <p:cNvPr id="11" name="可信度等级">
            <a:extLst xmlns:a="http://schemas.openxmlformats.org/drawingml/2006/main">
              <a:ext uri="{FF2B5EF4-FFF2-40B4-BE49-F238E27FC236}">
                <a16:creationId xmlns:a16="http://schemas.microsoft.com/office/drawing/2014/main" id="{31A6384B-8FED-4C46-952C-D2577113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907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可信度等级</a:t>
            </a:r>
          </a:p>
        </p:txBody>
      </p:sp>
      <p:sp>
        <p:nvSpPr>
          <p:cNvPr id="12" name="置信度">
            <a:extLst xmlns:a="http://schemas.openxmlformats.org/drawingml/2006/main">
              <a:ext uri="{FF2B5EF4-FFF2-40B4-BE49-F238E27FC236}">
                <a16:creationId xmlns:a16="http://schemas.microsoft.com/office/drawing/2014/main" id="{A24899BF-2EFC-4C3A-86F7-08A38A7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9907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置信度</a:t>
            </a:r>
          </a:p>
        </p:txBody>
      </p:sp>
      <p:sp>
        <p:nvSpPr>
          <p:cNvPr id="13" name="更新时间">
            <a:extLst xmlns:a="http://schemas.openxmlformats.org/drawingml/2006/main">
              <a:ext uri="{FF2B5EF4-FFF2-40B4-BE49-F238E27FC236}">
                <a16:creationId xmlns:a16="http://schemas.microsoft.com/office/drawing/2014/main" id="{B40FAA93-97BD-4387-9672-A0DB78A9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19907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更新时间</a:t>
            </a:r>
          </a:p>
        </p:txBody>
      </p:sp>
      <p:sp>
        <p:nvSpPr>
          <p:cNvPr id="17" name="主值 + provenance">
            <a:extLst xmlns:a="http://schemas.openxmlformats.org/drawingml/2006/main">
              <a:ext uri="{FF2B5EF4-FFF2-40B4-BE49-F238E27FC236}">
                <a16:creationId xmlns:a16="http://schemas.microsoft.com/office/drawing/2014/main" id="{DA5FD1CE-9A96-4A3D-BFA5-C67F0520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337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主值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+ provenance</a:t>
            </a:r>
          </a:p>
        </p:txBody>
      </p:sp>
      <p:sp>
        <p:nvSpPr>
          <p:cNvPr id="18" name="落选值 → conflicts[]">
            <a:extLst xmlns:a="http://schemas.openxmlformats.org/drawingml/2006/main">
              <a:ext uri="{FF2B5EF4-FFF2-40B4-BE49-F238E27FC236}">
                <a16:creationId xmlns:a16="http://schemas.microsoft.com/office/drawing/2014/main" id="{D007BED5-D37D-491C-8515-2BBBBDB6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落选值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→ conflicts[]</a:t>
            </a:r>
          </a:p>
        </p:txBody>
      </p:sp>
      <p:sp>
        <p:nvSpPr>
          <p:cNvPr id="21" name="CVSS 10.0 与 9.8 均保留；主值选择不抹去分歧">
            <a:extLst xmlns:a="http://schemas.openxmlformats.org/drawingml/2006/main">
              <a:ext uri="{FF2B5EF4-FFF2-40B4-BE49-F238E27FC236}">
                <a16:creationId xmlns:a16="http://schemas.microsoft.com/office/drawing/2014/main" id="{42387B59-5182-4C79-8D8A-FCA30FB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CVSS 10.0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与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9.8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均保留；主值选择不抹去分歧</a:t>
            </a:r>
          </a:p>
        </p:txBody>
      </p:sp>
    </p:spTree>
    <p:extLst>
      <p:ext uri="{BB962C8B-B14F-4D97-AF65-F5344CB8AC3E}">
        <p14:creationId xmlns:p14="http://schemas.microsoft.com/office/powerpoint/2010/main" val="19903883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B3A75-EBFE-4C1A-BB5B-CF20E029CD2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654550" y="2381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D382A-6D50-4463-A910-5EF4D1576FD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857500" y="2381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6A219-AFD5-46D0-8958-39178A572C9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60450" y="2381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C0328-7860-4DB5-9650-6B6E57F64BCA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654550" y="762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D795D-24E8-453C-A7D7-D79BA2EB691B}"/>
              </a:ext>
            </a:extLst>
          </p:cNvPr>
          <p:cNvCxnSpPr>
            <a:stCxn xmlns:a="http://schemas.openxmlformats.org/drawingml/2006/main" id="3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679825" y="523875"/>
            <a:ext cx="152400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65381-CAC9-4DD3-8566-D002A1638069}"/>
              </a:ext>
            </a:extLst>
          </p:cNvPr>
          <p:cNvCxnSpPr>
            <a:stCxn xmlns:a="http://schemas.openxmlformats.org/drawingml/2006/main" id="3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882775" y="523875"/>
            <a:ext cx="1949450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A0F37-0D34-40ED-ABB2-645DD334545C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679825" y="5238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D6D1B-2263-441B-BD4A-3104396A7D39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882775" y="5238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3" name="依赖文件 / 清单">
            <a:extLst xmlns:a="http://schemas.openxmlformats.org/drawingml/2006/main">
              <a:ext uri="{FF2B5EF4-FFF2-40B4-BE49-F238E27FC236}">
                <a16:creationId xmlns:a16="http://schemas.microsoft.com/office/drawing/2014/main" id="{19AD8ADF-A917-4E6F-B686-68653DCE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85750"/>
            <a:ext cx="1644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依赖文件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清单</a:t>
            </a:r>
          </a:p>
        </p:txBody>
      </p:sp>
      <p:sp>
        <p:nvSpPr>
          <p:cNvPr id="2" name="purl 与生态">
            <a:extLst xmlns:a="http://schemas.openxmlformats.org/drawingml/2006/main">
              <a:ext uri="{FF2B5EF4-FFF2-40B4-BE49-F238E27FC236}">
                <a16:creationId xmlns:a16="http://schemas.microsoft.com/office/drawing/2014/main" id="{8D4A7B31-294B-4BB9-A0F8-712D59F2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285750"/>
            <a:ext cx="1644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purl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与生态</a:t>
            </a:r>
          </a:p>
        </p:txBody>
      </p:sp>
      <p:sp>
        <p:nvSpPr>
          <p:cNvPr id="3" name="OSV 区间求解">
            <a:extLst xmlns:a="http://schemas.openxmlformats.org/drawingml/2006/main">
              <a:ext uri="{FF2B5EF4-FFF2-40B4-BE49-F238E27FC236}">
                <a16:creationId xmlns:a16="http://schemas.microsoft.com/office/drawing/2014/main" id="{9AA072C2-8722-443F-A76B-254A8ABB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285750"/>
            <a:ext cx="1644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OSV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区间求解</a:t>
            </a:r>
          </a:p>
        </p:txBody>
      </p:sp>
      <p:sp>
        <p:nvSpPr>
          <p:cNvPr id="6" name="introduced / fixed / last_affected / limit">
            <a:extLst xmlns:a="http://schemas.openxmlformats.org/drawingml/2006/main">
              <a:ext uri="{FF2B5EF4-FFF2-40B4-BE49-F238E27FC236}">
                <a16:creationId xmlns:a16="http://schemas.microsoft.com/office/drawing/2014/main" id="{BE95EA27-C372-4885-9A20-F1BCA365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382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introduced / fixed / last_affected / limit</a:t>
            </a:r>
          </a:p>
        </p:txBody>
      </p:sp>
      <p:sp>
        <p:nvSpPr>
          <p:cNvPr id="7" name="受影响">
            <a:extLst xmlns:a="http://schemas.openxmlformats.org/drawingml/2006/main">
              <a:ext uri="{FF2B5EF4-FFF2-40B4-BE49-F238E27FC236}">
                <a16:creationId xmlns:a16="http://schemas.microsoft.com/office/drawing/2014/main" id="{33308EA9-0EA4-4460-97F4-2DF20D81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09750"/>
            <a:ext cx="1644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受影响</a:t>
            </a:r>
          </a:p>
        </p:txBody>
      </p:sp>
      <p:sp>
        <p:nvSpPr>
          <p:cNvPr id="8" name="未发现已知影响">
            <a:extLst xmlns:a="http://schemas.openxmlformats.org/drawingml/2006/main">
              <a:ext uri="{FF2B5EF4-FFF2-40B4-BE49-F238E27FC236}">
                <a16:creationId xmlns:a16="http://schemas.microsoft.com/office/drawing/2014/main" id="{CCEBB2FF-4C26-4194-84D7-8693E6E0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809750"/>
            <a:ext cx="1644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未发现已知影响</a:t>
            </a:r>
          </a:p>
        </p:txBody>
      </p:sp>
      <p:sp>
        <p:nvSpPr>
          <p:cNvPr id="9" name="组件未收录">
            <a:extLst xmlns:a="http://schemas.openxmlformats.org/drawingml/2006/main">
              <a:ext uri="{FF2B5EF4-FFF2-40B4-BE49-F238E27FC236}">
                <a16:creationId xmlns:a16="http://schemas.microsoft.com/office/drawing/2014/main" id="{18386D04-D8F5-462A-8B21-76A6AB58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1809750"/>
            <a:ext cx="1644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组件未收录</a:t>
            </a:r>
          </a:p>
        </p:txBody>
      </p:sp>
      <p:sp>
        <p:nvSpPr>
          <p:cNvPr id="13" name="Web 自查页">
            <a:extLst xmlns:a="http://schemas.openxmlformats.org/drawingml/2006/main">
              <a:ext uri="{FF2B5EF4-FFF2-40B4-BE49-F238E27FC236}">
                <a16:creationId xmlns:a16="http://schemas.microsoft.com/office/drawing/2014/main" id="{15F1FCE3-23B8-423B-899D-6580275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051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Web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自查页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48C77-AC30-418D-A1EF-AC874420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933700"/>
            <a:ext cx="158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5" name="check_stack">
            <a:extLst xmlns:a="http://schemas.openxmlformats.org/drawingml/2006/main">
              <a:ext uri="{FF2B5EF4-FFF2-40B4-BE49-F238E27FC236}">
                <a16:creationId xmlns:a16="http://schemas.microsoft.com/office/drawing/2014/main" id="{FE31E316-E6EB-494A-930B-A5F0320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29051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check_stack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FB313-532F-4C35-AA17-87E8E7FB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2933700"/>
            <a:ext cx="158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7" name="shaowang check">
            <a:extLst xmlns:a="http://schemas.openxmlformats.org/drawingml/2006/main">
              <a:ext uri="{FF2B5EF4-FFF2-40B4-BE49-F238E27FC236}">
                <a16:creationId xmlns:a16="http://schemas.microsoft.com/office/drawing/2014/main" id="{1EC2F47E-63AD-4070-8400-C5A57B8B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29051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shaowang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71CA0-DA53-4229-AB08-3E9A7E82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800" y="2933700"/>
            <a:ext cx="158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22" name="区间有分歧时提示；高危退出码 1 可接 CI；未知不等于安全">
            <a:extLst xmlns:a="http://schemas.openxmlformats.org/drawingml/2006/main">
              <a:ext uri="{FF2B5EF4-FFF2-40B4-BE49-F238E27FC236}">
                <a16:creationId xmlns:a16="http://schemas.microsoft.com/office/drawing/2014/main" id="{BAF3C318-C533-4CEE-8298-DD8B8CC0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区间有分歧时提示；高危退出码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可接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CI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；未知不等于安全</a:t>
            </a:r>
          </a:p>
        </p:txBody>
      </p:sp>
    </p:spTree>
    <p:extLst>
      <p:ext uri="{BB962C8B-B14F-4D97-AF65-F5344CB8AC3E}">
        <p14:creationId xmlns:p14="http://schemas.microsoft.com/office/powerpoint/2010/main" val="8999133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15747-FFB6-46EF-9477-CD7BE9573B45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H="1" flipV="1">
            <a:off x="714375" y="2009775"/>
            <a:ext cx="1285875" cy="1057275"/>
          </a:xfrm>
          <a:prstGeom xmlns:a="http://schemas.openxmlformats.org/drawingml/2006/main" prst="bentConnector2">
            <a:avLst/>
          </a:prstGeom>
          <a:ln xmlns:a="http://schemas.openxmlformats.org/drawingml/2006/main" w="12668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484B4-1843-4344-BE8B-8FE838A3026C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3238500" y="30670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3E0D6-798D-40BD-9D70-ECF57452B8BB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738688" y="2009775"/>
            <a:ext cx="23812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08B60-3B8E-4D8E-BB65-4A59441B831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17430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3678D-A1A4-472B-B06F-8B328A61924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800350" y="1743075"/>
            <a:ext cx="3429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19E0B-39E4-4FF6-BA18-7E31A2C347A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800350" y="1743075"/>
            <a:ext cx="3429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8F8C7-90B3-4423-A2D6-FAF4F3376E3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00350" y="771525"/>
            <a:ext cx="3429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89FE5-2FEC-49F1-B44A-B20D282FFDC0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238250" y="1743075"/>
            <a:ext cx="3238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F3D56-2034-455D-861B-65ADE74978D5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238250" y="1743075"/>
            <a:ext cx="3238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4F4D6-F760-46C0-A119-D9E1D6FB8883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1238250" y="771525"/>
            <a:ext cx="3238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4" name="问题与规划器">
            <a:extLst xmlns:a="http://schemas.openxmlformats.org/drawingml/2006/main">
              <a:ext uri="{FF2B5EF4-FFF2-40B4-BE49-F238E27FC236}">
                <a16:creationId xmlns:a16="http://schemas.microsoft.com/office/drawing/2014/main" id="{0E70A432-4760-40BA-9EDC-EF6B6FE7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76375"/>
            <a:ext cx="1047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问题与规划器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73317-D661-4953-80B2-38F400A4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52400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3" name="BM25">
            <a:extLst xmlns:a="http://schemas.openxmlformats.org/drawingml/2006/main">
              <a:ext uri="{FF2B5EF4-FFF2-40B4-BE49-F238E27FC236}">
                <a16:creationId xmlns:a16="http://schemas.microsoft.com/office/drawing/2014/main" id="{1A24E0AE-28C7-4950-B62E-B63B7854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29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BM25</a:t>
            </a:r>
          </a:p>
        </p:txBody>
      </p:sp>
      <p:sp>
        <p:nvSpPr>
          <p:cNvPr id="4" name="向量 top-50">
            <a:extLst xmlns:a="http://schemas.openxmlformats.org/drawingml/2006/main">
              <a:ext uri="{FF2B5EF4-FFF2-40B4-BE49-F238E27FC236}">
                <a16:creationId xmlns:a16="http://schemas.microsoft.com/office/drawing/2014/main" id="{02904C50-C316-4A1C-8514-E3D27982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430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向量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top-50</a:t>
            </a:r>
          </a:p>
        </p:txBody>
      </p:sp>
      <p:sp>
        <p:nvSpPr>
          <p:cNvPr id="5" name="图扩展 1–2 跳">
            <a:extLst xmlns:a="http://schemas.openxmlformats.org/drawingml/2006/main">
              <a:ext uri="{FF2B5EF4-FFF2-40B4-BE49-F238E27FC236}">
                <a16:creationId xmlns:a16="http://schemas.microsoft.com/office/drawing/2014/main" id="{6E9DD952-A2A8-4471-9D33-435917BF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4317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图扩展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1–2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跳</a:t>
            </a:r>
          </a:p>
        </p:txBody>
      </p:sp>
      <p:sp>
        <p:nvSpPr>
          <p:cNvPr id="9" name="RRF k=60">
            <a:extLst xmlns:a="http://schemas.openxmlformats.org/drawingml/2006/main">
              <a:ext uri="{FF2B5EF4-FFF2-40B4-BE49-F238E27FC236}">
                <a16:creationId xmlns:a16="http://schemas.microsoft.com/office/drawing/2014/main" id="{09F5DF62-691C-4855-BBAB-13643695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RRF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k=60</a:t>
            </a:r>
          </a:p>
        </p:txBody>
      </p:sp>
      <p:sp>
        <p:nvSpPr>
          <p:cNvPr id="13" name="前 50 重排 8–12 证据块">
            <a:extLst xmlns:a="http://schemas.openxmlformats.org/drawingml/2006/main">
              <a:ext uri="{FF2B5EF4-FFF2-40B4-BE49-F238E27FC236}">
                <a16:creationId xmlns:a16="http://schemas.microsoft.com/office/drawing/2014/main" id="{D239BB8B-4E66-489C-B484-6FF910B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1095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前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50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重排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8–12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证据块</a:t>
            </a:r>
          </a:p>
        </p:txBody>
      </p:sp>
      <p:sp>
        <p:nvSpPr>
          <p:cNvPr id="15" name="生成并逐句引用">
            <a:extLst xmlns:a="http://schemas.openxmlformats.org/drawingml/2006/main">
              <a:ext uri="{FF2B5EF4-FFF2-40B4-BE49-F238E27FC236}">
                <a16:creationId xmlns:a16="http://schemas.microsoft.com/office/drawing/2014/main" id="{61BEF366-BD57-4700-8B73-50E55347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47975"/>
            <a:ext cx="1571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生成并逐句引用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74283-BF54-402A-990B-AC504B90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956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8" name="Critic">
            <a:extLst xmlns:a="http://schemas.openxmlformats.org/drawingml/2006/main">
              <a:ext uri="{FF2B5EF4-FFF2-40B4-BE49-F238E27FC236}">
                <a16:creationId xmlns:a16="http://schemas.microsoft.com/office/drawing/2014/main" id="{DC032EF1-AF7C-44F1-9ACA-3E60EC5A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848A4-9B3B-4BF4-97F7-FAA8F3B5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956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22" name="fail 重新规划">
            <a:extLst xmlns:a="http://schemas.openxmlformats.org/drawingml/2006/main">
              <a:ext uri="{FF2B5EF4-FFF2-40B4-BE49-F238E27FC236}">
                <a16:creationId xmlns:a16="http://schemas.microsoft.com/office/drawing/2014/main" id="{9790C91F-6D83-46BB-9537-47F3ACB1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895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fail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重新规划</a:t>
            </a:r>
          </a:p>
        </p:txBody>
      </p:sp>
      <p:sp>
        <p:nvSpPr>
          <p:cNvPr id="23" name="校验通过后返回答案；三路排名融合，不混加原始分数">
            <a:extLst xmlns:a="http://schemas.openxmlformats.org/drawingml/2006/main">
              <a:ext uri="{FF2B5EF4-FFF2-40B4-BE49-F238E27FC236}">
                <a16:creationId xmlns:a16="http://schemas.microsoft.com/office/drawing/2014/main" id="{0B7994F0-BBA4-444B-98E0-3DC31C33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校验通过后返回答案；三路排名融合，不混加原始分数</a:t>
            </a:r>
          </a:p>
        </p:txBody>
      </p:sp>
    </p:spTree>
    <p:extLst>
      <p:ext uri="{BB962C8B-B14F-4D97-AF65-F5344CB8AC3E}">
        <p14:creationId xmlns:p14="http://schemas.microsoft.com/office/powerpoint/2010/main" val="20480881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6C5A3-3F29-477E-924F-0670BCE205F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171950" y="165258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DFD0A-B823-4AE6-9C24-1024EBDEB69C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781300" y="165258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D09B9-3442-4DA0-9232-E0546E3A5D4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390650" y="165258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0" name="影响哪些漏洞 AFFECTS → vllm 图检索 / 命中 n">
            <a:extLst xmlns:a="http://schemas.openxmlformats.org/drawingml/2006/main">
              <a:ext uri="{FF2B5EF4-FFF2-40B4-BE49-F238E27FC236}">
                <a16:creationId xmlns:a16="http://schemas.microsoft.com/office/drawing/2014/main" id="{15CF4C36-F07A-4585-891A-3811D61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019175"/>
            <a:ext cx="1238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影响哪些漏洞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AFFECTS → vllm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图检索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</a:t>
            </a:r>
          </a:p>
        </p:txBody>
      </p:sp>
      <p:sp>
        <p:nvSpPr>
          <p:cNvPr id="2" name="是否有公开引用 HAS_POC_REF 图过滤 / 命中 n">
            <a:extLst xmlns:a="http://schemas.openxmlformats.org/drawingml/2006/main">
              <a:ext uri="{FF2B5EF4-FFF2-40B4-BE49-F238E27FC236}">
                <a16:creationId xmlns:a16="http://schemas.microsoft.com/office/drawing/2014/main" id="{836AB4F9-35EC-47D3-B2C1-23CED38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019175"/>
            <a:ext cx="1238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是否有公开引用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HAS_POC_REF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图过滤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</a:t>
            </a:r>
          </a:p>
        </p:txBody>
      </p:sp>
      <p:sp>
        <p:nvSpPr>
          <p:cNvPr id="3" name="是否在时间内 近 90 天 时间过滤 / 命中 n">
            <a:extLst xmlns:a="http://schemas.openxmlformats.org/drawingml/2006/main">
              <a:ext uri="{FF2B5EF4-FFF2-40B4-BE49-F238E27FC236}">
                <a16:creationId xmlns:a16="http://schemas.microsoft.com/office/drawing/2014/main" id="{87CBFCFF-BEEC-4163-B09C-D1984903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019175"/>
            <a:ext cx="1238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是否在时间内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近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90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天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时间过滤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</a:t>
            </a:r>
          </a:p>
        </p:txBody>
      </p:sp>
      <p:sp>
        <p:nvSpPr>
          <p:cNvPr id="4" name="对应什么技术 MAPS_TO → ATLAS 图扩展 / 命中 n">
            <a:extLst xmlns:a="http://schemas.openxmlformats.org/drawingml/2006/main">
              <a:ext uri="{FF2B5EF4-FFF2-40B4-BE49-F238E27FC236}">
                <a16:creationId xmlns:a16="http://schemas.microsoft.com/office/drawing/2014/main" id="{F8FD2D50-E541-4B96-BF75-CCBEB1F0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019175"/>
            <a:ext cx="1238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对应什么技术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MAPS_TO → ATLAS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图扩展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</a:t>
            </a:r>
          </a:p>
        </p:txBody>
      </p:sp>
      <p:sp>
        <p:nvSpPr>
          <p:cNvPr id="8" name="近 90 天影响 vLLM 且有公开 PoC 链接的漏洞及其 ATLAS 技术">
            <a:extLst xmlns:a="http://schemas.openxmlformats.org/drawingml/2006/main">
              <a:ext uri="{FF2B5EF4-FFF2-40B4-BE49-F238E27FC236}">
                <a16:creationId xmlns:a16="http://schemas.microsoft.com/office/drawing/2014/main" id="{E2A4E5DC-2D55-48EA-A804-333FD86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近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90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天影响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vLLM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且有公开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PoC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链接的漏洞及其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ATLAS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技术</a:t>
            </a:r>
          </a:p>
        </p:txBody>
      </p:sp>
      <p:sp>
        <p:nvSpPr>
          <p:cNvPr id="9" name="reasoning_steps 记录子问题、检索方式、查询语句与命中数 n 是结构示意占位，不是实测结果">
            <a:extLst xmlns:a="http://schemas.openxmlformats.org/drawingml/2006/main">
              <a:ext uri="{FF2B5EF4-FFF2-40B4-BE49-F238E27FC236}">
                <a16:creationId xmlns:a16="http://schemas.microsoft.com/office/drawing/2014/main" id="{F79E7659-6632-430D-9559-6CA0ECF9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38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reasoning_steps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记录子问题、检索方式、查询语句与命中数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是结构示意占位，不是实测结果</a:t>
            </a:r>
          </a:p>
        </p:txBody>
      </p:sp>
    </p:spTree>
    <p:extLst>
      <p:ext uri="{BB962C8B-B14F-4D97-AF65-F5344CB8AC3E}">
        <p14:creationId xmlns:p14="http://schemas.microsoft.com/office/powerpoint/2010/main" val="10839519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A51C1-0BFF-48E5-B0A5-271174B3CAA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552825" y="833438"/>
            <a:ext cx="466725" cy="981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2F027-A63E-4715-9050-87354CA7AFB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666875" y="1814513"/>
            <a:ext cx="45720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0A683-CEFD-42CA-B42E-5EA2F3A7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90500"/>
            <a:ext cx="16954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数据面扩展">
            <a:extLst xmlns:a="http://schemas.openxmlformats.org/drawingml/2006/main">
              <a:ext uri="{FF2B5EF4-FFF2-40B4-BE49-F238E27FC236}">
                <a16:creationId xmlns:a16="http://schemas.microsoft.com/office/drawing/2014/main" id="{70BC9FF7-F0E4-4491-8469-09952D45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2E7D8C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2E7D8C"/>
                </a:solidFill>
                <a:latin typeface="SimSun"/>
                <a:ea typeface="SimSun"/>
                <a:cs typeface="SimSun"/>
              </a:rPr>
              <a:t>数据面扩展</a:t>
            </a:r>
          </a:p>
        </p:txBody>
      </p:sp>
      <p:sp>
        <p:nvSpPr>
          <p:cNvPr id="3" name="Source Connector">
            <a:extLst xmlns:a="http://schemas.openxmlformats.org/drawingml/2006/main">
              <a:ext uri="{FF2B5EF4-FFF2-40B4-BE49-F238E27FC236}">
                <a16:creationId xmlns:a16="http://schemas.microsoft.com/office/drawing/2014/main" id="{9ECFDEC7-759A-48D2-B6FD-1864591B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57225"/>
            <a:ext cx="1409700" cy="428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Source Connector</a:t>
            </a:r>
          </a:p>
        </p:txBody>
      </p:sp>
      <p:sp>
        <p:nvSpPr>
          <p:cNvPr id="4" name="Enricher">
            <a:extLst xmlns:a="http://schemas.openxmlformats.org/drawingml/2006/main">
              <a:ext uri="{FF2B5EF4-FFF2-40B4-BE49-F238E27FC236}">
                <a16:creationId xmlns:a16="http://schemas.microsoft.com/office/drawing/2014/main" id="{451FD5D5-E5F8-4D5A-A50E-E9CA7510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276350"/>
            <a:ext cx="1409700" cy="428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Enricher</a:t>
            </a:r>
          </a:p>
        </p:txBody>
      </p:sp>
      <p:sp>
        <p:nvSpPr>
          <p:cNvPr id="5" name="Tool / Skill">
            <a:extLst xmlns:a="http://schemas.openxmlformats.org/drawingml/2006/main">
              <a:ext uri="{FF2B5EF4-FFF2-40B4-BE49-F238E27FC236}">
                <a16:creationId xmlns:a16="http://schemas.microsoft.com/office/drawing/2014/main" id="{DDC8AF57-276F-47C5-ABAB-218726FB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895475"/>
            <a:ext cx="1409700" cy="428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Tool / Skill</a:t>
            </a:r>
          </a:p>
        </p:txBody>
      </p:sp>
      <p:sp>
        <p:nvSpPr>
          <p:cNvPr id="6" name="shaowang-sdk 签名索引">
            <a:extLst xmlns:a="http://schemas.openxmlformats.org/drawingml/2006/main">
              <a:ext uri="{FF2B5EF4-FFF2-40B4-BE49-F238E27FC236}">
                <a16:creationId xmlns:a16="http://schemas.microsoft.com/office/drawing/2014/main" id="{A3F6BC09-5EC8-41E6-93D3-65DC51F4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647950"/>
            <a:ext cx="1409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shaowang-sdk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签名索引</a:t>
            </a:r>
          </a:p>
        </p:txBody>
      </p:sp>
      <p:sp>
        <p:nvSpPr>
          <p:cNvPr id="7" name="intel-core">
            <a:extLst xmlns:a="http://schemas.openxmlformats.org/drawingml/2006/main">
              <a:ext uri="{FF2B5EF4-FFF2-40B4-BE49-F238E27FC236}">
                <a16:creationId xmlns:a16="http://schemas.microsoft.com/office/drawing/2014/main" id="{EF31E89B-5B32-472A-8D83-AC02978B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2400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intel-core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E6E3B-2FCB-4BAF-B023-C551840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52575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889C4-0FDF-49B7-9DAE-8B132E7C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90500"/>
            <a:ext cx="168592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智能体接入">
            <a:extLst xmlns:a="http://schemas.openxmlformats.org/drawingml/2006/main">
              <a:ext uri="{FF2B5EF4-FFF2-40B4-BE49-F238E27FC236}">
                <a16:creationId xmlns:a16="http://schemas.microsoft.com/office/drawing/2014/main" id="{7DF2F0E9-C25D-4577-8D72-CFC9BBC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8125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2E7D8C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2E7D8C"/>
                </a:solidFill>
                <a:latin typeface="SimSun"/>
                <a:ea typeface="SimSun"/>
                <a:cs typeface="SimSun"/>
              </a:rPr>
              <a:t>智能体接入</a:t>
            </a:r>
          </a:p>
        </p:txBody>
      </p:sp>
      <p:sp>
        <p:nvSpPr>
          <p:cNvPr id="12" name="MCP / OpenAPI / CLI">
            <a:extLst xmlns:a="http://schemas.openxmlformats.org/drawingml/2006/main">
              <a:ext uri="{FF2B5EF4-FFF2-40B4-BE49-F238E27FC236}">
                <a16:creationId xmlns:a16="http://schemas.microsoft.com/office/drawing/2014/main" id="{B538DAF2-8A22-4D0E-BCA3-5D38321C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19125"/>
            <a:ext cx="1476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MCP / OpenAPI / CLI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11508-656C-4B80-8378-155EC8F4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4770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4" name="Agent Plugins 包">
            <a:extLst xmlns:a="http://schemas.openxmlformats.org/drawingml/2006/main">
              <a:ext uri="{FF2B5EF4-FFF2-40B4-BE49-F238E27FC236}">
                <a16:creationId xmlns:a16="http://schemas.microsoft.com/office/drawing/2014/main" id="{176EBC1B-5A40-441D-B70B-3EA137A3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352550"/>
            <a:ext cx="1476375" cy="409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Agent Plugins 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包</a:t>
            </a:r>
          </a:p>
        </p:txBody>
      </p:sp>
      <p:sp>
        <p:nvSpPr>
          <p:cNvPr id="15" name="Claude Code / Codex Cursor / Gemini CLI Kimi 等：待核实">
            <a:extLst xmlns:a="http://schemas.openxmlformats.org/drawingml/2006/main">
              <a:ext uri="{FF2B5EF4-FFF2-40B4-BE49-F238E27FC236}">
                <a16:creationId xmlns:a16="http://schemas.microsoft.com/office/drawing/2014/main" id="{3D6A8840-74DB-4799-9FF7-B04DED47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05025"/>
            <a:ext cx="1476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Claude Code / Codex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Cursor / Gemini CLI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Kimi 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等：待核实</a:t>
            </a:r>
          </a:p>
        </p:txBody>
      </p:sp>
      <p:sp>
        <p:nvSpPr>
          <p:cNvPr id="17" name="一个服务层统一鉴权、限流、审计与长任务句柄">
            <a:extLst xmlns:a="http://schemas.openxmlformats.org/drawingml/2006/main">
              <a:ext uri="{FF2B5EF4-FFF2-40B4-BE49-F238E27FC236}">
                <a16:creationId xmlns:a16="http://schemas.microsoft.com/office/drawing/2014/main" id="{D9A9A49A-0A54-449E-BD5A-6FFC71AA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一个服务层统一鉴权、限流、审计与长任务句柄</a:t>
            </a:r>
          </a:p>
        </p:txBody>
      </p:sp>
    </p:spTree>
    <p:extLst>
      <p:ext uri="{BB962C8B-B14F-4D97-AF65-F5344CB8AC3E}">
        <p14:creationId xmlns:p14="http://schemas.microsoft.com/office/powerpoint/2010/main" val="21356130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19320-6373-46E2-ABBD-4F29420A7292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654550" y="2171700"/>
            <a:ext cx="41275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A2910-1177-4E3D-9684-8E3EF60F9B39}"/>
              </a:ext>
            </a:extLst>
          </p:cNvPr>
          <p:cNvCxnSpPr>
            <a:stCxn xmlns:a="http://schemas.openxmlformats.org/drawingml/2006/main" id="3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1882775" y="561975"/>
            <a:ext cx="1949450" cy="1390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93C15-C99F-401D-AFEB-5575B9010A9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79825" y="19526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18E89-57CF-43C2-BC74-34AD47EA27C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882775" y="19526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6B3DF-EB66-48F1-B0B4-8FAA86B187E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679825" y="5619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C655B-1FBC-4491-84CF-210BD20D6D1D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882775" y="5619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0" name="Discovered">
            <a:extLst xmlns:a="http://schemas.openxmlformats.org/drawingml/2006/main">
              <a:ext uri="{FF2B5EF4-FFF2-40B4-BE49-F238E27FC236}">
                <a16:creationId xmlns:a16="http://schemas.microsoft.com/office/drawing/2014/main" id="{3507543A-0B91-46BE-9A00-327A4A05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4290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Discovered</a:t>
            </a:r>
          </a:p>
        </p:txBody>
      </p:sp>
      <p:sp>
        <p:nvSpPr>
          <p:cNvPr id="2" name="Validated">
            <a:extLst xmlns:a="http://schemas.openxmlformats.org/drawingml/2006/main">
              <a:ext uri="{FF2B5EF4-FFF2-40B4-BE49-F238E27FC236}">
                <a16:creationId xmlns:a16="http://schemas.microsoft.com/office/drawing/2014/main" id="{4A8922E4-452B-4C1E-B7C7-8F5B5254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34290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Validated</a:t>
            </a:r>
          </a:p>
        </p:txBody>
      </p:sp>
      <p:sp>
        <p:nvSpPr>
          <p:cNvPr id="3" name="Installed">
            <a:extLst xmlns:a="http://schemas.openxmlformats.org/drawingml/2006/main">
              <a:ext uri="{FF2B5EF4-FFF2-40B4-BE49-F238E27FC236}">
                <a16:creationId xmlns:a16="http://schemas.microsoft.com/office/drawing/2014/main" id="{2E36B5B8-606E-46F5-85C5-DE80766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34290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Installed</a:t>
            </a:r>
          </a:p>
        </p:txBody>
      </p:sp>
      <p:sp>
        <p:nvSpPr>
          <p:cNvPr id="6" name="清单 / Schema / 签名">
            <a:extLst xmlns:a="http://schemas.openxmlformats.org/drawingml/2006/main">
              <a:ext uri="{FF2B5EF4-FFF2-40B4-BE49-F238E27FC236}">
                <a16:creationId xmlns:a16="http://schemas.microsoft.com/office/drawing/2014/main" id="{C66EC639-C98C-4175-AE34-A8D7D515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8953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清单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Schema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签名</a:t>
            </a:r>
          </a:p>
        </p:txBody>
      </p:sp>
      <p:sp>
        <p:nvSpPr>
          <p:cNvPr id="7" name="管理员审批权限">
            <a:extLst xmlns:a="http://schemas.openxmlformats.org/drawingml/2006/main">
              <a:ext uri="{FF2B5EF4-FFF2-40B4-BE49-F238E27FC236}">
                <a16:creationId xmlns:a16="http://schemas.microsoft.com/office/drawing/2014/main" id="{991381D0-719F-4DFD-B1E9-4272CD0B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895350"/>
            <a:ext cx="1819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管理员审批权限</a:t>
            </a:r>
          </a:p>
        </p:txBody>
      </p:sp>
      <p:sp>
        <p:nvSpPr>
          <p:cNvPr id="8" name="Loaded">
            <a:extLst xmlns:a="http://schemas.openxmlformats.org/drawingml/2006/main">
              <a:ext uri="{FF2B5EF4-FFF2-40B4-BE49-F238E27FC236}">
                <a16:creationId xmlns:a16="http://schemas.microsoft.com/office/drawing/2014/main" id="{DD12415D-CB5C-43D3-9F01-6166F6CC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73355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Loaded</a:t>
            </a:r>
          </a:p>
        </p:txBody>
      </p:sp>
      <p:sp>
        <p:nvSpPr>
          <p:cNvPr id="9" name="Running">
            <a:extLst xmlns:a="http://schemas.openxmlformats.org/drawingml/2006/main">
              <a:ext uri="{FF2B5EF4-FFF2-40B4-BE49-F238E27FC236}">
                <a16:creationId xmlns:a16="http://schemas.microsoft.com/office/drawing/2014/main" id="{E6FDA6A7-2D60-4F1F-8374-3EEA8E22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73355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Running</a:t>
            </a:r>
          </a:p>
        </p:txBody>
      </p:sp>
      <p:sp>
        <p:nvSpPr>
          <p:cNvPr id="10" name="Degraded">
            <a:extLst xmlns:a="http://schemas.openxmlformats.org/drawingml/2006/main">
              <a:ext uri="{FF2B5EF4-FFF2-40B4-BE49-F238E27FC236}">
                <a16:creationId xmlns:a16="http://schemas.microsoft.com/office/drawing/2014/main" id="{CE56D6B0-F86E-4D7A-A1E8-C6EEB6D5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173355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Degraded</a:t>
            </a:r>
          </a:p>
        </p:txBody>
      </p:sp>
      <p:sp>
        <p:nvSpPr>
          <p:cNvPr id="14" name="Disabled">
            <a:extLst xmlns:a="http://schemas.openxmlformats.org/drawingml/2006/main">
              <a:ext uri="{FF2B5EF4-FFF2-40B4-BE49-F238E27FC236}">
                <a16:creationId xmlns:a16="http://schemas.microsoft.com/office/drawing/2014/main" id="{AA8DB073-62BA-4466-A6EA-C15385FF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527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Disabled</a:t>
            </a:r>
          </a:p>
        </p:txBody>
      </p:sp>
      <p:sp>
        <p:nvSpPr>
          <p:cNvPr id="16" name="连续失败 ≥3 或 Schema 违规率 &gt;5%">
            <a:extLst xmlns:a="http://schemas.openxmlformats.org/drawingml/2006/main">
              <a:ext uri="{FF2B5EF4-FFF2-40B4-BE49-F238E27FC236}">
                <a16:creationId xmlns:a16="http://schemas.microsoft.com/office/drawing/2014/main" id="{C01F77E0-87F3-43B3-BA38-FFEA03E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47900"/>
            <a:ext cx="2000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连续失败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≥3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或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Schema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违规率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&gt;5%</a:t>
            </a:r>
          </a:p>
        </p:txBody>
      </p:sp>
      <p:sp>
        <p:nvSpPr>
          <p:cNvPr id="17" name="healthcheck 恢复 → Running">
            <a:extLst xmlns:a="http://schemas.openxmlformats.org/drawingml/2006/main">
              <a:ext uri="{FF2B5EF4-FFF2-40B4-BE49-F238E27FC236}">
                <a16:creationId xmlns:a16="http://schemas.microsoft.com/office/drawing/2014/main" id="{49D5BF4C-3E73-47AD-8F92-265D2410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431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healthcheck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恢复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→ Running</a:t>
            </a:r>
          </a:p>
        </p:txBody>
      </p:sp>
      <p:sp>
        <p:nvSpPr>
          <p:cNvPr id="18" name="24 h 未恢复 / Critic 违规">
            <a:extLst xmlns:a="http://schemas.openxmlformats.org/drawingml/2006/main">
              <a:ext uri="{FF2B5EF4-FFF2-40B4-BE49-F238E27FC236}">
                <a16:creationId xmlns:a16="http://schemas.microsoft.com/office/drawing/2014/main" id="{B448997B-B8CB-4E74-8F75-1F713E36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480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24 h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未恢复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Critic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违规</a:t>
            </a:r>
          </a:p>
        </p:txBody>
      </p:sp>
      <p:sp>
        <p:nvSpPr>
          <p:cNvPr id="19" name="升级 MINOR 热升级 / MAJOR 重审">
            <a:extLst xmlns:a="http://schemas.openxmlformats.org/drawingml/2006/main">
              <a:ext uri="{FF2B5EF4-FFF2-40B4-BE49-F238E27FC236}">
                <a16:creationId xmlns:a16="http://schemas.microsoft.com/office/drawing/2014/main" id="{75A3D23F-607E-454A-85EA-E0F19860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952750"/>
            <a:ext cx="285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升级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MINOR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热升级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MAJOR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重审</a:t>
            </a:r>
          </a:p>
        </p:txBody>
      </p:sp>
    </p:spTree>
    <p:extLst>
      <p:ext uri="{BB962C8B-B14F-4D97-AF65-F5344CB8AC3E}">
        <p14:creationId xmlns:p14="http://schemas.microsoft.com/office/powerpoint/2010/main" val="16139130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8 类公开 Schema">
            <a:extLst xmlns:a="http://schemas.openxmlformats.org/drawingml/2006/main">
              <a:ext uri="{FF2B5EF4-FFF2-40B4-BE49-F238E27FC236}">
                <a16:creationId xmlns:a16="http://schemas.microsoft.com/office/drawing/2014/main" id="{CB7BC51B-9291-4FE7-8BE8-4E78B389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6675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2E7D8C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2E7D8C"/>
                </a:solidFill>
                <a:latin typeface="Times New Roman"/>
                <a:ea typeface="Times New Roman"/>
                <a:cs typeface="Times New Roman"/>
              </a:rPr>
              <a:t>8 </a:t>
            </a:r>
            <a:r>
              <a:rPr sz="1050" b="0">
                <a:solidFill>
                  <a:srgbClr val="2E7D8C"/>
                </a:solidFill>
                <a:latin typeface="SimSun"/>
                <a:ea typeface="SimSun"/>
                <a:cs typeface="SimSun"/>
              </a:rPr>
              <a:t>类公开</a:t>
            </a:r>
            <a:r>
              <a:rPr sz="1050" b="0">
                <a:solidFill>
                  <a:srgbClr val="2E7D8C"/>
                </a:solidFill>
                <a:latin typeface="Times New Roman"/>
                <a:ea typeface="Times New Roman"/>
                <a:cs typeface="Times New Roman"/>
              </a:rPr>
              <a:t> Schema</a:t>
            </a:r>
          </a:p>
        </p:txBody>
      </p:sp>
      <p:sp>
        <p:nvSpPr>
          <p:cNvPr id="2" name="common">
            <a:extLst xmlns:a="http://schemas.openxmlformats.org/drawingml/2006/main">
              <a:ext uri="{FF2B5EF4-FFF2-40B4-BE49-F238E27FC236}">
                <a16:creationId xmlns:a16="http://schemas.microsoft.com/office/drawing/2014/main" id="{CF52A635-CAD4-47DC-83C9-F757FA0D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0005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common</a:t>
            </a:r>
          </a:p>
        </p:txBody>
      </p:sp>
      <p:sp>
        <p:nvSpPr>
          <p:cNvPr id="3" name="normalized-intel">
            <a:extLst xmlns:a="http://schemas.openxmlformats.org/drawingml/2006/main">
              <a:ext uri="{FF2B5EF4-FFF2-40B4-BE49-F238E27FC236}">
                <a16:creationId xmlns:a16="http://schemas.microsoft.com/office/drawing/2014/main" id="{7AACDDFB-04EA-4EC7-A2F0-68F4183E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005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normalized-intel</a:t>
            </a:r>
          </a:p>
        </p:txBody>
      </p:sp>
      <p:sp>
        <p:nvSpPr>
          <p:cNvPr id="4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A7190B5C-28AC-41E5-A8A1-8C0E802A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vulnerability</a:t>
            </a:r>
          </a:p>
        </p:txBody>
      </p:sp>
      <p:sp>
        <p:nvSpPr>
          <p:cNvPr id="5" name="advisory">
            <a:extLst xmlns:a="http://schemas.openxmlformats.org/drawingml/2006/main">
              <a:ext uri="{FF2B5EF4-FFF2-40B4-BE49-F238E27FC236}">
                <a16:creationId xmlns:a16="http://schemas.microsoft.com/office/drawing/2014/main" id="{43199D23-9FE1-4943-9FA8-D1CAFDD9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005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6" name="component">
            <a:extLst xmlns:a="http://schemas.openxmlformats.org/drawingml/2006/main">
              <a:ext uri="{FF2B5EF4-FFF2-40B4-BE49-F238E27FC236}">
                <a16:creationId xmlns:a16="http://schemas.microsoft.com/office/drawing/2014/main" id="{2B7967D2-F824-4948-9384-9305419C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3820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</p:txBody>
      </p:sp>
      <p:sp>
        <p:nvSpPr>
          <p:cNvPr id="7" name="enrichment">
            <a:extLst xmlns:a="http://schemas.openxmlformats.org/drawingml/2006/main">
              <a:ext uri="{FF2B5EF4-FFF2-40B4-BE49-F238E27FC236}">
                <a16:creationId xmlns:a16="http://schemas.microsoft.com/office/drawing/2014/main" id="{7A3B59FE-09E9-4048-A9E8-19340854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83820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enrichment</a:t>
            </a:r>
          </a:p>
        </p:txBody>
      </p:sp>
      <p:sp>
        <p:nvSpPr>
          <p:cNvPr id="8" name="relation">
            <a:extLst xmlns:a="http://schemas.openxmlformats.org/drawingml/2006/main">
              <a:ext uri="{FF2B5EF4-FFF2-40B4-BE49-F238E27FC236}">
                <a16:creationId xmlns:a16="http://schemas.microsoft.com/office/drawing/2014/main" id="{56489493-DF94-467C-A192-5443AB91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3820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relation</a:t>
            </a:r>
          </a:p>
        </p:txBody>
      </p:sp>
      <p:sp>
        <p:nvSpPr>
          <p:cNvPr id="9" name="qa-answer">
            <a:extLst xmlns:a="http://schemas.openxmlformats.org/drawingml/2006/main">
              <a:ext uri="{FF2B5EF4-FFF2-40B4-BE49-F238E27FC236}">
                <a16:creationId xmlns:a16="http://schemas.microsoft.com/office/drawing/2014/main" id="{8FEAA7FF-49BC-46BB-99C1-8AE7B9C0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83820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qa-answer</a:t>
            </a:r>
          </a:p>
        </p:txBody>
      </p:sp>
      <p:sp>
        <p:nvSpPr>
          <p:cNvPr id="10" name="映射对象">
            <a:extLst xmlns:a="http://schemas.openxmlformats.org/drawingml/2006/main">
              <a:ext uri="{FF2B5EF4-FFF2-40B4-BE49-F238E27FC236}">
                <a16:creationId xmlns:a16="http://schemas.microsoft.com/office/drawing/2014/main" id="{F197BEB4-242E-49BA-8CEC-8E58169C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42875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映射对象</a:t>
            </a:r>
          </a:p>
        </p:txBody>
      </p:sp>
      <p:sp>
        <p:nvSpPr>
          <p:cNvPr id="11" name="OSV">
            <a:extLst xmlns:a="http://schemas.openxmlformats.org/drawingml/2006/main">
              <a:ext uri="{FF2B5EF4-FFF2-40B4-BE49-F238E27FC236}">
                <a16:creationId xmlns:a16="http://schemas.microsoft.com/office/drawing/2014/main" id="{F9309F71-A10D-464E-BA12-28862814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42875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OSV</a:t>
            </a:r>
          </a:p>
        </p:txBody>
      </p:sp>
      <p:sp>
        <p:nvSpPr>
          <p:cNvPr id="12" name="STIX 2.1">
            <a:extLst xmlns:a="http://schemas.openxmlformats.org/drawingml/2006/main">
              <a:ext uri="{FF2B5EF4-FFF2-40B4-BE49-F238E27FC236}">
                <a16:creationId xmlns:a16="http://schemas.microsoft.com/office/drawing/2014/main" id="{49772801-FA4C-48FA-B48F-DA74D011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42875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STIX 2.1</a:t>
            </a:r>
          </a:p>
        </p:txBody>
      </p:sp>
      <p:sp>
        <p:nvSpPr>
          <p:cNvPr id="13" name="CSAF 2.0">
            <a:extLst xmlns:a="http://schemas.openxmlformats.org/drawingml/2006/main">
              <a:ext uri="{FF2B5EF4-FFF2-40B4-BE49-F238E27FC236}">
                <a16:creationId xmlns:a16="http://schemas.microsoft.com/office/drawing/2014/main" id="{B80DA9CE-F9AF-4276-9EB4-02AF291D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2875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CSAF 2.0</a:t>
            </a:r>
          </a:p>
        </p:txBody>
      </p:sp>
      <p:sp>
        <p:nvSpPr>
          <p:cNvPr id="14" name="标识 / 别名">
            <a:extLst xmlns:a="http://schemas.openxmlformats.org/drawingml/2006/main">
              <a:ext uri="{FF2B5EF4-FFF2-40B4-BE49-F238E27FC236}">
                <a16:creationId xmlns:a16="http://schemas.microsoft.com/office/drawing/2014/main" id="{3FD46E54-6B00-407E-B69C-6787A348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72402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标识</a:t>
            </a: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别名</a:t>
            </a:r>
          </a:p>
        </p:txBody>
      </p:sp>
      <p:sp>
        <p:nvSpPr>
          <p:cNvPr id="15" name="id / aliases">
            <a:extLst xmlns:a="http://schemas.openxmlformats.org/drawingml/2006/main">
              <a:ext uri="{FF2B5EF4-FFF2-40B4-BE49-F238E27FC236}">
                <a16:creationId xmlns:a16="http://schemas.microsoft.com/office/drawing/2014/main" id="{9619EEB0-DC56-4E6F-91A2-76967DC0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2402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id / aliases</a:t>
            </a:r>
          </a:p>
        </p:txBody>
      </p:sp>
      <p:sp>
        <p:nvSpPr>
          <p:cNvPr id="16" name="external_references">
            <a:extLst xmlns:a="http://schemas.openxmlformats.org/drawingml/2006/main">
              <a:ext uri="{FF2B5EF4-FFF2-40B4-BE49-F238E27FC236}">
                <a16:creationId xmlns:a16="http://schemas.microsoft.com/office/drawing/2014/main" id="{4DEB422B-41E3-4498-8EE4-00016CD4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2402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external_references</a:t>
            </a:r>
          </a:p>
        </p:txBody>
      </p:sp>
      <p:sp>
        <p:nvSpPr>
          <p:cNvPr id="17" name="cve / ids">
            <a:extLst xmlns:a="http://schemas.openxmlformats.org/drawingml/2006/main">
              <a:ext uri="{FF2B5EF4-FFF2-40B4-BE49-F238E27FC236}">
                <a16:creationId xmlns:a16="http://schemas.microsoft.com/office/drawing/2014/main" id="{F176A41B-CAA9-4BB6-9DBE-46074BEB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2402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cve / ids</a:t>
            </a:r>
          </a:p>
        </p:txBody>
      </p:sp>
      <p:sp>
        <p:nvSpPr>
          <p:cNvPr id="18" name="影响区间">
            <a:extLst xmlns:a="http://schemas.openxmlformats.org/drawingml/2006/main">
              <a:ext uri="{FF2B5EF4-FFF2-40B4-BE49-F238E27FC236}">
                <a16:creationId xmlns:a16="http://schemas.microsoft.com/office/drawing/2014/main" id="{660F7625-1399-48A0-982E-8FD3A546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1930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影响区间</a:t>
            </a:r>
          </a:p>
        </p:txBody>
      </p:sp>
      <p:sp>
        <p:nvSpPr>
          <p:cNvPr id="19" name="ranges.events">
            <a:extLst xmlns:a="http://schemas.openxmlformats.org/drawingml/2006/main">
              <a:ext uri="{FF2B5EF4-FFF2-40B4-BE49-F238E27FC236}">
                <a16:creationId xmlns:a16="http://schemas.microsoft.com/office/drawing/2014/main" id="{F9C31A37-A3DE-4C1B-A26C-350045F1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1930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ranges.events</a:t>
            </a:r>
          </a:p>
        </p:txBody>
      </p:sp>
      <p:sp>
        <p:nvSpPr>
          <p:cNvPr id="20" name="software + relation">
            <a:extLst xmlns:a="http://schemas.openxmlformats.org/drawingml/2006/main">
              <a:ext uri="{FF2B5EF4-FFF2-40B4-BE49-F238E27FC236}">
                <a16:creationId xmlns:a16="http://schemas.microsoft.com/office/drawing/2014/main" id="{21C3DAB6-E8E3-432E-90F1-98BA303D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1930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software + relation</a:t>
            </a:r>
          </a:p>
        </p:txBody>
      </p:sp>
      <p:sp>
        <p:nvSpPr>
          <p:cNvPr id="21" name="product_status">
            <a:extLst xmlns:a="http://schemas.openxmlformats.org/drawingml/2006/main">
              <a:ext uri="{FF2B5EF4-FFF2-40B4-BE49-F238E27FC236}">
                <a16:creationId xmlns:a16="http://schemas.microsoft.com/office/drawing/2014/main" id="{DB78D6AF-C4F2-49E3-B684-5CED0A3D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1930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product_status</a:t>
            </a:r>
          </a:p>
        </p:txBody>
      </p:sp>
      <p:sp>
        <p:nvSpPr>
          <p:cNvPr id="22" name="处置建议">
            <a:extLst xmlns:a="http://schemas.openxmlformats.org/drawingml/2006/main">
              <a:ext uri="{FF2B5EF4-FFF2-40B4-BE49-F238E27FC236}">
                <a16:creationId xmlns:a16="http://schemas.microsoft.com/office/drawing/2014/main" id="{D8ABC79F-8418-41FD-B14E-4C8B5CC1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31457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处置建议</a:t>
            </a:r>
          </a:p>
        </p:txBody>
      </p:sp>
      <p:sp>
        <p:nvSpPr>
          <p:cNvPr id="23" name="FIX 引用">
            <a:extLst xmlns:a="http://schemas.openxmlformats.org/drawingml/2006/main">
              <a:ext uri="{FF2B5EF4-FFF2-40B4-BE49-F238E27FC236}">
                <a16:creationId xmlns:a16="http://schemas.microsoft.com/office/drawing/2014/main" id="{8E9538DC-7A39-409E-A00A-4E9C155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31457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FIX </a:t>
            </a: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引用</a:t>
            </a:r>
          </a:p>
        </p:txBody>
      </p:sp>
      <p:sp>
        <p:nvSpPr>
          <p:cNvPr id="24" name="course-of-action">
            <a:extLst xmlns:a="http://schemas.openxmlformats.org/drawingml/2006/main">
              <a:ext uri="{FF2B5EF4-FFF2-40B4-BE49-F238E27FC236}">
                <a16:creationId xmlns:a16="http://schemas.microsoft.com/office/drawing/2014/main" id="{8D58A896-BFA6-4FC0-8522-45DBB2E1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1457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course-of-action</a:t>
            </a:r>
          </a:p>
        </p:txBody>
      </p:sp>
      <p:sp>
        <p:nvSpPr>
          <p:cNvPr id="25" name="remediations">
            <a:extLst xmlns:a="http://schemas.openxmlformats.org/drawingml/2006/main">
              <a:ext uri="{FF2B5EF4-FFF2-40B4-BE49-F238E27FC236}">
                <a16:creationId xmlns:a16="http://schemas.microsoft.com/office/drawing/2014/main" id="{3F01305D-F782-41C9-A3FD-85C0BB09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1457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remediations</a:t>
            </a:r>
          </a:p>
        </p:txBody>
      </p:sp>
      <p:sp>
        <p:nvSpPr>
          <p:cNvPr id="26" name="ATLAS">
            <a:extLst xmlns:a="http://schemas.openxmlformats.org/drawingml/2006/main">
              <a:ext uri="{FF2B5EF4-FFF2-40B4-BE49-F238E27FC236}">
                <a16:creationId xmlns:a16="http://schemas.microsoft.com/office/drawing/2014/main" id="{8E2579AA-583B-4D9B-8ED8-89DAB1F7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60985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ATLAS</a:t>
            </a:r>
          </a:p>
        </p:txBody>
      </p:sp>
      <p:sp>
        <p:nvSpPr>
          <p:cNvPr id="27" name="无原生项">
            <a:extLst xmlns:a="http://schemas.openxmlformats.org/drawingml/2006/main">
              <a:ext uri="{FF2B5EF4-FFF2-40B4-BE49-F238E27FC236}">
                <a16:creationId xmlns:a16="http://schemas.microsoft.com/office/drawing/2014/main" id="{636FBEE0-E633-4A61-BE0F-3C50B6B5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0985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无原生项</a:t>
            </a:r>
          </a:p>
        </p:txBody>
      </p:sp>
      <p:sp>
        <p:nvSpPr>
          <p:cNvPr id="28" name="attack-pattern">
            <a:extLst xmlns:a="http://schemas.openxmlformats.org/drawingml/2006/main">
              <a:ext uri="{FF2B5EF4-FFF2-40B4-BE49-F238E27FC236}">
                <a16:creationId xmlns:a16="http://schemas.microsoft.com/office/drawing/2014/main" id="{7EA6A59D-3D20-40BB-A171-5F6A0F0D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attack-pattern</a:t>
            </a:r>
          </a:p>
        </p:txBody>
      </p:sp>
      <p:sp>
        <p:nvSpPr>
          <p:cNvPr id="29" name="notes">
            <a:extLst xmlns:a="http://schemas.openxmlformats.org/drawingml/2006/main">
              <a:ext uri="{FF2B5EF4-FFF2-40B4-BE49-F238E27FC236}">
                <a16:creationId xmlns:a16="http://schemas.microsoft.com/office/drawing/2014/main" id="{D700B017-087C-489A-A246-ABD49B8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notes</a:t>
            </a:r>
          </a:p>
        </p:txBody>
      </p:sp>
      <p:sp>
        <p:nvSpPr>
          <p:cNvPr id="30" name="关系与置信度">
            <a:extLst xmlns:a="http://schemas.openxmlformats.org/drawingml/2006/main">
              <a:ext uri="{FF2B5EF4-FFF2-40B4-BE49-F238E27FC236}">
                <a16:creationId xmlns:a16="http://schemas.microsoft.com/office/drawing/2014/main" id="{F363E95D-A283-4F0A-8887-C5B6425B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90512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关系与置信度</a:t>
            </a:r>
          </a:p>
        </p:txBody>
      </p:sp>
      <p:sp>
        <p:nvSpPr>
          <p:cNvPr id="31" name="无原生项">
            <a:extLst xmlns:a="http://schemas.openxmlformats.org/drawingml/2006/main">
              <a:ext uri="{FF2B5EF4-FFF2-40B4-BE49-F238E27FC236}">
                <a16:creationId xmlns:a16="http://schemas.microsoft.com/office/drawing/2014/main" id="{D8F2BF96-8056-4431-8AE0-FAF2075E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0512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无原生项</a:t>
            </a:r>
          </a:p>
        </p:txBody>
      </p:sp>
      <p:sp>
        <p:nvSpPr>
          <p:cNvPr id="32" name="relationship">
            <a:extLst xmlns:a="http://schemas.openxmlformats.org/drawingml/2006/main">
              <a:ext uri="{FF2B5EF4-FFF2-40B4-BE49-F238E27FC236}">
                <a16:creationId xmlns:a16="http://schemas.microsoft.com/office/drawing/2014/main" id="{875E7794-B422-490C-8F8B-2A71C580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0512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relationship</a:t>
            </a:r>
          </a:p>
        </p:txBody>
      </p:sp>
      <p:sp>
        <p:nvSpPr>
          <p:cNvPr id="33" name="无原生项">
            <a:extLst xmlns:a="http://schemas.openxmlformats.org/drawingml/2006/main">
              <a:ext uri="{FF2B5EF4-FFF2-40B4-BE49-F238E27FC236}">
                <a16:creationId xmlns:a16="http://schemas.microsoft.com/office/drawing/2014/main" id="{11964FBB-4C58-4092-92CA-5133A44A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05125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无原生项</a:t>
            </a:r>
          </a:p>
        </p:txBody>
      </p:sp>
      <p:sp>
        <p:nvSpPr>
          <p:cNvPr id="34" name="PoC 引用">
            <a:extLst xmlns:a="http://schemas.openxmlformats.org/drawingml/2006/main">
              <a:ext uri="{FF2B5EF4-FFF2-40B4-BE49-F238E27FC236}">
                <a16:creationId xmlns:a16="http://schemas.microsoft.com/office/drawing/2014/main" id="{832ACEB4-1D1A-4A19-89AC-8786914E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20040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PoC </a:t>
            </a: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引用</a:t>
            </a:r>
          </a:p>
        </p:txBody>
      </p:sp>
      <p:sp>
        <p:nvSpPr>
          <p:cNvPr id="35" name="EVIDENCE 链接">
            <a:extLst xmlns:a="http://schemas.openxmlformats.org/drawingml/2006/main">
              <a:ext uri="{FF2B5EF4-FFF2-40B4-BE49-F238E27FC236}">
                <a16:creationId xmlns:a16="http://schemas.microsoft.com/office/drawing/2014/main" id="{83ACD47F-BFC9-4B3C-8E14-C73336F7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0040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EVIDENCE </a:t>
            </a: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链接</a:t>
            </a:r>
          </a:p>
        </p:txBody>
      </p:sp>
      <p:sp>
        <p:nvSpPr>
          <p:cNvPr id="36" name="external_references">
            <a:extLst xmlns:a="http://schemas.openxmlformats.org/drawingml/2006/main">
              <a:ext uri="{FF2B5EF4-FFF2-40B4-BE49-F238E27FC236}">
                <a16:creationId xmlns:a16="http://schemas.microsoft.com/office/drawing/2014/main" id="{CF3A0B24-12DB-486C-90EA-EA9BA871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040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external_references</a:t>
            </a:r>
          </a:p>
        </p:txBody>
      </p:sp>
      <p:sp>
        <p:nvSpPr>
          <p:cNvPr id="37" name="references">
            <a:extLst xmlns:a="http://schemas.openxmlformats.org/drawingml/2006/main">
              <a:ext uri="{FF2B5EF4-FFF2-40B4-BE49-F238E27FC236}">
                <a16:creationId xmlns:a16="http://schemas.microsoft.com/office/drawing/2014/main" id="{BDCBC300-B9A0-4F68-9608-5A8FA50C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0400"/>
            <a:ext cx="1400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38" name="按映射表保留语义；没有原生字段的内容使用扩展，不能宣称天然无损">
            <a:extLst xmlns:a="http://schemas.openxmlformats.org/drawingml/2006/main">
              <a:ext uri="{FF2B5EF4-FFF2-40B4-BE49-F238E27FC236}">
                <a16:creationId xmlns:a16="http://schemas.microsoft.com/office/drawing/2014/main" id="{0A4CE6EF-2F37-465D-A3D3-E5805FB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19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按映射表保留语义；没有原生字段的内容使用扩展，不能宣称天然无损</a:t>
            </a:r>
          </a:p>
        </p:txBody>
      </p:sp>
    </p:spTree>
    <p:extLst>
      <p:ext uri="{BB962C8B-B14F-4D97-AF65-F5344CB8AC3E}">
        <p14:creationId xmlns:p14="http://schemas.microsoft.com/office/powerpoint/2010/main" val="15194451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采集">
            <a:extLst xmlns:a="http://schemas.openxmlformats.org/drawingml/2006/main">
              <a:ext uri="{FF2B5EF4-FFF2-40B4-BE49-F238E27FC236}">
                <a16:creationId xmlns:a16="http://schemas.microsoft.com/office/drawing/2014/main" id="{DF2A80DC-65F6-4803-90F2-A63EF915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</a:t>
            </a:r>
          </a:p>
        </p:txBody>
      </p:sp>
      <p:sp>
        <p:nvSpPr>
          <p:cNvPr id="2" name="Python / httpx（建议）">
            <a:extLst xmlns:a="http://schemas.openxmlformats.org/drawingml/2006/main">
              <a:ext uri="{FF2B5EF4-FFF2-40B4-BE49-F238E27FC236}">
                <a16:creationId xmlns:a16="http://schemas.microsoft.com/office/drawing/2014/main" id="{CD829BF8-9250-4274-A9D4-7CCF380E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5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Python / httpx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（建议）</a:t>
            </a:r>
          </a:p>
        </p:txBody>
      </p:sp>
      <p:sp>
        <p:nvSpPr>
          <p:cNvPr id="3" name="requests / Scrapy">
            <a:extLst xmlns:a="http://schemas.openxmlformats.org/drawingml/2006/main">
              <a:ext uri="{FF2B5EF4-FFF2-40B4-BE49-F238E27FC236}">
                <a16:creationId xmlns:a16="http://schemas.microsoft.com/office/drawing/2014/main" id="{696CE22B-3557-4421-8BD0-56C944B4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95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requests / Scrapy</a:t>
            </a:r>
          </a:p>
        </p:txBody>
      </p:sp>
      <p:sp>
        <p:nvSpPr>
          <p:cNvPr id="4" name="消息调度">
            <a:extLst xmlns:a="http://schemas.openxmlformats.org/drawingml/2006/main">
              <a:ext uri="{FF2B5EF4-FFF2-40B4-BE49-F238E27FC236}">
                <a16:creationId xmlns:a16="http://schemas.microsoft.com/office/drawing/2014/main" id="{93D25913-5472-4605-B9A7-3DB05686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191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消息调度</a:t>
            </a:r>
          </a:p>
        </p:txBody>
      </p:sp>
      <p:sp>
        <p:nvSpPr>
          <p:cNvPr id="5" name="Redis Streams / NATS">
            <a:extLst xmlns:a="http://schemas.openxmlformats.org/drawingml/2006/main">
              <a:ext uri="{FF2B5EF4-FFF2-40B4-BE49-F238E27FC236}">
                <a16:creationId xmlns:a16="http://schemas.microsoft.com/office/drawing/2014/main" id="{E6367723-421D-4319-B0AB-3656BF16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Redis Streams / NATS</a:t>
            </a:r>
          </a:p>
        </p:txBody>
      </p:sp>
      <p:sp>
        <p:nvSpPr>
          <p:cNvPr id="6" name="Kafka">
            <a:extLst xmlns:a="http://schemas.openxmlformats.org/drawingml/2006/main">
              <a:ext uri="{FF2B5EF4-FFF2-40B4-BE49-F238E27FC236}">
                <a16:creationId xmlns:a16="http://schemas.microsoft.com/office/drawing/2014/main" id="{F393E01D-8DDE-4B41-A6A8-F739CF1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191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Kafka</a:t>
            </a:r>
          </a:p>
        </p:txBody>
      </p:sp>
      <p:sp>
        <p:nvSpPr>
          <p:cNvPr id="7" name="编排">
            <a:extLst xmlns:a="http://schemas.openxmlformats.org/drawingml/2006/main">
              <a:ext uri="{FF2B5EF4-FFF2-40B4-BE49-F238E27FC236}">
                <a16:creationId xmlns:a16="http://schemas.microsoft.com/office/drawing/2014/main" id="{0B96B7BD-918C-4B5E-AA29-31B81682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7429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编排</a:t>
            </a:r>
          </a:p>
        </p:txBody>
      </p:sp>
      <p:sp>
        <p:nvSpPr>
          <p:cNvPr id="8" name="LangGraph">
            <a:extLst xmlns:a="http://schemas.openxmlformats.org/drawingml/2006/main">
              <a:ext uri="{FF2B5EF4-FFF2-40B4-BE49-F238E27FC236}">
                <a16:creationId xmlns:a16="http://schemas.microsoft.com/office/drawing/2014/main" id="{2C3B3A27-911E-422B-B602-CDB5109B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LangGraph</a:t>
            </a:r>
          </a:p>
        </p:txBody>
      </p:sp>
      <p:sp>
        <p:nvSpPr>
          <p:cNvPr id="9" name="AutoGen / CrewAI">
            <a:extLst xmlns:a="http://schemas.openxmlformats.org/drawingml/2006/main">
              <a:ext uri="{FF2B5EF4-FFF2-40B4-BE49-F238E27FC236}">
                <a16:creationId xmlns:a16="http://schemas.microsoft.com/office/drawing/2014/main" id="{43517531-5054-41E6-920B-3D347F26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7429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AutoGen / CrewAI</a:t>
            </a:r>
          </a:p>
        </p:txBody>
      </p:sp>
      <p:sp>
        <p:nvSpPr>
          <p:cNvPr id="10" name="模型">
            <a:extLst xmlns:a="http://schemas.openxmlformats.org/drawingml/2006/main">
              <a:ext uri="{FF2B5EF4-FFF2-40B4-BE49-F238E27FC236}">
                <a16:creationId xmlns:a16="http://schemas.microsoft.com/office/drawing/2014/main" id="{2C438A8B-A317-44CE-8541-4D455408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668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模型</a:t>
            </a:r>
          </a:p>
        </p:txBody>
      </p:sp>
      <p:sp>
        <p:nvSpPr>
          <p:cNvPr id="11" name="Qwen / DeepSeek（建议）">
            <a:extLst xmlns:a="http://schemas.openxmlformats.org/drawingml/2006/main">
              <a:ext uri="{FF2B5EF4-FFF2-40B4-BE49-F238E27FC236}">
                <a16:creationId xmlns:a16="http://schemas.microsoft.com/office/drawing/2014/main" id="{AD3A77EA-F8FE-43D4-A0C8-DA2D0B11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668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Qwen / DeepSeek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（建议）</a:t>
            </a:r>
          </a:p>
        </p:txBody>
      </p:sp>
      <p:sp>
        <p:nvSpPr>
          <p:cNvPr id="12" name="私有化模型">
            <a:extLst xmlns:a="http://schemas.openxmlformats.org/drawingml/2006/main">
              <a:ext uri="{FF2B5EF4-FFF2-40B4-BE49-F238E27FC236}">
                <a16:creationId xmlns:a16="http://schemas.microsoft.com/office/drawing/2014/main" id="{FB1AF8F3-092F-4982-BAAF-E5257C78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668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私有化模型</a:t>
            </a:r>
          </a:p>
        </p:txBody>
      </p:sp>
      <p:sp>
        <p:nvSpPr>
          <p:cNvPr id="13" name="主存储">
            <a:extLst xmlns:a="http://schemas.openxmlformats.org/drawingml/2006/main">
              <a:ext uri="{FF2B5EF4-FFF2-40B4-BE49-F238E27FC236}">
                <a16:creationId xmlns:a16="http://schemas.microsoft.com/office/drawing/2014/main" id="{218C5BD5-58B7-494E-9531-698D986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906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主存储</a:t>
            </a:r>
          </a:p>
        </p:txBody>
      </p:sp>
      <p:sp>
        <p:nvSpPr>
          <p:cNvPr id="14" name="PostgreSQL + pgvector">
            <a:extLst xmlns:a="http://schemas.openxmlformats.org/drawingml/2006/main">
              <a:ext uri="{FF2B5EF4-FFF2-40B4-BE49-F238E27FC236}">
                <a16:creationId xmlns:a16="http://schemas.microsoft.com/office/drawing/2014/main" id="{D978A646-F0B1-4077-84F5-3A0AAC20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90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PostgreSQL + pgvector</a:t>
            </a:r>
          </a:p>
        </p:txBody>
      </p:sp>
      <p:sp>
        <p:nvSpPr>
          <p:cNvPr id="15" name="Milvus">
            <a:extLst xmlns:a="http://schemas.openxmlformats.org/drawingml/2006/main">
              <a:ext uri="{FF2B5EF4-FFF2-40B4-BE49-F238E27FC236}">
                <a16:creationId xmlns:a16="http://schemas.microsoft.com/office/drawing/2014/main" id="{6C8394AD-9E6F-4EC1-9A05-E8EB3A83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3906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Milvus</a:t>
            </a:r>
          </a:p>
        </p:txBody>
      </p:sp>
      <p:sp>
        <p:nvSpPr>
          <p:cNvPr id="16" name="图谱与检索">
            <a:extLst xmlns:a="http://schemas.openxmlformats.org/drawingml/2006/main">
              <a:ext uri="{FF2B5EF4-FFF2-40B4-BE49-F238E27FC236}">
                <a16:creationId xmlns:a16="http://schemas.microsoft.com/office/drawing/2014/main" id="{0BDCFE41-DAD6-4132-90BC-4B19BD9C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145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图谱与检索</a:t>
            </a:r>
          </a:p>
        </p:txBody>
      </p:sp>
      <p:sp>
        <p:nvSpPr>
          <p:cNvPr id="17" name="Neo4j / OpenSearch + IK">
            <a:extLst xmlns:a="http://schemas.openxmlformats.org/drawingml/2006/main">
              <a:ext uri="{FF2B5EF4-FFF2-40B4-BE49-F238E27FC236}">
                <a16:creationId xmlns:a16="http://schemas.microsoft.com/office/drawing/2014/main" id="{A138F6E6-6BFA-4686-AB7E-8C4E9FC5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Neo4j / OpenSearch + IK</a:t>
            </a:r>
          </a:p>
        </p:txBody>
      </p:sp>
      <p:sp>
        <p:nvSpPr>
          <p:cNvPr id="18" name="AGE / Meilisearch">
            <a:extLst xmlns:a="http://schemas.openxmlformats.org/drawingml/2006/main">
              <a:ext uri="{FF2B5EF4-FFF2-40B4-BE49-F238E27FC236}">
                <a16:creationId xmlns:a16="http://schemas.microsoft.com/office/drawing/2014/main" id="{2CD6C29F-1E3A-49E6-AC0C-E7ADCE9F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145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AGE / Meilisearch</a:t>
            </a:r>
          </a:p>
        </p:txBody>
      </p:sp>
      <p:sp>
        <p:nvSpPr>
          <p:cNvPr id="19" name="嵌入与重排">
            <a:extLst xmlns:a="http://schemas.openxmlformats.org/drawingml/2006/main">
              <a:ext uri="{FF2B5EF4-FFF2-40B4-BE49-F238E27FC236}">
                <a16:creationId xmlns:a16="http://schemas.microsoft.com/office/drawing/2014/main" id="{64AB54E2-1E04-44E8-9B58-A695A9E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383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嵌入与重排</a:t>
            </a:r>
          </a:p>
        </p:txBody>
      </p:sp>
      <p:sp>
        <p:nvSpPr>
          <p:cNvPr id="20" name="bge-m3 / bge-reranker">
            <a:extLst xmlns:a="http://schemas.openxmlformats.org/drawingml/2006/main">
              <a:ext uri="{FF2B5EF4-FFF2-40B4-BE49-F238E27FC236}">
                <a16:creationId xmlns:a16="http://schemas.microsoft.com/office/drawing/2014/main" id="{D6226EC4-EF8A-404D-B734-7572CC6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bge-m3 / bge-reranker</a:t>
            </a:r>
          </a:p>
        </p:txBody>
      </p:sp>
      <p:sp>
        <p:nvSpPr>
          <p:cNvPr id="21" name="商用嵌入">
            <a:extLst xmlns:a="http://schemas.openxmlformats.org/drawingml/2006/main">
              <a:ext uri="{FF2B5EF4-FFF2-40B4-BE49-F238E27FC236}">
                <a16:creationId xmlns:a16="http://schemas.microsoft.com/office/drawing/2014/main" id="{905286DD-D348-42EB-9C18-362DEA9B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383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商用嵌入</a:t>
            </a:r>
          </a:p>
        </p:txBody>
      </p:sp>
      <p:sp>
        <p:nvSpPr>
          <p:cNvPr id="22" name="后端与 MCP">
            <a:extLst xmlns:a="http://schemas.openxmlformats.org/drawingml/2006/main">
              <a:ext uri="{FF2B5EF4-FFF2-40B4-BE49-F238E27FC236}">
                <a16:creationId xmlns:a16="http://schemas.microsoft.com/office/drawing/2014/main" id="{4AB00369-7CAF-4268-BAFD-A1FD7A90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622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后端与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MCP</a:t>
            </a:r>
          </a:p>
        </p:txBody>
      </p:sp>
      <p:sp>
        <p:nvSpPr>
          <p:cNvPr id="23" name="FastAPI / 官方 Python SDK">
            <a:extLst xmlns:a="http://schemas.openxmlformats.org/drawingml/2006/main">
              <a:ext uri="{FF2B5EF4-FFF2-40B4-BE49-F238E27FC236}">
                <a16:creationId xmlns:a16="http://schemas.microsoft.com/office/drawing/2014/main" id="{8BDC3FC9-203B-4082-8101-7AA698C9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FastAPI / 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官方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Python SDK</a:t>
            </a:r>
          </a:p>
        </p:txBody>
      </p:sp>
      <p:sp>
        <p:nvSpPr>
          <p:cNvPr id="24" name="Litestar / FastMCP">
            <a:extLst xmlns:a="http://schemas.openxmlformats.org/drawingml/2006/main">
              <a:ext uri="{FF2B5EF4-FFF2-40B4-BE49-F238E27FC236}">
                <a16:creationId xmlns:a16="http://schemas.microsoft.com/office/drawing/2014/main" id="{2C55FC0C-199B-42F7-A1B2-7C301A9C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622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Litestar / FastMCP</a:t>
            </a:r>
          </a:p>
        </p:txBody>
      </p:sp>
      <p:sp>
        <p:nvSpPr>
          <p:cNvPr id="25" name="前端">
            <a:extLst xmlns:a="http://schemas.openxmlformats.org/drawingml/2006/main">
              <a:ext uri="{FF2B5EF4-FFF2-40B4-BE49-F238E27FC236}">
                <a16:creationId xmlns:a16="http://schemas.microsoft.com/office/drawing/2014/main" id="{D09F9C60-EEC6-43F4-B05E-1AB4C46C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860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前端</a:t>
            </a:r>
          </a:p>
        </p:txBody>
      </p:sp>
      <p:sp>
        <p:nvSpPr>
          <p:cNvPr id="26" name="React / ECharts / Cytoscape">
            <a:extLst xmlns:a="http://schemas.openxmlformats.org/drawingml/2006/main">
              <a:ext uri="{FF2B5EF4-FFF2-40B4-BE49-F238E27FC236}">
                <a16:creationId xmlns:a16="http://schemas.microsoft.com/office/drawing/2014/main" id="{8C8EB4B8-CA48-448F-A113-70F65528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React / ECharts / Cytoscape</a:t>
            </a:r>
          </a:p>
        </p:txBody>
      </p:sp>
      <p:sp>
        <p:nvSpPr>
          <p:cNvPr id="27" name="Vue / AntV G6">
            <a:extLst xmlns:a="http://schemas.openxmlformats.org/drawingml/2006/main">
              <a:ext uri="{FF2B5EF4-FFF2-40B4-BE49-F238E27FC236}">
                <a16:creationId xmlns:a16="http://schemas.microsoft.com/office/drawing/2014/main" id="{2151DD01-98C2-4290-B6D1-20E77534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860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Vue / AntV G6</a:t>
            </a:r>
          </a:p>
        </p:txBody>
      </p:sp>
      <p:sp>
        <p:nvSpPr>
          <p:cNvPr id="28" name="可观测">
            <a:extLst xmlns:a="http://schemas.openxmlformats.org/drawingml/2006/main">
              <a:ext uri="{FF2B5EF4-FFF2-40B4-BE49-F238E27FC236}">
                <a16:creationId xmlns:a16="http://schemas.microsoft.com/office/drawing/2014/main" id="{D47A4A25-B059-4765-A389-95332CEA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0099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可观测</a:t>
            </a:r>
          </a:p>
        </p:txBody>
      </p:sp>
      <p:sp>
        <p:nvSpPr>
          <p:cNvPr id="29" name="Langfuse / Prometheus / Grafana">
            <a:extLst xmlns:a="http://schemas.openxmlformats.org/drawingml/2006/main">
              <a:ext uri="{FF2B5EF4-FFF2-40B4-BE49-F238E27FC236}">
                <a16:creationId xmlns:a16="http://schemas.microsoft.com/office/drawing/2014/main" id="{A81CE3F8-64A2-4BA0-A13C-0EBAD814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Langfuse / Prometheus / Grafana</a:t>
            </a:r>
          </a:p>
        </p:txBody>
      </p:sp>
      <p:sp>
        <p:nvSpPr>
          <p:cNvPr id="30" name="OpenTelemetry 后端">
            <a:extLst xmlns:a="http://schemas.openxmlformats.org/drawingml/2006/main">
              <a:ext uri="{FF2B5EF4-FFF2-40B4-BE49-F238E27FC236}">
                <a16:creationId xmlns:a16="http://schemas.microsoft.com/office/drawing/2014/main" id="{7141D141-A599-4F20-9B32-ED92FBE1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099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OpenTelemetry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后端</a:t>
            </a:r>
          </a:p>
        </p:txBody>
      </p:sp>
      <p:sp>
        <p:nvSpPr>
          <p:cNvPr id="31" name="部署">
            <a:extLst xmlns:a="http://schemas.openxmlformats.org/drawingml/2006/main">
              <a:ext uri="{FF2B5EF4-FFF2-40B4-BE49-F238E27FC236}">
                <a16:creationId xmlns:a16="http://schemas.microsoft.com/office/drawing/2014/main" id="{B6FAE3B6-0804-4EE2-86AD-D45C85AB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3337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部署</a:t>
            </a:r>
          </a:p>
        </p:txBody>
      </p:sp>
      <p:sp>
        <p:nvSpPr>
          <p:cNvPr id="32" name="docker compose">
            <a:extLst xmlns:a="http://schemas.openxmlformats.org/drawingml/2006/main">
              <a:ext uri="{FF2B5EF4-FFF2-40B4-BE49-F238E27FC236}">
                <a16:creationId xmlns:a16="http://schemas.microsoft.com/office/drawing/2014/main" id="{E6041A6E-40F8-4856-A80F-67DA7E0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docker compose</a:t>
            </a:r>
          </a:p>
        </p:txBody>
      </p:sp>
      <p:sp>
        <p:nvSpPr>
          <p:cNvPr id="33" name="Kubernetes / Helm">
            <a:extLst xmlns:a="http://schemas.openxmlformats.org/drawingml/2006/main">
              <a:ext uri="{FF2B5EF4-FFF2-40B4-BE49-F238E27FC236}">
                <a16:creationId xmlns:a16="http://schemas.microsoft.com/office/drawing/2014/main" id="{A44F5BD2-2CBF-42A4-AA45-2861CB94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33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Kubernetes / Helm</a:t>
            </a:r>
          </a:p>
        </p:txBody>
      </p:sp>
      <p:sp>
        <p:nvSpPr>
          <p:cNvPr id="34" name="右列为备选；建议项与规划项不等于已经部署">
            <a:extLst xmlns:a="http://schemas.openxmlformats.org/drawingml/2006/main">
              <a:ext uri="{FF2B5EF4-FFF2-40B4-BE49-F238E27FC236}">
                <a16:creationId xmlns:a16="http://schemas.microsoft.com/office/drawing/2014/main" id="{2B122BBA-7AE1-4391-9E88-DA0F4653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67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右列为备选；建议项与规划项不等于已经部署</a:t>
            </a:r>
          </a:p>
        </p:txBody>
      </p:sp>
    </p:spTree>
    <p:extLst>
      <p:ext uri="{BB962C8B-B14F-4D97-AF65-F5344CB8AC3E}">
        <p14:creationId xmlns:p14="http://schemas.microsoft.com/office/powerpoint/2010/main" val="14227614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C1C55-7A4F-4E7D-B47A-9746CEB5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334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应用容器">
            <a:extLst xmlns:a="http://schemas.openxmlformats.org/drawingml/2006/main">
              <a:ext uri="{FF2B5EF4-FFF2-40B4-BE49-F238E27FC236}">
                <a16:creationId xmlns:a16="http://schemas.microsoft.com/office/drawing/2014/main" id="{46E14116-1C56-4A64-81EA-C1AF0C14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518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应用容器</a:t>
            </a:r>
          </a:p>
        </p:txBody>
      </p:sp>
      <p:sp>
        <p:nvSpPr>
          <p:cNvPr id="3" name="api /api/v1">
            <a:extLst xmlns:a="http://schemas.openxmlformats.org/drawingml/2006/main">
              <a:ext uri="{FF2B5EF4-FFF2-40B4-BE49-F238E27FC236}">
                <a16:creationId xmlns:a16="http://schemas.microsoft.com/office/drawing/2014/main" id="{8DD6803D-6A83-49CD-92B7-FAF8BC41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api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/api/v1</a:t>
            </a:r>
          </a:p>
        </p:txBody>
      </p:sp>
      <p:sp>
        <p:nvSpPr>
          <p:cNvPr id="4" name="mcp /mcp">
            <a:extLst xmlns:a="http://schemas.openxmlformats.org/drawingml/2006/main">
              <a:ext uri="{FF2B5EF4-FFF2-40B4-BE49-F238E27FC236}">
                <a16:creationId xmlns:a16="http://schemas.microsoft.com/office/drawing/2014/main" id="{A5DCC761-614C-4BC9-A7FD-E3EE03A2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mcp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/mcp</a:t>
            </a:r>
          </a:p>
        </p:txBody>
      </p:sp>
      <p:sp>
        <p:nvSpPr>
          <p:cNvPr id="5" name="workers 9 个角色">
            <a:extLst xmlns:a="http://schemas.openxmlformats.org/drawingml/2006/main">
              <a:ext uri="{FF2B5EF4-FFF2-40B4-BE49-F238E27FC236}">
                <a16:creationId xmlns:a16="http://schemas.microsoft.com/office/drawing/2014/main" id="{C36DA574-20C0-4167-B6CD-0F78A22F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workers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个角色</a:t>
            </a:r>
          </a:p>
        </p:txBody>
      </p:sp>
      <p:sp>
        <p:nvSpPr>
          <p:cNvPr id="6" name="scheduler">
            <a:extLst xmlns:a="http://schemas.openxmlformats.org/drawingml/2006/main">
              <a:ext uri="{FF2B5EF4-FFF2-40B4-BE49-F238E27FC236}">
                <a16:creationId xmlns:a16="http://schemas.microsoft.com/office/drawing/2014/main" id="{17DF8BA6-183A-4924-AD43-266EC981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905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scheduler</a:t>
            </a:r>
          </a:p>
        </p:txBody>
      </p:sp>
      <p:sp>
        <p:nvSpPr>
          <p:cNvPr id="7" name="web">
            <a:extLst xmlns:a="http://schemas.openxmlformats.org/drawingml/2006/main">
              <a:ext uri="{FF2B5EF4-FFF2-40B4-BE49-F238E27FC236}">
                <a16:creationId xmlns:a16="http://schemas.microsoft.com/office/drawing/2014/main" id="{1D0100E7-872A-4C01-AD3B-CDFEB81C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40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3AE59-93BF-437A-89FE-3CE04891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954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数据容器">
            <a:extLst xmlns:a="http://schemas.openxmlformats.org/drawingml/2006/main">
              <a:ext uri="{FF2B5EF4-FFF2-40B4-BE49-F238E27FC236}">
                <a16:creationId xmlns:a16="http://schemas.microsoft.com/office/drawing/2014/main" id="{FA7D9746-B630-4141-A6DD-8A2F2D6D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43075"/>
            <a:ext cx="518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3E6E9E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3E6E9E"/>
                </a:solidFill>
                <a:latin typeface="SimSun"/>
                <a:ea typeface="SimSun"/>
                <a:cs typeface="SimSun"/>
              </a:rPr>
              <a:t>数据容器</a:t>
            </a:r>
          </a:p>
        </p:txBody>
      </p:sp>
      <p:sp>
        <p:nvSpPr>
          <p:cNvPr id="10" name="postgres pgvector">
            <a:extLst xmlns:a="http://schemas.openxmlformats.org/drawingml/2006/main">
              <a:ext uri="{FF2B5EF4-FFF2-40B4-BE49-F238E27FC236}">
                <a16:creationId xmlns:a16="http://schemas.microsoft.com/office/drawing/2014/main" id="{5E28CE70-00B0-4AC3-ACE2-1AEB991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postgres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pgvector</a:t>
            </a:r>
          </a:p>
        </p:txBody>
      </p:sp>
      <p:sp>
        <p:nvSpPr>
          <p:cNvPr id="11" name="neo4j">
            <a:extLst xmlns:a="http://schemas.openxmlformats.org/drawingml/2006/main">
              <a:ext uri="{FF2B5EF4-FFF2-40B4-BE49-F238E27FC236}">
                <a16:creationId xmlns:a16="http://schemas.microsoft.com/office/drawing/2014/main" id="{9145516B-F8E0-4875-8451-4E379A71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neo4j</a:t>
            </a:r>
          </a:p>
        </p:txBody>
      </p:sp>
      <p:sp>
        <p:nvSpPr>
          <p:cNvPr id="12" name="opensearch IK">
            <a:extLst xmlns:a="http://schemas.openxmlformats.org/drawingml/2006/main">
              <a:ext uri="{FF2B5EF4-FFF2-40B4-BE49-F238E27FC236}">
                <a16:creationId xmlns:a16="http://schemas.microsoft.com/office/drawing/2014/main" id="{ED9A605F-6BBE-47E7-ADD2-0BA8BD97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opensearch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IK</a:t>
            </a:r>
          </a:p>
        </p:txBody>
      </p:sp>
      <p:sp>
        <p:nvSpPr>
          <p:cNvPr id="13" name="redis / nats">
            <a:extLst xmlns:a="http://schemas.openxmlformats.org/drawingml/2006/main">
              <a:ext uri="{FF2B5EF4-FFF2-40B4-BE49-F238E27FC236}">
                <a16:creationId xmlns:a16="http://schemas.microsoft.com/office/drawing/2014/main" id="{9DA2054A-A790-4C0D-8EC5-53C8EBB6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905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redis / nats</a:t>
            </a:r>
          </a:p>
        </p:txBody>
      </p:sp>
      <p:sp>
        <p:nvSpPr>
          <p:cNvPr id="14" name="minio">
            <a:extLst xmlns:a="http://schemas.openxmlformats.org/drawingml/2006/main">
              <a:ext uri="{FF2B5EF4-FFF2-40B4-BE49-F238E27FC236}">
                <a16:creationId xmlns:a16="http://schemas.microsoft.com/office/drawing/2014/main" id="{FBE796D7-FDFB-445E-8E6A-5E059B6B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40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minio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9195B-1C15-4E8A-BA2F-F273076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05150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6" name="可观测容器">
            <a:extLst xmlns:a="http://schemas.openxmlformats.org/drawingml/2006/main">
              <a:ext uri="{FF2B5EF4-FFF2-40B4-BE49-F238E27FC236}">
                <a16:creationId xmlns:a16="http://schemas.microsoft.com/office/drawing/2014/main" id="{CE8BFF5C-028C-441D-9FC3-DC14B6B4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52775"/>
            <a:ext cx="518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可观测容器</a:t>
            </a:r>
          </a:p>
        </p:txBody>
      </p:sp>
      <p:sp>
        <p:nvSpPr>
          <p:cNvPr id="17" name="langfuse">
            <a:extLst xmlns:a="http://schemas.openxmlformats.org/drawingml/2006/main">
              <a:ext uri="{FF2B5EF4-FFF2-40B4-BE49-F238E27FC236}">
                <a16:creationId xmlns:a16="http://schemas.microsoft.com/office/drawing/2014/main" id="{1B886431-4501-4780-9755-EFDE8E6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145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langfuse</a:t>
            </a:r>
          </a:p>
        </p:txBody>
      </p:sp>
      <p:sp>
        <p:nvSpPr>
          <p:cNvPr id="18" name="prometheus">
            <a:extLst xmlns:a="http://schemas.openxmlformats.org/drawingml/2006/main">
              <a:ext uri="{FF2B5EF4-FFF2-40B4-BE49-F238E27FC236}">
                <a16:creationId xmlns:a16="http://schemas.microsoft.com/office/drawing/2014/main" id="{6E177E82-B395-43E2-88D2-2E088E72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425" y="3390900"/>
            <a:ext cx="145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prometheus</a:t>
            </a:r>
          </a:p>
        </p:txBody>
      </p:sp>
      <p:sp>
        <p:nvSpPr>
          <p:cNvPr id="19" name="grafana">
            <a:extLst xmlns:a="http://schemas.openxmlformats.org/drawingml/2006/main">
              <a:ext uri="{FF2B5EF4-FFF2-40B4-BE49-F238E27FC236}">
                <a16:creationId xmlns:a16="http://schemas.microsoft.com/office/drawing/2014/main" id="{14310284-DC20-4F25-8472-671129C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975" y="3390900"/>
            <a:ext cx="145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grafana</a:t>
            </a:r>
          </a:p>
        </p:txBody>
      </p:sp>
      <p:sp>
        <p:nvSpPr>
          <p:cNvPr id="20" name="网络与消息队列">
            <a:extLst xmlns:a="http://schemas.openxmlformats.org/drawingml/2006/main">
              <a:ext uri="{FF2B5EF4-FFF2-40B4-BE49-F238E27FC236}">
                <a16:creationId xmlns:a16="http://schemas.microsoft.com/office/drawing/2014/main" id="{EB136401-EB5F-4793-837A-4FE7A947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525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网络与消息队列</a:t>
            </a:r>
          </a:p>
        </p:txBody>
      </p:sp>
      <p:sp>
        <p:nvSpPr>
          <p:cNvPr id="21" name="调用追踪 / 任务与时效指标">
            <a:extLst xmlns:a="http://schemas.openxmlformats.org/drawingml/2006/main">
              <a:ext uri="{FF2B5EF4-FFF2-40B4-BE49-F238E27FC236}">
                <a16:creationId xmlns:a16="http://schemas.microsoft.com/office/drawing/2014/main" id="{9AFC2AB0-55C7-456D-9BC6-90F661BA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717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调用追踪</a:t>
            </a: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任务与时效指标</a:t>
            </a:r>
          </a:p>
        </p:txBody>
      </p:sp>
    </p:spTree>
    <p:extLst>
      <p:ext uri="{BB962C8B-B14F-4D97-AF65-F5344CB8AC3E}">
        <p14:creationId xmlns:p14="http://schemas.microsoft.com/office/powerpoint/2010/main" val="8050870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F83BE-0B22-430F-8093-B69FD4863423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838450" y="28956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C36B1-A69C-4AEB-9B0B-E0DCF5C3BE19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838450" y="200025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55EA4-3440-408D-9E0F-164F5B454901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1514475" y="1771650"/>
            <a:ext cx="561975" cy="9477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7E9AD-CA16-4727-B473-A253C5B100F4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00450" y="1771650"/>
            <a:ext cx="590550" cy="153828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C46CC-CD7B-4C79-BC4F-A38113C44801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00450" y="1771650"/>
            <a:ext cx="590550" cy="9477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BF3E6-BDBE-4B98-9662-40E02F03E852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1514475" y="1733550"/>
            <a:ext cx="56197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AED14-00B2-4933-9C90-E8F5E735B90D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600450" y="1733550"/>
            <a:ext cx="5905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75B9A-26A9-4DA2-860D-E5D2E6B53B35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3600450" y="428625"/>
            <a:ext cx="590550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657C6-E62C-4A80-9FDA-EF4A1B13B71E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1514475" y="428625"/>
            <a:ext cx="561975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31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A5442A56-E39C-4AA2-9B10-67FEC1E3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43050"/>
            <a:ext cx="152400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Vulnerability</a:t>
            </a:r>
          </a:p>
        </p:txBody>
      </p:sp>
      <p:sp>
        <p:nvSpPr>
          <p:cNvPr id="2" name="Advisory">
            <a:extLst xmlns:a="http://schemas.openxmlformats.org/drawingml/2006/main">
              <a:ext uri="{FF2B5EF4-FFF2-40B4-BE49-F238E27FC236}">
                <a16:creationId xmlns:a16="http://schemas.microsoft.com/office/drawing/2014/main" id="{90639829-D3E5-442B-8C4F-E7DF315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7650"/>
            <a:ext cx="1323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3" name="Component">
            <a:extLst xmlns:a="http://schemas.openxmlformats.org/drawingml/2006/main">
              <a:ext uri="{FF2B5EF4-FFF2-40B4-BE49-F238E27FC236}">
                <a16:creationId xmlns:a16="http://schemas.microsoft.com/office/drawing/2014/main" id="{9DAE3751-7415-4230-9A14-0C39A405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</p:txBody>
      </p:sp>
      <p:sp>
        <p:nvSpPr>
          <p:cNvPr id="4" name="Version">
            <a:extLst xmlns:a="http://schemas.openxmlformats.org/drawingml/2006/main">
              <a:ext uri="{FF2B5EF4-FFF2-40B4-BE49-F238E27FC236}">
                <a16:creationId xmlns:a16="http://schemas.microsoft.com/office/drawing/2014/main" id="{224D870D-97D0-4024-A466-A0C58A4C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8582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Version</a:t>
            </a:r>
          </a:p>
        </p:txBody>
      </p:sp>
      <p:sp>
        <p:nvSpPr>
          <p:cNvPr id="5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AC917BF1-3A84-45CD-8CD6-8542C1A9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430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AtlasTechnique</a:t>
            </a:r>
          </a:p>
        </p:txBody>
      </p:sp>
      <p:sp>
        <p:nvSpPr>
          <p:cNvPr id="6" name="CWE">
            <a:extLst xmlns:a="http://schemas.openxmlformats.org/drawingml/2006/main">
              <a:ext uri="{FF2B5EF4-FFF2-40B4-BE49-F238E27FC236}">
                <a16:creationId xmlns:a16="http://schemas.microsoft.com/office/drawing/2014/main" id="{4343AF9D-5622-499F-B183-1000998E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43050"/>
            <a:ext cx="1323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CWE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63D4B6F-39AC-42BD-93F6-1514BF04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43175"/>
            <a:ext cx="1333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Paper</a:t>
            </a:r>
          </a:p>
        </p:txBody>
      </p:sp>
      <p:sp>
        <p:nvSpPr>
          <p:cNvPr id="8" name="Article">
            <a:extLst xmlns:a="http://schemas.openxmlformats.org/drawingml/2006/main">
              <a:ext uri="{FF2B5EF4-FFF2-40B4-BE49-F238E27FC236}">
                <a16:creationId xmlns:a16="http://schemas.microsoft.com/office/drawing/2014/main" id="{14D95418-0DCD-4804-877E-506CA154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33725"/>
            <a:ext cx="1333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Article</a:t>
            </a:r>
          </a:p>
        </p:txBody>
      </p:sp>
      <p:sp>
        <p:nvSpPr>
          <p:cNvPr id="9" name="PocRef">
            <a:extLst xmlns:a="http://schemas.openxmlformats.org/drawingml/2006/main">
              <a:ext uri="{FF2B5EF4-FFF2-40B4-BE49-F238E27FC236}">
                <a16:creationId xmlns:a16="http://schemas.microsoft.com/office/drawing/2014/main" id="{127D3149-1C9F-4BF2-9D86-9999F600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43175"/>
            <a:ext cx="13239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PocRef</a:t>
            </a:r>
          </a:p>
        </p:txBody>
      </p:sp>
      <p:sp>
        <p:nvSpPr>
          <p:cNvPr id="10" name="RiskCategory">
            <a:extLst xmlns:a="http://schemas.openxmlformats.org/drawingml/2006/main">
              <a:ext uri="{FF2B5EF4-FFF2-40B4-BE49-F238E27FC236}">
                <a16:creationId xmlns:a16="http://schemas.microsoft.com/office/drawing/2014/main" id="{6067B15E-7315-47B0-BC2D-FCA0BCA2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43175"/>
            <a:ext cx="1524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RiskCategory</a:t>
            </a:r>
          </a:p>
        </p:txBody>
      </p:sp>
      <p:sp>
        <p:nvSpPr>
          <p:cNvPr id="11" name="Regulation">
            <a:extLst xmlns:a="http://schemas.openxmlformats.org/drawingml/2006/main">
              <a:ext uri="{FF2B5EF4-FFF2-40B4-BE49-F238E27FC236}">
                <a16:creationId xmlns:a16="http://schemas.microsoft.com/office/drawing/2014/main" id="{9A85EE4B-1A6F-410A-ADC7-AC7075FF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33725"/>
            <a:ext cx="1524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Regulation</a:t>
            </a:r>
          </a:p>
        </p:txBody>
      </p:sp>
      <p:sp>
        <p:nvSpPr>
          <p:cNvPr id="21" name="DESCRIBES">
            <a:extLst xmlns:a="http://schemas.openxmlformats.org/drawingml/2006/main">
              <a:ext uri="{FF2B5EF4-FFF2-40B4-BE49-F238E27FC236}">
                <a16:creationId xmlns:a16="http://schemas.microsoft.com/office/drawing/2014/main" id="{C53EC09B-14AA-4202-A632-D368AED3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91440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DESCRIBES</a:t>
            </a:r>
          </a:p>
        </p:txBody>
      </p:sp>
      <p:sp>
        <p:nvSpPr>
          <p:cNvPr id="22" name="AFFECTS">
            <a:extLst xmlns:a="http://schemas.openxmlformats.org/drawingml/2006/main">
              <a:ext uri="{FF2B5EF4-FFF2-40B4-BE49-F238E27FC236}">
                <a16:creationId xmlns:a16="http://schemas.microsoft.com/office/drawing/2014/main" id="{DBB8260F-3B13-4833-B833-1C270915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857250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AFFECTS</a:t>
            </a:r>
          </a:p>
        </p:txBody>
      </p:sp>
      <p:sp>
        <p:nvSpPr>
          <p:cNvPr id="23" name="区间 / fixed">
            <a:extLst xmlns:a="http://schemas.openxmlformats.org/drawingml/2006/main">
              <a:ext uri="{FF2B5EF4-FFF2-40B4-BE49-F238E27FC236}">
                <a16:creationId xmlns:a16="http://schemas.microsoft.com/office/drawing/2014/main" id="{1D6DC983-6FFC-4065-BB72-33E5FB5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63817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区间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fixed</a:t>
            </a:r>
          </a:p>
        </p:txBody>
      </p:sp>
      <p:sp>
        <p:nvSpPr>
          <p:cNvPr id="24" name="MAPS_TO">
            <a:extLst xmlns:a="http://schemas.openxmlformats.org/drawingml/2006/main">
              <a:ext uri="{FF2B5EF4-FFF2-40B4-BE49-F238E27FC236}">
                <a16:creationId xmlns:a16="http://schemas.microsoft.com/office/drawing/2014/main" id="{DE59302E-BBC5-4B21-8BBE-E6B41D29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33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MAPS_TO</a:t>
            </a:r>
          </a:p>
        </p:txBody>
      </p:sp>
      <p:sp>
        <p:nvSpPr>
          <p:cNvPr id="25" name="HAS_CWE">
            <a:extLst xmlns:a="http://schemas.openxmlformats.org/drawingml/2006/main">
              <a:ext uri="{FF2B5EF4-FFF2-40B4-BE49-F238E27FC236}">
                <a16:creationId xmlns:a16="http://schemas.microsoft.com/office/drawing/2014/main" id="{2C0D8871-C2C4-402F-9B9E-8AF9437C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HAS_CWE</a:t>
            </a:r>
          </a:p>
        </p:txBody>
      </p:sp>
      <p:sp>
        <p:nvSpPr>
          <p:cNvPr id="26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A8DDADFE-2692-49D1-B5A2-A69B5853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288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DISCUSSED_IN</a:t>
            </a:r>
          </a:p>
        </p:txBody>
      </p:sp>
      <p:sp>
        <p:nvSpPr>
          <p:cNvPr id="27" name="HAS_POC_REF">
            <a:extLst xmlns:a="http://schemas.openxmlformats.org/drawingml/2006/main">
              <a:ext uri="{FF2B5EF4-FFF2-40B4-BE49-F238E27FC236}">
                <a16:creationId xmlns:a16="http://schemas.microsoft.com/office/drawing/2014/main" id="{3979965E-9394-4BBF-9396-72E23BFA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HAS_POC_REF</a:t>
            </a:r>
          </a:p>
        </p:txBody>
      </p:sp>
      <p:sp>
        <p:nvSpPr>
          <p:cNvPr id="28" name="IN_CATEGORY">
            <a:extLst xmlns:a="http://schemas.openxmlformats.org/drawingml/2006/main">
              <a:ext uri="{FF2B5EF4-FFF2-40B4-BE49-F238E27FC236}">
                <a16:creationId xmlns:a16="http://schemas.microsoft.com/office/drawing/2014/main" id="{CAB32482-3C65-4571-8021-11C8193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812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IN_CATEGORY</a:t>
            </a:r>
          </a:p>
        </p:txBody>
      </p:sp>
      <p:sp>
        <p:nvSpPr>
          <p:cNvPr id="29" name="GOVERNED_BY">
            <a:extLst xmlns:a="http://schemas.openxmlformats.org/drawingml/2006/main">
              <a:ext uri="{FF2B5EF4-FFF2-40B4-BE49-F238E27FC236}">
                <a16:creationId xmlns:a16="http://schemas.microsoft.com/office/drawing/2014/main" id="{71EB9892-C6CB-4CED-8A6E-A8454F4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9560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GOVERNED_BY</a:t>
            </a:r>
          </a:p>
        </p:txBody>
      </p:sp>
      <p:sp>
        <p:nvSpPr>
          <p:cNvPr id="30" name="边属性：reason / confidence / method / created_by_agent">
            <a:extLst xmlns:a="http://schemas.openxmlformats.org/drawingml/2006/main">
              <a:ext uri="{FF2B5EF4-FFF2-40B4-BE49-F238E27FC236}">
                <a16:creationId xmlns:a16="http://schemas.microsoft.com/office/drawing/2014/main" id="{50F0B34A-1EA5-4A22-A685-28F3F07A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63855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边属性：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reason / confidence / method / created_by_agent</a:t>
            </a:r>
          </a:p>
        </p:txBody>
      </p:sp>
    </p:spTree>
    <p:extLst>
      <p:ext uri="{BB962C8B-B14F-4D97-AF65-F5344CB8AC3E}">
        <p14:creationId xmlns:p14="http://schemas.microsoft.com/office/powerpoint/2010/main" val="14286823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3F423-49C5-454D-B917-0A867D0A02E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4"/>
          </p:cNvCxnSpPr>
          <p:nvPr/>
        </p:nvCxnSpPr>
        <p:spPr>
          <a:xfrm xmlns:a="http://schemas.openxmlformats.org/drawingml/2006/main" flipH="1">
            <a:off x="4143375" y="2524125"/>
            <a:ext cx="214313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F6764-B523-48D6-AC65-B3D662E93D8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357313" y="2524125"/>
            <a:ext cx="214313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B295D-F51C-4F90-B9F8-322857BE5171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57500" y="1457325"/>
            <a:ext cx="3810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DA12D-BF6C-4BBF-9725-AE01C1A1BF41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476500" y="1457325"/>
            <a:ext cx="3810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7BE20-48B6-487A-AE8C-04DF4216FDDF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2857500" y="5143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2" name="请求失败">
            <a:extLst xmlns:a="http://schemas.openxmlformats.org/drawingml/2006/main">
              <a:ext uri="{FF2B5EF4-FFF2-40B4-BE49-F238E27FC236}">
                <a16:creationId xmlns:a16="http://schemas.microsoft.com/office/drawing/2014/main" id="{02DA7D0F-9D47-4A8B-8CB3-FDDFA6EB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2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请求失败</a:t>
            </a:r>
          </a:p>
        </p:txBody>
      </p:sp>
      <p:sp>
        <p:nvSpPr>
          <p:cNvPr id="2" name="错误类型">
            <a:extLst xmlns:a="http://schemas.openxmlformats.org/drawingml/2006/main">
              <a:ext uri="{FF2B5EF4-FFF2-40B4-BE49-F238E27FC236}">
                <a16:creationId xmlns:a16="http://schemas.microsoft.com/office/drawing/2014/main" id="{90E86ADE-07CC-4F44-BEC8-4FD69834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19150"/>
            <a:ext cx="1447800" cy="6381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错误类型</a:t>
            </a:r>
          </a:p>
        </p:txBody>
      </p:sp>
      <p:sp>
        <p:nvSpPr>
          <p:cNvPr id="4" name="429 / 5xx / 超时 退避重试 ≤6 次">
            <a:extLst xmlns:a="http://schemas.openxmlformats.org/drawingml/2006/main">
              <a:ext uri="{FF2B5EF4-FFF2-40B4-BE49-F238E27FC236}">
                <a16:creationId xmlns:a16="http://schemas.microsoft.com/office/drawing/2014/main" id="{151D8539-573F-4CD7-9FE7-3F0B2AED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526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429 / 5xx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超时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退避重试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次</a:t>
            </a:r>
          </a:p>
        </p:txBody>
      </p:sp>
      <p:sp>
        <p:nvSpPr>
          <p:cNvPr id="5" name="4xx（非 429） 直接死信并告警">
            <a:extLst xmlns:a="http://schemas.openxmlformats.org/drawingml/2006/main">
              <a:ext uri="{FF2B5EF4-FFF2-40B4-BE49-F238E27FC236}">
                <a16:creationId xmlns:a16="http://schemas.microsoft.com/office/drawing/2014/main" id="{9297462E-0894-48A1-9B65-82D5EF53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4xx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（非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429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）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直接死信并告警</a:t>
            </a:r>
          </a:p>
        </p:txBody>
      </p:sp>
      <p:sp>
        <p:nvSpPr>
          <p:cNvPr id="8" name="DLQ / 每 15 min 重放">
            <a:extLst xmlns:a="http://schemas.openxmlformats.org/drawingml/2006/main">
              <a:ext uri="{FF2B5EF4-FFF2-40B4-BE49-F238E27FC236}">
                <a16:creationId xmlns:a16="http://schemas.microsoft.com/office/drawing/2014/main" id="{9613EA40-2664-4009-8A48-3914AB61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2571750" cy="4000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DLQ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每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15 min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重放</a:t>
            </a:r>
          </a:p>
        </p:txBody>
      </p:sp>
      <p:sp>
        <p:nvSpPr>
          <p:cNvPr id="11" name="Retry-After 优先；否则 1 s 起 ×2，上限 5 min，±20% 抖动 连续 3 周期失败 → degraded → 降级通">
            <a:extLst xmlns:a="http://schemas.openxmlformats.org/drawingml/2006/main">
              <a:ext uri="{FF2B5EF4-FFF2-40B4-BE49-F238E27FC236}">
                <a16:creationId xmlns:a16="http://schemas.microsoft.com/office/drawing/2014/main" id="{EC874FEF-EF91-4B2F-BC21-97A055DA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337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Retry-After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优先；否则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 s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起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×2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，上限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5 min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，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±20%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抖动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连续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3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周期失败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→ degraded →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降级通道</a:t>
            </a:r>
          </a:p>
        </p:txBody>
      </p:sp>
    </p:spTree>
    <p:extLst>
      <p:ext uri="{BB962C8B-B14F-4D97-AF65-F5344CB8AC3E}">
        <p14:creationId xmlns:p14="http://schemas.microsoft.com/office/powerpoint/2010/main" val="16339607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DDFDF-843F-4D93-99C3-CE1D72F2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42900"/>
            <a:ext cx="1571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提供">
            <a:extLst xmlns:a="http://schemas.openxmlformats.org/drawingml/2006/main">
              <a:ext uri="{FF2B5EF4-FFF2-40B4-BE49-F238E27FC236}">
                <a16:creationId xmlns:a16="http://schemas.microsoft.com/office/drawing/2014/main" id="{FA36C94D-BCFA-4A5B-8F07-DAC708FA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90525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2E7D8C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2E7D8C"/>
                </a:solidFill>
                <a:latin typeface="SimSun"/>
                <a:ea typeface="SimSun"/>
                <a:cs typeface="SimSun"/>
              </a:rPr>
              <a:t>提供</a:t>
            </a:r>
          </a:p>
        </p:txBody>
      </p:sp>
      <p:sp>
        <p:nvSpPr>
          <p:cNvPr id="3" name="聚合计数与分布  PoC 链接与标题  修复版本与缓解">
            <a:extLst xmlns:a="http://schemas.openxmlformats.org/drawingml/2006/main">
              <a:ext uri="{FF2B5EF4-FFF2-40B4-BE49-F238E27FC236}">
                <a16:creationId xmlns:a16="http://schemas.microsoft.com/office/drawing/2014/main" id="{0DA19013-1055-411A-8200-6985C91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981075"/>
            <a:ext cx="14192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聚合计数与分布</a:t>
            </a:r>
          </a:p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PoC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链接与标题</a:t>
            </a:r>
          </a:p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修复版本与缓解</a:t>
            </a:r>
          </a:p>
        </p:txBody>
      </p:sp>
      <p:sp>
        <p:nvSpPr>
          <p:cNvPr id="4" name="只读服务层 Critic 输出过滤">
            <a:extLst xmlns:a="http://schemas.openxmlformats.org/drawingml/2006/main">
              <a:ext uri="{FF2B5EF4-FFF2-40B4-BE49-F238E27FC236}">
                <a16:creationId xmlns:a16="http://schemas.microsoft.com/office/drawing/2014/main" id="{81BC8FD8-6FC9-46AC-B83A-762A9D38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352550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只读服务层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输出过滤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F962F-3B0C-4E42-873B-277B369E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381125"/>
            <a:ext cx="1581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1F3A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2C292-D284-48E3-9765-5BA6F527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42900"/>
            <a:ext cx="1571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" name="禁止提供">
            <a:extLst xmlns:a="http://schemas.openxmlformats.org/drawingml/2006/main">
              <a:ext uri="{FF2B5EF4-FFF2-40B4-BE49-F238E27FC236}">
                <a16:creationId xmlns:a16="http://schemas.microsoft.com/office/drawing/2014/main" id="{758223A1-6381-4261-96F0-807BFF8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90525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A33A3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A33A3A"/>
                </a:solidFill>
                <a:latin typeface="SimSun"/>
                <a:ea typeface="SimSun"/>
                <a:cs typeface="SimSun"/>
              </a:rPr>
              <a:t>禁止提供</a:t>
            </a:r>
          </a:p>
        </p:txBody>
      </p:sp>
      <p:sp>
        <p:nvSpPr>
          <p:cNvPr id="8" name="IP / 主机明细  利用代码  执行能力 / 主动扫描">
            <a:extLst xmlns:a="http://schemas.openxmlformats.org/drawingml/2006/main">
              <a:ext uri="{FF2B5EF4-FFF2-40B4-BE49-F238E27FC236}">
                <a16:creationId xmlns:a16="http://schemas.microsoft.com/office/drawing/2014/main" id="{2FE21B5B-77E7-4936-A5B9-1184D2DB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981075"/>
            <a:ext cx="14192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IP /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主机明细</a:t>
            </a:r>
          </a:p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利用代码</a:t>
            </a:r>
          </a:p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执行能力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主动扫描</a:t>
            </a:r>
          </a:p>
        </p:txBody>
      </p:sp>
      <p:sp>
        <p:nvSpPr>
          <p:cNvPr id="9" name="合规限制在采集、存储、服务与校验多个边界执行">
            <a:extLst xmlns:a="http://schemas.openxmlformats.org/drawingml/2006/main">
              <a:ext uri="{FF2B5EF4-FFF2-40B4-BE49-F238E27FC236}">
                <a16:creationId xmlns:a16="http://schemas.microsoft.com/office/drawing/2014/main" id="{2D685B96-06BD-42FD-80CA-4E51415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合规限制在采集、存储、服务与校验多个边界执行</a:t>
            </a:r>
          </a:p>
        </p:txBody>
      </p:sp>
    </p:spTree>
    <p:extLst>
      <p:ext uri="{BB962C8B-B14F-4D97-AF65-F5344CB8AC3E}">
        <p14:creationId xmlns:p14="http://schemas.microsoft.com/office/powerpoint/2010/main" val="19783878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7FE5F-B75D-4750-BF8B-A04C7565377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04360" y="1119188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CA156-8A70-4977-AF06-11F6D539973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31845" y="1119188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514BE-B44F-42F2-9443-89E9403AF8A3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259330" y="1119188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A024C-A659-47D6-9C34-9D978CAFC56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186815" y="1119188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4" name="source_ published_at">
            <a:extLst xmlns:a="http://schemas.openxmlformats.org/drawingml/2006/main">
              <a:ext uri="{FF2B5EF4-FFF2-40B4-BE49-F238E27FC236}">
                <a16:creationId xmlns:a16="http://schemas.microsoft.com/office/drawing/2014/main" id="{79D8FF75-4A7B-4E09-AEB7-E80D695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source_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published_at</a:t>
            </a:r>
          </a:p>
        </p:txBody>
      </p:sp>
      <p:sp>
        <p:nvSpPr>
          <p:cNvPr id="2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2C6A0B07-BF03-4960-BC5E-D047E75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first_seen_at</a:t>
            </a:r>
          </a:p>
        </p:txBody>
      </p:sp>
      <p:sp>
        <p:nvSpPr>
          <p:cNvPr id="3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33ED6E7B-320E-4DF7-9025-AF38292E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155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normalized_at</a:t>
            </a:r>
          </a:p>
        </p:txBody>
      </p:sp>
      <p:sp>
        <p:nvSpPr>
          <p:cNvPr id="4" name="enriched_at">
            <a:extLst xmlns:a="http://schemas.openxmlformats.org/drawingml/2006/main">
              <a:ext uri="{FF2B5EF4-FFF2-40B4-BE49-F238E27FC236}">
                <a16:creationId xmlns:a16="http://schemas.microsoft.com/office/drawing/2014/main" id="{6DA853AE-96B6-4A40-B85B-E6239EF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670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enriched_at</a:t>
            </a:r>
          </a:p>
        </p:txBody>
      </p:sp>
      <p:sp>
        <p:nvSpPr>
          <p:cNvPr id="5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A6F00126-3C14-40F2-8F73-1152E729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queryable_at</a:t>
            </a:r>
          </a:p>
        </p:txBody>
      </p:sp>
      <p:sp>
        <p:nvSpPr>
          <p:cNvPr id="10" name="采集时延 = 首见 − 发布">
            <a:extLst xmlns:a="http://schemas.openxmlformats.org/drawingml/2006/main">
              <a:ext uri="{FF2B5EF4-FFF2-40B4-BE49-F238E27FC236}">
                <a16:creationId xmlns:a16="http://schemas.microsoft.com/office/drawing/2014/main" id="{777690E0-9C6F-4BD2-90A1-5BE46BE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478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采集时延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首见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−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发布</a:t>
            </a:r>
          </a:p>
        </p:txBody>
      </p:sp>
      <p:sp>
        <p:nvSpPr>
          <p:cNvPr id="11" name="处理时延 = 可查询 − 首见">
            <a:extLst xmlns:a="http://schemas.openxmlformats.org/drawingml/2006/main">
              <a:ext uri="{FF2B5EF4-FFF2-40B4-BE49-F238E27FC236}">
                <a16:creationId xmlns:a16="http://schemas.microsoft.com/office/drawing/2014/main" id="{B976CBD0-257E-4F64-AEFB-1EB4A369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47850"/>
            <a:ext cx="3114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处理时延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可查询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−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首见</a:t>
            </a:r>
          </a:p>
        </p:txBody>
      </p:sp>
      <p:sp>
        <p:nvSpPr>
          <p:cNvPr id="12" name="端到端 = 可查询 − 发布；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4F346FA9-667B-47D2-811B-66250B75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657475"/>
            <a:ext cx="523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端到端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可查询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−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发布；目标值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h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3" name="仅漏洞类首次发现；日更源单列；DEMO 不计 日期精度不足时按当日零点计，保守高估">
            <a:extLst xmlns:a="http://schemas.openxmlformats.org/drawingml/2006/main">
              <a:ext uri="{FF2B5EF4-FFF2-40B4-BE49-F238E27FC236}">
                <a16:creationId xmlns:a16="http://schemas.microsoft.com/office/drawing/2014/main" id="{9A131F60-BB73-4276-8EF5-69A8A391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766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仅漏洞类首次发现；日更源单列；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DEMO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不计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日期精度不足时按当日零点计，保守高估</a:t>
            </a:r>
          </a:p>
        </p:txBody>
      </p:sp>
    </p:spTree>
    <p:extLst>
      <p:ext uri="{BB962C8B-B14F-4D97-AF65-F5344CB8AC3E}">
        <p14:creationId xmlns:p14="http://schemas.microsoft.com/office/powerpoint/2010/main" val="6964785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1">
            <a:extLst xmlns:a="http://schemas.openxmlformats.org/drawingml/2006/main">
              <a:ext uri="{FF2B5EF4-FFF2-40B4-BE49-F238E27FC236}">
                <a16:creationId xmlns:a16="http://schemas.microsoft.com/office/drawing/2014/main" id="{C44297E0-0015-4CAE-83EC-5D3C6B24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300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" name="垂直多源融合">
            <a:extLst xmlns:a="http://schemas.openxmlformats.org/drawingml/2006/main">
              <a:ext uri="{FF2B5EF4-FFF2-40B4-BE49-F238E27FC236}">
                <a16:creationId xmlns:a16="http://schemas.microsoft.com/office/drawing/2014/main" id="{062EC8A1-B011-4282-8ACC-0EACF63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14300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垂直多源融合</a:t>
            </a:r>
          </a:p>
        </p:txBody>
      </p:sp>
      <p:sp>
        <p:nvSpPr>
          <p:cNvPr id="3" name="P0 5 min / 无 CVE 入库">
            <a:extLst xmlns:a="http://schemas.openxmlformats.org/drawingml/2006/main">
              <a:ext uri="{FF2B5EF4-FFF2-40B4-BE49-F238E27FC236}">
                <a16:creationId xmlns:a16="http://schemas.microsoft.com/office/drawing/2014/main" id="{36258736-F750-446C-BBE0-0154850A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430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P0 5 min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无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CVE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入库</a:t>
            </a:r>
          </a:p>
        </p:txBody>
      </p:sp>
      <p:sp>
        <p:nvSpPr>
          <p:cNvPr id="4" name="监测 / 时效">
            <a:extLst xmlns:a="http://schemas.openxmlformats.org/drawingml/2006/main">
              <a:ext uri="{FF2B5EF4-FFF2-40B4-BE49-F238E27FC236}">
                <a16:creationId xmlns:a16="http://schemas.microsoft.com/office/drawing/2014/main" id="{DF7E5881-A420-410A-A61E-25BAD091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4300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监测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时效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7E773A7B-809A-4DA5-91F1-5B9CAF8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19125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" name="可解释关联">
            <a:extLst xmlns:a="http://schemas.openxmlformats.org/drawingml/2006/main">
              <a:ext uri="{FF2B5EF4-FFF2-40B4-BE49-F238E27FC236}">
                <a16:creationId xmlns:a16="http://schemas.microsoft.com/office/drawing/2014/main" id="{52F218D7-62C4-4A01-9E3F-379AEEB7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19125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可解释关联</a:t>
            </a:r>
          </a:p>
        </p:txBody>
      </p:sp>
      <p:sp>
        <p:nvSpPr>
          <p:cNvPr id="7" name="边带理由 / Critic 门槛">
            <a:extLst xmlns:a="http://schemas.openxmlformats.org/drawingml/2006/main">
              <a:ext uri="{FF2B5EF4-FFF2-40B4-BE49-F238E27FC236}">
                <a16:creationId xmlns:a16="http://schemas.microsoft.com/office/drawing/2014/main" id="{C9A30B09-77E3-4F78-9BCF-FB421BB1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91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边带理由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Critic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门槛</a:t>
            </a:r>
          </a:p>
        </p:txBody>
      </p:sp>
      <p:sp>
        <p:nvSpPr>
          <p:cNvPr id="8" name="富化 / 准确">
            <a:extLst xmlns:a="http://schemas.openxmlformats.org/drawingml/2006/main">
              <a:ext uri="{FF2B5EF4-FFF2-40B4-BE49-F238E27FC236}">
                <a16:creationId xmlns:a16="http://schemas.microsoft.com/office/drawing/2014/main" id="{2082839B-E5F0-496A-AEF8-0DCCF03F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19125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富化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准确</a:t>
            </a:r>
          </a:p>
        </p:txBody>
      </p:sp>
      <p:sp>
        <p:nvSpPr>
          <p:cNvPr id="9" name="3">
            <a:extLst xmlns:a="http://schemas.openxmlformats.org/drawingml/2006/main">
              <a:ext uri="{FF2B5EF4-FFF2-40B4-BE49-F238E27FC236}">
                <a16:creationId xmlns:a16="http://schemas.microsoft.com/office/drawing/2014/main" id="{8A17731E-EE1A-4ED3-BAF7-B6197CAE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23950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0" name="依赖文件自查">
            <a:extLst xmlns:a="http://schemas.openxmlformats.org/drawingml/2006/main">
              <a:ext uri="{FF2B5EF4-FFF2-40B4-BE49-F238E27FC236}">
                <a16:creationId xmlns:a16="http://schemas.microsoft.com/office/drawing/2014/main" id="{865225C7-439B-43A9-8BFF-9E990CB6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123950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依赖文件自查</a:t>
            </a:r>
          </a:p>
        </p:txBody>
      </p:sp>
      <p:sp>
        <p:nvSpPr>
          <p:cNvPr id="11" name="OSV 求解 / 三种结果">
            <a:extLst xmlns:a="http://schemas.openxmlformats.org/drawingml/2006/main">
              <a:ext uri="{FF2B5EF4-FFF2-40B4-BE49-F238E27FC236}">
                <a16:creationId xmlns:a16="http://schemas.microsoft.com/office/drawing/2014/main" id="{30E332CB-BE37-42CE-AB33-5F325F50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239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OSV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求解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三种结果</a:t>
            </a:r>
          </a:p>
        </p:txBody>
      </p:sp>
      <p:sp>
        <p:nvSpPr>
          <p:cNvPr id="12" name="富化 / Agent">
            <a:extLst xmlns:a="http://schemas.openxmlformats.org/drawingml/2006/main">
              <a:ext uri="{FF2B5EF4-FFF2-40B4-BE49-F238E27FC236}">
                <a16:creationId xmlns:a16="http://schemas.microsoft.com/office/drawing/2014/main" id="{62BA846A-778D-4F13-963D-C74F702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23950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富化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Agent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BDAAF6D6-F35F-4AB0-8482-4685E6C2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628775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4" name="可解释 GraphRAG">
            <a:extLst xmlns:a="http://schemas.openxmlformats.org/drawingml/2006/main">
              <a:ext uri="{FF2B5EF4-FFF2-40B4-BE49-F238E27FC236}">
                <a16:creationId xmlns:a16="http://schemas.microsoft.com/office/drawing/2014/main" id="{44DEDFDC-B22F-4073-A831-7B874653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28775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可解释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GraphRAG</a:t>
            </a:r>
          </a:p>
        </p:txBody>
      </p:sp>
      <p:sp>
        <p:nvSpPr>
          <p:cNvPr id="15" name="三路检索 / 逐句引用">
            <a:extLst xmlns:a="http://schemas.openxmlformats.org/drawingml/2006/main">
              <a:ext uri="{FF2B5EF4-FFF2-40B4-BE49-F238E27FC236}">
                <a16:creationId xmlns:a16="http://schemas.microsoft.com/office/drawing/2014/main" id="{493A53F2-2B1A-4474-BE39-71153892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2877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三路检索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逐句引用</a:t>
            </a:r>
          </a:p>
        </p:txBody>
      </p:sp>
      <p:sp>
        <p:nvSpPr>
          <p:cNvPr id="16" name="问答 / 准确">
            <a:extLst xmlns:a="http://schemas.openxmlformats.org/drawingml/2006/main">
              <a:ext uri="{FF2B5EF4-FFF2-40B4-BE49-F238E27FC236}">
                <a16:creationId xmlns:a16="http://schemas.microsoft.com/office/drawing/2014/main" id="{101104B7-9C31-4BB0-BDDF-A6E4E27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28775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问答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准确</a:t>
            </a:r>
          </a:p>
        </p:txBody>
      </p:sp>
      <p:sp>
        <p:nvSpPr>
          <p:cNvPr id="17" name="5">
            <a:extLst xmlns:a="http://schemas.openxmlformats.org/drawingml/2006/main">
              <a:ext uri="{FF2B5EF4-FFF2-40B4-BE49-F238E27FC236}">
                <a16:creationId xmlns:a16="http://schemas.microsoft.com/office/drawing/2014/main" id="{07FDF34F-A5CF-493A-B12A-223275B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133600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8" name="内外智能体统一">
            <a:extLst xmlns:a="http://schemas.openxmlformats.org/drawingml/2006/main">
              <a:ext uri="{FF2B5EF4-FFF2-40B4-BE49-F238E27FC236}">
                <a16:creationId xmlns:a16="http://schemas.microsoft.com/office/drawing/2014/main" id="{94323C29-BCF7-4894-9F51-B3CF0AD1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33600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内外智能体统一</a:t>
            </a:r>
          </a:p>
        </p:txBody>
      </p:sp>
      <p:sp>
        <p:nvSpPr>
          <p:cNvPr id="19" name="9 角色 / 统一服务层">
            <a:extLst xmlns:a="http://schemas.openxmlformats.org/drawingml/2006/main">
              <a:ext uri="{FF2B5EF4-FFF2-40B4-BE49-F238E27FC236}">
                <a16:creationId xmlns:a16="http://schemas.microsoft.com/office/drawing/2014/main" id="{848477F1-A8EF-4306-BC58-1334D517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3360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角色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统一服务层</a:t>
            </a:r>
          </a:p>
        </p:txBody>
      </p:sp>
      <p:sp>
        <p:nvSpPr>
          <p:cNvPr id="20" name="Agent">
            <a:extLst xmlns:a="http://schemas.openxmlformats.org/drawingml/2006/main">
              <a:ext uri="{FF2B5EF4-FFF2-40B4-BE49-F238E27FC236}">
                <a16:creationId xmlns:a16="http://schemas.microsoft.com/office/drawing/2014/main" id="{91F126B6-983F-4C20-950C-9D8FFAE3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sp>
        <p:nvSpPr>
          <p:cNvPr id="21" name="6">
            <a:extLst xmlns:a="http://schemas.openxmlformats.org/drawingml/2006/main">
              <a:ext uri="{FF2B5EF4-FFF2-40B4-BE49-F238E27FC236}">
                <a16:creationId xmlns:a16="http://schemas.microsoft.com/office/drawing/2014/main" id="{F5E5704B-B54A-45FC-8035-B9DCE66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638425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2" name="时效与自愈">
            <a:extLst xmlns:a="http://schemas.openxmlformats.org/drawingml/2006/main">
              <a:ext uri="{FF2B5EF4-FFF2-40B4-BE49-F238E27FC236}">
                <a16:creationId xmlns:a16="http://schemas.microsoft.com/office/drawing/2014/main" id="{7F91B233-AB15-4EC6-B790-B4131E9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38425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时效与自愈</a:t>
            </a:r>
          </a:p>
        </p:txBody>
      </p:sp>
      <p:sp>
        <p:nvSpPr>
          <p:cNvPr id="23" name="五段时间戳 / 故障恢复">
            <a:extLst xmlns:a="http://schemas.openxmlformats.org/drawingml/2006/main">
              <a:ext uri="{FF2B5EF4-FFF2-40B4-BE49-F238E27FC236}">
                <a16:creationId xmlns:a16="http://schemas.microsoft.com/office/drawing/2014/main" id="{025A7C02-0B86-490A-8F8B-A7A3841C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384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五段时间戳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故障恢复</a:t>
            </a:r>
          </a:p>
        </p:txBody>
      </p:sp>
      <p:sp>
        <p:nvSpPr>
          <p:cNvPr id="24" name="时效 / 自动化">
            <a:extLst xmlns:a="http://schemas.openxmlformats.org/drawingml/2006/main">
              <a:ext uri="{FF2B5EF4-FFF2-40B4-BE49-F238E27FC236}">
                <a16:creationId xmlns:a16="http://schemas.microsoft.com/office/drawing/2014/main" id="{0C08AF57-4286-432F-9780-5F2A828D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时效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自动化</a:t>
            </a:r>
          </a:p>
        </p:txBody>
      </p:sp>
      <p:sp>
        <p:nvSpPr>
          <p:cNvPr id="25" name="7">
            <a:extLst xmlns:a="http://schemas.openxmlformats.org/drawingml/2006/main">
              <a:ext uri="{FF2B5EF4-FFF2-40B4-BE49-F238E27FC236}">
                <a16:creationId xmlns:a16="http://schemas.microsoft.com/office/drawing/2014/main" id="{B230850E-1959-4011-84B8-48A05B75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143250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" name="开放插件生态">
            <a:extLst xmlns:a="http://schemas.openxmlformats.org/drawingml/2006/main">
              <a:ext uri="{FF2B5EF4-FFF2-40B4-BE49-F238E27FC236}">
                <a16:creationId xmlns:a16="http://schemas.microsoft.com/office/drawing/2014/main" id="{B5CBC148-D87E-4F12-86D8-900F8A71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43250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开放插件生态</a:t>
            </a:r>
          </a:p>
        </p:txBody>
      </p:sp>
      <p:sp>
        <p:nvSpPr>
          <p:cNvPr id="27" name="8 Schema / 三类扩展点">
            <a:extLst xmlns:a="http://schemas.openxmlformats.org/drawingml/2006/main">
              <a:ext uri="{FF2B5EF4-FFF2-40B4-BE49-F238E27FC236}">
                <a16:creationId xmlns:a16="http://schemas.microsoft.com/office/drawing/2014/main" id="{2B4193F3-5034-4928-AD58-6A16E167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432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8 Schema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三类扩展点</a:t>
            </a:r>
          </a:p>
        </p:txBody>
      </p:sp>
      <p:sp>
        <p:nvSpPr>
          <p:cNvPr id="28" name="Agent / 文档">
            <a:extLst xmlns:a="http://schemas.openxmlformats.org/drawingml/2006/main">
              <a:ext uri="{FF2B5EF4-FFF2-40B4-BE49-F238E27FC236}">
                <a16:creationId xmlns:a16="http://schemas.microsoft.com/office/drawing/2014/main" id="{A64EF990-9FD4-44A0-9E79-E185ADE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Agent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文档</a:t>
            </a:r>
          </a:p>
        </p:txBody>
      </p:sp>
      <p:sp>
        <p:nvSpPr>
          <p:cNvPr id="29" name="七项创新均以第四章评测验证，当前未测结果保持占位">
            <a:extLst xmlns:a="http://schemas.openxmlformats.org/drawingml/2006/main">
              <a:ext uri="{FF2B5EF4-FFF2-40B4-BE49-F238E27FC236}">
                <a16:creationId xmlns:a16="http://schemas.microsoft.com/office/drawing/2014/main" id="{7D4763F6-8AA1-40BB-96B1-7DC3655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67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七项创新均以第四章评测验证，当前未测结果保持占位</a:t>
            </a:r>
          </a:p>
        </p:txBody>
      </p:sp>
    </p:spTree>
    <p:extLst>
      <p:ext uri="{BB962C8B-B14F-4D97-AF65-F5344CB8AC3E}">
        <p14:creationId xmlns:p14="http://schemas.microsoft.com/office/powerpoint/2010/main" val="11960794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F2350F-7CF4-485D-91E8-8C14BCE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时效">
            <a:extLst xmlns:a="http://schemas.openxmlformats.org/drawingml/2006/main">
              <a:ext uri="{FF2B5EF4-FFF2-40B4-BE49-F238E27FC236}">
                <a16:creationId xmlns:a16="http://schemas.microsoft.com/office/drawing/2014/main" id="{94F203CD-9A4F-40D1-9284-2DBE9452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3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时效</a:t>
            </a:r>
          </a:p>
        </p:txBody>
      </p:sp>
      <p:sp>
        <p:nvSpPr>
          <p:cNvPr id="3" name="五段时间戳">
            <a:extLst xmlns:a="http://schemas.openxmlformats.org/drawingml/2006/main">
              <a:ext uri="{FF2B5EF4-FFF2-40B4-BE49-F238E27FC236}">
                <a16:creationId xmlns:a16="http://schemas.microsoft.com/office/drawing/2014/main" id="{03A37BC9-8475-46D9-BEE0-7C06F082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86677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五段时间戳</a:t>
            </a:r>
          </a:p>
        </p:txBody>
      </p:sp>
      <p:sp>
        <p:nvSpPr>
          <p:cNvPr id="4" name="按源分项">
            <a:extLst xmlns:a="http://schemas.openxmlformats.org/drawingml/2006/main">
              <a:ext uri="{FF2B5EF4-FFF2-40B4-BE49-F238E27FC236}">
                <a16:creationId xmlns:a16="http://schemas.microsoft.com/office/drawing/2014/main" id="{B0C2E85D-8F6C-4F7A-AD21-02C76BD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3906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按源分项</a:t>
            </a:r>
          </a:p>
        </p:txBody>
      </p:sp>
      <p:sp>
        <p:nvSpPr>
          <p:cNvPr id="5" name="P50 / P95">
            <a:extLst xmlns:a="http://schemas.openxmlformats.org/drawingml/2006/main">
              <a:ext uri="{FF2B5EF4-FFF2-40B4-BE49-F238E27FC236}">
                <a16:creationId xmlns:a16="http://schemas.microsoft.com/office/drawing/2014/main" id="{C120B5EB-A7ED-46E3-A893-46802129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91452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P50 / P95</a:t>
            </a:r>
          </a:p>
        </p:txBody>
      </p:sp>
      <p:sp>
        <p:nvSpPr>
          <p:cNvPr id="6" name="目标值 ≤6 h （待测）">
            <a:extLst xmlns:a="http://schemas.openxmlformats.org/drawingml/2006/main">
              <a:ext uri="{FF2B5EF4-FFF2-40B4-BE49-F238E27FC236}">
                <a16:creationId xmlns:a16="http://schemas.microsoft.com/office/drawing/2014/main" id="{204C657F-7C08-4C5D-AE89-2503031F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h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1396C-C1A0-4335-8F8B-3A1EF5E0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" name="富化">
            <a:extLst xmlns:a="http://schemas.openxmlformats.org/drawingml/2006/main">
              <a:ext uri="{FF2B5EF4-FFF2-40B4-BE49-F238E27FC236}">
                <a16:creationId xmlns:a16="http://schemas.microsoft.com/office/drawing/2014/main" id="{E3F62198-1D61-4281-A19D-132B87DE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富化</a:t>
            </a:r>
          </a:p>
        </p:txBody>
      </p:sp>
      <p:sp>
        <p:nvSpPr>
          <p:cNvPr id="9" name="200 条金标">
            <a:extLst xmlns:a="http://schemas.openxmlformats.org/drawingml/2006/main">
              <a:ext uri="{FF2B5EF4-FFF2-40B4-BE49-F238E27FC236}">
                <a16:creationId xmlns:a16="http://schemas.microsoft.com/office/drawing/2014/main" id="{4E125041-7474-4EDB-B3C0-C8DEABEF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6677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200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条金标</a:t>
            </a:r>
          </a:p>
        </p:txBody>
      </p:sp>
      <p:sp>
        <p:nvSpPr>
          <p:cNvPr id="10" name="Critic 前后">
            <a:extLst xmlns:a="http://schemas.openxmlformats.org/drawingml/2006/main">
              <a:ext uri="{FF2B5EF4-FFF2-40B4-BE49-F238E27FC236}">
                <a16:creationId xmlns:a16="http://schemas.microsoft.com/office/drawing/2014/main" id="{6283870A-5027-4089-A72C-00212522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906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Critic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前后</a:t>
            </a:r>
          </a:p>
        </p:txBody>
      </p:sp>
      <p:sp>
        <p:nvSpPr>
          <p:cNvPr id="11" name="准确率 / κ">
            <a:extLst xmlns:a="http://schemas.openxmlformats.org/drawingml/2006/main">
              <a:ext uri="{FF2B5EF4-FFF2-40B4-BE49-F238E27FC236}">
                <a16:creationId xmlns:a16="http://schemas.microsoft.com/office/drawing/2014/main" id="{140126B6-C586-4BD8-997B-A115F732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1452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准确率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κ</a:t>
            </a:r>
          </a:p>
        </p:txBody>
      </p:sp>
      <p:sp>
        <p:nvSpPr>
          <p:cNvPr id="12" name="目标值 ≥95% （待测）">
            <a:extLst xmlns:a="http://schemas.openxmlformats.org/drawingml/2006/main">
              <a:ext uri="{FF2B5EF4-FFF2-40B4-BE49-F238E27FC236}">
                <a16:creationId xmlns:a16="http://schemas.microsoft.com/office/drawing/2014/main" id="{7F1E82F8-6F3F-4B9F-8A4A-45EA1F19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≥95%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AE91B-210D-46EA-8319-97743CB1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4" name="问答">
            <a:extLst xmlns:a="http://schemas.openxmlformats.org/drawingml/2006/main">
              <a:ext uri="{FF2B5EF4-FFF2-40B4-BE49-F238E27FC236}">
                <a16:creationId xmlns:a16="http://schemas.microsoft.com/office/drawing/2014/main" id="{AD885306-1DBB-4257-9836-AF17DD26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3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问答</a:t>
            </a:r>
          </a:p>
        </p:txBody>
      </p:sp>
      <p:sp>
        <p:nvSpPr>
          <p:cNvPr id="15" name="约 100 题">
            <a:extLst xmlns:a="http://schemas.openxmlformats.org/drawingml/2006/main">
              <a:ext uri="{FF2B5EF4-FFF2-40B4-BE49-F238E27FC236}">
                <a16:creationId xmlns:a16="http://schemas.microsoft.com/office/drawing/2014/main" id="{70A5CFF8-42BE-431B-BAF0-251A3C72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6677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约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100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题</a:t>
            </a:r>
          </a:p>
        </p:txBody>
      </p:sp>
      <p:sp>
        <p:nvSpPr>
          <p:cNvPr id="16" name="三组对照">
            <a:extLst xmlns:a="http://schemas.openxmlformats.org/drawingml/2006/main">
              <a:ext uri="{FF2B5EF4-FFF2-40B4-BE49-F238E27FC236}">
                <a16:creationId xmlns:a16="http://schemas.microsoft.com/office/drawing/2014/main" id="{D4B36EEC-B9DC-45B5-AE80-73E64DC3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3906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三组对照</a:t>
            </a:r>
          </a:p>
        </p:txBody>
      </p:sp>
      <p:sp>
        <p:nvSpPr>
          <p:cNvPr id="17" name="答案 / 引用">
            <a:extLst xmlns:a="http://schemas.openxmlformats.org/drawingml/2006/main">
              <a:ext uri="{FF2B5EF4-FFF2-40B4-BE49-F238E27FC236}">
                <a16:creationId xmlns:a16="http://schemas.microsoft.com/office/drawing/2014/main" id="{BC1A3B80-DD7A-4374-882D-67CD7A5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1452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答案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引用</a:t>
            </a:r>
          </a:p>
        </p:txBody>
      </p:sp>
      <p:sp>
        <p:nvSpPr>
          <p:cNvPr id="18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360870F7-7E0B-4328-B587-514C56B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目标值待定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D68E8-5B3D-4724-9990-B141083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0" name="自愈">
            <a:extLst xmlns:a="http://schemas.openxmlformats.org/drawingml/2006/main">
              <a:ext uri="{FF2B5EF4-FFF2-40B4-BE49-F238E27FC236}">
                <a16:creationId xmlns:a16="http://schemas.microsoft.com/office/drawing/2014/main" id="{4847B9AC-390B-47A5-9378-97C510E2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3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自愈</a:t>
            </a:r>
          </a:p>
        </p:txBody>
      </p:sp>
      <p:sp>
        <p:nvSpPr>
          <p:cNvPr id="21" name="6 个场景">
            <a:extLst xmlns:a="http://schemas.openxmlformats.org/drawingml/2006/main">
              <a:ext uri="{FF2B5EF4-FFF2-40B4-BE49-F238E27FC236}">
                <a16:creationId xmlns:a16="http://schemas.microsoft.com/office/drawing/2014/main" id="{AF2F1EE7-B918-46CE-A671-CEEB6C7F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86677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6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个场景</a:t>
            </a:r>
          </a:p>
        </p:txBody>
      </p:sp>
      <p:sp>
        <p:nvSpPr>
          <p:cNvPr id="22" name="故障注入">
            <a:extLst xmlns:a="http://schemas.openxmlformats.org/drawingml/2006/main">
              <a:ext uri="{FF2B5EF4-FFF2-40B4-BE49-F238E27FC236}">
                <a16:creationId xmlns:a16="http://schemas.microsoft.com/office/drawing/2014/main" id="{0F304C64-F549-478B-89B8-E262400C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906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故障注入</a:t>
            </a:r>
          </a:p>
        </p:txBody>
      </p:sp>
      <p:sp>
        <p:nvSpPr>
          <p:cNvPr id="23" name="成功率 / 恢复">
            <a:extLst xmlns:a="http://schemas.openxmlformats.org/drawingml/2006/main">
              <a:ext uri="{FF2B5EF4-FFF2-40B4-BE49-F238E27FC236}">
                <a16:creationId xmlns:a16="http://schemas.microsoft.com/office/drawing/2014/main" id="{069BFCE7-FA75-4456-A862-6A62144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1452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成功率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恢复</a:t>
            </a:r>
          </a:p>
        </p:txBody>
      </p:sp>
      <p:sp>
        <p:nvSpPr>
          <p:cNvPr id="24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C52B892E-DBEA-4F96-BAA8-0823AD61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目标值待定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E4D982-041D-412E-98D1-5186B8CB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6" name="兼容">
            <a:extLst xmlns:a="http://schemas.openxmlformats.org/drawingml/2006/main">
              <a:ext uri="{FF2B5EF4-FFF2-40B4-BE49-F238E27FC236}">
                <a16:creationId xmlns:a16="http://schemas.microsoft.com/office/drawing/2014/main" id="{3D358DA3-2018-4ED5-BF07-F43508C5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兼容</a:t>
            </a:r>
          </a:p>
        </p:txBody>
      </p:sp>
      <p:sp>
        <p:nvSpPr>
          <p:cNvPr id="27" name="4 类客户端">
            <a:extLst xmlns:a="http://schemas.openxmlformats.org/drawingml/2006/main">
              <a:ext uri="{FF2B5EF4-FFF2-40B4-BE49-F238E27FC236}">
                <a16:creationId xmlns:a16="http://schemas.microsoft.com/office/drawing/2014/main" id="{9FC9A108-D313-41A0-A2A2-0BDDFA5A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86677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类客户端</a:t>
            </a:r>
          </a:p>
        </p:txBody>
      </p:sp>
      <p:sp>
        <p:nvSpPr>
          <p:cNvPr id="28" name="远程 / stdio">
            <a:extLst xmlns:a="http://schemas.openxmlformats.org/drawingml/2006/main">
              <a:ext uri="{FF2B5EF4-FFF2-40B4-BE49-F238E27FC236}">
                <a16:creationId xmlns:a16="http://schemas.microsoft.com/office/drawing/2014/main" id="{73D39379-F5A3-44E0-BFB2-87AAF8C2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3906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远程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stdio</a:t>
            </a:r>
          </a:p>
        </p:txBody>
      </p:sp>
      <p:sp>
        <p:nvSpPr>
          <p:cNvPr id="29" name="加载 / 续取">
            <a:extLst xmlns:a="http://schemas.openxmlformats.org/drawingml/2006/main">
              <a:ext uri="{FF2B5EF4-FFF2-40B4-BE49-F238E27FC236}">
                <a16:creationId xmlns:a16="http://schemas.microsoft.com/office/drawing/2014/main" id="{DD987424-15C6-40B5-ACB3-EABA3D4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1452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加载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续取</a:t>
            </a:r>
          </a:p>
        </p:txBody>
      </p:sp>
      <p:sp>
        <p:nvSpPr>
          <p:cNvPr id="30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EFFCFB5A-C8AB-4838-B11C-1F2F5E22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目标值待定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31" name="同模型同提示；保存原始结果；未执行不计为通过">
            <a:extLst xmlns:a="http://schemas.openxmlformats.org/drawingml/2006/main">
              <a:ext uri="{FF2B5EF4-FFF2-40B4-BE49-F238E27FC236}">
                <a16:creationId xmlns:a16="http://schemas.microsoft.com/office/drawing/2014/main" id="{7BC0CBA4-0F72-4A04-AD13-17CDE6A8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同模型同提示；保存原始结果；未执行不计为通过</a:t>
            </a:r>
          </a:p>
        </p:txBody>
      </p:sp>
    </p:spTree>
    <p:extLst>
      <p:ext uri="{BB962C8B-B14F-4D97-AF65-F5344CB8AC3E}">
        <p14:creationId xmlns:p14="http://schemas.microsoft.com/office/powerpoint/2010/main" val="2087821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2026-10-15T22:46:13.1460000Z</dcterms:created>
  <dcterms:modified xsi:type="dcterms:W3CDTF">2026-10-15T22:46:13.1460000Z</dcterms:modified>
</coreProperties>
</file>